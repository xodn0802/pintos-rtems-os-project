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20"/>
  </p:notesMasterIdLst>
  <p:handoutMasterIdLst>
    <p:handoutMasterId r:id="rId21"/>
  </p:handoutMasterIdLst>
  <p:sldIdLst>
    <p:sldId id="2354" r:id="rId2"/>
    <p:sldId id="2445" r:id="rId3"/>
    <p:sldId id="2462" r:id="rId4"/>
    <p:sldId id="2418" r:id="rId5"/>
    <p:sldId id="2463" r:id="rId6"/>
    <p:sldId id="2464" r:id="rId7"/>
    <p:sldId id="2465" r:id="rId8"/>
    <p:sldId id="2466" r:id="rId9"/>
    <p:sldId id="2467" r:id="rId10"/>
    <p:sldId id="2468" r:id="rId11"/>
    <p:sldId id="2469" r:id="rId12"/>
    <p:sldId id="2471" r:id="rId13"/>
    <p:sldId id="2472" r:id="rId14"/>
    <p:sldId id="2473" r:id="rId15"/>
    <p:sldId id="2474" r:id="rId16"/>
    <p:sldId id="2475" r:id="rId17"/>
    <p:sldId id="2476" r:id="rId18"/>
    <p:sldId id="2457" r:id="rId19"/>
  </p:sldIdLst>
  <p:sldSz cx="9144000" cy="6858000" type="screen4x3"/>
  <p:notesSz cx="6797675" cy="9874250"/>
  <p:defaultTextStyle>
    <a:defPPr>
      <a:defRPr lang="en-US"/>
    </a:defPPr>
    <a:lvl1pPr algn="l" rtl="0" fontAlgn="base">
      <a:spcBef>
        <a:spcPct val="0"/>
      </a:spcBef>
      <a:spcAft>
        <a:spcPct val="0"/>
      </a:spcAft>
      <a:defRPr kern="1200">
        <a:solidFill>
          <a:schemeClr val="tx1"/>
        </a:solidFill>
        <a:latin typeface="Verdana" pitchFamily="34" charset="0"/>
        <a:ea typeface="+mn-ea"/>
        <a:cs typeface="Arial" charset="0"/>
      </a:defRPr>
    </a:lvl1pPr>
    <a:lvl2pPr marL="457200" algn="l" rtl="0" fontAlgn="base">
      <a:spcBef>
        <a:spcPct val="0"/>
      </a:spcBef>
      <a:spcAft>
        <a:spcPct val="0"/>
      </a:spcAft>
      <a:defRPr kern="1200">
        <a:solidFill>
          <a:schemeClr val="tx1"/>
        </a:solidFill>
        <a:latin typeface="Verdana" pitchFamily="34" charset="0"/>
        <a:ea typeface="+mn-ea"/>
        <a:cs typeface="Arial" charset="0"/>
      </a:defRPr>
    </a:lvl2pPr>
    <a:lvl3pPr marL="914400" algn="l" rtl="0" fontAlgn="base">
      <a:spcBef>
        <a:spcPct val="0"/>
      </a:spcBef>
      <a:spcAft>
        <a:spcPct val="0"/>
      </a:spcAft>
      <a:defRPr kern="1200">
        <a:solidFill>
          <a:schemeClr val="tx1"/>
        </a:solidFill>
        <a:latin typeface="Verdana" pitchFamily="34" charset="0"/>
        <a:ea typeface="+mn-ea"/>
        <a:cs typeface="Arial" charset="0"/>
      </a:defRPr>
    </a:lvl3pPr>
    <a:lvl4pPr marL="1371600" algn="l" rtl="0" fontAlgn="base">
      <a:spcBef>
        <a:spcPct val="0"/>
      </a:spcBef>
      <a:spcAft>
        <a:spcPct val="0"/>
      </a:spcAft>
      <a:defRPr kern="1200">
        <a:solidFill>
          <a:schemeClr val="tx1"/>
        </a:solidFill>
        <a:latin typeface="Verdana" pitchFamily="34" charset="0"/>
        <a:ea typeface="+mn-ea"/>
        <a:cs typeface="Arial" charset="0"/>
      </a:defRPr>
    </a:lvl4pPr>
    <a:lvl5pPr marL="1828800" algn="l" rtl="0" fontAlgn="base">
      <a:spcBef>
        <a:spcPct val="0"/>
      </a:spcBef>
      <a:spcAft>
        <a:spcPct val="0"/>
      </a:spcAft>
      <a:defRPr kern="1200">
        <a:solidFill>
          <a:schemeClr val="tx1"/>
        </a:solidFill>
        <a:latin typeface="Verdana" pitchFamily="34" charset="0"/>
        <a:ea typeface="+mn-ea"/>
        <a:cs typeface="Arial" charset="0"/>
      </a:defRPr>
    </a:lvl5pPr>
    <a:lvl6pPr marL="2286000" algn="l" defTabSz="914400" rtl="0" eaLnBrk="1" latinLnBrk="1" hangingPunct="1">
      <a:defRPr kern="1200">
        <a:solidFill>
          <a:schemeClr val="tx1"/>
        </a:solidFill>
        <a:latin typeface="Verdana" pitchFamily="34" charset="0"/>
        <a:ea typeface="+mn-ea"/>
        <a:cs typeface="Arial" charset="0"/>
      </a:defRPr>
    </a:lvl6pPr>
    <a:lvl7pPr marL="2743200" algn="l" defTabSz="914400" rtl="0" eaLnBrk="1" latinLnBrk="1" hangingPunct="1">
      <a:defRPr kern="1200">
        <a:solidFill>
          <a:schemeClr val="tx1"/>
        </a:solidFill>
        <a:latin typeface="Verdana" pitchFamily="34" charset="0"/>
        <a:ea typeface="+mn-ea"/>
        <a:cs typeface="Arial" charset="0"/>
      </a:defRPr>
    </a:lvl7pPr>
    <a:lvl8pPr marL="3200400" algn="l" defTabSz="914400" rtl="0" eaLnBrk="1" latinLnBrk="1" hangingPunct="1">
      <a:defRPr kern="1200">
        <a:solidFill>
          <a:schemeClr val="tx1"/>
        </a:solidFill>
        <a:latin typeface="Verdana" pitchFamily="34" charset="0"/>
        <a:ea typeface="+mn-ea"/>
        <a:cs typeface="Arial" charset="0"/>
      </a:defRPr>
    </a:lvl8pPr>
    <a:lvl9pPr marL="3657600" algn="l" defTabSz="914400" rtl="0" eaLnBrk="1" latinLnBrk="1" hangingPunct="1">
      <a:defRPr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주환 임" initials="주임" lastIdx="2" clrIdx="0">
    <p:extLst>
      <p:ext uri="{19B8F6BF-5375-455C-9EA6-DF929625EA0E}">
        <p15:presenceInfo xmlns:p15="http://schemas.microsoft.com/office/powerpoint/2012/main" userId="36d51e01bbdb16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CB1D4"/>
    <a:srgbClr val="EDF0D2"/>
    <a:srgbClr val="CCFFFF"/>
    <a:srgbClr val="E6E6E6"/>
    <a:srgbClr val="96BBDA"/>
    <a:srgbClr val="91B4DF"/>
    <a:srgbClr val="75DBFF"/>
    <a:srgbClr val="1F1F1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보통 스타일 4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밝은 스타일 1 - 강조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5758FB7-9AC5-4552-8A53-C91805E547FA}" styleName="테마 스타일 1 - 강조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368" autoAdjust="0"/>
  </p:normalViewPr>
  <p:slideViewPr>
    <p:cSldViewPr>
      <p:cViewPr varScale="1">
        <p:scale>
          <a:sx n="91" d="100"/>
          <a:sy n="91" d="100"/>
        </p:scale>
        <p:origin x="1531" y="62"/>
      </p:cViewPr>
      <p:guideLst>
        <p:guide orient="horz" pos="2160"/>
        <p:guide pos="2880"/>
      </p:guideLst>
    </p:cSldViewPr>
  </p:slideViewPr>
  <p:notesTextViewPr>
    <p:cViewPr>
      <p:scale>
        <a:sx n="66" d="100"/>
        <a:sy n="66" d="100"/>
      </p:scale>
      <p:origin x="0" y="0"/>
    </p:cViewPr>
  </p:notesTextViewPr>
  <p:sorterViewPr>
    <p:cViewPr>
      <p:scale>
        <a:sx n="66" d="100"/>
        <a:sy n="66" d="100"/>
      </p:scale>
      <p:origin x="0" y="1824"/>
    </p:cViewPr>
  </p:sorterViewPr>
  <p:notesViewPr>
    <p:cSldViewPr>
      <p:cViewPr varScale="1">
        <p:scale>
          <a:sx n="72" d="100"/>
          <a:sy n="72" d="100"/>
        </p:scale>
        <p:origin x="-3378" y="-108"/>
      </p:cViewPr>
      <p:guideLst>
        <p:guide orient="horz" pos="3110"/>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smtClean="0">
                <a:cs typeface="Arial" pitchFamily="34" charset="0"/>
              </a:defRPr>
            </a:lvl1pPr>
          </a:lstStyle>
          <a:p>
            <a:pPr>
              <a:defRPr/>
            </a:pPr>
            <a:endParaRPr lang="ko-KR" altLang="en-US"/>
          </a:p>
        </p:txBody>
      </p:sp>
      <p:sp>
        <p:nvSpPr>
          <p:cNvPr id="3" name="날짜 개체 틀 2"/>
          <p:cNvSpPr>
            <a:spLocks noGrp="1"/>
          </p:cNvSpPr>
          <p:nvPr>
            <p:ph type="dt" sz="quarter" idx="1"/>
          </p:nvPr>
        </p:nvSpPr>
        <p:spPr>
          <a:xfrm>
            <a:off x="3849688" y="0"/>
            <a:ext cx="2946400" cy="493713"/>
          </a:xfrm>
          <a:prstGeom prst="rect">
            <a:avLst/>
          </a:prstGeom>
        </p:spPr>
        <p:txBody>
          <a:bodyPr vert="horz" lIns="91440" tIns="45720" rIns="91440" bIns="45720" rtlCol="0"/>
          <a:lstStyle>
            <a:lvl1pPr algn="r">
              <a:defRPr sz="1200" smtClean="0">
                <a:cs typeface="Arial" pitchFamily="34" charset="0"/>
              </a:defRPr>
            </a:lvl1pPr>
          </a:lstStyle>
          <a:p>
            <a:pPr>
              <a:defRPr/>
            </a:pPr>
            <a:fld id="{211E80FD-51A1-4138-B9E7-C62E4F374115}" type="datetimeFigureOut">
              <a:rPr lang="ko-KR" altLang="en-US"/>
              <a:pPr>
                <a:defRPr/>
              </a:pPr>
              <a:t>2025-08-17</a:t>
            </a:fld>
            <a:endParaRPr lang="ko-KR" altLang="en-US"/>
          </a:p>
        </p:txBody>
      </p:sp>
      <p:sp>
        <p:nvSpPr>
          <p:cNvPr id="4" name="바닥글 개체 틀 3"/>
          <p:cNvSpPr>
            <a:spLocks noGrp="1"/>
          </p:cNvSpPr>
          <p:nvPr>
            <p:ph type="ftr" sz="quarter" idx="2"/>
          </p:nvPr>
        </p:nvSpPr>
        <p:spPr>
          <a:xfrm>
            <a:off x="0" y="9378950"/>
            <a:ext cx="2946400" cy="493713"/>
          </a:xfrm>
          <a:prstGeom prst="rect">
            <a:avLst/>
          </a:prstGeom>
        </p:spPr>
        <p:txBody>
          <a:bodyPr vert="horz" lIns="91440" tIns="45720" rIns="91440" bIns="45720" rtlCol="0" anchor="b"/>
          <a:lstStyle>
            <a:lvl1pPr algn="l">
              <a:defRPr sz="1200" smtClean="0">
                <a:cs typeface="Arial" pitchFamily="34" charset="0"/>
              </a:defRPr>
            </a:lvl1pPr>
          </a:lstStyle>
          <a:p>
            <a:pPr>
              <a:defRPr/>
            </a:pPr>
            <a:endParaRPr lang="ko-KR" altLang="en-US"/>
          </a:p>
        </p:txBody>
      </p:sp>
      <p:sp>
        <p:nvSpPr>
          <p:cNvPr id="5" name="슬라이드 번호 개체 틀 4"/>
          <p:cNvSpPr>
            <a:spLocks noGrp="1"/>
          </p:cNvSpPr>
          <p:nvPr>
            <p:ph type="sldNum" sz="quarter" idx="3"/>
          </p:nvPr>
        </p:nvSpPr>
        <p:spPr>
          <a:xfrm>
            <a:off x="3849688" y="9378950"/>
            <a:ext cx="2946400" cy="493713"/>
          </a:xfrm>
          <a:prstGeom prst="rect">
            <a:avLst/>
          </a:prstGeom>
        </p:spPr>
        <p:txBody>
          <a:bodyPr vert="horz" lIns="91440" tIns="45720" rIns="91440" bIns="45720" rtlCol="0" anchor="b"/>
          <a:lstStyle>
            <a:lvl1pPr algn="r">
              <a:defRPr sz="1200" smtClean="0">
                <a:cs typeface="Arial" pitchFamily="34" charset="0"/>
              </a:defRPr>
            </a:lvl1pPr>
          </a:lstStyle>
          <a:p>
            <a:pPr>
              <a:defRPr/>
            </a:pPr>
            <a:fld id="{F21F901A-645F-4CDB-97C3-785B6AEAA970}" type="slidenum">
              <a:rPr lang="ko-KR" altLang="en-US"/>
              <a:pPr>
                <a:defRPr/>
              </a:pPr>
              <a:t>‹#›</a:t>
            </a:fld>
            <a:endParaRPr lang="ko-KR" altLang="en-US"/>
          </a:p>
        </p:txBody>
      </p:sp>
    </p:spTree>
    <p:extLst>
      <p:ext uri="{BB962C8B-B14F-4D97-AF65-F5344CB8AC3E}">
        <p14:creationId xmlns:p14="http://schemas.microsoft.com/office/powerpoint/2010/main" val="3274498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defRPr sz="1200">
                <a:latin typeface="Arial" charset="0"/>
                <a:ea typeface="굴림" charset="-127"/>
                <a:cs typeface="Arial" charset="0"/>
              </a:defRPr>
            </a:lvl1pPr>
          </a:lstStyle>
          <a:p>
            <a:pPr>
              <a:defRPr/>
            </a:pPr>
            <a:endParaRPr lang="en-US" altLang="ko-KR"/>
          </a:p>
        </p:txBody>
      </p:sp>
      <p:sp>
        <p:nvSpPr>
          <p:cNvPr id="6147" name="Rectangle 3"/>
          <p:cNvSpPr>
            <a:spLocks noGrp="1" noChangeArrowheads="1"/>
          </p:cNvSpPr>
          <p:nvPr>
            <p:ph type="dt" idx="1"/>
          </p:nvPr>
        </p:nvSpPr>
        <p:spPr bwMode="auto">
          <a:xfrm>
            <a:off x="3849688" y="0"/>
            <a:ext cx="2946400" cy="49371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defRPr sz="1200">
                <a:latin typeface="Arial" charset="0"/>
                <a:ea typeface="굴림" charset="-127"/>
                <a:cs typeface="Arial" charset="0"/>
              </a:defRPr>
            </a:lvl1pPr>
          </a:lstStyle>
          <a:p>
            <a:pPr>
              <a:defRPr/>
            </a:pPr>
            <a:endParaRPr lang="en-US" altLang="ko-KR"/>
          </a:p>
        </p:txBody>
      </p:sp>
      <p:sp>
        <p:nvSpPr>
          <p:cNvPr id="41988" name="Rectangle 4"/>
          <p:cNvSpPr>
            <a:spLocks noGrp="1" noRot="1" noChangeAspect="1" noChangeArrowheads="1" noTextEdit="1"/>
          </p:cNvSpPr>
          <p:nvPr>
            <p:ph type="sldImg" idx="2"/>
          </p:nvPr>
        </p:nvSpPr>
        <p:spPr bwMode="auto">
          <a:xfrm>
            <a:off x="930275" y="739775"/>
            <a:ext cx="4937125" cy="37036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681038" y="4691063"/>
            <a:ext cx="5435600" cy="4443412"/>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6150" name="Rectangle 6"/>
          <p:cNvSpPr>
            <a:spLocks noGrp="1" noChangeArrowheads="1"/>
          </p:cNvSpPr>
          <p:nvPr>
            <p:ph type="ftr" sz="quarter" idx="4"/>
          </p:nvPr>
        </p:nvSpPr>
        <p:spPr bwMode="auto">
          <a:xfrm>
            <a:off x="0" y="9378950"/>
            <a:ext cx="294640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defRPr sz="1200">
                <a:latin typeface="Arial" charset="0"/>
                <a:ea typeface="굴림" charset="-127"/>
                <a:cs typeface="Arial" charset="0"/>
              </a:defRPr>
            </a:lvl1pPr>
          </a:lstStyle>
          <a:p>
            <a:pPr>
              <a:defRPr/>
            </a:pPr>
            <a:endParaRPr lang="en-US" altLang="ko-KR"/>
          </a:p>
        </p:txBody>
      </p:sp>
      <p:sp>
        <p:nvSpPr>
          <p:cNvPr id="6151" name="Rectangle 7"/>
          <p:cNvSpPr>
            <a:spLocks noGrp="1" noChangeArrowheads="1"/>
          </p:cNvSpPr>
          <p:nvPr>
            <p:ph type="sldNum" sz="quarter" idx="5"/>
          </p:nvPr>
        </p:nvSpPr>
        <p:spPr bwMode="auto">
          <a:xfrm>
            <a:off x="3849688" y="9378950"/>
            <a:ext cx="2946400" cy="493713"/>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defRPr sz="1200">
                <a:latin typeface="Arial" charset="0"/>
                <a:ea typeface="굴림" charset="-127"/>
                <a:cs typeface="Arial" charset="0"/>
              </a:defRPr>
            </a:lvl1pPr>
          </a:lstStyle>
          <a:p>
            <a:pPr>
              <a:defRPr/>
            </a:pPr>
            <a:fld id="{3034C4DD-B5F0-4D19-90EF-C93D91509D9D}" type="slidenum">
              <a:rPr lang="en-US" altLang="ko-KR"/>
              <a:pPr>
                <a:defRPr/>
              </a:pPr>
              <a:t>‹#›</a:t>
            </a:fld>
            <a:endParaRPr lang="en-US" altLang="ko-KR"/>
          </a:p>
        </p:txBody>
      </p:sp>
    </p:spTree>
    <p:extLst>
      <p:ext uri="{BB962C8B-B14F-4D97-AF65-F5344CB8AC3E}">
        <p14:creationId xmlns:p14="http://schemas.microsoft.com/office/powerpoint/2010/main" val="40822757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버츄얼박스와 우분투를 설치 데모영상입니다</a:t>
            </a:r>
            <a:r>
              <a:rPr lang="en-US" altLang="ko-KR"/>
              <a:t>.</a:t>
            </a:r>
            <a:endParaRPr lang="ko-KR" altLang="en-US" dirty="0"/>
          </a:p>
        </p:txBody>
      </p:sp>
      <p:sp>
        <p:nvSpPr>
          <p:cNvPr id="4" name="슬라이드 번호 개체 틀 3"/>
          <p:cNvSpPr>
            <a:spLocks noGrp="1"/>
          </p:cNvSpPr>
          <p:nvPr>
            <p:ph type="sldNum" sz="quarter" idx="10"/>
          </p:nvPr>
        </p:nvSpPr>
        <p:spPr/>
        <p:txBody>
          <a:bodyPr/>
          <a:lstStyle/>
          <a:p>
            <a:pPr>
              <a:defRPr/>
            </a:pPr>
            <a:fld id="{3034C4DD-B5F0-4D19-90EF-C93D91509D9D}" type="slidenum">
              <a:rPr lang="en-US" altLang="ko-KR" smtClean="0"/>
              <a:pPr>
                <a:defRPr/>
              </a:pPr>
              <a:t>1</a:t>
            </a:fld>
            <a:endParaRPr lang="en-US" altLang="ko-KR" dirty="0"/>
          </a:p>
        </p:txBody>
      </p:sp>
    </p:spTree>
    <p:extLst>
      <p:ext uri="{BB962C8B-B14F-4D97-AF65-F5344CB8AC3E}">
        <p14:creationId xmlns:p14="http://schemas.microsoft.com/office/powerpoint/2010/main" val="867785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19B2E-A990-A963-85BE-3DC57610A4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A8C9089-7836-9811-3240-26EE762D820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6D44615-621F-F1F5-2B67-F8002205E53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A8040AE-A085-B4AD-F1ED-719F9A8B805D}"/>
              </a:ext>
            </a:extLst>
          </p:cNvPr>
          <p:cNvSpPr>
            <a:spLocks noGrp="1"/>
          </p:cNvSpPr>
          <p:nvPr>
            <p:ph type="sldNum" sz="quarter" idx="5"/>
          </p:nvPr>
        </p:nvSpPr>
        <p:spPr/>
        <p:txBody>
          <a:bodyPr/>
          <a:lstStyle/>
          <a:p>
            <a:pPr>
              <a:defRPr/>
            </a:pPr>
            <a:fld id="{3034C4DD-B5F0-4D19-90EF-C93D91509D9D}" type="slidenum">
              <a:rPr lang="en-US" altLang="ko-KR" smtClean="0"/>
              <a:pPr>
                <a:defRPr/>
              </a:pPr>
              <a:t>3</a:t>
            </a:fld>
            <a:endParaRPr lang="en-US" altLang="ko-KR"/>
          </a:p>
        </p:txBody>
      </p:sp>
    </p:spTree>
    <p:extLst>
      <p:ext uri="{BB962C8B-B14F-4D97-AF65-F5344CB8AC3E}">
        <p14:creationId xmlns:p14="http://schemas.microsoft.com/office/powerpoint/2010/main" val="102341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C7899-70D1-DBEA-BAF4-1600DA9C1B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B500BA-BD8F-4AEC-35F9-D8E310CB4B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737166C-A2DA-424F-94A1-062DA3D81BB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A26419C-584A-2D5E-711E-6D30BBB8B82C}"/>
              </a:ext>
            </a:extLst>
          </p:cNvPr>
          <p:cNvSpPr>
            <a:spLocks noGrp="1"/>
          </p:cNvSpPr>
          <p:nvPr>
            <p:ph type="sldNum" sz="quarter" idx="5"/>
          </p:nvPr>
        </p:nvSpPr>
        <p:spPr/>
        <p:txBody>
          <a:bodyPr/>
          <a:lstStyle/>
          <a:p>
            <a:pPr>
              <a:defRPr/>
            </a:pPr>
            <a:fld id="{3034C4DD-B5F0-4D19-90EF-C93D91509D9D}" type="slidenum">
              <a:rPr lang="en-US" altLang="ko-KR" smtClean="0"/>
              <a:pPr>
                <a:defRPr/>
              </a:pPr>
              <a:t>4</a:t>
            </a:fld>
            <a:endParaRPr lang="en-US" altLang="ko-KR"/>
          </a:p>
        </p:txBody>
      </p:sp>
    </p:spTree>
    <p:extLst>
      <p:ext uri="{BB962C8B-B14F-4D97-AF65-F5344CB8AC3E}">
        <p14:creationId xmlns:p14="http://schemas.microsoft.com/office/powerpoint/2010/main" val="3000931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8B4E8-6B3F-5B78-D6EC-2A21E4ADF95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F1F4268-F4C6-DDFF-39ED-0FCC6166CA1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5673D79-14EB-4988-48C6-980E88B83D9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AE9946B-B440-D34B-0EE2-418785BF2F20}"/>
              </a:ext>
            </a:extLst>
          </p:cNvPr>
          <p:cNvSpPr>
            <a:spLocks noGrp="1"/>
          </p:cNvSpPr>
          <p:nvPr>
            <p:ph type="sldNum" sz="quarter" idx="5"/>
          </p:nvPr>
        </p:nvSpPr>
        <p:spPr/>
        <p:txBody>
          <a:bodyPr/>
          <a:lstStyle/>
          <a:p>
            <a:pPr>
              <a:defRPr/>
            </a:pPr>
            <a:fld id="{3034C4DD-B5F0-4D19-90EF-C93D91509D9D}" type="slidenum">
              <a:rPr lang="en-US" altLang="ko-KR" smtClean="0"/>
              <a:pPr>
                <a:defRPr/>
              </a:pPr>
              <a:t>5</a:t>
            </a:fld>
            <a:endParaRPr lang="en-US" altLang="ko-KR"/>
          </a:p>
        </p:txBody>
      </p:sp>
    </p:spTree>
    <p:extLst>
      <p:ext uri="{BB962C8B-B14F-4D97-AF65-F5344CB8AC3E}">
        <p14:creationId xmlns:p14="http://schemas.microsoft.com/office/powerpoint/2010/main" val="255493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BA887-8E51-3627-CF96-7ACB8022B3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A6AF90F-3689-606B-8F7D-3A6BDF32A62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418810F-B2FF-C4B2-9C4C-C2CD5A6F9F5B}"/>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E07A738-4DEF-E9DD-C2F9-07F6C37F2521}"/>
              </a:ext>
            </a:extLst>
          </p:cNvPr>
          <p:cNvSpPr>
            <a:spLocks noGrp="1"/>
          </p:cNvSpPr>
          <p:nvPr>
            <p:ph type="sldNum" sz="quarter" idx="5"/>
          </p:nvPr>
        </p:nvSpPr>
        <p:spPr/>
        <p:txBody>
          <a:bodyPr/>
          <a:lstStyle/>
          <a:p>
            <a:pPr>
              <a:defRPr/>
            </a:pPr>
            <a:fld id="{3034C4DD-B5F0-4D19-90EF-C93D91509D9D}" type="slidenum">
              <a:rPr lang="en-US" altLang="ko-KR" smtClean="0"/>
              <a:pPr>
                <a:defRPr/>
              </a:pPr>
              <a:t>6</a:t>
            </a:fld>
            <a:endParaRPr lang="en-US" altLang="ko-KR"/>
          </a:p>
        </p:txBody>
      </p:sp>
    </p:spTree>
    <p:extLst>
      <p:ext uri="{BB962C8B-B14F-4D97-AF65-F5344CB8AC3E}">
        <p14:creationId xmlns:p14="http://schemas.microsoft.com/office/powerpoint/2010/main" val="3000411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21F3-07D4-184F-52B6-5356B4A87CD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40338C5-1D6B-EB3E-01C8-4C89AC4F926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2CE37A2-840F-38DA-8180-5A6ECBA04ECE}"/>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2352003-1427-6109-5390-6D7131C0250E}"/>
              </a:ext>
            </a:extLst>
          </p:cNvPr>
          <p:cNvSpPr>
            <a:spLocks noGrp="1"/>
          </p:cNvSpPr>
          <p:nvPr>
            <p:ph type="sldNum" sz="quarter" idx="5"/>
          </p:nvPr>
        </p:nvSpPr>
        <p:spPr/>
        <p:txBody>
          <a:bodyPr/>
          <a:lstStyle/>
          <a:p>
            <a:pPr>
              <a:defRPr/>
            </a:pPr>
            <a:fld id="{3034C4DD-B5F0-4D19-90EF-C93D91509D9D}" type="slidenum">
              <a:rPr lang="en-US" altLang="ko-KR" smtClean="0"/>
              <a:pPr>
                <a:defRPr/>
              </a:pPr>
              <a:t>7</a:t>
            </a:fld>
            <a:endParaRPr lang="en-US" altLang="ko-KR"/>
          </a:p>
        </p:txBody>
      </p:sp>
    </p:spTree>
    <p:extLst>
      <p:ext uri="{BB962C8B-B14F-4D97-AF65-F5344CB8AC3E}">
        <p14:creationId xmlns:p14="http://schemas.microsoft.com/office/powerpoint/2010/main" val="2170957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AE581-F93A-16D0-9B52-DCD9BB00A45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0C282C-CEEC-9EA2-B3B4-40048677359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9ECE787-BEA9-D749-23EA-ACFB51402A4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C5EA381-0FFE-8EC7-E1BA-8496B849AC8D}"/>
              </a:ext>
            </a:extLst>
          </p:cNvPr>
          <p:cNvSpPr>
            <a:spLocks noGrp="1"/>
          </p:cNvSpPr>
          <p:nvPr>
            <p:ph type="sldNum" sz="quarter" idx="5"/>
          </p:nvPr>
        </p:nvSpPr>
        <p:spPr/>
        <p:txBody>
          <a:bodyPr/>
          <a:lstStyle/>
          <a:p>
            <a:pPr>
              <a:defRPr/>
            </a:pPr>
            <a:fld id="{3034C4DD-B5F0-4D19-90EF-C93D91509D9D}" type="slidenum">
              <a:rPr lang="en-US" altLang="ko-KR" smtClean="0"/>
              <a:pPr>
                <a:defRPr/>
              </a:pPr>
              <a:t>8</a:t>
            </a:fld>
            <a:endParaRPr lang="en-US" altLang="ko-KR"/>
          </a:p>
        </p:txBody>
      </p:sp>
    </p:spTree>
    <p:extLst>
      <p:ext uri="{BB962C8B-B14F-4D97-AF65-F5344CB8AC3E}">
        <p14:creationId xmlns:p14="http://schemas.microsoft.com/office/powerpoint/2010/main" val="3185439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7A345-2D5F-8E45-F041-4BD21F5A5C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20C9AFD-A97D-A09F-E5C1-C93295B465B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CA7C966-332A-1A63-85C3-7F66C4ADD29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7F011A1C-0FFC-1890-4EA8-B176C6B4FB0D}"/>
              </a:ext>
            </a:extLst>
          </p:cNvPr>
          <p:cNvSpPr>
            <a:spLocks noGrp="1"/>
          </p:cNvSpPr>
          <p:nvPr>
            <p:ph type="sldNum" sz="quarter" idx="5"/>
          </p:nvPr>
        </p:nvSpPr>
        <p:spPr/>
        <p:txBody>
          <a:bodyPr/>
          <a:lstStyle/>
          <a:p>
            <a:pPr>
              <a:defRPr/>
            </a:pPr>
            <a:fld id="{3034C4DD-B5F0-4D19-90EF-C93D91509D9D}" type="slidenum">
              <a:rPr lang="en-US" altLang="ko-KR" smtClean="0"/>
              <a:pPr>
                <a:defRPr/>
              </a:pPr>
              <a:t>9</a:t>
            </a:fld>
            <a:endParaRPr lang="en-US" altLang="ko-KR"/>
          </a:p>
        </p:txBody>
      </p:sp>
    </p:spTree>
    <p:extLst>
      <p:ext uri="{BB962C8B-B14F-4D97-AF65-F5344CB8AC3E}">
        <p14:creationId xmlns:p14="http://schemas.microsoft.com/office/powerpoint/2010/main" val="462251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41552-5300-0782-C061-2E93C253B72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D4F132-784E-ADD7-E546-343819A4ED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726E20C-C192-23A2-FB0E-AEB06641C22E}"/>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EC78E900-3B60-35B4-3380-06D65681631C}"/>
              </a:ext>
            </a:extLst>
          </p:cNvPr>
          <p:cNvSpPr>
            <a:spLocks noGrp="1"/>
          </p:cNvSpPr>
          <p:nvPr>
            <p:ph type="sldNum" sz="quarter" idx="5"/>
          </p:nvPr>
        </p:nvSpPr>
        <p:spPr/>
        <p:txBody>
          <a:bodyPr/>
          <a:lstStyle/>
          <a:p>
            <a:pPr>
              <a:defRPr/>
            </a:pPr>
            <a:fld id="{3034C4DD-B5F0-4D19-90EF-C93D91509D9D}" type="slidenum">
              <a:rPr lang="en-US" altLang="ko-KR" smtClean="0"/>
              <a:pPr>
                <a:defRPr/>
              </a:pPr>
              <a:t>10</a:t>
            </a:fld>
            <a:endParaRPr lang="en-US" altLang="ko-KR"/>
          </a:p>
        </p:txBody>
      </p:sp>
    </p:spTree>
    <p:extLst>
      <p:ext uri="{BB962C8B-B14F-4D97-AF65-F5344CB8AC3E}">
        <p14:creationId xmlns:p14="http://schemas.microsoft.com/office/powerpoint/2010/main" val="4259176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C78AD-A919-82C9-1396-0840282B6BC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AA6D95F-DCEC-3D89-1FB3-C2008801AF1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0EF8EA5-D4DE-B321-9A32-AB2E412CCDF8}"/>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CF3B43D-3757-3592-8F64-2B2D14C622B4}"/>
              </a:ext>
            </a:extLst>
          </p:cNvPr>
          <p:cNvSpPr>
            <a:spLocks noGrp="1"/>
          </p:cNvSpPr>
          <p:nvPr>
            <p:ph type="sldNum" sz="quarter" idx="5"/>
          </p:nvPr>
        </p:nvSpPr>
        <p:spPr/>
        <p:txBody>
          <a:bodyPr/>
          <a:lstStyle/>
          <a:p>
            <a:pPr>
              <a:defRPr/>
            </a:pPr>
            <a:fld id="{3034C4DD-B5F0-4D19-90EF-C93D91509D9D}" type="slidenum">
              <a:rPr lang="en-US" altLang="ko-KR" smtClean="0"/>
              <a:pPr>
                <a:defRPr/>
              </a:pPr>
              <a:t>11</a:t>
            </a:fld>
            <a:endParaRPr lang="en-US" altLang="ko-KR"/>
          </a:p>
        </p:txBody>
      </p:sp>
    </p:spTree>
    <p:extLst>
      <p:ext uri="{BB962C8B-B14F-4D97-AF65-F5344CB8AC3E}">
        <p14:creationId xmlns:p14="http://schemas.microsoft.com/office/powerpoint/2010/main" val="285216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BC06-727A-857D-6501-4E17D838906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A316E35-BBA9-F132-D634-C4FA15300D7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2733EC2-28B3-A6A3-EFC8-516134F884E0}"/>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D67F3D92-1323-733E-89E2-15D9E1A012B3}"/>
              </a:ext>
            </a:extLst>
          </p:cNvPr>
          <p:cNvSpPr>
            <a:spLocks noGrp="1"/>
          </p:cNvSpPr>
          <p:nvPr>
            <p:ph type="sldNum" sz="quarter" idx="5"/>
          </p:nvPr>
        </p:nvSpPr>
        <p:spPr/>
        <p:txBody>
          <a:bodyPr/>
          <a:lstStyle/>
          <a:p>
            <a:pPr>
              <a:defRPr/>
            </a:pPr>
            <a:fld id="{3034C4DD-B5F0-4D19-90EF-C93D91509D9D}" type="slidenum">
              <a:rPr lang="en-US" altLang="ko-KR" smtClean="0"/>
              <a:pPr>
                <a:defRPr/>
              </a:pPr>
              <a:t>12</a:t>
            </a:fld>
            <a:endParaRPr lang="en-US" altLang="ko-KR"/>
          </a:p>
        </p:txBody>
      </p:sp>
    </p:spTree>
    <p:extLst>
      <p:ext uri="{BB962C8B-B14F-4D97-AF65-F5344CB8AC3E}">
        <p14:creationId xmlns:p14="http://schemas.microsoft.com/office/powerpoint/2010/main" val="717025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4AB-06A8-764B-D6B1-793C1F6F229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AB1FF68-4D48-66F2-A305-C6C7187BDE4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C92D931-0BB0-238B-68C0-54AE6F2EFC0F}"/>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5616F1E-7081-1F2D-B4E1-3C89904D77CC}"/>
              </a:ext>
            </a:extLst>
          </p:cNvPr>
          <p:cNvSpPr>
            <a:spLocks noGrp="1"/>
          </p:cNvSpPr>
          <p:nvPr>
            <p:ph type="sldNum" sz="quarter" idx="5"/>
          </p:nvPr>
        </p:nvSpPr>
        <p:spPr/>
        <p:txBody>
          <a:bodyPr/>
          <a:lstStyle/>
          <a:p>
            <a:pPr>
              <a:defRPr/>
            </a:pPr>
            <a:fld id="{3034C4DD-B5F0-4D19-90EF-C93D91509D9D}" type="slidenum">
              <a:rPr lang="en-US" altLang="ko-KR" smtClean="0"/>
              <a:pPr>
                <a:defRPr/>
              </a:pPr>
              <a:t>13</a:t>
            </a:fld>
            <a:endParaRPr lang="en-US" altLang="ko-KR"/>
          </a:p>
        </p:txBody>
      </p:sp>
    </p:spTree>
    <p:extLst>
      <p:ext uri="{BB962C8B-B14F-4D97-AF65-F5344CB8AC3E}">
        <p14:creationId xmlns:p14="http://schemas.microsoft.com/office/powerpoint/2010/main" val="292389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38FA-A409-2537-C46A-E2DE30E698F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5E4F7A6-7275-B42D-B895-E1DE73A9940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F8833E-E237-F7B3-8C06-DAB3293F1AFC}"/>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44896989-84F0-F725-9B66-9C5C574315E9}"/>
              </a:ext>
            </a:extLst>
          </p:cNvPr>
          <p:cNvSpPr>
            <a:spLocks noGrp="1"/>
          </p:cNvSpPr>
          <p:nvPr>
            <p:ph type="sldNum" sz="quarter" idx="5"/>
          </p:nvPr>
        </p:nvSpPr>
        <p:spPr/>
        <p:txBody>
          <a:bodyPr/>
          <a:lstStyle/>
          <a:p>
            <a:pPr>
              <a:defRPr/>
            </a:pPr>
            <a:fld id="{3034C4DD-B5F0-4D19-90EF-C93D91509D9D}" type="slidenum">
              <a:rPr lang="en-US" altLang="ko-KR" smtClean="0"/>
              <a:pPr>
                <a:defRPr/>
              </a:pPr>
              <a:t>14</a:t>
            </a:fld>
            <a:endParaRPr lang="en-US" altLang="ko-KR"/>
          </a:p>
        </p:txBody>
      </p:sp>
    </p:spTree>
    <p:extLst>
      <p:ext uri="{BB962C8B-B14F-4D97-AF65-F5344CB8AC3E}">
        <p14:creationId xmlns:p14="http://schemas.microsoft.com/office/powerpoint/2010/main" val="310174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9637E-D455-F859-08EF-B33A1A2056C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E0853B-3879-6E15-3BF7-30B95AADAB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CAEB5F0-A382-A8F0-FE58-6007D64B5D8C}"/>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241F0214-D77D-DF70-8AF3-CD9BA247F2AC}"/>
              </a:ext>
            </a:extLst>
          </p:cNvPr>
          <p:cNvSpPr>
            <a:spLocks noGrp="1"/>
          </p:cNvSpPr>
          <p:nvPr>
            <p:ph type="sldNum" sz="quarter" idx="5"/>
          </p:nvPr>
        </p:nvSpPr>
        <p:spPr/>
        <p:txBody>
          <a:bodyPr/>
          <a:lstStyle/>
          <a:p>
            <a:pPr>
              <a:defRPr/>
            </a:pPr>
            <a:fld id="{3034C4DD-B5F0-4D19-90EF-C93D91509D9D}" type="slidenum">
              <a:rPr lang="en-US" altLang="ko-KR" smtClean="0"/>
              <a:pPr>
                <a:defRPr/>
              </a:pPr>
              <a:t>15</a:t>
            </a:fld>
            <a:endParaRPr lang="en-US" altLang="ko-KR"/>
          </a:p>
        </p:txBody>
      </p:sp>
    </p:spTree>
    <p:extLst>
      <p:ext uri="{BB962C8B-B14F-4D97-AF65-F5344CB8AC3E}">
        <p14:creationId xmlns:p14="http://schemas.microsoft.com/office/powerpoint/2010/main" val="4081816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E39B4-4562-3DCA-D868-312FE6287D1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F079B07-DF20-7A38-174C-C59053448D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58673ED-DBD0-4460-3B12-6D463865D7DA}"/>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3C258D9-82BC-CCF5-D54B-54FCCEF253FA}"/>
              </a:ext>
            </a:extLst>
          </p:cNvPr>
          <p:cNvSpPr>
            <a:spLocks noGrp="1"/>
          </p:cNvSpPr>
          <p:nvPr>
            <p:ph type="sldNum" sz="quarter" idx="5"/>
          </p:nvPr>
        </p:nvSpPr>
        <p:spPr/>
        <p:txBody>
          <a:bodyPr/>
          <a:lstStyle/>
          <a:p>
            <a:pPr>
              <a:defRPr/>
            </a:pPr>
            <a:fld id="{3034C4DD-B5F0-4D19-90EF-C93D91509D9D}" type="slidenum">
              <a:rPr lang="en-US" altLang="ko-KR" smtClean="0"/>
              <a:pPr>
                <a:defRPr/>
              </a:pPr>
              <a:t>16</a:t>
            </a:fld>
            <a:endParaRPr lang="en-US" altLang="ko-KR"/>
          </a:p>
        </p:txBody>
      </p:sp>
    </p:spTree>
    <p:extLst>
      <p:ext uri="{BB962C8B-B14F-4D97-AF65-F5344CB8AC3E}">
        <p14:creationId xmlns:p14="http://schemas.microsoft.com/office/powerpoint/2010/main" val="1731809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A5412-84AE-B1BB-5B6B-29686EA10B6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F18DA0A-8F49-1694-98E0-3370B182E21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E09995-8950-52F6-BBA2-E6FA82B33293}"/>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DDB37868-B79D-BFA5-FC85-AA135310774F}"/>
              </a:ext>
            </a:extLst>
          </p:cNvPr>
          <p:cNvSpPr>
            <a:spLocks noGrp="1"/>
          </p:cNvSpPr>
          <p:nvPr>
            <p:ph type="sldNum" sz="quarter" idx="5"/>
          </p:nvPr>
        </p:nvSpPr>
        <p:spPr/>
        <p:txBody>
          <a:bodyPr/>
          <a:lstStyle/>
          <a:p>
            <a:pPr>
              <a:defRPr/>
            </a:pPr>
            <a:fld id="{3034C4DD-B5F0-4D19-90EF-C93D91509D9D}" type="slidenum">
              <a:rPr lang="en-US" altLang="ko-KR" smtClean="0"/>
              <a:pPr>
                <a:defRPr/>
              </a:pPr>
              <a:t>17</a:t>
            </a:fld>
            <a:endParaRPr lang="en-US" altLang="ko-KR"/>
          </a:p>
        </p:txBody>
      </p:sp>
    </p:spTree>
    <p:extLst>
      <p:ext uri="{BB962C8B-B14F-4D97-AF65-F5344CB8AC3E}">
        <p14:creationId xmlns:p14="http://schemas.microsoft.com/office/powerpoint/2010/main" val="1986154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3167063"/>
            <a:ext cx="7772400" cy="109537"/>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99330" name="Rectangle 2"/>
          <p:cNvSpPr>
            <a:spLocks noGrp="1" noChangeArrowheads="1"/>
          </p:cNvSpPr>
          <p:nvPr>
            <p:ph type="ctrTitle"/>
          </p:nvPr>
        </p:nvSpPr>
        <p:spPr>
          <a:xfrm>
            <a:off x="685800" y="990600"/>
            <a:ext cx="7772400" cy="2057400"/>
          </a:xfrm>
        </p:spPr>
        <p:txBody>
          <a:bodyPr/>
          <a:lstStyle>
            <a:lvl1pPr>
              <a:defRPr sz="4000"/>
            </a:lvl1pPr>
          </a:lstStyle>
          <a:p>
            <a:r>
              <a:rPr lang="en-US" altLang="ko-KR" dirty="0"/>
              <a:t>Click to edit Master title style</a:t>
            </a:r>
          </a:p>
        </p:txBody>
      </p:sp>
      <p:sp>
        <p:nvSpPr>
          <p:cNvPr id="99331"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ltLang="ko-KR"/>
              <a:t>Click to edit Master subtitle style</a:t>
            </a:r>
          </a:p>
        </p:txBody>
      </p:sp>
      <p:sp>
        <p:nvSpPr>
          <p:cNvPr id="2" name="날짜 개체 틀 1"/>
          <p:cNvSpPr>
            <a:spLocks noGrp="1"/>
          </p:cNvSpPr>
          <p:nvPr>
            <p:ph type="dt" sz="half" idx="10"/>
          </p:nvPr>
        </p:nvSpPr>
        <p:spPr/>
        <p:txBody>
          <a:bodyPr/>
          <a:lstStyle/>
          <a:p>
            <a:pPr>
              <a:defRPr/>
            </a:pPr>
            <a:endParaRPr lang="en-US" altLang="ko-KR"/>
          </a:p>
        </p:txBody>
      </p:sp>
      <p:sp>
        <p:nvSpPr>
          <p:cNvPr id="3" name="바닥글 개체 틀 2"/>
          <p:cNvSpPr>
            <a:spLocks noGrp="1"/>
          </p:cNvSpPr>
          <p:nvPr>
            <p:ph type="ftr" sz="quarter" idx="11"/>
          </p:nvPr>
        </p:nvSpPr>
        <p:spPr/>
        <p:txBody>
          <a:bodyPr/>
          <a:lstStyle/>
          <a:p>
            <a:pPr>
              <a:defRPr/>
            </a:pPr>
            <a:endParaRPr lang="en-US" altLang="ko-KR"/>
          </a:p>
        </p:txBody>
      </p:sp>
      <p:sp>
        <p:nvSpPr>
          <p:cNvPr id="11"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56584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197968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4167597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429098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8"/>
          <p:cNvSpPr>
            <a:spLocks noGrp="1" noChangeArrowheads="1"/>
          </p:cNvSpPr>
          <p:nvPr>
            <p:ph type="sldNum" sz="quarter" idx="12"/>
          </p:nvPr>
        </p:nvSpPr>
        <p:spPr>
          <a:ln/>
        </p:spPr>
        <p:txBody>
          <a:bodyPr/>
          <a:lstStyle>
            <a:lvl1pPr>
              <a:defRPr/>
            </a:lvl1pPr>
          </a:lstStyle>
          <a:p>
            <a:pPr>
              <a:defRPr/>
            </a:pPr>
            <a:fld id="{25C4F442-0702-4871-9EAF-8F0C083906AB}" type="slidenum">
              <a:rPr lang="en-US" altLang="ko-KR"/>
              <a:pPr>
                <a:defRPr/>
              </a:pPr>
              <a:t>‹#›</a:t>
            </a:fld>
            <a:endParaRPr lang="en-US" altLang="ko-KR"/>
          </a:p>
        </p:txBody>
      </p:sp>
    </p:spTree>
    <p:extLst>
      <p:ext uri="{BB962C8B-B14F-4D97-AF65-F5344CB8AC3E}">
        <p14:creationId xmlns:p14="http://schemas.microsoft.com/office/powerpoint/2010/main" val="11787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3025324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264030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12"/>
          </p:nvPr>
        </p:nvSpPr>
        <p:spPr>
          <a:ln/>
        </p:spPr>
        <p:txBody>
          <a:bodyPr/>
          <a:lstStyle>
            <a:lvl1pPr>
              <a:defRPr/>
            </a:lvl1pPr>
          </a:lstStyle>
          <a:p>
            <a:pPr>
              <a:defRPr/>
            </a:pPr>
            <a:fld id="{BE277BF6-BA3E-4748-B245-534E2C51AF96}" type="slidenum">
              <a:rPr lang="en-US" altLang="ko-KR" smtClean="0"/>
              <a:pPr>
                <a:defRPr/>
              </a:pPr>
              <a:t>‹#›</a:t>
            </a:fld>
            <a:endParaRPr lang="en-US" altLang="ko-KR" dirty="0"/>
          </a:p>
        </p:txBody>
      </p:sp>
    </p:spTree>
    <p:extLst>
      <p:ext uri="{BB962C8B-B14F-4D97-AF65-F5344CB8AC3E}">
        <p14:creationId xmlns:p14="http://schemas.microsoft.com/office/powerpoint/2010/main" val="142926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8"/>
          <p:cNvSpPr>
            <a:spLocks noGrp="1" noChangeArrowheads="1"/>
          </p:cNvSpPr>
          <p:nvPr>
            <p:ph type="sldNum" sz="quarter" idx="12"/>
          </p:nvPr>
        </p:nvSpPr>
        <p:spPr>
          <a:ln/>
        </p:spPr>
        <p:txBody>
          <a:bodyPr/>
          <a:lstStyle>
            <a:lvl1pPr>
              <a:defRPr/>
            </a:lvl1pPr>
          </a:lstStyle>
          <a:p>
            <a:pPr>
              <a:defRPr/>
            </a:pPr>
            <a:fld id="{E474D9A6-73D7-4A68-816A-D2C18F85EA66}" type="slidenum">
              <a:rPr lang="en-US" altLang="ko-KR"/>
              <a:pPr>
                <a:defRPr/>
              </a:pPr>
              <a:t>‹#›</a:t>
            </a:fld>
            <a:endParaRPr lang="en-US" altLang="ko-KR"/>
          </a:p>
        </p:txBody>
      </p:sp>
    </p:spTree>
    <p:extLst>
      <p:ext uri="{BB962C8B-B14F-4D97-AF65-F5344CB8AC3E}">
        <p14:creationId xmlns:p14="http://schemas.microsoft.com/office/powerpoint/2010/main" val="64494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7DECF23F-13E4-46CA-AA3A-B4A7B1C0ECB0}" type="slidenum">
              <a:rPr lang="en-US" altLang="ko-KR"/>
              <a:pPr>
                <a:defRPr/>
              </a:pPr>
              <a:t>‹#›</a:t>
            </a:fld>
            <a:endParaRPr lang="en-US" altLang="ko-KR"/>
          </a:p>
        </p:txBody>
      </p:sp>
    </p:spTree>
    <p:extLst>
      <p:ext uri="{BB962C8B-B14F-4D97-AF65-F5344CB8AC3E}">
        <p14:creationId xmlns:p14="http://schemas.microsoft.com/office/powerpoint/2010/main" val="2094489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73838" y="304800"/>
            <a:ext cx="2001837" cy="57150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66738" y="304800"/>
            <a:ext cx="5854700" cy="57150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A85ABB9B-3F09-4AA4-9D80-FA51D0ADB248}" type="slidenum">
              <a:rPr lang="en-US" altLang="ko-KR"/>
              <a:pPr>
                <a:defRPr/>
              </a:pPr>
              <a:t>‹#›</a:t>
            </a:fld>
            <a:endParaRPr lang="en-US" altLang="ko-KR"/>
          </a:p>
        </p:txBody>
      </p:sp>
    </p:spTree>
    <p:extLst>
      <p:ext uri="{BB962C8B-B14F-4D97-AF65-F5344CB8AC3E}">
        <p14:creationId xmlns:p14="http://schemas.microsoft.com/office/powerpoint/2010/main" val="28099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내용">
    <p:spTree>
      <p:nvGrpSpPr>
        <p:cNvPr id="1" name=""/>
        <p:cNvGrpSpPr/>
        <p:nvPr/>
      </p:nvGrpSpPr>
      <p:grpSpPr>
        <a:xfrm>
          <a:off x="0" y="0"/>
          <a:ext cx="0" cy="0"/>
          <a:chOff x="0" y="0"/>
          <a:chExt cx="0" cy="0"/>
        </a:xfrm>
      </p:grpSpPr>
      <p:sp>
        <p:nvSpPr>
          <p:cNvPr id="2" name="내용 개체 틀 1"/>
          <p:cNvSpPr>
            <a:spLocks noGrp="1"/>
          </p:cNvSpPr>
          <p:nvPr>
            <p:ph/>
          </p:nvPr>
        </p:nvSpPr>
        <p:spPr>
          <a:xfrm>
            <a:off x="566738" y="304800"/>
            <a:ext cx="8008937" cy="5715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8"/>
          <p:cNvSpPr>
            <a:spLocks noGrp="1" noChangeArrowheads="1"/>
          </p:cNvSpPr>
          <p:nvPr>
            <p:ph type="sldNum" sz="quarter" idx="12"/>
          </p:nvPr>
        </p:nvSpPr>
        <p:spPr>
          <a:ln/>
        </p:spPr>
        <p:txBody>
          <a:bodyPr/>
          <a:lstStyle>
            <a:lvl1pPr>
              <a:defRPr/>
            </a:lvl1pPr>
          </a:lstStyle>
          <a:p>
            <a:pPr>
              <a:defRPr/>
            </a:pPr>
            <a:fld id="{7957972A-6669-4AFE-901C-0750805E26F2}" type="slidenum">
              <a:rPr lang="en-US" altLang="ko-KR"/>
              <a:pPr>
                <a:defRPr/>
              </a:pPr>
              <a:t>‹#›</a:t>
            </a:fld>
            <a:endParaRPr lang="en-US" altLang="ko-KR"/>
          </a:p>
        </p:txBody>
      </p:sp>
    </p:spTree>
    <p:extLst>
      <p:ext uri="{BB962C8B-B14F-4D97-AF65-F5344CB8AC3E}">
        <p14:creationId xmlns:p14="http://schemas.microsoft.com/office/powerpoint/2010/main" val="3177337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574675" y="304800"/>
            <a:ext cx="8001000" cy="1216025"/>
          </a:xfrm>
        </p:spPr>
        <p:txBody>
          <a:bodyPr/>
          <a:lstStyle/>
          <a:p>
            <a:r>
              <a:rPr lang="ko-KR" altLang="en-US"/>
              <a:t>마스터 제목 스타일 편집</a:t>
            </a:r>
          </a:p>
        </p:txBody>
      </p:sp>
      <p:sp>
        <p:nvSpPr>
          <p:cNvPr id="3" name="표 개체 틀 2"/>
          <p:cNvSpPr>
            <a:spLocks noGrp="1"/>
          </p:cNvSpPr>
          <p:nvPr>
            <p:ph type="tbl" idx="1"/>
          </p:nvPr>
        </p:nvSpPr>
        <p:spPr>
          <a:xfrm>
            <a:off x="566738" y="1752600"/>
            <a:ext cx="8001000" cy="4267200"/>
          </a:xfrm>
        </p:spPr>
        <p:txBody>
          <a:bodyPr/>
          <a:lstStyle/>
          <a:p>
            <a:pPr lvl="0"/>
            <a:endParaRPr lang="ko-KR" altLang="en-US" noProof="0"/>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8"/>
          <p:cNvSpPr>
            <a:spLocks noGrp="1" noChangeArrowheads="1"/>
          </p:cNvSpPr>
          <p:nvPr>
            <p:ph type="sldNum" sz="quarter" idx="12"/>
          </p:nvPr>
        </p:nvSpPr>
        <p:spPr>
          <a:ln/>
        </p:spPr>
        <p:txBody>
          <a:bodyPr/>
          <a:lstStyle>
            <a:lvl1pPr>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78492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574675" y="304800"/>
            <a:ext cx="8001000" cy="1216025"/>
          </a:xfrm>
        </p:spPr>
        <p:txBody>
          <a:bodyPr/>
          <a:lstStyle/>
          <a:p>
            <a:r>
              <a:rPr lang="ko-KR" altLang="en-US"/>
              <a:t>마스터 제목 스타일 편집</a:t>
            </a:r>
          </a:p>
        </p:txBody>
      </p:sp>
      <p:sp>
        <p:nvSpPr>
          <p:cNvPr id="7" name="AutoShape 7"/>
          <p:cNvSpPr>
            <a:spLocks noChangeArrowheads="1"/>
          </p:cNvSpPr>
          <p:nvPr userDrawn="1"/>
        </p:nvSpPr>
        <p:spPr bwMode="auto">
          <a:xfrm>
            <a:off x="600456" y="1563624"/>
            <a:ext cx="7772400" cy="109537"/>
          </a:xfrm>
          <a:custGeom>
            <a:avLst/>
            <a:gdLst>
              <a:gd name="T0" fmla="*/ 0 w 1000"/>
              <a:gd name="T1" fmla="*/ 0 h 1000"/>
              <a:gd name="T2" fmla="*/ 4803343 w 1000"/>
              <a:gd name="T3" fmla="*/ 0 h 1000"/>
              <a:gd name="T4" fmla="*/ 4803343 w 1000"/>
              <a:gd name="T5" fmla="*/ 109538 h 1000"/>
              <a:gd name="T6" fmla="*/ 0 w 1000"/>
              <a:gd name="T7" fmla="*/ 109538 h 1000"/>
              <a:gd name="T8" fmla="*/ 0 w 1000"/>
              <a:gd name="T9" fmla="*/ 0 h 1000"/>
              <a:gd name="T10" fmla="*/ 77724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8" name="내용 개체 틀 1"/>
          <p:cNvSpPr>
            <a:spLocks noGrp="1"/>
          </p:cNvSpPr>
          <p:nvPr>
            <p:ph idx="10"/>
          </p:nvPr>
        </p:nvSpPr>
        <p:spPr>
          <a:xfrm>
            <a:off x="566738" y="1752600"/>
            <a:ext cx="8008937" cy="42672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9" name="Rectangle 8"/>
          <p:cNvSpPr>
            <a:spLocks noGrp="1" noChangeArrowheads="1"/>
          </p:cNvSpPr>
          <p:nvPr>
            <p:ph type="sldNum" sz="quarter" idx="12"/>
          </p:nvPr>
        </p:nvSpPr>
        <p:spPr>
          <a:xfrm>
            <a:off x="6553200" y="6245225"/>
            <a:ext cx="1981200" cy="476250"/>
          </a:xfrm>
          <a:ln/>
        </p:spPr>
        <p:txBody>
          <a:bodyPr/>
          <a:lstStyle>
            <a:lvl1pPr>
              <a:defRPr/>
            </a:lvl1pPr>
          </a:lstStyle>
          <a:p>
            <a:pPr>
              <a:defRPr/>
            </a:pPr>
            <a:fld id="{B3FB860D-F394-48CF-92D0-A8FAD68E8B22}" type="slidenum">
              <a:rPr lang="en-US" altLang="ko-KR" smtClean="0"/>
              <a:pPr>
                <a:defRPr/>
              </a:pPr>
              <a:t>‹#›</a:t>
            </a:fld>
            <a:endParaRPr lang="en-US" altLang="ko-KR" dirty="0"/>
          </a:p>
        </p:txBody>
      </p:sp>
    </p:spTree>
    <p:extLst>
      <p:ext uri="{BB962C8B-B14F-4D97-AF65-F5344CB8AC3E}">
        <p14:creationId xmlns:p14="http://schemas.microsoft.com/office/powerpoint/2010/main" val="2675603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ko-KR"/>
              <a:t>Click to edit Master title style</a:t>
            </a:r>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028" name="AutoShape 4"/>
          <p:cNvSpPr>
            <a:spLocks noChangeArrowheads="1"/>
          </p:cNvSpPr>
          <p:nvPr/>
        </p:nvSpPr>
        <p:spPr bwMode="auto">
          <a:xfrm>
            <a:off x="609600" y="1566863"/>
            <a:ext cx="7958138" cy="109537"/>
          </a:xfrm>
          <a:custGeom>
            <a:avLst/>
            <a:gdLst>
              <a:gd name="T0" fmla="*/ 0 w 1000"/>
              <a:gd name="T1" fmla="*/ 0 h 1000"/>
              <a:gd name="T2" fmla="*/ 4655511 w 1000"/>
              <a:gd name="T3" fmla="*/ 0 h 1000"/>
              <a:gd name="T4" fmla="*/ 4655511 w 1000"/>
              <a:gd name="T5" fmla="*/ 109537 h 1000"/>
              <a:gd name="T6" fmla="*/ 0 w 1000"/>
              <a:gd name="T7" fmla="*/ 109537 h 1000"/>
              <a:gd name="T8" fmla="*/ 0 w 1000"/>
              <a:gd name="T9" fmla="*/ 0 h 1000"/>
              <a:gd name="T10" fmla="*/ 7958138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0000FF"/>
          </a:solidFill>
          <a:ln w="9525">
            <a:solidFill>
              <a:srgbClr val="0000FF"/>
            </a:solidFill>
            <a:round/>
            <a:headEnd/>
            <a:tailEnd/>
          </a:ln>
        </p:spPr>
        <p:txBody>
          <a:bodyPr/>
          <a:lstStyle/>
          <a:p>
            <a:endParaRPr lang="ko-KR" altLang="en-US"/>
          </a:p>
        </p:txBody>
      </p:sp>
      <p:sp>
        <p:nvSpPr>
          <p:cNvPr id="1029" name="Line 5"/>
          <p:cNvSpPr>
            <a:spLocks noChangeShapeType="1"/>
          </p:cNvSpPr>
          <p:nvPr/>
        </p:nvSpPr>
        <p:spPr bwMode="auto">
          <a:xfrm flipV="1">
            <a:off x="609600" y="6172200"/>
            <a:ext cx="7924800" cy="0"/>
          </a:xfrm>
          <a:prstGeom prst="line">
            <a:avLst/>
          </a:prstGeom>
          <a:noFill/>
          <a:ln w="3175">
            <a:solidFill>
              <a:srgbClr val="0000FF"/>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8310"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굴림" charset="-127"/>
                <a:cs typeface="Arial" charset="0"/>
              </a:defRPr>
            </a:lvl1pPr>
          </a:lstStyle>
          <a:p>
            <a:pPr>
              <a:defRPr/>
            </a:pPr>
            <a:endParaRPr lang="en-US" altLang="ko-KR"/>
          </a:p>
        </p:txBody>
      </p:sp>
      <p:sp>
        <p:nvSpPr>
          <p:cNvPr id="98311"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ea typeface="굴림" charset="-127"/>
                <a:cs typeface="Arial" charset="0"/>
              </a:defRPr>
            </a:lvl1pPr>
          </a:lstStyle>
          <a:p>
            <a:pPr>
              <a:defRPr/>
            </a:pPr>
            <a:endParaRPr lang="en-US" altLang="ko-KR"/>
          </a:p>
        </p:txBody>
      </p:sp>
      <p:sp>
        <p:nvSpPr>
          <p:cNvPr id="98312"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charset="-127"/>
                <a:cs typeface="Arial" charset="0"/>
              </a:defRPr>
            </a:lvl1pPr>
          </a:lstStyle>
          <a:p>
            <a:pPr>
              <a:defRPr/>
            </a:pPr>
            <a:fld id="{B3FB860D-F394-48CF-92D0-A8FAD68E8B22}" type="slidenum">
              <a:rPr lang="en-US" altLang="ko-KR" smtClean="0"/>
              <a:pPr>
                <a:defRPr/>
              </a:pPr>
              <a:t>‹#›</a:t>
            </a:fld>
            <a:endParaRPr lang="en-US" altLang="ko-KR" dirty="0"/>
          </a:p>
        </p:txBody>
      </p:sp>
    </p:spTree>
  </p:cSld>
  <p:clrMap bg1="lt1" tx1="dk1" bg2="lt2" tx2="dk2" accent1="accent1" accent2="accent2" accent3="accent3" accent4="accent4" accent5="accent5" accent6="accent6" hlink="hlink" folHlink="folHlink"/>
  <p:sldLayoutIdLst>
    <p:sldLayoutId id="2147483762"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3" r:id="rId14"/>
  </p:sldLayoutIdLst>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cs typeface="Arial" charset="0"/>
        </a:defRPr>
      </a:lvl2pPr>
      <a:lvl3pPr algn="l" rtl="0" eaLnBrk="0" fontAlgn="base" hangingPunct="0">
        <a:spcBef>
          <a:spcPct val="0"/>
        </a:spcBef>
        <a:spcAft>
          <a:spcPct val="0"/>
        </a:spcAft>
        <a:defRPr sz="3800">
          <a:solidFill>
            <a:schemeClr val="tx2"/>
          </a:solidFill>
          <a:latin typeface="Verdana" pitchFamily="34" charset="0"/>
          <a:cs typeface="Arial" charset="0"/>
        </a:defRPr>
      </a:lvl3pPr>
      <a:lvl4pPr algn="l" rtl="0" eaLnBrk="0" fontAlgn="base" hangingPunct="0">
        <a:spcBef>
          <a:spcPct val="0"/>
        </a:spcBef>
        <a:spcAft>
          <a:spcPct val="0"/>
        </a:spcAft>
        <a:defRPr sz="3800">
          <a:solidFill>
            <a:schemeClr val="tx2"/>
          </a:solidFill>
          <a:latin typeface="Verdana" pitchFamily="34" charset="0"/>
          <a:cs typeface="Arial" charset="0"/>
        </a:defRPr>
      </a:lvl4pPr>
      <a:lvl5pPr algn="l" rtl="0" eaLnBrk="0" fontAlgn="base" hangingPunct="0">
        <a:spcBef>
          <a:spcPct val="0"/>
        </a:spcBef>
        <a:spcAft>
          <a:spcPct val="0"/>
        </a:spcAft>
        <a:defRPr sz="3800">
          <a:solidFill>
            <a:schemeClr val="tx2"/>
          </a:solidFill>
          <a:latin typeface="Verdana" pitchFamily="34" charset="0"/>
          <a:cs typeface="Arial" charset="0"/>
        </a:defRPr>
      </a:lvl5pPr>
      <a:lvl6pPr marL="457200" algn="l" rtl="0" fontAlgn="base">
        <a:spcBef>
          <a:spcPct val="0"/>
        </a:spcBef>
        <a:spcAft>
          <a:spcPct val="0"/>
        </a:spcAft>
        <a:defRPr sz="3800">
          <a:solidFill>
            <a:schemeClr val="tx2"/>
          </a:solidFill>
          <a:latin typeface="Verdana" pitchFamily="34" charset="0"/>
          <a:cs typeface="Arial" charset="0"/>
        </a:defRPr>
      </a:lvl6pPr>
      <a:lvl7pPr marL="914400" algn="l" rtl="0" fontAlgn="base">
        <a:spcBef>
          <a:spcPct val="0"/>
        </a:spcBef>
        <a:spcAft>
          <a:spcPct val="0"/>
        </a:spcAft>
        <a:defRPr sz="3800">
          <a:solidFill>
            <a:schemeClr val="tx2"/>
          </a:solidFill>
          <a:latin typeface="Verdana" pitchFamily="34" charset="0"/>
          <a:cs typeface="Arial" charset="0"/>
        </a:defRPr>
      </a:lvl7pPr>
      <a:lvl8pPr marL="1371600" algn="l" rtl="0" fontAlgn="base">
        <a:spcBef>
          <a:spcPct val="0"/>
        </a:spcBef>
        <a:spcAft>
          <a:spcPct val="0"/>
        </a:spcAft>
        <a:defRPr sz="3800">
          <a:solidFill>
            <a:schemeClr val="tx2"/>
          </a:solidFill>
          <a:latin typeface="Verdana" pitchFamily="34" charset="0"/>
          <a:cs typeface="Arial" charset="0"/>
        </a:defRPr>
      </a:lvl8pPr>
      <a:lvl9pPr marL="1828800" algn="l" rtl="0" fontAlgn="base">
        <a:spcBef>
          <a:spcPct val="0"/>
        </a:spcBef>
        <a:spcAft>
          <a:spcPct val="0"/>
        </a:spcAft>
        <a:defRPr sz="3800">
          <a:solidFill>
            <a:schemeClr val="tx2"/>
          </a:solidFill>
          <a:latin typeface="Verdana" pitchFamily="34" charset="0"/>
          <a:cs typeface="Arial" charset="0"/>
        </a:defRPr>
      </a:lvl9pPr>
    </p:titleStyle>
    <p:body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838200" y="3581400"/>
            <a:ext cx="7467600" cy="2895600"/>
          </a:xfrm>
        </p:spPr>
        <p:txBody>
          <a:bodyPr/>
          <a:lstStyle/>
          <a:p>
            <a:pPr algn="ctr" eaLnBrk="1" hangingPunct="1"/>
            <a:endParaRPr lang="en-US" altLang="ko-KR" sz="2000" b="1" dirty="0">
              <a:ea typeface="굴림" pitchFamily="50" charset="-127"/>
            </a:endParaRPr>
          </a:p>
          <a:p>
            <a:pPr algn="ctr" eaLnBrk="1" hangingPunct="1"/>
            <a:r>
              <a:rPr lang="en-US" altLang="ko-KR" sz="2000" b="1" dirty="0">
                <a:ea typeface="굴림" pitchFamily="50" charset="-127"/>
              </a:rPr>
              <a:t>21 </a:t>
            </a:r>
            <a:r>
              <a:rPr lang="ko-KR" altLang="en-US" sz="2000" b="1" dirty="0">
                <a:ea typeface="굴림" pitchFamily="50" charset="-127"/>
              </a:rPr>
              <a:t>이태우</a:t>
            </a:r>
            <a:endParaRPr lang="en-US" altLang="ko-KR" sz="2000" b="1" dirty="0">
              <a:ea typeface="굴림" pitchFamily="50" charset="-127"/>
            </a:endParaRPr>
          </a:p>
          <a:p>
            <a:pPr algn="ctr" eaLnBrk="1" hangingPunct="1"/>
            <a:endParaRPr lang="en-US" altLang="ko-KR" sz="2000" b="1" dirty="0">
              <a:ea typeface="굴림" pitchFamily="50" charset="-127"/>
            </a:endParaRPr>
          </a:p>
        </p:txBody>
      </p:sp>
      <p:pic>
        <p:nvPicPr>
          <p:cNvPr id="4" name="Picture 2" descr="인하대학교 - 위키백과, 우리 모두의 백과사전">
            <a:extLst>
              <a:ext uri="{FF2B5EF4-FFF2-40B4-BE49-F238E27FC236}">
                <a16:creationId xmlns:a16="http://schemas.microsoft.com/office/drawing/2014/main" id="{A5F3B9C5-6384-42D3-ABB0-138DFCFF6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76" y="1250749"/>
            <a:ext cx="1629251" cy="1754579"/>
          </a:xfrm>
          <a:prstGeom prst="rect">
            <a:avLst/>
          </a:prstGeom>
          <a:noFill/>
          <a:extLst>
            <a:ext uri="{909E8E84-426E-40DD-AFC4-6F175D3DCCD1}">
              <a14:hiddenFill xmlns:a14="http://schemas.microsoft.com/office/drawing/2010/main">
                <a:solidFill>
                  <a:srgbClr val="FFFFFF"/>
                </a:solidFill>
              </a14:hiddenFill>
            </a:ext>
          </a:extLst>
        </p:spPr>
      </p:pic>
      <p:sp>
        <p:nvSpPr>
          <p:cNvPr id="3074" name="Rectangle 2"/>
          <p:cNvSpPr>
            <a:spLocks noGrp="1" noChangeArrowheads="1"/>
          </p:cNvSpPr>
          <p:nvPr>
            <p:ph type="ctrTitle"/>
          </p:nvPr>
        </p:nvSpPr>
        <p:spPr>
          <a:xfrm>
            <a:off x="685800" y="914400"/>
            <a:ext cx="8001000" cy="2057400"/>
          </a:xfrm>
        </p:spPr>
        <p:txBody>
          <a:bodyPr/>
          <a:lstStyle/>
          <a:p>
            <a:pPr algn="ctr" eaLnBrk="1" hangingPunct="1"/>
            <a:br>
              <a:rPr lang="en-US" altLang="ko-KR" sz="2400" b="1" dirty="0">
                <a:ea typeface="굴림" pitchFamily="50" charset="-127"/>
              </a:rPr>
            </a:br>
            <a:r>
              <a:rPr lang="en-US" altLang="ko-KR" sz="2400" b="1" dirty="0">
                <a:ea typeface="굴림" pitchFamily="50" charset="-127"/>
              </a:rPr>
              <a:t>RTEMS Filesystem</a:t>
            </a:r>
            <a:endParaRPr lang="en-US" altLang="ko-KR" sz="2800" b="1" dirty="0">
              <a:ea typeface="굴림" pitchFamily="50"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5597154-18A2-E0C5-A72D-FAC2909C41C7}"/>
              </a:ext>
            </a:extLst>
          </p:cNvPr>
          <p:cNvSpPr>
            <a:spLocks noGrp="1"/>
          </p:cNvSpPr>
          <p:nvPr>
            <p:ph type="title"/>
          </p:nvPr>
        </p:nvSpPr>
        <p:spPr/>
        <p:txBody>
          <a:bodyPr/>
          <a:lstStyle/>
          <a:p>
            <a:r>
              <a:rPr lang="en-US" altLang="ko-KR"/>
              <a:t>Contents</a:t>
            </a:r>
            <a:endParaRPr lang="ko-KR" altLang="en-US"/>
          </a:p>
        </p:txBody>
      </p:sp>
      <p:sp>
        <p:nvSpPr>
          <p:cNvPr id="3" name="내용 개체 틀 2">
            <a:extLst>
              <a:ext uri="{FF2B5EF4-FFF2-40B4-BE49-F238E27FC236}">
                <a16:creationId xmlns:a16="http://schemas.microsoft.com/office/drawing/2014/main" id="{B7DD3A90-9BF6-9137-4C22-55B0B5157CD9}"/>
              </a:ext>
            </a:extLst>
          </p:cNvPr>
          <p:cNvSpPr>
            <a:spLocks noGrp="1"/>
          </p:cNvSpPr>
          <p:nvPr>
            <p:ph idx="1"/>
          </p:nvPr>
        </p:nvSpPr>
        <p:spPr>
          <a:xfrm>
            <a:off x="566738" y="1752600"/>
            <a:ext cx="8001000" cy="4495800"/>
          </a:xfrm>
        </p:spPr>
        <p:txBody>
          <a:bodyPr/>
          <a:lstStyle/>
          <a:p>
            <a:pPr>
              <a:buFont typeface="+mj-lt"/>
              <a:buAutoNum type="arabicPeriod"/>
            </a:pPr>
            <a:r>
              <a:rPr lang="en-US" altLang="ko-KR" sz="1800" b="1" dirty="0"/>
              <a:t>RTEMS </a:t>
            </a:r>
            <a:r>
              <a:rPr lang="en-US" altLang="ko-KR" sz="1800" b="1" dirty="0" err="1"/>
              <a:t>Filesystme</a:t>
            </a:r>
            <a:r>
              <a:rPr lang="en-US" altLang="ko-KR" sz="1800" b="1" dirty="0"/>
              <a:t> Architecture Analysis</a:t>
            </a:r>
            <a:endParaRPr lang="en-US" altLang="ko-KR" sz="1400" b="1" dirty="0"/>
          </a:p>
          <a:p>
            <a:pPr lvl="1"/>
            <a:r>
              <a:rPr lang="en-US" altLang="ko-KR" sz="1800" dirty="0"/>
              <a:t>Core Philosophy : Layered Architecture</a:t>
            </a:r>
          </a:p>
          <a:p>
            <a:pPr lvl="1"/>
            <a:r>
              <a:rPr lang="en-US" altLang="ko-KR" sz="1800" dirty="0"/>
              <a:t>Role of the VFS</a:t>
            </a:r>
          </a:p>
          <a:p>
            <a:pPr lvl="1"/>
            <a:r>
              <a:rPr lang="en-US" altLang="ko-KR" sz="1800" dirty="0"/>
              <a:t>Features of Key Filesystems(IMFS,RFS,DOSFS, </a:t>
            </a:r>
            <a:r>
              <a:rPr lang="en-US" altLang="ko-KR" sz="1800" dirty="0" err="1"/>
              <a:t>etc</a:t>
            </a:r>
            <a:r>
              <a:rPr lang="en-US" altLang="ko-KR" sz="1800" dirty="0"/>
              <a:t>)</a:t>
            </a:r>
          </a:p>
          <a:p>
            <a:pPr>
              <a:buFont typeface="+mj-lt"/>
              <a:buAutoNum type="arabicPeriod"/>
            </a:pPr>
            <a:r>
              <a:rPr lang="en-US" altLang="ko-KR" sz="1800" b="1" dirty="0"/>
              <a:t>Performance Analysis</a:t>
            </a:r>
          </a:p>
          <a:p>
            <a:pPr lvl="1"/>
            <a:r>
              <a:rPr lang="en-US" altLang="ko-KR" sz="1800" dirty="0"/>
              <a:t>Benchmark Environment and key Variables</a:t>
            </a:r>
          </a:p>
          <a:p>
            <a:pPr lvl="1"/>
            <a:r>
              <a:rPr lang="en-US" altLang="ko-KR" sz="1800" dirty="0"/>
              <a:t>Performance Comparison Result by Filesystem</a:t>
            </a:r>
          </a:p>
          <a:p>
            <a:pPr>
              <a:buFont typeface="+mj-lt"/>
              <a:buAutoNum type="arabicPeriod"/>
            </a:pPr>
            <a:r>
              <a:rPr lang="en-US" altLang="ko-KR" sz="2200" dirty="0"/>
              <a:t>Conclusion</a:t>
            </a:r>
            <a:r>
              <a:rPr lang="ko-KR" altLang="en-US" sz="2200" dirty="0"/>
              <a:t> </a:t>
            </a:r>
            <a:r>
              <a:rPr lang="en-US" altLang="ko-KR" sz="2200" dirty="0"/>
              <a:t>&amp;</a:t>
            </a:r>
            <a:r>
              <a:rPr lang="ko-KR" altLang="en-US" sz="2200" dirty="0"/>
              <a:t> </a:t>
            </a:r>
            <a:r>
              <a:rPr lang="en-US" altLang="ko-KR" sz="2200" dirty="0"/>
              <a:t>Improvement</a:t>
            </a:r>
            <a:r>
              <a:rPr lang="ko-KR" altLang="en-US" sz="2200" dirty="0"/>
              <a:t> </a:t>
            </a:r>
            <a:r>
              <a:rPr lang="en-US" altLang="ko-KR" sz="2200" dirty="0"/>
              <a:t>Directions</a:t>
            </a:r>
          </a:p>
          <a:p>
            <a:pPr lvl="1"/>
            <a:r>
              <a:rPr lang="en-US" altLang="ko-KR" sz="1800" dirty="0"/>
              <a:t>Summery of Analysis </a:t>
            </a:r>
            <a:r>
              <a:rPr lang="en-US" altLang="ko-KR" sz="1800" dirty="0" err="1"/>
              <a:t>Reults</a:t>
            </a:r>
            <a:endParaRPr lang="en-US" altLang="ko-KR" sz="1800" dirty="0"/>
          </a:p>
          <a:p>
            <a:pPr lvl="1"/>
            <a:r>
              <a:rPr lang="en-US" altLang="ko-KR" sz="1800" dirty="0"/>
              <a:t>Proposals for Optimization</a:t>
            </a:r>
          </a:p>
          <a:p>
            <a:pPr lvl="2">
              <a:buFont typeface="+mj-lt"/>
              <a:buAutoNum type="arabicPeriod"/>
            </a:pPr>
            <a:endParaRPr lang="en-US" altLang="ko-KR" sz="1500" dirty="0"/>
          </a:p>
          <a:p>
            <a:pPr lvl="1">
              <a:buFont typeface="+mj-lt"/>
              <a:buAutoNum type="arabicPeriod"/>
            </a:pPr>
            <a:endParaRPr lang="en-US" altLang="ko-KR" sz="1800" dirty="0"/>
          </a:p>
          <a:p>
            <a:pPr lvl="1">
              <a:buFont typeface="+mj-lt"/>
              <a:buAutoNum type="arabicPeriod"/>
            </a:pPr>
            <a:endParaRPr lang="en-US" altLang="ko-KR" sz="1800" dirty="0"/>
          </a:p>
          <a:p>
            <a:pPr lvl="1">
              <a:buFont typeface="+mj-lt"/>
              <a:buAutoNum type="arabicPeriod"/>
            </a:pPr>
            <a:endParaRPr lang="en-US" altLang="ko-KR" sz="1800" dirty="0"/>
          </a:p>
        </p:txBody>
      </p:sp>
    </p:spTree>
    <p:extLst>
      <p:ext uri="{BB962C8B-B14F-4D97-AF65-F5344CB8AC3E}">
        <p14:creationId xmlns:p14="http://schemas.microsoft.com/office/powerpoint/2010/main" val="383389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666C5-3217-43D7-9438-7BB63832BA3C}"/>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5BE4370C-E54D-1173-E1DA-D7DD077E338A}"/>
              </a:ext>
            </a:extLst>
          </p:cNvPr>
          <p:cNvSpPr>
            <a:spLocks noGrp="1" noChangeArrowheads="1"/>
          </p:cNvSpPr>
          <p:nvPr>
            <p:ph type="title"/>
          </p:nvPr>
        </p:nvSpPr>
        <p:spPr>
          <a:xfrm>
            <a:off x="571500" y="244835"/>
            <a:ext cx="8001000" cy="1216025"/>
          </a:xfrm>
        </p:spPr>
        <p:txBody>
          <a:bodyPr/>
          <a:lstStyle/>
          <a:p>
            <a:r>
              <a:rPr lang="en-US" altLang="ko-KR" sz="3600" dirty="0"/>
              <a:t>Layered File System in RTEMS</a:t>
            </a:r>
          </a:p>
        </p:txBody>
      </p:sp>
      <p:sp>
        <p:nvSpPr>
          <p:cNvPr id="10" name="직사각형 9">
            <a:extLst>
              <a:ext uri="{FF2B5EF4-FFF2-40B4-BE49-F238E27FC236}">
                <a16:creationId xmlns:a16="http://schemas.microsoft.com/office/drawing/2014/main" id="{203F0757-CA99-F13B-3B5C-8DAE9B86FADB}"/>
              </a:ext>
            </a:extLst>
          </p:cNvPr>
          <p:cNvSpPr/>
          <p:nvPr/>
        </p:nvSpPr>
        <p:spPr bwMode="auto">
          <a:xfrm>
            <a:off x="3429000" y="1828800"/>
            <a:ext cx="1981200" cy="381000"/>
          </a:xfrm>
          <a:prstGeom prst="rect">
            <a:avLst/>
          </a:prstGeom>
          <a:solidFill>
            <a:schemeClr val="accent1">
              <a:lumMod val="20000"/>
              <a:lumOff val="8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600" dirty="0"/>
              <a:t>Application</a:t>
            </a:r>
            <a:r>
              <a:rPr lang="ko-KR" altLang="en-US" sz="1600" dirty="0"/>
              <a:t> </a:t>
            </a:r>
            <a:r>
              <a:rPr lang="en-US" altLang="ko-KR" sz="1600" dirty="0"/>
              <a:t>logic</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sp>
        <p:nvSpPr>
          <p:cNvPr id="17" name="직사각형 16">
            <a:extLst>
              <a:ext uri="{FF2B5EF4-FFF2-40B4-BE49-F238E27FC236}">
                <a16:creationId xmlns:a16="http://schemas.microsoft.com/office/drawing/2014/main" id="{F5033D24-BA6B-7C6F-4F5D-850E3E303A43}"/>
              </a:ext>
            </a:extLst>
          </p:cNvPr>
          <p:cNvSpPr/>
          <p:nvPr/>
        </p:nvSpPr>
        <p:spPr bwMode="auto">
          <a:xfrm>
            <a:off x="3429000" y="2429090"/>
            <a:ext cx="1981200" cy="381000"/>
          </a:xfrm>
          <a:prstGeom prst="rect">
            <a:avLst/>
          </a:prstGeom>
          <a:solidFill>
            <a:schemeClr val="accent1">
              <a:lumMod val="60000"/>
              <a:lumOff val="4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600" dirty="0">
                <a:solidFill>
                  <a:schemeClr val="tx1"/>
                </a:solidFill>
                <a:latin typeface="Verdana" pitchFamily="34" charset="0"/>
                <a:cs typeface="Arial" charset="0"/>
              </a:rPr>
              <a:t>File interface</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sp>
        <p:nvSpPr>
          <p:cNvPr id="18" name="직사각형 17">
            <a:extLst>
              <a:ext uri="{FF2B5EF4-FFF2-40B4-BE49-F238E27FC236}">
                <a16:creationId xmlns:a16="http://schemas.microsoft.com/office/drawing/2014/main" id="{FA268747-DD86-21D7-409C-EE4ADED49900}"/>
              </a:ext>
            </a:extLst>
          </p:cNvPr>
          <p:cNvSpPr/>
          <p:nvPr/>
        </p:nvSpPr>
        <p:spPr bwMode="auto">
          <a:xfrm>
            <a:off x="3429000" y="3629670"/>
            <a:ext cx="1981200" cy="381000"/>
          </a:xfrm>
          <a:prstGeom prst="rect">
            <a:avLst/>
          </a:prstGeom>
          <a:solidFill>
            <a:schemeClr val="accent3">
              <a:lumMod val="50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Verdana" pitchFamily="34" charset="0"/>
                <a:cs typeface="Arial" charset="0"/>
              </a:rPr>
              <a:t>VFS</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sp>
        <p:nvSpPr>
          <p:cNvPr id="19" name="직사각형 18">
            <a:extLst>
              <a:ext uri="{FF2B5EF4-FFF2-40B4-BE49-F238E27FC236}">
                <a16:creationId xmlns:a16="http://schemas.microsoft.com/office/drawing/2014/main" id="{AEF5F786-C429-FBFF-A636-8D945C436E66}"/>
              </a:ext>
            </a:extLst>
          </p:cNvPr>
          <p:cNvSpPr/>
          <p:nvPr/>
        </p:nvSpPr>
        <p:spPr bwMode="auto">
          <a:xfrm>
            <a:off x="3429000" y="3029380"/>
            <a:ext cx="1981200" cy="381000"/>
          </a:xfrm>
          <a:prstGeom prst="rect">
            <a:avLst/>
          </a:prstGeom>
          <a:solidFill>
            <a:schemeClr val="accent1">
              <a:lumMod val="75000"/>
            </a:schemeClr>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Logical filesystem</a:t>
            </a:r>
            <a:endParaRPr kumimoji="0" lang="ko-KR" altLang="en-US" sz="1400" b="0" i="0" u="none" strike="noStrike" cap="none" normalizeH="0" baseline="0" dirty="0">
              <a:ln>
                <a:noFill/>
              </a:ln>
              <a:solidFill>
                <a:schemeClr val="tx1"/>
              </a:solidFill>
              <a:effectLst/>
              <a:latin typeface="Verdana" pitchFamily="34" charset="0"/>
              <a:cs typeface="Arial" charset="0"/>
            </a:endParaRPr>
          </a:p>
        </p:txBody>
      </p:sp>
      <p:cxnSp>
        <p:nvCxnSpPr>
          <p:cNvPr id="21" name="직선 화살표 연결선 20">
            <a:extLst>
              <a:ext uri="{FF2B5EF4-FFF2-40B4-BE49-F238E27FC236}">
                <a16:creationId xmlns:a16="http://schemas.microsoft.com/office/drawing/2014/main" id="{CFC101D0-2D83-A44B-EC4A-ECC02E33B60A}"/>
              </a:ext>
            </a:extLst>
          </p:cNvPr>
          <p:cNvCxnSpPr>
            <a:stCxn id="10" idx="2"/>
            <a:endCxn id="17" idx="0"/>
          </p:cNvCxnSpPr>
          <p:nvPr/>
        </p:nvCxnSpPr>
        <p:spPr bwMode="auto">
          <a:xfrm>
            <a:off x="4419600" y="2209800"/>
            <a:ext cx="0" cy="21929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cxnSp>
        <p:nvCxnSpPr>
          <p:cNvPr id="22" name="직선 화살표 연결선 21">
            <a:extLst>
              <a:ext uri="{FF2B5EF4-FFF2-40B4-BE49-F238E27FC236}">
                <a16:creationId xmlns:a16="http://schemas.microsoft.com/office/drawing/2014/main" id="{7D600669-B9AF-DAF9-CE73-C3C9FC0B1D1B}"/>
              </a:ext>
            </a:extLst>
          </p:cNvPr>
          <p:cNvCxnSpPr/>
          <p:nvPr/>
        </p:nvCxnSpPr>
        <p:spPr bwMode="auto">
          <a:xfrm>
            <a:off x="4411211" y="2810090"/>
            <a:ext cx="0" cy="21929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cxnSp>
        <p:nvCxnSpPr>
          <p:cNvPr id="23" name="직선 화살표 연결선 22">
            <a:extLst>
              <a:ext uri="{FF2B5EF4-FFF2-40B4-BE49-F238E27FC236}">
                <a16:creationId xmlns:a16="http://schemas.microsoft.com/office/drawing/2014/main" id="{CCA002F5-C1AE-8EA6-2E2A-61F6726E9258}"/>
              </a:ext>
            </a:extLst>
          </p:cNvPr>
          <p:cNvCxnSpPr/>
          <p:nvPr/>
        </p:nvCxnSpPr>
        <p:spPr bwMode="auto">
          <a:xfrm>
            <a:off x="4419600" y="3429000"/>
            <a:ext cx="0" cy="219290"/>
          </a:xfrm>
          <a:prstGeom prst="straightConnector1">
            <a:avLst/>
          </a:prstGeom>
          <a:solidFill>
            <a:schemeClr val="accent1"/>
          </a:solidFill>
          <a:ln w="25400" cap="flat" cmpd="sng" algn="ctr">
            <a:solidFill>
              <a:schemeClr val="tx1"/>
            </a:solidFill>
            <a:prstDash val="solid"/>
            <a:round/>
            <a:headEnd type="none" w="med" len="med"/>
            <a:tailEnd type="triangle"/>
          </a:ln>
          <a:effectLst/>
        </p:spPr>
      </p:cxnSp>
      <p:sp>
        <p:nvSpPr>
          <p:cNvPr id="24" name="사각형: 둥근 모서리 23">
            <a:extLst>
              <a:ext uri="{FF2B5EF4-FFF2-40B4-BE49-F238E27FC236}">
                <a16:creationId xmlns:a16="http://schemas.microsoft.com/office/drawing/2014/main" id="{EE87A97E-2E01-ACD7-514E-DED364199FD3}"/>
              </a:ext>
            </a:extLst>
          </p:cNvPr>
          <p:cNvSpPr/>
          <p:nvPr/>
        </p:nvSpPr>
        <p:spPr bwMode="auto">
          <a:xfrm>
            <a:off x="762000" y="4419600"/>
            <a:ext cx="914400" cy="53340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IMFS</a:t>
            </a:r>
          </a:p>
          <a:p>
            <a:pPr marL="0" marR="0" indent="0" algn="ctr" defTabSz="914400" rtl="0" eaLnBrk="1" fontAlgn="base" latinLnBrk="0" hangingPunct="1">
              <a:lnSpc>
                <a:spcPct val="100000"/>
              </a:lnSpc>
              <a:spcBef>
                <a:spcPct val="0"/>
              </a:spcBef>
              <a:spcAft>
                <a:spcPct val="0"/>
              </a:spcAft>
              <a:buClrTx/>
              <a:buSzTx/>
              <a:buFontTx/>
              <a:buNone/>
              <a:tabLst/>
            </a:pPr>
            <a:r>
              <a:rPr lang="en-US" altLang="ko-KR" sz="1100" dirty="0"/>
              <a:t>M-MIMFS</a:t>
            </a:r>
            <a:endParaRPr kumimoji="0" lang="ko-KR" altLang="en-US" sz="1100" b="0" i="0" u="none" strike="noStrike" cap="none" normalizeH="0" baseline="0" dirty="0">
              <a:ln>
                <a:noFill/>
              </a:ln>
              <a:solidFill>
                <a:schemeClr val="tx1"/>
              </a:solidFill>
              <a:effectLst/>
              <a:latin typeface="Verdana" pitchFamily="34" charset="0"/>
              <a:cs typeface="Arial" charset="0"/>
            </a:endParaRPr>
          </a:p>
        </p:txBody>
      </p:sp>
      <p:sp>
        <p:nvSpPr>
          <p:cNvPr id="25" name="사각형: 둥근 모서리 24">
            <a:extLst>
              <a:ext uri="{FF2B5EF4-FFF2-40B4-BE49-F238E27FC236}">
                <a16:creationId xmlns:a16="http://schemas.microsoft.com/office/drawing/2014/main" id="{098EE1CC-DE5D-2226-1876-4C8448BCB5B3}"/>
              </a:ext>
            </a:extLst>
          </p:cNvPr>
          <p:cNvSpPr/>
          <p:nvPr/>
        </p:nvSpPr>
        <p:spPr bwMode="auto">
          <a:xfrm>
            <a:off x="2011254" y="4419600"/>
            <a:ext cx="914400" cy="533400"/>
          </a:xfrm>
          <a:prstGeom prst="roundRect">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chemeClr val="tx1"/>
                </a:solidFill>
                <a:effectLst/>
                <a:latin typeface="Verdana" pitchFamily="34" charset="0"/>
                <a:cs typeface="Arial" charset="0"/>
              </a:rPr>
              <a:t>YAFFS2</a:t>
            </a:r>
            <a:endParaRPr kumimoji="0" lang="ko-KR" altLang="en-US" sz="1200" b="0" i="0" u="none" strike="noStrike" cap="none" normalizeH="0" baseline="0" dirty="0">
              <a:ln>
                <a:noFill/>
              </a:ln>
              <a:solidFill>
                <a:schemeClr val="tx1"/>
              </a:solidFill>
              <a:effectLst/>
              <a:latin typeface="Verdana" pitchFamily="34" charset="0"/>
              <a:cs typeface="Arial" charset="0"/>
            </a:endParaRPr>
          </a:p>
        </p:txBody>
      </p:sp>
      <p:sp>
        <p:nvSpPr>
          <p:cNvPr id="26" name="사각형: 둥근 모서리 25">
            <a:extLst>
              <a:ext uri="{FF2B5EF4-FFF2-40B4-BE49-F238E27FC236}">
                <a16:creationId xmlns:a16="http://schemas.microsoft.com/office/drawing/2014/main" id="{3779AFA5-C497-E4D3-D177-384AC096BC8F}"/>
              </a:ext>
            </a:extLst>
          </p:cNvPr>
          <p:cNvSpPr/>
          <p:nvPr/>
        </p:nvSpPr>
        <p:spPr bwMode="auto">
          <a:xfrm>
            <a:off x="3261904" y="4419600"/>
            <a:ext cx="914400" cy="533397"/>
          </a:xfrm>
          <a:prstGeom prst="roundRect">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ko-KR" sz="1600" dirty="0"/>
              <a:t>JFFS2</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sp>
        <p:nvSpPr>
          <p:cNvPr id="27" name="사각형: 둥근 모서리 26">
            <a:extLst>
              <a:ext uri="{FF2B5EF4-FFF2-40B4-BE49-F238E27FC236}">
                <a16:creationId xmlns:a16="http://schemas.microsoft.com/office/drawing/2014/main" id="{8DFCBAE3-A5C2-3D26-CEA4-57D03558F3C9}"/>
              </a:ext>
            </a:extLst>
          </p:cNvPr>
          <p:cNvSpPr/>
          <p:nvPr/>
        </p:nvSpPr>
        <p:spPr bwMode="auto">
          <a:xfrm>
            <a:off x="4506302" y="4419600"/>
            <a:ext cx="914400" cy="533396"/>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800" b="0" i="0" u="none" strike="noStrike" cap="none" normalizeH="0" baseline="0" dirty="0">
                <a:ln>
                  <a:noFill/>
                </a:ln>
                <a:solidFill>
                  <a:schemeClr val="tx1"/>
                </a:solidFill>
                <a:effectLst/>
                <a:latin typeface="Verdana" pitchFamily="34" charset="0"/>
                <a:cs typeface="Arial" charset="0"/>
              </a:rPr>
              <a:t>RFS</a:t>
            </a: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28" name="사각형: 둥근 모서리 27">
            <a:extLst>
              <a:ext uri="{FF2B5EF4-FFF2-40B4-BE49-F238E27FC236}">
                <a16:creationId xmlns:a16="http://schemas.microsoft.com/office/drawing/2014/main" id="{B976518E-31E6-C2D7-5AC3-8D3E733BEC51}"/>
              </a:ext>
            </a:extLst>
          </p:cNvPr>
          <p:cNvSpPr/>
          <p:nvPr/>
        </p:nvSpPr>
        <p:spPr bwMode="auto">
          <a:xfrm>
            <a:off x="5755556" y="4419600"/>
            <a:ext cx="914400" cy="533396"/>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DOSFS</a:t>
            </a: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29" name="사각형: 둥근 모서리 28">
            <a:extLst>
              <a:ext uri="{FF2B5EF4-FFF2-40B4-BE49-F238E27FC236}">
                <a16:creationId xmlns:a16="http://schemas.microsoft.com/office/drawing/2014/main" id="{E4692EFF-5EB7-0B1F-DA1E-92B44BAA083C}"/>
              </a:ext>
            </a:extLst>
          </p:cNvPr>
          <p:cNvSpPr/>
          <p:nvPr/>
        </p:nvSpPr>
        <p:spPr bwMode="auto">
          <a:xfrm>
            <a:off x="7004810" y="4419600"/>
            <a:ext cx="914400" cy="533396"/>
          </a:xfrm>
          <a:prstGeom prst="round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DEVFS</a:t>
            </a: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cxnSp>
        <p:nvCxnSpPr>
          <p:cNvPr id="32" name="연결선: 구부러짐 31">
            <a:extLst>
              <a:ext uri="{FF2B5EF4-FFF2-40B4-BE49-F238E27FC236}">
                <a16:creationId xmlns:a16="http://schemas.microsoft.com/office/drawing/2014/main" id="{0019CE89-B858-2B38-0C0E-511FDCE7A64F}"/>
              </a:ext>
            </a:extLst>
          </p:cNvPr>
          <p:cNvCxnSpPr>
            <a:cxnSpLocks/>
            <a:stCxn id="18" idx="2"/>
            <a:endCxn id="24" idx="0"/>
          </p:cNvCxnSpPr>
          <p:nvPr/>
        </p:nvCxnSpPr>
        <p:spPr bwMode="auto">
          <a:xfrm rot="5400000">
            <a:off x="2614935" y="2614935"/>
            <a:ext cx="408930" cy="320040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4" name="연결선: 구부러짐 33">
            <a:extLst>
              <a:ext uri="{FF2B5EF4-FFF2-40B4-BE49-F238E27FC236}">
                <a16:creationId xmlns:a16="http://schemas.microsoft.com/office/drawing/2014/main" id="{2BD1DAED-9FA0-52B9-DAC7-D5840A8B0864}"/>
              </a:ext>
            </a:extLst>
          </p:cNvPr>
          <p:cNvCxnSpPr>
            <a:cxnSpLocks/>
            <a:stCxn id="18" idx="2"/>
            <a:endCxn id="25" idx="0"/>
          </p:cNvCxnSpPr>
          <p:nvPr/>
        </p:nvCxnSpPr>
        <p:spPr bwMode="auto">
          <a:xfrm rot="5400000">
            <a:off x="3239562" y="3239562"/>
            <a:ext cx="408930" cy="1951146"/>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6" name="연결선: 구부러짐 35">
            <a:extLst>
              <a:ext uri="{FF2B5EF4-FFF2-40B4-BE49-F238E27FC236}">
                <a16:creationId xmlns:a16="http://schemas.microsoft.com/office/drawing/2014/main" id="{8E51DD52-3493-81AC-9201-39D458B04050}"/>
              </a:ext>
            </a:extLst>
          </p:cNvPr>
          <p:cNvCxnSpPr>
            <a:cxnSpLocks/>
            <a:stCxn id="18" idx="2"/>
            <a:endCxn id="26" idx="0"/>
          </p:cNvCxnSpPr>
          <p:nvPr/>
        </p:nvCxnSpPr>
        <p:spPr bwMode="auto">
          <a:xfrm rot="5400000">
            <a:off x="3864887" y="3864887"/>
            <a:ext cx="408930" cy="700496"/>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8" name="연결선: 구부러짐 37">
            <a:extLst>
              <a:ext uri="{FF2B5EF4-FFF2-40B4-BE49-F238E27FC236}">
                <a16:creationId xmlns:a16="http://schemas.microsoft.com/office/drawing/2014/main" id="{DF31D332-7807-5BF9-F849-A270D1C7C4A2}"/>
              </a:ext>
            </a:extLst>
          </p:cNvPr>
          <p:cNvCxnSpPr>
            <a:cxnSpLocks/>
            <a:stCxn id="18" idx="2"/>
            <a:endCxn id="27" idx="0"/>
          </p:cNvCxnSpPr>
          <p:nvPr/>
        </p:nvCxnSpPr>
        <p:spPr bwMode="auto">
          <a:xfrm rot="16200000" flipH="1">
            <a:off x="4487086" y="3943184"/>
            <a:ext cx="408930" cy="543902"/>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9" name="연결선: 구부러짐 38">
            <a:extLst>
              <a:ext uri="{FF2B5EF4-FFF2-40B4-BE49-F238E27FC236}">
                <a16:creationId xmlns:a16="http://schemas.microsoft.com/office/drawing/2014/main" id="{402EAEBD-ADA9-F184-0E09-68E84EA67113}"/>
              </a:ext>
            </a:extLst>
          </p:cNvPr>
          <p:cNvCxnSpPr>
            <a:cxnSpLocks/>
            <a:stCxn id="18" idx="2"/>
            <a:endCxn id="28" idx="0"/>
          </p:cNvCxnSpPr>
          <p:nvPr/>
        </p:nvCxnSpPr>
        <p:spPr bwMode="auto">
          <a:xfrm rot="16200000" flipH="1">
            <a:off x="5111713" y="3318557"/>
            <a:ext cx="408930" cy="1793156"/>
          </a:xfrm>
          <a:prstGeom prst="curved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43" name="연결선: 구부러짐 42">
            <a:extLst>
              <a:ext uri="{FF2B5EF4-FFF2-40B4-BE49-F238E27FC236}">
                <a16:creationId xmlns:a16="http://schemas.microsoft.com/office/drawing/2014/main" id="{017BFE25-D9F8-C966-147C-562C76E48665}"/>
              </a:ext>
            </a:extLst>
          </p:cNvPr>
          <p:cNvCxnSpPr>
            <a:cxnSpLocks/>
            <a:stCxn id="18" idx="2"/>
            <a:endCxn id="29" idx="0"/>
          </p:cNvCxnSpPr>
          <p:nvPr/>
        </p:nvCxnSpPr>
        <p:spPr bwMode="auto">
          <a:xfrm rot="16200000" flipH="1">
            <a:off x="5736340" y="2693930"/>
            <a:ext cx="408930" cy="304241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sp>
        <p:nvSpPr>
          <p:cNvPr id="44" name="사각형: 둥근 모서리 43">
            <a:extLst>
              <a:ext uri="{FF2B5EF4-FFF2-40B4-BE49-F238E27FC236}">
                <a16:creationId xmlns:a16="http://schemas.microsoft.com/office/drawing/2014/main" id="{6D82DAE3-45D7-6509-5C5B-E148F4766DAA}"/>
              </a:ext>
            </a:extLst>
          </p:cNvPr>
          <p:cNvSpPr/>
          <p:nvPr/>
        </p:nvSpPr>
        <p:spPr bwMode="auto">
          <a:xfrm>
            <a:off x="3400676" y="5620179"/>
            <a:ext cx="1915502" cy="408930"/>
          </a:xfrm>
          <a:prstGeom prst="roundRect">
            <a:avLst/>
          </a:prstGeom>
          <a:solidFill>
            <a:srgbClr val="FFC000"/>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kumimoji="0" lang="en-US" altLang="ko-KR" sz="1600" b="0" i="0" u="none" strike="noStrike" cap="none" normalizeH="0" baseline="0" dirty="0">
                <a:ln>
                  <a:noFill/>
                </a:ln>
                <a:solidFill>
                  <a:schemeClr val="tx1"/>
                </a:solidFill>
                <a:effectLst/>
                <a:latin typeface="Verdana" pitchFamily="34" charset="0"/>
                <a:cs typeface="Arial" charset="0"/>
              </a:rPr>
              <a:t>Device driver</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cxnSp>
        <p:nvCxnSpPr>
          <p:cNvPr id="241671" name="연결선: 구부러짐 241670">
            <a:extLst>
              <a:ext uri="{FF2B5EF4-FFF2-40B4-BE49-F238E27FC236}">
                <a16:creationId xmlns:a16="http://schemas.microsoft.com/office/drawing/2014/main" id="{E41538CF-FF67-AD60-C42D-E3649B254589}"/>
              </a:ext>
            </a:extLst>
          </p:cNvPr>
          <p:cNvCxnSpPr>
            <a:cxnSpLocks/>
            <a:stCxn id="25" idx="2"/>
            <a:endCxn id="44" idx="0"/>
          </p:cNvCxnSpPr>
          <p:nvPr/>
        </p:nvCxnSpPr>
        <p:spPr bwMode="auto">
          <a:xfrm rot="16200000" flipH="1">
            <a:off x="3079851" y="4341602"/>
            <a:ext cx="667179" cy="1889973"/>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1674" name="연결선: 구부러짐 241673">
            <a:extLst>
              <a:ext uri="{FF2B5EF4-FFF2-40B4-BE49-F238E27FC236}">
                <a16:creationId xmlns:a16="http://schemas.microsoft.com/office/drawing/2014/main" id="{C72C75CA-8375-D3F5-48F8-2154BEBF97B7}"/>
              </a:ext>
            </a:extLst>
          </p:cNvPr>
          <p:cNvCxnSpPr>
            <a:cxnSpLocks/>
            <a:stCxn id="26" idx="2"/>
            <a:endCxn id="44" idx="0"/>
          </p:cNvCxnSpPr>
          <p:nvPr/>
        </p:nvCxnSpPr>
        <p:spPr bwMode="auto">
          <a:xfrm rot="16200000" flipH="1">
            <a:off x="3705174" y="4966926"/>
            <a:ext cx="667182" cy="639323"/>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1678" name="연결선: 구부러짐 241677">
            <a:extLst>
              <a:ext uri="{FF2B5EF4-FFF2-40B4-BE49-F238E27FC236}">
                <a16:creationId xmlns:a16="http://schemas.microsoft.com/office/drawing/2014/main" id="{0EC5742E-263E-C525-1505-7F16E3E7906D}"/>
              </a:ext>
            </a:extLst>
          </p:cNvPr>
          <p:cNvCxnSpPr>
            <a:cxnSpLocks/>
            <a:stCxn id="29" idx="2"/>
            <a:endCxn id="44" idx="3"/>
          </p:cNvCxnSpPr>
          <p:nvPr/>
        </p:nvCxnSpPr>
        <p:spPr bwMode="auto">
          <a:xfrm rot="5400000">
            <a:off x="5953270" y="4315904"/>
            <a:ext cx="871648" cy="2145832"/>
          </a:xfrm>
          <a:prstGeom prst="curvedConnector2">
            <a:avLst/>
          </a:prstGeom>
          <a:solidFill>
            <a:schemeClr val="accent1"/>
          </a:solidFill>
          <a:ln w="9525" cap="flat" cmpd="sng" algn="ctr">
            <a:solidFill>
              <a:schemeClr val="tx1"/>
            </a:solidFill>
            <a:prstDash val="solid"/>
            <a:round/>
            <a:headEnd type="none" w="med" len="med"/>
            <a:tailEnd type="triangle"/>
          </a:ln>
          <a:effectLst/>
        </p:spPr>
      </p:cxnSp>
      <p:sp>
        <p:nvSpPr>
          <p:cNvPr id="241686" name="사각형: 둥근 모서리 241685">
            <a:extLst>
              <a:ext uri="{FF2B5EF4-FFF2-40B4-BE49-F238E27FC236}">
                <a16:creationId xmlns:a16="http://schemas.microsoft.com/office/drawing/2014/main" id="{A1F178D2-014A-D1BB-60B1-61619345AFDB}"/>
              </a:ext>
            </a:extLst>
          </p:cNvPr>
          <p:cNvSpPr/>
          <p:nvPr/>
        </p:nvSpPr>
        <p:spPr bwMode="auto">
          <a:xfrm>
            <a:off x="6389094" y="2209799"/>
            <a:ext cx="1902543" cy="637531"/>
          </a:xfrm>
          <a:prstGeom prst="round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ko-KR" sz="1400" dirty="0" err="1"/>
              <a:t>Libbsd</a:t>
            </a:r>
            <a:r>
              <a:rPr lang="en-US" altLang="ko-KR" sz="1400" dirty="0"/>
              <a:t> network </a:t>
            </a:r>
          </a:p>
          <a:p>
            <a:pPr marL="0" marR="0" indent="0" algn="ctr" defTabSz="914400" rtl="0" eaLnBrk="1" fontAlgn="base" latinLnBrk="0" hangingPunct="1">
              <a:lnSpc>
                <a:spcPct val="100000"/>
              </a:lnSpc>
              <a:spcBef>
                <a:spcPct val="0"/>
              </a:spcBef>
              <a:spcAft>
                <a:spcPct val="0"/>
              </a:spcAft>
              <a:buClrTx/>
              <a:buSzTx/>
              <a:buFontTx/>
              <a:buNone/>
              <a:tabLst/>
            </a:pPr>
            <a:r>
              <a:rPr lang="en-US" altLang="ko-KR" sz="1400" dirty="0"/>
              <a:t>f</a:t>
            </a:r>
            <a:r>
              <a:rPr kumimoji="0" lang="en-US" altLang="ko-KR" sz="1400" b="0" i="0" u="none" strike="noStrike" cap="none" normalizeH="0" baseline="0" dirty="0">
                <a:ln>
                  <a:noFill/>
                </a:ln>
                <a:solidFill>
                  <a:schemeClr val="tx1"/>
                </a:solidFill>
                <a:effectLst/>
                <a:latin typeface="Verdana" pitchFamily="34" charset="0"/>
                <a:cs typeface="Arial" charset="0"/>
              </a:rPr>
              <a:t>ilesystems</a:t>
            </a: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241688" name="사각형: 둥근 모서리 241687">
            <a:extLst>
              <a:ext uri="{FF2B5EF4-FFF2-40B4-BE49-F238E27FC236}">
                <a16:creationId xmlns:a16="http://schemas.microsoft.com/office/drawing/2014/main" id="{132717AC-700F-BDCB-2D82-7417EA10B003}"/>
              </a:ext>
            </a:extLst>
          </p:cNvPr>
          <p:cNvSpPr/>
          <p:nvPr/>
        </p:nvSpPr>
        <p:spPr bwMode="auto">
          <a:xfrm>
            <a:off x="6400800" y="3110234"/>
            <a:ext cx="1902543" cy="637531"/>
          </a:xfrm>
          <a:prstGeom prst="round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err="1">
                <a:ln>
                  <a:noFill/>
                </a:ln>
                <a:solidFill>
                  <a:schemeClr val="tx1"/>
                </a:solidFill>
                <a:effectLst/>
                <a:latin typeface="Verdana" pitchFamily="34" charset="0"/>
                <a:cs typeface="Arial" charset="0"/>
              </a:rPr>
              <a:t>Libnetworking</a:t>
            </a:r>
            <a:endParaRPr kumimoji="0" lang="en-US" altLang="ko-KR" sz="1400" b="0" i="0" u="none" strike="noStrike" cap="none" normalizeH="0" baseline="0" dirty="0">
              <a:ln>
                <a:noFill/>
              </a:ln>
              <a:solidFill>
                <a:schemeClr val="tx1"/>
              </a:solidFill>
              <a:effectLst/>
              <a:latin typeface="Verdana" pitchFamily="34" charset="0"/>
              <a:cs typeface="Arial" charset="0"/>
            </a:endParaRPr>
          </a:p>
          <a:p>
            <a:pPr marL="0" marR="0" indent="0" algn="ctr" defTabSz="914400" rtl="0" eaLnBrk="1" fontAlgn="base" latinLnBrk="0" hangingPunct="1">
              <a:lnSpc>
                <a:spcPct val="100000"/>
              </a:lnSpc>
              <a:spcBef>
                <a:spcPct val="0"/>
              </a:spcBef>
              <a:spcAft>
                <a:spcPct val="0"/>
              </a:spcAft>
              <a:buClrTx/>
              <a:buSzTx/>
              <a:buFontTx/>
              <a:buNone/>
              <a:tabLst/>
            </a:pPr>
            <a:r>
              <a:rPr lang="en-US" altLang="ko-KR" sz="1400" dirty="0"/>
              <a:t>filesystems</a:t>
            </a:r>
            <a:endParaRPr kumimoji="0" lang="ko-KR" altLang="en-US" sz="1400" b="0" i="0" u="none" strike="noStrike" cap="none" normalizeH="0" baseline="0" dirty="0">
              <a:ln>
                <a:noFill/>
              </a:ln>
              <a:solidFill>
                <a:schemeClr val="tx1"/>
              </a:solidFill>
              <a:effectLst/>
              <a:latin typeface="Verdana" pitchFamily="34" charset="0"/>
              <a:cs typeface="Arial" charset="0"/>
            </a:endParaRPr>
          </a:p>
        </p:txBody>
      </p:sp>
      <p:cxnSp>
        <p:nvCxnSpPr>
          <p:cNvPr id="241698" name="연결선: 구부러짐 241697">
            <a:extLst>
              <a:ext uri="{FF2B5EF4-FFF2-40B4-BE49-F238E27FC236}">
                <a16:creationId xmlns:a16="http://schemas.microsoft.com/office/drawing/2014/main" id="{42B2DC66-9451-FC27-4AC5-0E94000637B9}"/>
              </a:ext>
            </a:extLst>
          </p:cNvPr>
          <p:cNvCxnSpPr>
            <a:stCxn id="18" idx="3"/>
            <a:endCxn id="241688" idx="1"/>
          </p:cNvCxnSpPr>
          <p:nvPr/>
        </p:nvCxnSpPr>
        <p:spPr bwMode="auto">
          <a:xfrm flipV="1">
            <a:off x="5410200" y="3429000"/>
            <a:ext cx="990600" cy="391170"/>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1702" name="연결선: 구부러짐 241701">
            <a:extLst>
              <a:ext uri="{FF2B5EF4-FFF2-40B4-BE49-F238E27FC236}">
                <a16:creationId xmlns:a16="http://schemas.microsoft.com/office/drawing/2014/main" id="{C16CA5D6-EDDC-9FE6-AA90-B559452A7516}"/>
              </a:ext>
            </a:extLst>
          </p:cNvPr>
          <p:cNvCxnSpPr>
            <a:stCxn id="18" idx="3"/>
            <a:endCxn id="241686" idx="1"/>
          </p:cNvCxnSpPr>
          <p:nvPr/>
        </p:nvCxnSpPr>
        <p:spPr bwMode="auto">
          <a:xfrm flipV="1">
            <a:off x="5410200" y="2528565"/>
            <a:ext cx="978894" cy="1291605"/>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sp>
        <p:nvSpPr>
          <p:cNvPr id="241720" name="사각형: 둥근 모서리 241719">
            <a:extLst>
              <a:ext uri="{FF2B5EF4-FFF2-40B4-BE49-F238E27FC236}">
                <a16:creationId xmlns:a16="http://schemas.microsoft.com/office/drawing/2014/main" id="{7ECFEFAB-0ED9-7C70-96A7-CEE4425D0BAF}"/>
              </a:ext>
            </a:extLst>
          </p:cNvPr>
          <p:cNvSpPr/>
          <p:nvPr/>
        </p:nvSpPr>
        <p:spPr bwMode="auto">
          <a:xfrm>
            <a:off x="4918022" y="5086782"/>
            <a:ext cx="1482778" cy="399610"/>
          </a:xfrm>
          <a:prstGeom prst="roundRect">
            <a:avLst/>
          </a:prstGeom>
          <a:solidFill>
            <a:srgbClr val="EDF0D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600" b="0" i="0" u="none" strike="noStrike" cap="none" normalizeH="0" baseline="0" dirty="0" err="1">
                <a:ln>
                  <a:noFill/>
                </a:ln>
                <a:solidFill>
                  <a:schemeClr val="tx1"/>
                </a:solidFill>
                <a:effectLst/>
                <a:latin typeface="Verdana" pitchFamily="34" charset="0"/>
                <a:cs typeface="Arial" charset="0"/>
              </a:rPr>
              <a:t>Buffer,cache</a:t>
            </a:r>
            <a:endParaRPr kumimoji="0" lang="ko-KR" altLang="en-US" sz="1600" b="0" i="0" u="none" strike="noStrike" cap="none" normalizeH="0" baseline="0" dirty="0">
              <a:ln>
                <a:noFill/>
              </a:ln>
              <a:solidFill>
                <a:schemeClr val="tx1"/>
              </a:solidFill>
              <a:effectLst/>
              <a:latin typeface="Verdana" pitchFamily="34" charset="0"/>
              <a:cs typeface="Arial" charset="0"/>
            </a:endParaRPr>
          </a:p>
        </p:txBody>
      </p:sp>
      <p:cxnSp>
        <p:nvCxnSpPr>
          <p:cNvPr id="241722" name="연결선: 구부러짐 241721">
            <a:extLst>
              <a:ext uri="{FF2B5EF4-FFF2-40B4-BE49-F238E27FC236}">
                <a16:creationId xmlns:a16="http://schemas.microsoft.com/office/drawing/2014/main" id="{D9D74294-C81D-C162-C90D-6C430BF4EFC8}"/>
              </a:ext>
            </a:extLst>
          </p:cNvPr>
          <p:cNvCxnSpPr>
            <a:stCxn id="27" idx="2"/>
            <a:endCxn id="241720" idx="0"/>
          </p:cNvCxnSpPr>
          <p:nvPr/>
        </p:nvCxnSpPr>
        <p:spPr bwMode="auto">
          <a:xfrm rot="16200000" flipH="1">
            <a:off x="5244563" y="4671934"/>
            <a:ext cx="133786" cy="695909"/>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1724" name="연결선: 구부러짐 241723">
            <a:extLst>
              <a:ext uri="{FF2B5EF4-FFF2-40B4-BE49-F238E27FC236}">
                <a16:creationId xmlns:a16="http://schemas.microsoft.com/office/drawing/2014/main" id="{81A20EAE-DBE5-7C7B-CCE0-AB613D81FCE6}"/>
              </a:ext>
            </a:extLst>
          </p:cNvPr>
          <p:cNvCxnSpPr>
            <a:stCxn id="28" idx="2"/>
            <a:endCxn id="241720" idx="0"/>
          </p:cNvCxnSpPr>
          <p:nvPr/>
        </p:nvCxnSpPr>
        <p:spPr bwMode="auto">
          <a:xfrm rot="5400000">
            <a:off x="5869191" y="4743217"/>
            <a:ext cx="133786" cy="553345"/>
          </a:xfrm>
          <a:prstGeom prst="curvedConnector3">
            <a:avLst/>
          </a:prstGeom>
          <a:solidFill>
            <a:schemeClr val="accent1"/>
          </a:solidFill>
          <a:ln w="9525" cap="flat" cmpd="sng" algn="ctr">
            <a:solidFill>
              <a:schemeClr val="tx1"/>
            </a:solidFill>
            <a:prstDash val="solid"/>
            <a:round/>
            <a:headEnd type="none" w="med" len="med"/>
            <a:tailEnd type="triangle"/>
          </a:ln>
          <a:effectLst/>
        </p:spPr>
      </p:cxnSp>
      <p:cxnSp>
        <p:nvCxnSpPr>
          <p:cNvPr id="241726" name="연결선: 구부러짐 241725">
            <a:extLst>
              <a:ext uri="{FF2B5EF4-FFF2-40B4-BE49-F238E27FC236}">
                <a16:creationId xmlns:a16="http://schemas.microsoft.com/office/drawing/2014/main" id="{00EAEE5F-E1A2-17E5-564B-1B530E53D802}"/>
              </a:ext>
            </a:extLst>
          </p:cNvPr>
          <p:cNvCxnSpPr>
            <a:stCxn id="241720" idx="2"/>
            <a:endCxn id="44" idx="3"/>
          </p:cNvCxnSpPr>
          <p:nvPr/>
        </p:nvCxnSpPr>
        <p:spPr bwMode="auto">
          <a:xfrm rot="5400000">
            <a:off x="5318669" y="5483902"/>
            <a:ext cx="338252" cy="343233"/>
          </a:xfrm>
          <a:prstGeom prst="curvedConnector2">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66897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B9FAA-73D3-8E84-7631-D6C93C0D5836}"/>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15722C74-5B17-6CD6-A4EE-4FBF705DE9FA}"/>
              </a:ext>
            </a:extLst>
          </p:cNvPr>
          <p:cNvSpPr>
            <a:spLocks noGrp="1" noChangeArrowheads="1"/>
          </p:cNvSpPr>
          <p:nvPr>
            <p:ph type="title"/>
          </p:nvPr>
        </p:nvSpPr>
        <p:spPr/>
        <p:txBody>
          <a:bodyPr/>
          <a:lstStyle/>
          <a:p>
            <a:r>
              <a:rPr lang="en-US" altLang="ko-KR" sz="3600" dirty="0"/>
              <a:t>Layered File System in RTEMS</a:t>
            </a:r>
          </a:p>
        </p:txBody>
      </p:sp>
      <p:sp>
        <p:nvSpPr>
          <p:cNvPr id="7" name="Rectangle 3">
            <a:extLst>
              <a:ext uri="{FF2B5EF4-FFF2-40B4-BE49-F238E27FC236}">
                <a16:creationId xmlns:a16="http://schemas.microsoft.com/office/drawing/2014/main" id="{7A13C040-69E8-9D07-4142-5817403ED21D}"/>
              </a:ext>
            </a:extLst>
          </p:cNvPr>
          <p:cNvSpPr txBox="1">
            <a:spLocks noChangeArrowheads="1"/>
          </p:cNvSpPr>
          <p:nvPr/>
        </p:nvSpPr>
        <p:spPr bwMode="auto">
          <a:xfrm>
            <a:off x="554037" y="1676400"/>
            <a:ext cx="8035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900" kern="0" dirty="0"/>
              <a:t>Application Logic</a:t>
            </a:r>
          </a:p>
          <a:p>
            <a:pPr lvl="1" latinLnBrk="1"/>
            <a:r>
              <a:rPr lang="en-US" altLang="ko-KR" sz="1500" kern="0" dirty="0"/>
              <a:t>C/C++ program created by the user</a:t>
            </a:r>
          </a:p>
          <a:p>
            <a:pPr lvl="1" latinLnBrk="1"/>
            <a:r>
              <a:rPr lang="en-US" altLang="ko-KR" sz="1500" kern="0" dirty="0"/>
              <a:t>File</a:t>
            </a:r>
            <a:r>
              <a:rPr lang="ko-KR" altLang="en-US" sz="1500" kern="0" dirty="0"/>
              <a:t> </a:t>
            </a:r>
            <a:r>
              <a:rPr lang="en-US" altLang="ko-KR" sz="1500" kern="0" dirty="0"/>
              <a:t>I/O</a:t>
            </a:r>
            <a:endParaRPr lang="en-US" altLang="ko-KR" sz="1900" kern="0" dirty="0"/>
          </a:p>
          <a:p>
            <a:pPr latinLnBrk="1"/>
            <a:r>
              <a:rPr lang="en-US" altLang="ko-KR" sz="1900" kern="0" dirty="0"/>
              <a:t>File</a:t>
            </a:r>
            <a:r>
              <a:rPr lang="ko-KR" altLang="en-US" sz="1900" kern="0" dirty="0"/>
              <a:t> </a:t>
            </a:r>
            <a:r>
              <a:rPr lang="en-US" altLang="ko-KR" sz="1900" kern="0" dirty="0"/>
              <a:t>interface</a:t>
            </a:r>
          </a:p>
          <a:p>
            <a:pPr lvl="1" latinLnBrk="1"/>
            <a:r>
              <a:rPr lang="en-US" altLang="ko-KR" sz="1500" kern="0" dirty="0"/>
              <a:t>A set of standardized functions (POSIX API) for application programs to communicate with the kernel.</a:t>
            </a:r>
          </a:p>
          <a:p>
            <a:pPr lvl="1" latinLnBrk="1"/>
            <a:r>
              <a:rPr lang="en-US" altLang="ko-KR" sz="1500" kern="0" dirty="0"/>
              <a:t>Examples include open(),read() and write().</a:t>
            </a:r>
          </a:p>
          <a:p>
            <a:pPr lvl="1" latinLnBrk="1"/>
            <a:r>
              <a:rPr lang="en-US" altLang="ko-KR" sz="1500" kern="0" dirty="0"/>
              <a:t>It</a:t>
            </a:r>
            <a:r>
              <a:rPr lang="ko-KR" altLang="en-US" sz="1500" kern="0" dirty="0"/>
              <a:t> </a:t>
            </a:r>
            <a:r>
              <a:rPr lang="en-US" altLang="ko-KR" sz="1500" kern="0" dirty="0"/>
              <a:t>hides</a:t>
            </a:r>
            <a:r>
              <a:rPr lang="ko-KR" altLang="en-US" sz="1500" kern="0" dirty="0"/>
              <a:t> </a:t>
            </a:r>
            <a:r>
              <a:rPr lang="en-US" altLang="ko-KR" sz="1500" kern="0" dirty="0"/>
              <a:t>the</a:t>
            </a:r>
            <a:r>
              <a:rPr lang="ko-KR" altLang="en-US" sz="1500" kern="0" dirty="0"/>
              <a:t> </a:t>
            </a:r>
            <a:r>
              <a:rPr lang="en-US" altLang="ko-KR" sz="1500" kern="0" dirty="0"/>
              <a:t>internal</a:t>
            </a:r>
            <a:r>
              <a:rPr lang="ko-KR" altLang="en-US" sz="1500" kern="0" dirty="0"/>
              <a:t> </a:t>
            </a:r>
            <a:r>
              <a:rPr lang="en-US" altLang="ko-KR" sz="1500" kern="0" dirty="0"/>
              <a:t>complexity</a:t>
            </a:r>
            <a:r>
              <a:rPr lang="ko-KR" altLang="en-US" sz="1500" kern="0" dirty="0"/>
              <a:t> </a:t>
            </a:r>
            <a:r>
              <a:rPr lang="en-US" altLang="ko-KR" sz="1500" kern="0" dirty="0"/>
              <a:t>of the operating system.</a:t>
            </a:r>
          </a:p>
          <a:p>
            <a:pPr latinLnBrk="1"/>
            <a:r>
              <a:rPr lang="en-US" altLang="ko-KR" sz="1900" kern="0" dirty="0"/>
              <a:t>Logical</a:t>
            </a:r>
            <a:r>
              <a:rPr lang="ko-KR" altLang="en-US" sz="1900" kern="0" dirty="0"/>
              <a:t> </a:t>
            </a:r>
            <a:r>
              <a:rPr lang="en-US" altLang="ko-KR" sz="1900" kern="0" dirty="0"/>
              <a:t>File</a:t>
            </a:r>
            <a:r>
              <a:rPr lang="ko-KR" altLang="en-US" sz="1900" kern="0" dirty="0"/>
              <a:t> </a:t>
            </a:r>
            <a:r>
              <a:rPr lang="en-US" altLang="ko-KR" sz="1900" kern="0" dirty="0"/>
              <a:t>System</a:t>
            </a:r>
          </a:p>
          <a:p>
            <a:pPr lvl="1" latinLnBrk="1"/>
            <a:r>
              <a:rPr lang="en-US" altLang="ko-KR" sz="1500" kern="0" dirty="0"/>
              <a:t>The kernel’s first gateway translate user requests into a format that the kernel can understand.</a:t>
            </a:r>
          </a:p>
          <a:p>
            <a:pPr lvl="1" latinLnBrk="1"/>
            <a:r>
              <a:rPr lang="en-US" altLang="ko-KR" sz="1500" kern="0" dirty="0"/>
              <a:t>Main roles : Path resolution, access control verification, and conversion of file names into kernel data structures.</a:t>
            </a:r>
          </a:p>
          <a:p>
            <a:pPr latinLnBrk="1"/>
            <a:endParaRPr lang="en-US" altLang="ko-KR" sz="1900" kern="0" dirty="0"/>
          </a:p>
          <a:p>
            <a:pPr marL="0" indent="0" latinLnBrk="1">
              <a:buNone/>
            </a:pPr>
            <a:endParaRPr lang="en-US" altLang="ko-KR" sz="1900" kern="0" dirty="0"/>
          </a:p>
          <a:p>
            <a:pPr lvl="1" latinLnBrk="1"/>
            <a:endParaRPr lang="en-US" altLang="ko-KR" sz="15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2499871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921F-505E-FC1A-E26C-FCD55763D7C8}"/>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6CCFA432-FDBE-A487-D809-C6AC21C0FE7F}"/>
              </a:ext>
            </a:extLst>
          </p:cNvPr>
          <p:cNvSpPr>
            <a:spLocks noGrp="1" noChangeArrowheads="1"/>
          </p:cNvSpPr>
          <p:nvPr>
            <p:ph type="title"/>
          </p:nvPr>
        </p:nvSpPr>
        <p:spPr/>
        <p:txBody>
          <a:bodyPr/>
          <a:lstStyle/>
          <a:p>
            <a:r>
              <a:rPr lang="en-US" altLang="ko-KR" sz="3600" dirty="0"/>
              <a:t>Mount</a:t>
            </a:r>
          </a:p>
        </p:txBody>
      </p:sp>
      <p:sp>
        <p:nvSpPr>
          <p:cNvPr id="7" name="Rectangle 3">
            <a:extLst>
              <a:ext uri="{FF2B5EF4-FFF2-40B4-BE49-F238E27FC236}">
                <a16:creationId xmlns:a16="http://schemas.microsoft.com/office/drawing/2014/main" id="{48BAAB1D-181F-31A8-29DC-CB1946A07E0B}"/>
              </a:ext>
            </a:extLst>
          </p:cNvPr>
          <p:cNvSpPr txBox="1">
            <a:spLocks noChangeArrowheads="1"/>
          </p:cNvSpPr>
          <p:nvPr/>
        </p:nvSpPr>
        <p:spPr bwMode="auto">
          <a:xfrm>
            <a:off x="554037" y="1676400"/>
            <a:ext cx="401796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400" kern="0" dirty="0"/>
              <a:t>The process of connecting one file system to a specific directory of another file system.</a:t>
            </a:r>
          </a:p>
          <a:p>
            <a:pPr latinLnBrk="1"/>
            <a:r>
              <a:rPr lang="en-US" altLang="ko-KR" sz="1400" kern="0" dirty="0"/>
              <a:t>Since RTEMS starts with a small file system(IMFS) upon booting, it attaches file systems from various devices as needed.</a:t>
            </a:r>
            <a:endParaRPr lang="en-US" altLang="ko-KR" sz="1600" kern="0" dirty="0"/>
          </a:p>
          <a:p>
            <a:pPr latinLnBrk="1"/>
            <a:r>
              <a:rPr lang="en-US" altLang="ko-KR" sz="1400" kern="0" dirty="0"/>
              <a:t>Root filesystem</a:t>
            </a:r>
          </a:p>
          <a:p>
            <a:pPr lvl="1" latinLnBrk="1"/>
            <a:r>
              <a:rPr lang="en-US" altLang="ko-KR" sz="1200" kern="0" dirty="0"/>
              <a:t>The top-level file system where all paths originate.</a:t>
            </a:r>
          </a:p>
          <a:p>
            <a:pPr lvl="1" latinLnBrk="1"/>
            <a:r>
              <a:rPr lang="en-US" altLang="ko-KR" sz="1200" kern="0" dirty="0"/>
              <a:t>In RTEMS, the default</a:t>
            </a:r>
            <a:r>
              <a:rPr lang="ko-KR" altLang="en-US" sz="1200" kern="0" dirty="0"/>
              <a:t> </a:t>
            </a:r>
            <a:r>
              <a:rPr lang="en-US" altLang="ko-KR" sz="1200" kern="0" dirty="0"/>
              <a:t>is</a:t>
            </a:r>
            <a:r>
              <a:rPr lang="ko-KR" altLang="en-US" sz="1200" kern="0" dirty="0"/>
              <a:t> </a:t>
            </a:r>
            <a:r>
              <a:rPr lang="en-US" altLang="ko-KR" sz="1200" kern="0" dirty="0"/>
              <a:t>IMFS.</a:t>
            </a:r>
          </a:p>
          <a:p>
            <a:pPr latinLnBrk="1"/>
            <a:r>
              <a:rPr lang="en-US" altLang="ko-KR" sz="1400" kern="0" dirty="0"/>
              <a:t>Mount point</a:t>
            </a:r>
          </a:p>
          <a:p>
            <a:pPr lvl="1" latinLnBrk="1"/>
            <a:r>
              <a:rPr lang="en-US" altLang="ko-KR" sz="1200" kern="0" dirty="0"/>
              <a:t>The directory that serves as the attachment point where another file system is connected</a:t>
            </a:r>
          </a:p>
          <a:p>
            <a:pPr latinLnBrk="1"/>
            <a:r>
              <a:rPr lang="en-US" altLang="ko-KR" sz="1400" kern="0" dirty="0"/>
              <a:t>Mount</a:t>
            </a:r>
            <a:r>
              <a:rPr lang="ko-KR" altLang="en-US" sz="1400" kern="0" dirty="0"/>
              <a:t> </a:t>
            </a:r>
            <a:r>
              <a:rPr lang="en-US" altLang="ko-KR" sz="1400" kern="0" dirty="0"/>
              <a:t>table</a:t>
            </a:r>
          </a:p>
          <a:p>
            <a:pPr lvl="1" latinLnBrk="1"/>
            <a:r>
              <a:rPr lang="en-US" altLang="ko-KR" sz="1050" kern="0" dirty="0"/>
              <a:t>A list that manages which file systems are currently connected to which mount points </a:t>
            </a:r>
          </a:p>
          <a:p>
            <a:pPr marL="0" indent="0" latinLnBrk="1">
              <a:buNone/>
            </a:pPr>
            <a:endParaRPr lang="en-US" altLang="ko-KR" sz="1900" kern="0" dirty="0"/>
          </a:p>
          <a:p>
            <a:pPr lvl="1" latinLnBrk="1"/>
            <a:endParaRPr lang="en-US" altLang="ko-KR" sz="15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graphicFrame>
        <p:nvGraphicFramePr>
          <p:cNvPr id="4" name="표 3">
            <a:extLst>
              <a:ext uri="{FF2B5EF4-FFF2-40B4-BE49-F238E27FC236}">
                <a16:creationId xmlns:a16="http://schemas.microsoft.com/office/drawing/2014/main" id="{5CCF9F79-92ED-8DEA-797A-DFEC630C2962}"/>
              </a:ext>
            </a:extLst>
          </p:cNvPr>
          <p:cNvGraphicFramePr>
            <a:graphicFrameLocks noGrp="1"/>
          </p:cNvGraphicFramePr>
          <p:nvPr>
            <p:extLst>
              <p:ext uri="{D42A27DB-BD31-4B8C-83A1-F6EECF244321}">
                <p14:modId xmlns:p14="http://schemas.microsoft.com/office/powerpoint/2010/main" val="3120112832"/>
              </p:ext>
            </p:extLst>
          </p:nvPr>
        </p:nvGraphicFramePr>
        <p:xfrm>
          <a:off x="4874311" y="1936177"/>
          <a:ext cx="3698874" cy="3380492"/>
        </p:xfrm>
        <a:graphic>
          <a:graphicData uri="http://schemas.openxmlformats.org/drawingml/2006/table">
            <a:tbl>
              <a:tblPr firstRow="1" bandRow="1">
                <a:tableStyleId>{93296810-A885-4BE3-A3E7-6D5BEEA58F35}</a:tableStyleId>
              </a:tblPr>
              <a:tblGrid>
                <a:gridCol w="1232958">
                  <a:extLst>
                    <a:ext uri="{9D8B030D-6E8A-4147-A177-3AD203B41FA5}">
                      <a16:colId xmlns:a16="http://schemas.microsoft.com/office/drawing/2014/main" val="1140338743"/>
                    </a:ext>
                  </a:extLst>
                </a:gridCol>
                <a:gridCol w="1232958">
                  <a:extLst>
                    <a:ext uri="{9D8B030D-6E8A-4147-A177-3AD203B41FA5}">
                      <a16:colId xmlns:a16="http://schemas.microsoft.com/office/drawing/2014/main" val="854414979"/>
                    </a:ext>
                  </a:extLst>
                </a:gridCol>
                <a:gridCol w="1232958">
                  <a:extLst>
                    <a:ext uri="{9D8B030D-6E8A-4147-A177-3AD203B41FA5}">
                      <a16:colId xmlns:a16="http://schemas.microsoft.com/office/drawing/2014/main" val="839980048"/>
                    </a:ext>
                  </a:extLst>
                </a:gridCol>
              </a:tblGrid>
              <a:tr h="786942">
                <a:tc>
                  <a:txBody>
                    <a:bodyPr/>
                    <a:lstStyle/>
                    <a:p>
                      <a:pPr latinLnBrk="1"/>
                      <a:r>
                        <a:rPr lang="en-US" altLang="ko-KR" dirty="0"/>
                        <a:t>Mount</a:t>
                      </a:r>
                    </a:p>
                    <a:p>
                      <a:pPr latinLnBrk="1"/>
                      <a:r>
                        <a:rPr lang="en-US" altLang="ko-KR" dirty="0"/>
                        <a:t>Point</a:t>
                      </a:r>
                      <a:endParaRPr lang="ko-KR" altLang="en-US" dirty="0"/>
                    </a:p>
                  </a:txBody>
                  <a:tcPr>
                    <a:solidFill>
                      <a:srgbClr val="0070C0"/>
                    </a:solidFill>
                  </a:tcPr>
                </a:tc>
                <a:tc>
                  <a:txBody>
                    <a:bodyPr/>
                    <a:lstStyle/>
                    <a:p>
                      <a:pPr latinLnBrk="1"/>
                      <a:endParaRPr lang="en-US" altLang="ko-KR" sz="1400" dirty="0"/>
                    </a:p>
                    <a:p>
                      <a:pPr latinLnBrk="1"/>
                      <a:r>
                        <a:rPr lang="en-US" altLang="ko-KR" sz="1400" dirty="0"/>
                        <a:t>filesystem</a:t>
                      </a:r>
                      <a:endParaRPr lang="ko-KR" altLang="en-US" sz="1400" dirty="0"/>
                    </a:p>
                  </a:txBody>
                  <a:tcPr>
                    <a:solidFill>
                      <a:srgbClr val="0070C0"/>
                    </a:solidFill>
                  </a:tcPr>
                </a:tc>
                <a:tc>
                  <a:txBody>
                    <a:bodyPr/>
                    <a:lstStyle/>
                    <a:p>
                      <a:pPr latinLnBrk="1"/>
                      <a:r>
                        <a:rPr lang="en-US" altLang="ko-KR" dirty="0"/>
                        <a:t>Device</a:t>
                      </a:r>
                      <a:endParaRPr lang="ko-KR" altLang="en-US" dirty="0"/>
                    </a:p>
                  </a:txBody>
                  <a:tcPr>
                    <a:solidFill>
                      <a:srgbClr val="0070C0"/>
                    </a:solidFill>
                  </a:tcPr>
                </a:tc>
                <a:extLst>
                  <a:ext uri="{0D108BD9-81ED-4DB2-BD59-A6C34878D82A}">
                    <a16:rowId xmlns:a16="http://schemas.microsoft.com/office/drawing/2014/main" val="1077851250"/>
                  </a:ext>
                </a:extLst>
              </a:tr>
              <a:tr h="858281">
                <a:tc>
                  <a:txBody>
                    <a:bodyPr/>
                    <a:lstStyle/>
                    <a:p>
                      <a:pPr latinLnBrk="1"/>
                      <a:r>
                        <a:rPr lang="en-US" altLang="ko-KR" dirty="0"/>
                        <a:t>/(root)</a:t>
                      </a:r>
                      <a:endParaRPr lang="ko-KR" altLang="en-US" dirty="0"/>
                    </a:p>
                  </a:txBody>
                  <a:tcPr>
                    <a:solidFill>
                      <a:srgbClr val="9CB1D4"/>
                    </a:solidFill>
                  </a:tcPr>
                </a:tc>
                <a:tc>
                  <a:txBody>
                    <a:bodyPr/>
                    <a:lstStyle/>
                    <a:p>
                      <a:pPr latinLnBrk="1"/>
                      <a:r>
                        <a:rPr lang="en-US" altLang="ko-KR" dirty="0"/>
                        <a:t>IMFS</a:t>
                      </a:r>
                      <a:endParaRPr lang="ko-KR" altLang="en-US" dirty="0"/>
                    </a:p>
                  </a:txBody>
                  <a:tcPr>
                    <a:solidFill>
                      <a:srgbClr val="9CB1D4"/>
                    </a:solidFill>
                  </a:tcPr>
                </a:tc>
                <a:tc>
                  <a:txBody>
                    <a:bodyPr/>
                    <a:lstStyle/>
                    <a:p>
                      <a:pPr latinLnBrk="1"/>
                      <a:r>
                        <a:rPr lang="en-US" altLang="ko-KR" dirty="0"/>
                        <a:t>RAM</a:t>
                      </a:r>
                      <a:endParaRPr lang="ko-KR" altLang="en-US" dirty="0"/>
                    </a:p>
                  </a:txBody>
                  <a:tcPr>
                    <a:solidFill>
                      <a:srgbClr val="9CB1D4"/>
                    </a:solidFill>
                  </a:tcPr>
                </a:tc>
                <a:extLst>
                  <a:ext uri="{0D108BD9-81ED-4DB2-BD59-A6C34878D82A}">
                    <a16:rowId xmlns:a16="http://schemas.microsoft.com/office/drawing/2014/main" val="2847771086"/>
                  </a:ext>
                </a:extLst>
              </a:tr>
              <a:tr h="807023">
                <a:tc>
                  <a:txBody>
                    <a:bodyPr/>
                    <a:lstStyle/>
                    <a:p>
                      <a:pPr latinLnBrk="1"/>
                      <a:r>
                        <a:rPr lang="en-US" altLang="ko-KR" dirty="0"/>
                        <a:t>/</a:t>
                      </a:r>
                      <a:r>
                        <a:rPr lang="en-US" altLang="ko-KR" dirty="0" err="1"/>
                        <a:t>mnt</a:t>
                      </a:r>
                      <a:r>
                        <a:rPr lang="en-US" altLang="ko-KR" dirty="0"/>
                        <a:t>/fat</a:t>
                      </a:r>
                      <a:endParaRPr lang="ko-KR" altLang="en-US" dirty="0"/>
                    </a:p>
                  </a:txBody>
                  <a:tcPr>
                    <a:solidFill>
                      <a:srgbClr val="9CB1D4"/>
                    </a:solidFill>
                  </a:tcPr>
                </a:tc>
                <a:tc>
                  <a:txBody>
                    <a:bodyPr/>
                    <a:lstStyle/>
                    <a:p>
                      <a:pPr latinLnBrk="1"/>
                      <a:r>
                        <a:rPr lang="en-US" altLang="ko-KR" dirty="0"/>
                        <a:t>FAT FS</a:t>
                      </a:r>
                      <a:endParaRPr lang="ko-KR" altLang="en-US" dirty="0"/>
                    </a:p>
                  </a:txBody>
                  <a:tcPr>
                    <a:solidFill>
                      <a:srgbClr val="9CB1D4"/>
                    </a:solidFill>
                  </a:tcPr>
                </a:tc>
                <a:tc>
                  <a:txBody>
                    <a:bodyPr/>
                    <a:lstStyle/>
                    <a:p>
                      <a:pPr latinLnBrk="1"/>
                      <a:r>
                        <a:rPr lang="en-US" altLang="ko-KR" sz="1600" dirty="0"/>
                        <a:t>/dev</a:t>
                      </a:r>
                    </a:p>
                    <a:p>
                      <a:pPr latinLnBrk="1"/>
                      <a:r>
                        <a:rPr lang="en-US" altLang="ko-KR" sz="1600" dirty="0"/>
                        <a:t>/mmcsd0</a:t>
                      </a:r>
                      <a:endParaRPr lang="ko-KR" altLang="en-US" sz="1600" dirty="0"/>
                    </a:p>
                  </a:txBody>
                  <a:tcPr>
                    <a:solidFill>
                      <a:srgbClr val="9CB1D4"/>
                    </a:solidFill>
                  </a:tcPr>
                </a:tc>
                <a:extLst>
                  <a:ext uri="{0D108BD9-81ED-4DB2-BD59-A6C34878D82A}">
                    <a16:rowId xmlns:a16="http://schemas.microsoft.com/office/drawing/2014/main" val="3410334734"/>
                  </a:ext>
                </a:extLst>
              </a:tr>
              <a:tr h="928246">
                <a:tc>
                  <a:txBody>
                    <a:bodyPr/>
                    <a:lstStyle/>
                    <a:p>
                      <a:pPr latinLnBrk="1"/>
                      <a:r>
                        <a:rPr lang="en-US" altLang="ko-KR" dirty="0"/>
                        <a:t>/</a:t>
                      </a:r>
                      <a:r>
                        <a:rPr lang="en-US" altLang="ko-KR" dirty="0" err="1"/>
                        <a:t>tftp</a:t>
                      </a:r>
                      <a:endParaRPr lang="ko-KR" altLang="en-US" dirty="0"/>
                    </a:p>
                  </a:txBody>
                  <a:tcPr>
                    <a:solidFill>
                      <a:srgbClr val="9CB1D4"/>
                    </a:solidFill>
                  </a:tcPr>
                </a:tc>
                <a:tc>
                  <a:txBody>
                    <a:bodyPr/>
                    <a:lstStyle/>
                    <a:p>
                      <a:pPr latinLnBrk="1"/>
                      <a:r>
                        <a:rPr lang="en-US" altLang="ko-KR" dirty="0"/>
                        <a:t>TFTP FS</a:t>
                      </a:r>
                      <a:endParaRPr lang="ko-KR" altLang="en-US" dirty="0"/>
                    </a:p>
                  </a:txBody>
                  <a:tcPr>
                    <a:solidFill>
                      <a:srgbClr val="9CB1D4"/>
                    </a:solidFill>
                  </a:tcPr>
                </a:tc>
                <a:tc>
                  <a:txBody>
                    <a:bodyPr/>
                    <a:lstStyle/>
                    <a:p>
                      <a:pPr latinLnBrk="1"/>
                      <a:r>
                        <a:rPr lang="en-US" altLang="ko-KR" dirty="0"/>
                        <a:t>Network</a:t>
                      </a:r>
                      <a:endParaRPr lang="ko-KR" altLang="en-US" dirty="0"/>
                    </a:p>
                  </a:txBody>
                  <a:tcPr>
                    <a:solidFill>
                      <a:srgbClr val="9CB1D4"/>
                    </a:solidFill>
                  </a:tcPr>
                </a:tc>
                <a:extLst>
                  <a:ext uri="{0D108BD9-81ED-4DB2-BD59-A6C34878D82A}">
                    <a16:rowId xmlns:a16="http://schemas.microsoft.com/office/drawing/2014/main" val="1250348170"/>
                  </a:ext>
                </a:extLst>
              </a:tr>
            </a:tbl>
          </a:graphicData>
        </a:graphic>
      </p:graphicFrame>
      <p:sp>
        <p:nvSpPr>
          <p:cNvPr id="5" name="TextBox 4">
            <a:extLst>
              <a:ext uri="{FF2B5EF4-FFF2-40B4-BE49-F238E27FC236}">
                <a16:creationId xmlns:a16="http://schemas.microsoft.com/office/drawing/2014/main" id="{2D74495B-085D-FE08-E495-54BF62C29FAD}"/>
              </a:ext>
            </a:extLst>
          </p:cNvPr>
          <p:cNvSpPr txBox="1"/>
          <p:nvPr/>
        </p:nvSpPr>
        <p:spPr>
          <a:xfrm>
            <a:off x="5715000" y="5362689"/>
            <a:ext cx="1981200" cy="369332"/>
          </a:xfrm>
          <a:prstGeom prst="rect">
            <a:avLst/>
          </a:prstGeom>
          <a:noFill/>
        </p:spPr>
        <p:txBody>
          <a:bodyPr wrap="square" rtlCol="0">
            <a:spAutoFit/>
          </a:bodyPr>
          <a:lstStyle/>
          <a:p>
            <a:pPr algn="ctr"/>
            <a:r>
              <a:rPr lang="en-US" altLang="ko-KR" dirty="0"/>
              <a:t>Mount table</a:t>
            </a:r>
            <a:endParaRPr lang="ko-KR" altLang="en-US" dirty="0"/>
          </a:p>
        </p:txBody>
      </p:sp>
    </p:spTree>
    <p:extLst>
      <p:ext uri="{BB962C8B-B14F-4D97-AF65-F5344CB8AC3E}">
        <p14:creationId xmlns:p14="http://schemas.microsoft.com/office/powerpoint/2010/main" val="1726218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025B6-6735-0434-174A-41B01467C654}"/>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1419546C-7501-7918-3340-C3DF9A341217}"/>
              </a:ext>
            </a:extLst>
          </p:cNvPr>
          <p:cNvSpPr>
            <a:spLocks noGrp="1" noChangeArrowheads="1"/>
          </p:cNvSpPr>
          <p:nvPr>
            <p:ph type="title"/>
          </p:nvPr>
        </p:nvSpPr>
        <p:spPr/>
        <p:txBody>
          <a:bodyPr/>
          <a:lstStyle/>
          <a:p>
            <a:r>
              <a:rPr lang="en-US" altLang="ko-KR" sz="3600" dirty="0"/>
              <a:t>VFS</a:t>
            </a:r>
          </a:p>
        </p:txBody>
      </p:sp>
      <p:sp>
        <p:nvSpPr>
          <p:cNvPr id="7" name="Rectangle 3">
            <a:extLst>
              <a:ext uri="{FF2B5EF4-FFF2-40B4-BE49-F238E27FC236}">
                <a16:creationId xmlns:a16="http://schemas.microsoft.com/office/drawing/2014/main" id="{6BD54552-90D7-0137-CD41-CED2BC2AF000}"/>
              </a:ext>
            </a:extLst>
          </p:cNvPr>
          <p:cNvSpPr txBox="1">
            <a:spLocks noChangeArrowheads="1"/>
          </p:cNvSpPr>
          <p:nvPr/>
        </p:nvSpPr>
        <p:spPr bwMode="auto">
          <a:xfrm>
            <a:off x="535497" y="1448664"/>
            <a:ext cx="8035925" cy="255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b="1" kern="0" dirty="0"/>
              <a:t>Provides a unified interface </a:t>
            </a:r>
            <a:r>
              <a:rPr lang="en-US" altLang="ko-KR" sz="1600" kern="0" dirty="0"/>
              <a:t>: Offers a consistent POSIX API(</a:t>
            </a:r>
            <a:r>
              <a:rPr lang="en-US" altLang="ko-KR" sz="1600" kern="0" dirty="0" err="1"/>
              <a:t>e.g.,open</a:t>
            </a:r>
            <a:r>
              <a:rPr lang="en-US" altLang="ko-KR" sz="1600" kern="0" dirty="0"/>
              <a:t>(),read) to application programs</a:t>
            </a:r>
            <a:r>
              <a:rPr lang="en-US" altLang="ko-KR" sz="1800" kern="0" dirty="0"/>
              <a:t>.</a:t>
            </a:r>
          </a:p>
          <a:p>
            <a:pPr latinLnBrk="1"/>
            <a:r>
              <a:rPr lang="en-US" altLang="ko-KR" sz="1500" b="1" kern="0" dirty="0"/>
              <a:t>File system switching </a:t>
            </a:r>
            <a:r>
              <a:rPr lang="en-US" altLang="ko-KR" sz="1500" kern="0" dirty="0"/>
              <a:t>: Analyzes the requested file path to route and switch the request to the correct physical file system that will handle the task.</a:t>
            </a:r>
          </a:p>
          <a:p>
            <a:pPr latinLnBrk="1"/>
            <a:r>
              <a:rPr lang="en-US" altLang="ko-KR" sz="1500" b="1" kern="0" dirty="0"/>
              <a:t>File system registration and management </a:t>
            </a:r>
            <a:r>
              <a:rPr lang="en-US" altLang="ko-KR" sz="1500" kern="0" dirty="0"/>
              <a:t>: Manage the overall file system configuration, such as registering a new file system via the mount command and releasing it via unmount.</a:t>
            </a:r>
            <a:endParaRPr lang="en-US" altLang="ko-KR" sz="1900" kern="0" dirty="0"/>
          </a:p>
          <a:p>
            <a:pPr lvl="1" latinLnBrk="1"/>
            <a:endParaRPr lang="en-US" altLang="ko-KR" sz="15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pic>
        <p:nvPicPr>
          <p:cNvPr id="3" name="그래픽 2" descr="문서 윤곽선">
            <a:extLst>
              <a:ext uri="{FF2B5EF4-FFF2-40B4-BE49-F238E27FC236}">
                <a16:creationId xmlns:a16="http://schemas.microsoft.com/office/drawing/2014/main" id="{920C921D-5D7B-7F04-F4AF-9C4055E8EE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3616" y="4329104"/>
            <a:ext cx="914400" cy="914400"/>
          </a:xfrm>
          <a:prstGeom prst="rect">
            <a:avLst/>
          </a:prstGeom>
        </p:spPr>
      </p:pic>
      <p:sp>
        <p:nvSpPr>
          <p:cNvPr id="4" name="사각형: 둥근 모서리 3">
            <a:extLst>
              <a:ext uri="{FF2B5EF4-FFF2-40B4-BE49-F238E27FC236}">
                <a16:creationId xmlns:a16="http://schemas.microsoft.com/office/drawing/2014/main" id="{12EAE3D0-198C-5B2C-3357-F449A1668AA6}"/>
              </a:ext>
            </a:extLst>
          </p:cNvPr>
          <p:cNvSpPr/>
          <p:nvPr/>
        </p:nvSpPr>
        <p:spPr bwMode="auto">
          <a:xfrm>
            <a:off x="2727960" y="4037965"/>
            <a:ext cx="3581400" cy="1828800"/>
          </a:xfrm>
          <a:prstGeom prst="round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pic>
        <p:nvPicPr>
          <p:cNvPr id="6" name="그래픽 5" descr="프레젠테이션 체크리스트 윤곽선">
            <a:extLst>
              <a:ext uri="{FF2B5EF4-FFF2-40B4-BE49-F238E27FC236}">
                <a16:creationId xmlns:a16="http://schemas.microsoft.com/office/drawing/2014/main" id="{6A326ED4-0FD8-AE1F-DBCD-AF7ED0B58B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94660" y="4440165"/>
            <a:ext cx="914400" cy="914400"/>
          </a:xfrm>
          <a:prstGeom prst="rect">
            <a:avLst/>
          </a:prstGeom>
        </p:spPr>
      </p:pic>
      <p:pic>
        <p:nvPicPr>
          <p:cNvPr id="9" name="그래픽 8" descr="문서 윤곽선">
            <a:extLst>
              <a:ext uri="{FF2B5EF4-FFF2-40B4-BE49-F238E27FC236}">
                <a16:creationId xmlns:a16="http://schemas.microsoft.com/office/drawing/2014/main" id="{F9833D4C-5179-36D6-60CA-F349FC2D6B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90160" y="4952365"/>
            <a:ext cx="914400" cy="733280"/>
          </a:xfrm>
          <a:prstGeom prst="rect">
            <a:avLst/>
          </a:prstGeom>
        </p:spPr>
      </p:pic>
      <p:pic>
        <p:nvPicPr>
          <p:cNvPr id="10" name="그래픽 9" descr="문서 윤곽선">
            <a:extLst>
              <a:ext uri="{FF2B5EF4-FFF2-40B4-BE49-F238E27FC236}">
                <a16:creationId xmlns:a16="http://schemas.microsoft.com/office/drawing/2014/main" id="{FAA2A56A-389E-DB26-7712-E28BF7D9AC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59680" y="4114864"/>
            <a:ext cx="914400" cy="671440"/>
          </a:xfrm>
          <a:prstGeom prst="rect">
            <a:avLst/>
          </a:prstGeom>
        </p:spPr>
      </p:pic>
      <p:sp>
        <p:nvSpPr>
          <p:cNvPr id="12" name="사각형: 둥근 모서리 11">
            <a:extLst>
              <a:ext uri="{FF2B5EF4-FFF2-40B4-BE49-F238E27FC236}">
                <a16:creationId xmlns:a16="http://schemas.microsoft.com/office/drawing/2014/main" id="{E0D114B2-9F6C-891D-CF7A-DF48DF18F2FC}"/>
              </a:ext>
            </a:extLst>
          </p:cNvPr>
          <p:cNvSpPr/>
          <p:nvPr/>
        </p:nvSpPr>
        <p:spPr bwMode="auto">
          <a:xfrm>
            <a:off x="7376160" y="5087865"/>
            <a:ext cx="914400" cy="533400"/>
          </a:xfrm>
          <a:prstGeom prst="roundRect">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200" b="0" i="0" u="none" strike="noStrike" cap="none" normalizeH="0" baseline="0" dirty="0">
                <a:ln>
                  <a:noFill/>
                </a:ln>
                <a:solidFill>
                  <a:schemeClr val="tx1"/>
                </a:solidFill>
                <a:effectLst/>
                <a:latin typeface="Verdana" pitchFamily="34" charset="0"/>
                <a:cs typeface="Arial" charset="0"/>
              </a:rPr>
              <a:t>YAFFS2</a:t>
            </a:r>
            <a:endParaRPr kumimoji="0" lang="ko-KR" altLang="en-US" sz="1200" b="0" i="0" u="none" strike="noStrike" cap="none" normalizeH="0" baseline="0" dirty="0">
              <a:ln>
                <a:noFill/>
              </a:ln>
              <a:solidFill>
                <a:schemeClr val="tx1"/>
              </a:solidFill>
              <a:effectLst/>
              <a:latin typeface="Verdana" pitchFamily="34" charset="0"/>
              <a:cs typeface="Arial" charset="0"/>
            </a:endParaRPr>
          </a:p>
        </p:txBody>
      </p:sp>
      <p:sp>
        <p:nvSpPr>
          <p:cNvPr id="13" name="TextBox 12">
            <a:extLst>
              <a:ext uri="{FF2B5EF4-FFF2-40B4-BE49-F238E27FC236}">
                <a16:creationId xmlns:a16="http://schemas.microsoft.com/office/drawing/2014/main" id="{D3CE93C0-59A1-297F-6064-1CA03E9BEDE1}"/>
              </a:ext>
            </a:extLst>
          </p:cNvPr>
          <p:cNvSpPr txBox="1"/>
          <p:nvPr/>
        </p:nvSpPr>
        <p:spPr>
          <a:xfrm>
            <a:off x="5166360" y="4786304"/>
            <a:ext cx="914400" cy="215444"/>
          </a:xfrm>
          <a:prstGeom prst="rect">
            <a:avLst/>
          </a:prstGeom>
          <a:noFill/>
        </p:spPr>
        <p:txBody>
          <a:bodyPr wrap="square" rtlCol="0">
            <a:spAutoFit/>
          </a:bodyPr>
          <a:lstStyle/>
          <a:p>
            <a:r>
              <a:rPr lang="en-US" altLang="ko-KR" sz="800" dirty="0">
                <a:solidFill>
                  <a:srgbClr val="0000FF"/>
                </a:solidFill>
              </a:rPr>
              <a:t>Handler table</a:t>
            </a:r>
            <a:endParaRPr lang="ko-KR" altLang="en-US" sz="800" dirty="0">
              <a:solidFill>
                <a:srgbClr val="0000FF"/>
              </a:solidFill>
            </a:endParaRPr>
          </a:p>
        </p:txBody>
      </p:sp>
      <p:sp>
        <p:nvSpPr>
          <p:cNvPr id="14" name="TextBox 13">
            <a:extLst>
              <a:ext uri="{FF2B5EF4-FFF2-40B4-BE49-F238E27FC236}">
                <a16:creationId xmlns:a16="http://schemas.microsoft.com/office/drawing/2014/main" id="{B9214BBD-C631-3B9D-0F03-A66F8FBDFB3A}"/>
              </a:ext>
            </a:extLst>
          </p:cNvPr>
          <p:cNvSpPr txBox="1"/>
          <p:nvPr/>
        </p:nvSpPr>
        <p:spPr>
          <a:xfrm>
            <a:off x="5166360" y="5618220"/>
            <a:ext cx="914400" cy="215444"/>
          </a:xfrm>
          <a:prstGeom prst="rect">
            <a:avLst/>
          </a:prstGeom>
          <a:noFill/>
        </p:spPr>
        <p:txBody>
          <a:bodyPr wrap="square" rtlCol="0">
            <a:spAutoFit/>
          </a:bodyPr>
          <a:lstStyle/>
          <a:p>
            <a:r>
              <a:rPr lang="en-US" altLang="ko-KR" sz="800" dirty="0">
                <a:solidFill>
                  <a:srgbClr val="0000FF"/>
                </a:solidFill>
              </a:rPr>
              <a:t>Handler table</a:t>
            </a:r>
            <a:endParaRPr lang="ko-KR" altLang="en-US" sz="800" dirty="0">
              <a:solidFill>
                <a:srgbClr val="0000FF"/>
              </a:solidFill>
            </a:endParaRPr>
          </a:p>
        </p:txBody>
      </p:sp>
      <p:cxnSp>
        <p:nvCxnSpPr>
          <p:cNvPr id="19" name="직선 화살표 연결선 18">
            <a:extLst>
              <a:ext uri="{FF2B5EF4-FFF2-40B4-BE49-F238E27FC236}">
                <a16:creationId xmlns:a16="http://schemas.microsoft.com/office/drawing/2014/main" id="{85BFDD7B-9A47-61F6-E4E1-B5D7357B1CD7}"/>
              </a:ext>
            </a:extLst>
          </p:cNvPr>
          <p:cNvCxnSpPr>
            <a:cxnSpLocks/>
          </p:cNvCxnSpPr>
          <p:nvPr/>
        </p:nvCxnSpPr>
        <p:spPr bwMode="auto">
          <a:xfrm flipV="1">
            <a:off x="5809488" y="4482112"/>
            <a:ext cx="1581912" cy="6264"/>
          </a:xfrm>
          <a:prstGeom prst="straightConnector1">
            <a:avLst/>
          </a:prstGeom>
          <a:solidFill>
            <a:schemeClr val="accent1"/>
          </a:solidFill>
          <a:ln w="22225" cap="flat" cmpd="sng" algn="ctr">
            <a:solidFill>
              <a:srgbClr val="FF0000"/>
            </a:solidFill>
            <a:prstDash val="solid"/>
            <a:round/>
            <a:headEnd type="none" w="med" len="med"/>
            <a:tailEnd type="triangle"/>
          </a:ln>
          <a:effectLst/>
        </p:spPr>
      </p:cxnSp>
      <p:cxnSp>
        <p:nvCxnSpPr>
          <p:cNvPr id="23" name="직선 화살표 연결선 22">
            <a:extLst>
              <a:ext uri="{FF2B5EF4-FFF2-40B4-BE49-F238E27FC236}">
                <a16:creationId xmlns:a16="http://schemas.microsoft.com/office/drawing/2014/main" id="{D8C6B9A1-D414-9009-F099-E8D1FFDCCA92}"/>
              </a:ext>
            </a:extLst>
          </p:cNvPr>
          <p:cNvCxnSpPr>
            <a:cxnSpLocks/>
            <a:endCxn id="12" idx="1"/>
          </p:cNvCxnSpPr>
          <p:nvPr/>
        </p:nvCxnSpPr>
        <p:spPr bwMode="auto">
          <a:xfrm flipV="1">
            <a:off x="5809488" y="5354565"/>
            <a:ext cx="1566672" cy="201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6" name="TextBox 25">
            <a:extLst>
              <a:ext uri="{FF2B5EF4-FFF2-40B4-BE49-F238E27FC236}">
                <a16:creationId xmlns:a16="http://schemas.microsoft.com/office/drawing/2014/main" id="{F536D05C-CA75-A890-926E-E1D4E886035B}"/>
              </a:ext>
            </a:extLst>
          </p:cNvPr>
          <p:cNvSpPr txBox="1"/>
          <p:nvPr/>
        </p:nvSpPr>
        <p:spPr>
          <a:xfrm>
            <a:off x="7391400" y="4778629"/>
            <a:ext cx="914400" cy="215444"/>
          </a:xfrm>
          <a:prstGeom prst="rect">
            <a:avLst/>
          </a:prstGeom>
          <a:noFill/>
        </p:spPr>
        <p:txBody>
          <a:bodyPr wrap="square" rtlCol="0">
            <a:spAutoFit/>
          </a:bodyPr>
          <a:lstStyle/>
          <a:p>
            <a:r>
              <a:rPr lang="en-US" altLang="ko-KR" sz="800" b="1" dirty="0">
                <a:solidFill>
                  <a:srgbClr val="0000FF"/>
                </a:solidFill>
              </a:rPr>
              <a:t>File system</a:t>
            </a:r>
            <a:endParaRPr lang="ko-KR" altLang="en-US" sz="800" b="1" dirty="0">
              <a:solidFill>
                <a:srgbClr val="0000FF"/>
              </a:solidFill>
            </a:endParaRPr>
          </a:p>
        </p:txBody>
      </p:sp>
      <p:sp>
        <p:nvSpPr>
          <p:cNvPr id="27" name="TextBox 26">
            <a:extLst>
              <a:ext uri="{FF2B5EF4-FFF2-40B4-BE49-F238E27FC236}">
                <a16:creationId xmlns:a16="http://schemas.microsoft.com/office/drawing/2014/main" id="{11B78E72-5975-B8AA-644D-B46ED10A486C}"/>
              </a:ext>
            </a:extLst>
          </p:cNvPr>
          <p:cNvSpPr txBox="1"/>
          <p:nvPr/>
        </p:nvSpPr>
        <p:spPr>
          <a:xfrm>
            <a:off x="7391400" y="5685645"/>
            <a:ext cx="914400" cy="215444"/>
          </a:xfrm>
          <a:prstGeom prst="rect">
            <a:avLst/>
          </a:prstGeom>
          <a:noFill/>
        </p:spPr>
        <p:txBody>
          <a:bodyPr wrap="square" rtlCol="0">
            <a:spAutoFit/>
          </a:bodyPr>
          <a:lstStyle/>
          <a:p>
            <a:r>
              <a:rPr lang="en-US" altLang="ko-KR" sz="800" b="1" dirty="0">
                <a:solidFill>
                  <a:srgbClr val="0000FF"/>
                </a:solidFill>
              </a:rPr>
              <a:t>File system</a:t>
            </a:r>
            <a:endParaRPr lang="ko-KR" altLang="en-US" sz="800" b="1" dirty="0">
              <a:solidFill>
                <a:srgbClr val="0000FF"/>
              </a:solidFill>
            </a:endParaRPr>
          </a:p>
        </p:txBody>
      </p:sp>
      <p:sp>
        <p:nvSpPr>
          <p:cNvPr id="28" name="TextBox 27">
            <a:extLst>
              <a:ext uri="{FF2B5EF4-FFF2-40B4-BE49-F238E27FC236}">
                <a16:creationId xmlns:a16="http://schemas.microsoft.com/office/drawing/2014/main" id="{37978D5E-0437-5FC0-DCEE-0E411357D987}"/>
              </a:ext>
            </a:extLst>
          </p:cNvPr>
          <p:cNvSpPr txBox="1"/>
          <p:nvPr/>
        </p:nvSpPr>
        <p:spPr>
          <a:xfrm>
            <a:off x="2994660" y="5235829"/>
            <a:ext cx="914400" cy="215444"/>
          </a:xfrm>
          <a:prstGeom prst="rect">
            <a:avLst/>
          </a:prstGeom>
          <a:noFill/>
        </p:spPr>
        <p:txBody>
          <a:bodyPr wrap="square" rtlCol="0">
            <a:spAutoFit/>
          </a:bodyPr>
          <a:lstStyle/>
          <a:p>
            <a:r>
              <a:rPr lang="en-US" altLang="ko-KR" sz="800" dirty="0">
                <a:solidFill>
                  <a:srgbClr val="0000FF"/>
                </a:solidFill>
              </a:rPr>
              <a:t>Mount Table</a:t>
            </a:r>
            <a:endParaRPr lang="ko-KR" altLang="en-US" sz="800" dirty="0">
              <a:solidFill>
                <a:srgbClr val="0000FF"/>
              </a:solidFill>
            </a:endParaRPr>
          </a:p>
        </p:txBody>
      </p:sp>
      <p:cxnSp>
        <p:nvCxnSpPr>
          <p:cNvPr id="29" name="직선 화살표 연결선 28">
            <a:extLst>
              <a:ext uri="{FF2B5EF4-FFF2-40B4-BE49-F238E27FC236}">
                <a16:creationId xmlns:a16="http://schemas.microsoft.com/office/drawing/2014/main" id="{0AB9487C-0F2C-1637-B7E9-C668B7DE44CD}"/>
              </a:ext>
            </a:extLst>
          </p:cNvPr>
          <p:cNvCxnSpPr>
            <a:cxnSpLocks/>
          </p:cNvCxnSpPr>
          <p:nvPr/>
        </p:nvCxnSpPr>
        <p:spPr bwMode="auto">
          <a:xfrm flipV="1">
            <a:off x="3746754" y="4474936"/>
            <a:ext cx="1495806" cy="380721"/>
          </a:xfrm>
          <a:prstGeom prst="straightConnector1">
            <a:avLst/>
          </a:prstGeom>
          <a:solidFill>
            <a:schemeClr val="accent1"/>
          </a:solidFill>
          <a:ln w="22225" cap="flat" cmpd="sng" algn="ctr">
            <a:solidFill>
              <a:srgbClr val="FF0000"/>
            </a:solidFill>
            <a:prstDash val="solid"/>
            <a:round/>
            <a:headEnd type="none" w="med" len="med"/>
            <a:tailEnd type="triangle"/>
          </a:ln>
          <a:effectLst/>
        </p:spPr>
      </p:cxnSp>
      <p:cxnSp>
        <p:nvCxnSpPr>
          <p:cNvPr id="31" name="직선 화살표 연결선 30">
            <a:extLst>
              <a:ext uri="{FF2B5EF4-FFF2-40B4-BE49-F238E27FC236}">
                <a16:creationId xmlns:a16="http://schemas.microsoft.com/office/drawing/2014/main" id="{053DD45D-B539-8FC5-E00D-3886D6B30D07}"/>
              </a:ext>
            </a:extLst>
          </p:cNvPr>
          <p:cNvCxnSpPr>
            <a:cxnSpLocks/>
          </p:cNvCxnSpPr>
          <p:nvPr/>
        </p:nvCxnSpPr>
        <p:spPr bwMode="auto">
          <a:xfrm>
            <a:off x="3740849" y="4863203"/>
            <a:ext cx="1550956" cy="51871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5" name="사각형: 둥근 모서리 34">
            <a:extLst>
              <a:ext uri="{FF2B5EF4-FFF2-40B4-BE49-F238E27FC236}">
                <a16:creationId xmlns:a16="http://schemas.microsoft.com/office/drawing/2014/main" id="{95D056AB-5570-5546-77CD-217D139949E4}"/>
              </a:ext>
            </a:extLst>
          </p:cNvPr>
          <p:cNvSpPr/>
          <p:nvPr/>
        </p:nvSpPr>
        <p:spPr bwMode="auto">
          <a:xfrm>
            <a:off x="7391400" y="4213043"/>
            <a:ext cx="914400" cy="533396"/>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altLang="ko-KR" sz="1400" b="0" i="0" u="none" strike="noStrike" cap="none" normalizeH="0" baseline="0" dirty="0">
                <a:ln>
                  <a:noFill/>
                </a:ln>
                <a:solidFill>
                  <a:schemeClr val="tx1"/>
                </a:solidFill>
                <a:effectLst/>
                <a:latin typeface="Verdana" pitchFamily="34" charset="0"/>
                <a:cs typeface="Arial" charset="0"/>
              </a:rPr>
              <a:t>DOSFS</a:t>
            </a: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39" name="TextBox 38">
            <a:extLst>
              <a:ext uri="{FF2B5EF4-FFF2-40B4-BE49-F238E27FC236}">
                <a16:creationId xmlns:a16="http://schemas.microsoft.com/office/drawing/2014/main" id="{5F15D64E-62F3-F65D-9858-48E1D66B9514}"/>
              </a:ext>
            </a:extLst>
          </p:cNvPr>
          <p:cNvSpPr txBox="1"/>
          <p:nvPr/>
        </p:nvSpPr>
        <p:spPr>
          <a:xfrm>
            <a:off x="1294130" y="4386359"/>
            <a:ext cx="1939925" cy="261610"/>
          </a:xfrm>
          <a:prstGeom prst="rect">
            <a:avLst/>
          </a:prstGeom>
          <a:noFill/>
        </p:spPr>
        <p:txBody>
          <a:bodyPr wrap="square" rtlCol="0">
            <a:spAutoFit/>
          </a:bodyPr>
          <a:lstStyle/>
          <a:p>
            <a:r>
              <a:rPr lang="en-US" altLang="ko-KR" sz="1050" dirty="0">
                <a:solidFill>
                  <a:srgbClr val="FF0000"/>
                </a:solidFill>
              </a:rPr>
              <a:t>read(“/</a:t>
            </a:r>
            <a:r>
              <a:rPr lang="en-US" altLang="ko-KR" sz="1050" dirty="0" err="1">
                <a:solidFill>
                  <a:srgbClr val="FF0000"/>
                </a:solidFill>
              </a:rPr>
              <a:t>mnt</a:t>
            </a:r>
            <a:r>
              <a:rPr lang="en-US" altLang="ko-KR" sz="1050" dirty="0">
                <a:solidFill>
                  <a:srgbClr val="FF0000"/>
                </a:solidFill>
              </a:rPr>
              <a:t>/fat/data.txt”)</a:t>
            </a:r>
            <a:endParaRPr lang="ko-KR" altLang="en-US" sz="1050" dirty="0">
              <a:solidFill>
                <a:srgbClr val="FF0000"/>
              </a:solidFill>
            </a:endParaRPr>
          </a:p>
        </p:txBody>
      </p:sp>
      <p:cxnSp>
        <p:nvCxnSpPr>
          <p:cNvPr id="40" name="직선 화살표 연결선 39">
            <a:extLst>
              <a:ext uri="{FF2B5EF4-FFF2-40B4-BE49-F238E27FC236}">
                <a16:creationId xmlns:a16="http://schemas.microsoft.com/office/drawing/2014/main" id="{19B2EC06-5CA1-0F9A-521B-023EB9AB983E}"/>
              </a:ext>
            </a:extLst>
          </p:cNvPr>
          <p:cNvCxnSpPr>
            <a:cxnSpLocks/>
          </p:cNvCxnSpPr>
          <p:nvPr/>
        </p:nvCxnSpPr>
        <p:spPr bwMode="auto">
          <a:xfrm flipV="1">
            <a:off x="1465708" y="4820337"/>
            <a:ext cx="1664969" cy="35320"/>
          </a:xfrm>
          <a:prstGeom prst="straightConnector1">
            <a:avLst/>
          </a:prstGeom>
          <a:solidFill>
            <a:schemeClr val="accent1"/>
          </a:solidFill>
          <a:ln w="22225" cap="flat" cmpd="sng" algn="ctr">
            <a:solidFill>
              <a:srgbClr val="FF0000"/>
            </a:solidFill>
            <a:prstDash val="solid"/>
            <a:round/>
            <a:headEnd type="none" w="med" len="med"/>
            <a:tailEnd type="triangle"/>
          </a:ln>
          <a:effectLst/>
        </p:spPr>
      </p:cxnSp>
      <p:sp>
        <p:nvSpPr>
          <p:cNvPr id="45" name="TextBox 44">
            <a:extLst>
              <a:ext uri="{FF2B5EF4-FFF2-40B4-BE49-F238E27FC236}">
                <a16:creationId xmlns:a16="http://schemas.microsoft.com/office/drawing/2014/main" id="{3A1F9DFA-F27B-5310-70BD-EC34D3D0C70F}"/>
              </a:ext>
            </a:extLst>
          </p:cNvPr>
          <p:cNvSpPr txBox="1"/>
          <p:nvPr/>
        </p:nvSpPr>
        <p:spPr>
          <a:xfrm>
            <a:off x="3667601" y="5933788"/>
            <a:ext cx="1654111" cy="338554"/>
          </a:xfrm>
          <a:prstGeom prst="rect">
            <a:avLst/>
          </a:prstGeom>
          <a:noFill/>
        </p:spPr>
        <p:txBody>
          <a:bodyPr wrap="square" rtlCol="0">
            <a:spAutoFit/>
          </a:bodyPr>
          <a:lstStyle/>
          <a:p>
            <a:pPr algn="ctr"/>
            <a:r>
              <a:rPr lang="en-US" altLang="ko-KR" sz="1600" b="1" dirty="0"/>
              <a:t>VFS</a:t>
            </a:r>
            <a:endParaRPr lang="ko-KR" altLang="en-US" sz="1600" b="1" dirty="0"/>
          </a:p>
        </p:txBody>
      </p:sp>
    </p:spTree>
    <p:extLst>
      <p:ext uri="{BB962C8B-B14F-4D97-AF65-F5344CB8AC3E}">
        <p14:creationId xmlns:p14="http://schemas.microsoft.com/office/powerpoint/2010/main" val="3943503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BB755-572A-0EC8-9CC7-1B2C779B6374}"/>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0FFC3DC0-AD5F-9DAF-6930-955A5C4218EF}"/>
              </a:ext>
            </a:extLst>
          </p:cNvPr>
          <p:cNvSpPr>
            <a:spLocks noGrp="1" noChangeArrowheads="1"/>
          </p:cNvSpPr>
          <p:nvPr>
            <p:ph type="title"/>
          </p:nvPr>
        </p:nvSpPr>
        <p:spPr/>
        <p:txBody>
          <a:bodyPr/>
          <a:lstStyle/>
          <a:p>
            <a:r>
              <a:rPr lang="en-US" altLang="ko-KR" sz="3200" dirty="0"/>
              <a:t>Physical File Systems : IMFS</a:t>
            </a:r>
          </a:p>
        </p:txBody>
      </p:sp>
      <p:sp>
        <p:nvSpPr>
          <p:cNvPr id="7" name="Rectangle 3">
            <a:extLst>
              <a:ext uri="{FF2B5EF4-FFF2-40B4-BE49-F238E27FC236}">
                <a16:creationId xmlns:a16="http://schemas.microsoft.com/office/drawing/2014/main" id="{1E42E552-A3B0-D660-AEF5-8EC66F85062A}"/>
              </a:ext>
            </a:extLst>
          </p:cNvPr>
          <p:cNvSpPr txBox="1">
            <a:spLocks noChangeArrowheads="1"/>
          </p:cNvSpPr>
          <p:nvPr/>
        </p:nvSpPr>
        <p:spPr bwMode="auto">
          <a:xfrm>
            <a:off x="554037" y="1600200"/>
            <a:ext cx="4017963"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kern="0" dirty="0"/>
              <a:t>A fully-functional POSIX file system that stores and manages all files, directory structures, and data in RAM</a:t>
            </a:r>
          </a:p>
          <a:p>
            <a:pPr latinLnBrk="1"/>
            <a:r>
              <a:rPr lang="en-US" altLang="ko-KR" sz="1600" kern="0" dirty="0"/>
              <a:t>It is volatile because it uses RAM.</a:t>
            </a:r>
          </a:p>
          <a:p>
            <a:pPr latinLnBrk="1"/>
            <a:r>
              <a:rPr lang="en-US" altLang="ko-KR" sz="1600" kern="0" dirty="0"/>
              <a:t>All elements of the file system are managed through a data structure called j node.</a:t>
            </a:r>
          </a:p>
          <a:p>
            <a:pPr latinLnBrk="1"/>
            <a:r>
              <a:rPr lang="en-US" altLang="ko-KR" sz="1600" kern="0" dirty="0"/>
              <a:t>Copy-on-Write</a:t>
            </a:r>
          </a:p>
          <a:p>
            <a:pPr lvl="1" latinLnBrk="1"/>
            <a:r>
              <a:rPr lang="en-US" altLang="ko-KR" sz="1200" kern="0" dirty="0"/>
              <a:t>Stores a file bundle in ROM</a:t>
            </a:r>
          </a:p>
          <a:p>
            <a:pPr lvl="1" latinLnBrk="1"/>
            <a:r>
              <a:rPr lang="en-US" altLang="ko-KR" sz="1200" kern="0" dirty="0"/>
              <a:t>At boot time, only the structure is created in RAM.</a:t>
            </a:r>
          </a:p>
          <a:p>
            <a:pPr lvl="1" latinLnBrk="1"/>
            <a:r>
              <a:rPr lang="en-US" altLang="ko-KR" sz="1200" kern="0" dirty="0"/>
              <a:t>For</a:t>
            </a:r>
            <a:r>
              <a:rPr lang="ko-KR" altLang="en-US" sz="1200" kern="0" dirty="0"/>
              <a:t> </a:t>
            </a:r>
            <a:r>
              <a:rPr lang="en-US" altLang="ko-KR" sz="1200" kern="0" dirty="0"/>
              <a:t>a</a:t>
            </a:r>
            <a:r>
              <a:rPr lang="ko-KR" altLang="en-US" sz="1200" kern="0" dirty="0"/>
              <a:t> </a:t>
            </a:r>
            <a:r>
              <a:rPr lang="en-US" altLang="ko-KR" sz="1200" kern="0" dirty="0"/>
              <a:t>read</a:t>
            </a:r>
            <a:r>
              <a:rPr lang="ko-KR" altLang="en-US" sz="1200" kern="0" dirty="0"/>
              <a:t> </a:t>
            </a:r>
            <a:r>
              <a:rPr lang="en-US" altLang="ko-KR" sz="1200" kern="0" dirty="0"/>
              <a:t>request,</a:t>
            </a:r>
            <a:r>
              <a:rPr lang="ko-KR" altLang="en-US" sz="1200" kern="0" dirty="0"/>
              <a:t> </a:t>
            </a:r>
            <a:r>
              <a:rPr lang="en-US" altLang="ko-KR" sz="1200" kern="0" dirty="0"/>
              <a:t>it</a:t>
            </a:r>
            <a:r>
              <a:rPr lang="ko-KR" altLang="en-US" sz="1200" kern="0" dirty="0"/>
              <a:t> </a:t>
            </a:r>
            <a:r>
              <a:rPr lang="en-US" altLang="ko-KR" sz="1200" kern="0" dirty="0"/>
              <a:t>reads directly from ROM.</a:t>
            </a:r>
          </a:p>
          <a:p>
            <a:pPr lvl="1" latinLnBrk="1"/>
            <a:r>
              <a:rPr lang="en-US" altLang="ko-KR" sz="1200" kern="0" dirty="0"/>
              <a:t>For</a:t>
            </a:r>
            <a:r>
              <a:rPr lang="ko-KR" altLang="en-US" sz="1200" kern="0" dirty="0"/>
              <a:t> </a:t>
            </a:r>
            <a:r>
              <a:rPr lang="en-US" altLang="ko-KR" sz="1200" kern="0" dirty="0"/>
              <a:t>a</a:t>
            </a:r>
            <a:r>
              <a:rPr lang="ko-KR" altLang="en-US" sz="1200" kern="0" dirty="0"/>
              <a:t> </a:t>
            </a:r>
            <a:r>
              <a:rPr lang="en-US" altLang="ko-KR" sz="1200" kern="0" dirty="0"/>
              <a:t>write</a:t>
            </a:r>
            <a:r>
              <a:rPr lang="ko-KR" altLang="en-US" sz="1200" kern="0" dirty="0"/>
              <a:t> </a:t>
            </a:r>
            <a:r>
              <a:rPr lang="en-US" altLang="ko-KR" sz="1200" kern="0" dirty="0"/>
              <a:t>request, it copies to RAM.</a:t>
            </a:r>
          </a:p>
          <a:p>
            <a:pPr lvl="1" latinLnBrk="1"/>
            <a:endParaRPr lang="en-US" altLang="ko-KR" sz="1500" kern="0" dirty="0"/>
          </a:p>
          <a:p>
            <a:pPr lvl="1" latinLnBrk="1"/>
            <a:endParaRPr lang="en-US" altLang="ko-KR" sz="1500" kern="0" dirty="0"/>
          </a:p>
          <a:p>
            <a:pPr lvl="1" latinLnBrk="1"/>
            <a:endParaRPr lang="en-US" altLang="ko-KR" sz="1500" kern="0" dirty="0"/>
          </a:p>
          <a:p>
            <a:pPr latinLnBrk="1"/>
            <a:endParaRPr lang="en-US" altLang="ko-KR" sz="1900" kern="0" dirty="0"/>
          </a:p>
          <a:p>
            <a:pPr latinLnBrk="1"/>
            <a:endParaRPr lang="en-US" altLang="ko-KR" sz="1500" kern="0" dirty="0"/>
          </a:p>
          <a:p>
            <a:pPr latinLnBrk="1"/>
            <a:endParaRPr lang="en-US" altLang="ko-KR" sz="1900" kern="0" dirty="0"/>
          </a:p>
          <a:p>
            <a:pPr lvl="1" latinLnBrk="1"/>
            <a:endParaRPr lang="en-US" altLang="ko-KR" sz="15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graphicFrame>
        <p:nvGraphicFramePr>
          <p:cNvPr id="2" name="표 1">
            <a:extLst>
              <a:ext uri="{FF2B5EF4-FFF2-40B4-BE49-F238E27FC236}">
                <a16:creationId xmlns:a16="http://schemas.microsoft.com/office/drawing/2014/main" id="{CAB570AD-E77B-38AA-2449-0C874FC46D94}"/>
              </a:ext>
            </a:extLst>
          </p:cNvPr>
          <p:cNvGraphicFramePr>
            <a:graphicFrameLocks noGrp="1"/>
          </p:cNvGraphicFramePr>
          <p:nvPr>
            <p:extLst>
              <p:ext uri="{D42A27DB-BD31-4B8C-83A1-F6EECF244321}">
                <p14:modId xmlns:p14="http://schemas.microsoft.com/office/powerpoint/2010/main" val="1830428840"/>
              </p:ext>
            </p:extLst>
          </p:nvPr>
        </p:nvGraphicFramePr>
        <p:xfrm>
          <a:off x="4724400" y="2286000"/>
          <a:ext cx="4114800" cy="3447240"/>
        </p:xfrm>
        <a:graphic>
          <a:graphicData uri="http://schemas.openxmlformats.org/drawingml/2006/table">
            <a:tbl>
              <a:tblPr firstRow="1" bandRow="1">
                <a:tableStyleId>{073A0DAA-6AF3-43AB-8588-CEC1D06C72B9}</a:tableStyleId>
              </a:tblPr>
              <a:tblGrid>
                <a:gridCol w="2057400">
                  <a:extLst>
                    <a:ext uri="{9D8B030D-6E8A-4147-A177-3AD203B41FA5}">
                      <a16:colId xmlns:a16="http://schemas.microsoft.com/office/drawing/2014/main" val="4166877121"/>
                    </a:ext>
                  </a:extLst>
                </a:gridCol>
                <a:gridCol w="2057400">
                  <a:extLst>
                    <a:ext uri="{9D8B030D-6E8A-4147-A177-3AD203B41FA5}">
                      <a16:colId xmlns:a16="http://schemas.microsoft.com/office/drawing/2014/main" val="3644101081"/>
                    </a:ext>
                  </a:extLst>
                </a:gridCol>
              </a:tblGrid>
              <a:tr h="349060">
                <a:tc>
                  <a:txBody>
                    <a:bodyPr/>
                    <a:lstStyle/>
                    <a:p>
                      <a:pPr algn="ctr" latinLnBrk="1"/>
                      <a:r>
                        <a:rPr lang="en-US" altLang="ko-KR" dirty="0"/>
                        <a:t>Pros</a:t>
                      </a:r>
                      <a:endParaRPr lang="ko-KR" altLang="en-US" dirty="0"/>
                    </a:p>
                  </a:txBody>
                  <a:tcPr/>
                </a:tc>
                <a:tc>
                  <a:txBody>
                    <a:bodyPr/>
                    <a:lstStyle/>
                    <a:p>
                      <a:pPr algn="ctr" latinLnBrk="1"/>
                      <a:r>
                        <a:rPr lang="en-US" altLang="ko-KR" dirty="0"/>
                        <a:t>Cons</a:t>
                      </a:r>
                      <a:endParaRPr lang="ko-KR" altLang="en-US" dirty="0"/>
                    </a:p>
                  </a:txBody>
                  <a:tcPr/>
                </a:tc>
                <a:extLst>
                  <a:ext uri="{0D108BD9-81ED-4DB2-BD59-A6C34878D82A}">
                    <a16:rowId xmlns:a16="http://schemas.microsoft.com/office/drawing/2014/main" val="329935685"/>
                  </a:ext>
                </a:extLst>
              </a:tr>
              <a:tr h="722360">
                <a:tc>
                  <a:txBody>
                    <a:bodyPr/>
                    <a:lstStyle/>
                    <a:p>
                      <a:pPr latinLnBrk="1"/>
                      <a:r>
                        <a:rPr lang="en-US" altLang="ko-KR" dirty="0"/>
                        <a:t>Exceptional</a:t>
                      </a:r>
                      <a:r>
                        <a:rPr lang="ko-KR" altLang="en-US" dirty="0"/>
                        <a:t> </a:t>
                      </a:r>
                      <a:r>
                        <a:rPr lang="en-US" altLang="ko-KR" dirty="0"/>
                        <a:t>speed</a:t>
                      </a:r>
                      <a:endParaRPr lang="ko-KR" altLang="en-US" dirty="0"/>
                    </a:p>
                  </a:txBody>
                  <a:tcPr/>
                </a:tc>
                <a:tc>
                  <a:txBody>
                    <a:bodyPr/>
                    <a:lstStyle/>
                    <a:p>
                      <a:pPr latinLnBrk="1"/>
                      <a:r>
                        <a:rPr lang="en-US" altLang="ko-KR" dirty="0"/>
                        <a:t>Volatility</a:t>
                      </a:r>
                    </a:p>
                    <a:p>
                      <a:pPr latinLnBrk="1"/>
                      <a:endParaRPr lang="ko-KR" altLang="en-US" dirty="0"/>
                    </a:p>
                  </a:txBody>
                  <a:tcPr/>
                </a:tc>
                <a:extLst>
                  <a:ext uri="{0D108BD9-81ED-4DB2-BD59-A6C34878D82A}">
                    <a16:rowId xmlns:a16="http://schemas.microsoft.com/office/drawing/2014/main" val="3089187453"/>
                  </a:ext>
                </a:extLst>
              </a:tr>
              <a:tr h="722360">
                <a:tc>
                  <a:txBody>
                    <a:bodyPr/>
                    <a:lstStyle/>
                    <a:p>
                      <a:pPr latinLnBrk="1"/>
                      <a:r>
                        <a:rPr lang="en-US" altLang="ko-KR" dirty="0"/>
                        <a:t>Perfect POSIX compatibility</a:t>
                      </a:r>
                      <a:endParaRPr lang="ko-KR" altLang="en-US" dirty="0"/>
                    </a:p>
                  </a:txBody>
                  <a:tcPr/>
                </a:tc>
                <a:tc>
                  <a:txBody>
                    <a:bodyPr/>
                    <a:lstStyle/>
                    <a:p>
                      <a:pPr latinLnBrk="1"/>
                      <a:r>
                        <a:rPr lang="en-US" altLang="ko-KR" dirty="0"/>
                        <a:t>Limited capacity</a:t>
                      </a:r>
                    </a:p>
                    <a:p>
                      <a:pPr latinLnBrk="1"/>
                      <a:endParaRPr lang="ko-KR" altLang="en-US" dirty="0"/>
                    </a:p>
                  </a:txBody>
                  <a:tcPr/>
                </a:tc>
                <a:extLst>
                  <a:ext uri="{0D108BD9-81ED-4DB2-BD59-A6C34878D82A}">
                    <a16:rowId xmlns:a16="http://schemas.microsoft.com/office/drawing/2014/main" val="1590583687"/>
                  </a:ext>
                </a:extLst>
              </a:tr>
              <a:tr h="722360">
                <a:tc>
                  <a:txBody>
                    <a:bodyPr/>
                    <a:lstStyle/>
                    <a:p>
                      <a:pPr latinLnBrk="1"/>
                      <a:r>
                        <a:rPr lang="en-US" altLang="ko-KR" dirty="0"/>
                        <a:t>No</a:t>
                      </a:r>
                      <a:r>
                        <a:rPr lang="ko-KR" altLang="en-US" dirty="0"/>
                        <a:t> </a:t>
                      </a:r>
                      <a:r>
                        <a:rPr lang="en-US" altLang="ko-KR" dirty="0"/>
                        <a:t>separate device required</a:t>
                      </a:r>
                      <a:endParaRPr lang="ko-KR" altLang="en-US" dirty="0"/>
                    </a:p>
                  </a:txBody>
                  <a:tcPr/>
                </a:tc>
                <a:tc>
                  <a:txBody>
                    <a:bodyPr/>
                    <a:lstStyle/>
                    <a:p>
                      <a:pPr latinLnBrk="1"/>
                      <a:r>
                        <a:rPr lang="en-US" altLang="ko-KR" dirty="0"/>
                        <a:t>Internal</a:t>
                      </a:r>
                      <a:r>
                        <a:rPr lang="ko-KR" altLang="en-US" dirty="0"/>
                        <a:t> </a:t>
                      </a:r>
                      <a:r>
                        <a:rPr lang="en-US" altLang="ko-KR" dirty="0"/>
                        <a:t>fragmentation</a:t>
                      </a:r>
                    </a:p>
                    <a:p>
                      <a:pPr latinLnBrk="1"/>
                      <a:endParaRPr lang="ko-KR" altLang="en-US" dirty="0"/>
                    </a:p>
                  </a:txBody>
                  <a:tcPr/>
                </a:tc>
                <a:extLst>
                  <a:ext uri="{0D108BD9-81ED-4DB2-BD59-A6C34878D82A}">
                    <a16:rowId xmlns:a16="http://schemas.microsoft.com/office/drawing/2014/main" val="4202438872"/>
                  </a:ext>
                </a:extLst>
              </a:tr>
              <a:tr h="722360">
                <a:tc>
                  <a:txBody>
                    <a:bodyPr/>
                    <a:lstStyle/>
                    <a:p>
                      <a:pPr latinLnBrk="1"/>
                      <a:r>
                        <a:rPr lang="en-US" altLang="ko-KR" dirty="0"/>
                        <a:t>Efficient RAM </a:t>
                      </a:r>
                      <a:r>
                        <a:rPr lang="en-US" altLang="ko-KR" dirty="0" err="1"/>
                        <a:t>useage</a:t>
                      </a:r>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val="343653770"/>
                  </a:ext>
                </a:extLst>
              </a:tr>
            </a:tbl>
          </a:graphicData>
        </a:graphic>
      </p:graphicFrame>
    </p:spTree>
    <p:extLst>
      <p:ext uri="{BB962C8B-B14F-4D97-AF65-F5344CB8AC3E}">
        <p14:creationId xmlns:p14="http://schemas.microsoft.com/office/powerpoint/2010/main" val="171328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FDC56-82B0-6DF7-DE50-7F96C771241E}"/>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2EB2EF0C-E75C-27EE-ED98-FED407CBE7B2}"/>
              </a:ext>
            </a:extLst>
          </p:cNvPr>
          <p:cNvSpPr>
            <a:spLocks noGrp="1" noChangeArrowheads="1"/>
          </p:cNvSpPr>
          <p:nvPr>
            <p:ph type="title"/>
          </p:nvPr>
        </p:nvSpPr>
        <p:spPr>
          <a:xfrm>
            <a:off x="571500" y="244835"/>
            <a:ext cx="8001000" cy="1216025"/>
          </a:xfrm>
        </p:spPr>
        <p:txBody>
          <a:bodyPr/>
          <a:lstStyle/>
          <a:p>
            <a:r>
              <a:rPr lang="en-US" altLang="ko-KR" sz="3600" dirty="0"/>
              <a:t>Physical File Systems : IMFS</a:t>
            </a:r>
          </a:p>
        </p:txBody>
      </p:sp>
      <p:sp>
        <p:nvSpPr>
          <p:cNvPr id="2" name="직사각형 1">
            <a:extLst>
              <a:ext uri="{FF2B5EF4-FFF2-40B4-BE49-F238E27FC236}">
                <a16:creationId xmlns:a16="http://schemas.microsoft.com/office/drawing/2014/main" id="{8CC03F51-1FE6-D144-E51D-ADD8928E2F9E}"/>
              </a:ext>
            </a:extLst>
          </p:cNvPr>
          <p:cNvSpPr/>
          <p:nvPr/>
        </p:nvSpPr>
        <p:spPr bwMode="auto">
          <a:xfrm>
            <a:off x="901082" y="3146375"/>
            <a:ext cx="1676400" cy="1676400"/>
          </a:xfrm>
          <a:prstGeom prst="rect">
            <a:avLst/>
          </a:prstGeom>
          <a:solidFill>
            <a:srgbClr val="BFEAFA"/>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3" name="직사각형 2">
            <a:extLst>
              <a:ext uri="{FF2B5EF4-FFF2-40B4-BE49-F238E27FC236}">
                <a16:creationId xmlns:a16="http://schemas.microsoft.com/office/drawing/2014/main" id="{F3667334-CD63-28AF-764F-EAB5CC00FC45}"/>
              </a:ext>
            </a:extLst>
          </p:cNvPr>
          <p:cNvSpPr/>
          <p:nvPr/>
        </p:nvSpPr>
        <p:spPr bwMode="auto">
          <a:xfrm>
            <a:off x="1891682" y="3342590"/>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4" name="직사각형 3">
            <a:extLst>
              <a:ext uri="{FF2B5EF4-FFF2-40B4-BE49-F238E27FC236}">
                <a16:creationId xmlns:a16="http://schemas.microsoft.com/office/drawing/2014/main" id="{4EDD4C47-0F85-7E26-4E0D-B3D214FC0CB6}"/>
              </a:ext>
            </a:extLst>
          </p:cNvPr>
          <p:cNvSpPr/>
          <p:nvPr/>
        </p:nvSpPr>
        <p:spPr bwMode="auto">
          <a:xfrm>
            <a:off x="1891682" y="3555355"/>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5" name="직사각형 4">
            <a:extLst>
              <a:ext uri="{FF2B5EF4-FFF2-40B4-BE49-F238E27FC236}">
                <a16:creationId xmlns:a16="http://schemas.microsoft.com/office/drawing/2014/main" id="{D16A4FFF-1341-BC03-3BBA-74E5DD91EF5D}"/>
              </a:ext>
            </a:extLst>
          </p:cNvPr>
          <p:cNvSpPr/>
          <p:nvPr/>
        </p:nvSpPr>
        <p:spPr bwMode="auto">
          <a:xfrm>
            <a:off x="1891682" y="3768120"/>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6" name="직사각형 5">
            <a:extLst>
              <a:ext uri="{FF2B5EF4-FFF2-40B4-BE49-F238E27FC236}">
                <a16:creationId xmlns:a16="http://schemas.microsoft.com/office/drawing/2014/main" id="{D4B94B82-3861-8B62-E798-60A712200AA2}"/>
              </a:ext>
            </a:extLst>
          </p:cNvPr>
          <p:cNvSpPr/>
          <p:nvPr/>
        </p:nvSpPr>
        <p:spPr bwMode="auto">
          <a:xfrm>
            <a:off x="1891682" y="4400461"/>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ECF123D5-4298-FB09-A1D7-7BAAA4280805}"/>
              </a:ext>
            </a:extLst>
          </p:cNvPr>
          <p:cNvSpPr/>
          <p:nvPr/>
        </p:nvSpPr>
        <p:spPr bwMode="auto">
          <a:xfrm>
            <a:off x="1891682" y="3980885"/>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9" name="직사각형 8">
            <a:extLst>
              <a:ext uri="{FF2B5EF4-FFF2-40B4-BE49-F238E27FC236}">
                <a16:creationId xmlns:a16="http://schemas.microsoft.com/office/drawing/2014/main" id="{DD5ED343-2591-8BC2-16B3-76778AE7ABDD}"/>
              </a:ext>
            </a:extLst>
          </p:cNvPr>
          <p:cNvSpPr/>
          <p:nvPr/>
        </p:nvSpPr>
        <p:spPr bwMode="auto">
          <a:xfrm>
            <a:off x="1891682" y="4190673"/>
            <a:ext cx="571500" cy="209788"/>
          </a:xfrm>
          <a:prstGeom prst="rect">
            <a:avLst/>
          </a:prstGeom>
          <a:solidFill>
            <a:srgbClr val="A3A3E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7" name="Rectangle 3">
            <a:extLst>
              <a:ext uri="{FF2B5EF4-FFF2-40B4-BE49-F238E27FC236}">
                <a16:creationId xmlns:a16="http://schemas.microsoft.com/office/drawing/2014/main" id="{189EF561-F192-A34A-3931-6DD9AFC3AC44}"/>
              </a:ext>
            </a:extLst>
          </p:cNvPr>
          <p:cNvSpPr txBox="1">
            <a:spLocks noChangeArrowheads="1"/>
          </p:cNvSpPr>
          <p:nvPr/>
        </p:nvSpPr>
        <p:spPr bwMode="auto">
          <a:xfrm>
            <a:off x="1510682" y="3314969"/>
            <a:ext cx="457200" cy="2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0</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marL="1306513" lvl="3" indent="0" latinLnBrk="1">
              <a:buNone/>
            </a:pPr>
            <a:endParaRPr lang="en-US" altLang="ko-KR" sz="800" kern="0" dirty="0"/>
          </a:p>
        </p:txBody>
      </p:sp>
      <p:sp>
        <p:nvSpPr>
          <p:cNvPr id="11" name="Rectangle 3">
            <a:extLst>
              <a:ext uri="{FF2B5EF4-FFF2-40B4-BE49-F238E27FC236}">
                <a16:creationId xmlns:a16="http://schemas.microsoft.com/office/drawing/2014/main" id="{4921F952-839F-8A48-804D-2387EB09D423}"/>
              </a:ext>
            </a:extLst>
          </p:cNvPr>
          <p:cNvSpPr txBox="1">
            <a:spLocks noChangeArrowheads="1"/>
          </p:cNvSpPr>
          <p:nvPr/>
        </p:nvSpPr>
        <p:spPr bwMode="auto">
          <a:xfrm>
            <a:off x="1501157" y="3536286"/>
            <a:ext cx="476250" cy="2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1</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marL="1306513" lvl="3" indent="0" latinLnBrk="1">
              <a:buNone/>
            </a:pPr>
            <a:endParaRPr lang="en-US" altLang="ko-KR" sz="800" kern="0" dirty="0"/>
          </a:p>
        </p:txBody>
      </p:sp>
      <p:sp>
        <p:nvSpPr>
          <p:cNvPr id="12" name="Rectangle 3">
            <a:extLst>
              <a:ext uri="{FF2B5EF4-FFF2-40B4-BE49-F238E27FC236}">
                <a16:creationId xmlns:a16="http://schemas.microsoft.com/office/drawing/2014/main" id="{37023A16-884E-F9DF-E45B-A86922D72806}"/>
              </a:ext>
            </a:extLst>
          </p:cNvPr>
          <p:cNvSpPr txBox="1">
            <a:spLocks noChangeArrowheads="1"/>
          </p:cNvSpPr>
          <p:nvPr/>
        </p:nvSpPr>
        <p:spPr bwMode="auto">
          <a:xfrm>
            <a:off x="1506872" y="3759112"/>
            <a:ext cx="476250" cy="21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2</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marL="1306513" lvl="3" indent="0" latinLnBrk="1">
              <a:buNone/>
            </a:pPr>
            <a:endParaRPr lang="en-US" altLang="ko-KR" sz="800" kern="0" dirty="0"/>
          </a:p>
        </p:txBody>
      </p:sp>
      <p:sp>
        <p:nvSpPr>
          <p:cNvPr id="13" name="Rectangle 3">
            <a:extLst>
              <a:ext uri="{FF2B5EF4-FFF2-40B4-BE49-F238E27FC236}">
                <a16:creationId xmlns:a16="http://schemas.microsoft.com/office/drawing/2014/main" id="{19E08391-11CF-7862-73EF-C1C37E38928A}"/>
              </a:ext>
            </a:extLst>
          </p:cNvPr>
          <p:cNvSpPr txBox="1">
            <a:spLocks noChangeArrowheads="1"/>
          </p:cNvSpPr>
          <p:nvPr/>
        </p:nvSpPr>
        <p:spPr bwMode="auto">
          <a:xfrm>
            <a:off x="1510682" y="3976916"/>
            <a:ext cx="476250" cy="20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3</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marL="1306513" lvl="3" indent="0" latinLnBrk="1">
              <a:buNone/>
            </a:pPr>
            <a:endParaRPr lang="en-US" altLang="ko-KR" sz="800" kern="0" dirty="0"/>
          </a:p>
        </p:txBody>
      </p:sp>
      <p:sp>
        <p:nvSpPr>
          <p:cNvPr id="14" name="Rectangle 3">
            <a:extLst>
              <a:ext uri="{FF2B5EF4-FFF2-40B4-BE49-F238E27FC236}">
                <a16:creationId xmlns:a16="http://schemas.microsoft.com/office/drawing/2014/main" id="{ADE6C0FF-3EA3-CDDE-B8A3-927EC57642B9}"/>
              </a:ext>
            </a:extLst>
          </p:cNvPr>
          <p:cNvSpPr txBox="1">
            <a:spLocks noChangeArrowheads="1"/>
          </p:cNvSpPr>
          <p:nvPr/>
        </p:nvSpPr>
        <p:spPr bwMode="auto">
          <a:xfrm>
            <a:off x="1501157" y="4203730"/>
            <a:ext cx="476250" cy="20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4</a:t>
            </a:r>
          </a:p>
          <a:p>
            <a:pPr lvl="1" latinLnBrk="1"/>
            <a:endParaRPr lang="en-US" altLang="ko-KR" sz="1500" kern="0" dirty="0"/>
          </a:p>
          <a:p>
            <a:pPr lvl="2" latinLnBrk="1"/>
            <a:endParaRPr lang="en-US" altLang="ko-KR" sz="1100" kern="0" dirty="0"/>
          </a:p>
          <a:p>
            <a:pPr lvl="1" latinLnBrk="1"/>
            <a:endParaRPr lang="en-US" altLang="ko-KR" sz="1200" kern="0" dirty="0"/>
          </a:p>
          <a:p>
            <a:pPr lvl="1" latinLnBrk="1"/>
            <a:endParaRPr lang="en-US" altLang="ko-KR" sz="1400" kern="0" dirty="0"/>
          </a:p>
          <a:p>
            <a:pPr marL="1306513" lvl="3" indent="0" latinLnBrk="1">
              <a:buNone/>
            </a:pPr>
            <a:endParaRPr lang="en-US" altLang="ko-KR" sz="800" kern="0" dirty="0"/>
          </a:p>
        </p:txBody>
      </p:sp>
      <p:sp>
        <p:nvSpPr>
          <p:cNvPr id="15" name="Rectangle 3">
            <a:extLst>
              <a:ext uri="{FF2B5EF4-FFF2-40B4-BE49-F238E27FC236}">
                <a16:creationId xmlns:a16="http://schemas.microsoft.com/office/drawing/2014/main" id="{9A89AEF2-2D77-B22F-5D0B-405D68B1442E}"/>
              </a:ext>
            </a:extLst>
          </p:cNvPr>
          <p:cNvSpPr txBox="1">
            <a:spLocks noChangeArrowheads="1"/>
          </p:cNvSpPr>
          <p:nvPr/>
        </p:nvSpPr>
        <p:spPr bwMode="auto">
          <a:xfrm>
            <a:off x="1501157" y="4422607"/>
            <a:ext cx="476250" cy="208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r>
              <a:rPr lang="en-US" altLang="ko-KR" sz="1050" kern="0" dirty="0" err="1"/>
              <a:t>fd</a:t>
            </a:r>
            <a:r>
              <a:rPr lang="en-US" altLang="ko-KR" sz="1050" kern="0" dirty="0"/>
              <a:t> 5</a:t>
            </a:r>
          </a:p>
          <a:p>
            <a:pPr lvl="1" latinLnBrk="1"/>
            <a:endParaRPr lang="en-US" altLang="ko-KR" sz="1500" kern="0" dirty="0"/>
          </a:p>
          <a:p>
            <a:pPr lvl="2" latinLnBrk="1"/>
            <a:endParaRPr lang="en-US" altLang="ko-KR" sz="1100" kern="0" dirty="0"/>
          </a:p>
          <a:p>
            <a:pPr lvl="1" latinLnBrk="1"/>
            <a:endParaRPr lang="en-US" altLang="ko-KR" sz="1200" kern="0" dirty="0"/>
          </a:p>
          <a:p>
            <a:pPr marL="471487" lvl="1" indent="0" latinLnBrk="1">
              <a:buNone/>
            </a:pPr>
            <a:endParaRPr lang="en-US" altLang="ko-KR" sz="1400" kern="0" dirty="0"/>
          </a:p>
          <a:p>
            <a:pPr marL="1306513" lvl="3" indent="0" latinLnBrk="1">
              <a:buNone/>
            </a:pPr>
            <a:endParaRPr lang="en-US" altLang="ko-KR" sz="800" kern="0" dirty="0"/>
          </a:p>
        </p:txBody>
      </p:sp>
      <p:sp>
        <p:nvSpPr>
          <p:cNvPr id="16" name="TextBox 15">
            <a:extLst>
              <a:ext uri="{FF2B5EF4-FFF2-40B4-BE49-F238E27FC236}">
                <a16:creationId xmlns:a16="http://schemas.microsoft.com/office/drawing/2014/main" id="{282FC363-363B-6913-197B-0A0EEC01CA4B}"/>
              </a:ext>
            </a:extLst>
          </p:cNvPr>
          <p:cNvSpPr txBox="1"/>
          <p:nvPr/>
        </p:nvSpPr>
        <p:spPr>
          <a:xfrm>
            <a:off x="1040077" y="4921170"/>
            <a:ext cx="1398410" cy="430887"/>
          </a:xfrm>
          <a:prstGeom prst="rect">
            <a:avLst/>
          </a:prstGeom>
          <a:noFill/>
        </p:spPr>
        <p:txBody>
          <a:bodyPr wrap="square" rtlCol="0">
            <a:spAutoFit/>
          </a:bodyPr>
          <a:lstStyle/>
          <a:p>
            <a:r>
              <a:rPr lang="en-US" altLang="ko-KR" sz="1100" dirty="0"/>
              <a:t>Global File Descriptor Table</a:t>
            </a:r>
            <a:endParaRPr lang="ko-KR" altLang="en-US" sz="1100" dirty="0"/>
          </a:p>
        </p:txBody>
      </p:sp>
      <p:sp>
        <p:nvSpPr>
          <p:cNvPr id="61" name="직사각형 60">
            <a:extLst>
              <a:ext uri="{FF2B5EF4-FFF2-40B4-BE49-F238E27FC236}">
                <a16:creationId xmlns:a16="http://schemas.microsoft.com/office/drawing/2014/main" id="{225ABD85-4A67-0FB1-D43D-87423E6E0275}"/>
              </a:ext>
            </a:extLst>
          </p:cNvPr>
          <p:cNvSpPr/>
          <p:nvPr/>
        </p:nvSpPr>
        <p:spPr bwMode="auto">
          <a:xfrm>
            <a:off x="3810000" y="2964141"/>
            <a:ext cx="990600" cy="2114348"/>
          </a:xfrm>
          <a:prstGeom prst="rect">
            <a:avLst/>
          </a:prstGeom>
          <a:solidFill>
            <a:srgbClr val="BFEAFA"/>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62" name="직사각형 61">
            <a:extLst>
              <a:ext uri="{FF2B5EF4-FFF2-40B4-BE49-F238E27FC236}">
                <a16:creationId xmlns:a16="http://schemas.microsoft.com/office/drawing/2014/main" id="{4D33A4F4-37BD-ADA6-0B7E-6CADB3EC8013}"/>
              </a:ext>
            </a:extLst>
          </p:cNvPr>
          <p:cNvSpPr/>
          <p:nvPr/>
        </p:nvSpPr>
        <p:spPr bwMode="auto">
          <a:xfrm>
            <a:off x="3861592" y="4211936"/>
            <a:ext cx="903448" cy="241220"/>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ko-KR" sz="800" dirty="0" err="1"/>
              <a:t>Rtems_libio_t</a:t>
            </a:r>
            <a:endParaRPr lang="ko-KR" altLang="en-US" sz="800" dirty="0"/>
          </a:p>
        </p:txBody>
      </p:sp>
      <p:sp>
        <p:nvSpPr>
          <p:cNvPr id="241665" name="직사각형 241664">
            <a:extLst>
              <a:ext uri="{FF2B5EF4-FFF2-40B4-BE49-F238E27FC236}">
                <a16:creationId xmlns:a16="http://schemas.microsoft.com/office/drawing/2014/main" id="{1C3A10F5-ECF6-7854-A7AC-E67E1AB7CDD3}"/>
              </a:ext>
            </a:extLst>
          </p:cNvPr>
          <p:cNvSpPr/>
          <p:nvPr/>
        </p:nvSpPr>
        <p:spPr bwMode="auto">
          <a:xfrm>
            <a:off x="3861592" y="3424182"/>
            <a:ext cx="903448" cy="241220"/>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err="1"/>
              <a:t>Rtems_libio_t</a:t>
            </a:r>
            <a:endParaRPr kumimoji="0" lang="ko-KR" altLang="en-US" sz="800" b="0" i="0" u="none" strike="noStrike" cap="none" normalizeH="0" baseline="0" dirty="0">
              <a:ln>
                <a:noFill/>
              </a:ln>
              <a:solidFill>
                <a:schemeClr val="tx1"/>
              </a:solidFill>
              <a:effectLst/>
              <a:latin typeface="Verdana" pitchFamily="34" charset="0"/>
              <a:cs typeface="Arial" charset="0"/>
            </a:endParaRPr>
          </a:p>
        </p:txBody>
      </p:sp>
      <p:cxnSp>
        <p:nvCxnSpPr>
          <p:cNvPr id="241669" name="직선 화살표 연결선 241668">
            <a:extLst>
              <a:ext uri="{FF2B5EF4-FFF2-40B4-BE49-F238E27FC236}">
                <a16:creationId xmlns:a16="http://schemas.microsoft.com/office/drawing/2014/main" id="{50693442-47A2-E09C-3EDE-A27EF7F3110F}"/>
              </a:ext>
            </a:extLst>
          </p:cNvPr>
          <p:cNvCxnSpPr>
            <a:cxnSpLocks/>
            <a:endCxn id="241665" idx="1"/>
          </p:cNvCxnSpPr>
          <p:nvPr/>
        </p:nvCxnSpPr>
        <p:spPr bwMode="auto">
          <a:xfrm flipV="1">
            <a:off x="2474531" y="3544792"/>
            <a:ext cx="1387061" cy="567581"/>
          </a:xfrm>
          <a:prstGeom prst="straightConnector1">
            <a:avLst/>
          </a:prstGeom>
          <a:solidFill>
            <a:schemeClr val="accent1"/>
          </a:solidFill>
          <a:ln w="9525" cap="flat" cmpd="sng" algn="ctr">
            <a:solidFill>
              <a:srgbClr val="0000FF"/>
            </a:solidFill>
            <a:prstDash val="lgDash"/>
            <a:round/>
            <a:headEnd type="none" w="med" len="med"/>
            <a:tailEnd type="triangle"/>
          </a:ln>
          <a:effectLst/>
        </p:spPr>
      </p:cxnSp>
      <p:cxnSp>
        <p:nvCxnSpPr>
          <p:cNvPr id="241673" name="직선 화살표 연결선 241672">
            <a:extLst>
              <a:ext uri="{FF2B5EF4-FFF2-40B4-BE49-F238E27FC236}">
                <a16:creationId xmlns:a16="http://schemas.microsoft.com/office/drawing/2014/main" id="{7FCB3B27-9CC0-F14F-105A-8F654CA55F6F}"/>
              </a:ext>
            </a:extLst>
          </p:cNvPr>
          <p:cNvCxnSpPr>
            <a:cxnSpLocks/>
            <a:endCxn id="62" idx="1"/>
          </p:cNvCxnSpPr>
          <p:nvPr/>
        </p:nvCxnSpPr>
        <p:spPr bwMode="auto">
          <a:xfrm>
            <a:off x="2463182" y="4275240"/>
            <a:ext cx="1398410" cy="57306"/>
          </a:xfrm>
          <a:prstGeom prst="straightConnector1">
            <a:avLst/>
          </a:prstGeom>
          <a:solidFill>
            <a:schemeClr val="accent1"/>
          </a:solidFill>
          <a:ln w="9525" cap="flat" cmpd="sng" algn="ctr">
            <a:solidFill>
              <a:srgbClr val="0000FF"/>
            </a:solidFill>
            <a:prstDash val="lgDash"/>
            <a:round/>
            <a:headEnd type="none" w="med" len="med"/>
            <a:tailEnd type="triangle"/>
          </a:ln>
          <a:effectLst/>
        </p:spPr>
      </p:cxnSp>
      <p:sp>
        <p:nvSpPr>
          <p:cNvPr id="241679" name="직사각형 241678">
            <a:extLst>
              <a:ext uri="{FF2B5EF4-FFF2-40B4-BE49-F238E27FC236}">
                <a16:creationId xmlns:a16="http://schemas.microsoft.com/office/drawing/2014/main" id="{33CAD57E-94AA-C69B-6BD4-B8AC8267367C}"/>
              </a:ext>
            </a:extLst>
          </p:cNvPr>
          <p:cNvSpPr/>
          <p:nvPr/>
        </p:nvSpPr>
        <p:spPr bwMode="auto">
          <a:xfrm>
            <a:off x="5573156" y="2964140"/>
            <a:ext cx="990600" cy="2114347"/>
          </a:xfrm>
          <a:prstGeom prst="rect">
            <a:avLst/>
          </a:prstGeom>
          <a:solidFill>
            <a:srgbClr val="BFEAFA"/>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dirty="0">
              <a:ln>
                <a:noFill/>
              </a:ln>
              <a:solidFill>
                <a:schemeClr val="tx1"/>
              </a:solidFill>
              <a:effectLst/>
              <a:latin typeface="Verdana" pitchFamily="34" charset="0"/>
              <a:cs typeface="Arial" charset="0"/>
            </a:endParaRPr>
          </a:p>
        </p:txBody>
      </p:sp>
      <p:sp>
        <p:nvSpPr>
          <p:cNvPr id="241680" name="직사각형 241679">
            <a:extLst>
              <a:ext uri="{FF2B5EF4-FFF2-40B4-BE49-F238E27FC236}">
                <a16:creationId xmlns:a16="http://schemas.microsoft.com/office/drawing/2014/main" id="{C4FB2816-4B64-0273-2FE5-519A4A498B83}"/>
              </a:ext>
            </a:extLst>
          </p:cNvPr>
          <p:cNvSpPr/>
          <p:nvPr/>
        </p:nvSpPr>
        <p:spPr bwMode="auto">
          <a:xfrm>
            <a:off x="5750957" y="3594740"/>
            <a:ext cx="634998" cy="416339"/>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1050" dirty="0" err="1"/>
              <a:t>j</a:t>
            </a:r>
            <a:r>
              <a:rPr kumimoji="0" lang="en-US" altLang="ko-KR" sz="1050" b="0" i="0" u="none" strike="noStrike" cap="none" normalizeH="0" baseline="0" dirty="0" err="1">
                <a:ln>
                  <a:noFill/>
                </a:ln>
                <a:solidFill>
                  <a:schemeClr val="tx1"/>
                </a:solidFill>
                <a:effectLst/>
                <a:latin typeface="Verdana" pitchFamily="34" charset="0"/>
                <a:cs typeface="Arial" charset="0"/>
              </a:rPr>
              <a:t>node</a:t>
            </a:r>
            <a:r>
              <a:rPr kumimoji="0" lang="en-US" altLang="ko-KR" sz="1050" b="0" i="0" u="none" strike="noStrike" cap="none" normalizeH="0" baseline="0" dirty="0">
                <a:ln>
                  <a:noFill/>
                </a:ln>
                <a:solidFill>
                  <a:schemeClr val="tx1"/>
                </a:solidFill>
                <a:effectLst/>
                <a:latin typeface="Verdana" pitchFamily="34" charset="0"/>
                <a:cs typeface="Arial" charset="0"/>
              </a:rPr>
              <a:t> </a:t>
            </a:r>
            <a:r>
              <a:rPr lang="en-US" altLang="ko-KR" sz="1050" dirty="0"/>
              <a:t>struct</a:t>
            </a:r>
            <a:endParaRPr kumimoji="0" lang="en-US" altLang="ko-KR" sz="1050" b="0" i="0" u="none" strike="noStrike" cap="none" normalizeH="0" baseline="0" dirty="0">
              <a:ln>
                <a:noFill/>
              </a:ln>
              <a:solidFill>
                <a:schemeClr val="tx1"/>
              </a:solidFill>
              <a:effectLst/>
              <a:latin typeface="Verdana" pitchFamily="34" charset="0"/>
              <a:cs typeface="Arial" charset="0"/>
            </a:endParaRPr>
          </a:p>
        </p:txBody>
      </p:sp>
      <p:cxnSp>
        <p:nvCxnSpPr>
          <p:cNvPr id="241683" name="직선 화살표 연결선 241682">
            <a:extLst>
              <a:ext uri="{FF2B5EF4-FFF2-40B4-BE49-F238E27FC236}">
                <a16:creationId xmlns:a16="http://schemas.microsoft.com/office/drawing/2014/main" id="{0B170AC4-A056-177F-8241-64DCEFC2DCDB}"/>
              </a:ext>
            </a:extLst>
          </p:cNvPr>
          <p:cNvCxnSpPr>
            <a:cxnSpLocks/>
            <a:endCxn id="241680" idx="1"/>
          </p:cNvCxnSpPr>
          <p:nvPr/>
        </p:nvCxnSpPr>
        <p:spPr bwMode="auto">
          <a:xfrm>
            <a:off x="4753413" y="3543215"/>
            <a:ext cx="997544" cy="259695"/>
          </a:xfrm>
          <a:prstGeom prst="straightConnector1">
            <a:avLst/>
          </a:prstGeom>
          <a:solidFill>
            <a:schemeClr val="accent1"/>
          </a:solidFill>
          <a:ln w="9525" cap="flat" cmpd="sng" algn="ctr">
            <a:solidFill>
              <a:srgbClr val="0000FF"/>
            </a:solidFill>
            <a:prstDash val="lgDash"/>
            <a:round/>
            <a:headEnd type="none" w="med" len="med"/>
            <a:tailEnd type="triangle"/>
          </a:ln>
          <a:effectLst/>
        </p:spPr>
      </p:cxnSp>
      <p:cxnSp>
        <p:nvCxnSpPr>
          <p:cNvPr id="241687" name="직선 화살표 연결선 241686">
            <a:extLst>
              <a:ext uri="{FF2B5EF4-FFF2-40B4-BE49-F238E27FC236}">
                <a16:creationId xmlns:a16="http://schemas.microsoft.com/office/drawing/2014/main" id="{E13899DD-17A5-D050-2DE4-F5E6C7C2A204}"/>
              </a:ext>
            </a:extLst>
          </p:cNvPr>
          <p:cNvCxnSpPr>
            <a:cxnSpLocks/>
            <a:endCxn id="241680" idx="1"/>
          </p:cNvCxnSpPr>
          <p:nvPr/>
        </p:nvCxnSpPr>
        <p:spPr bwMode="auto">
          <a:xfrm flipV="1">
            <a:off x="4799132" y="3802910"/>
            <a:ext cx="951825" cy="463910"/>
          </a:xfrm>
          <a:prstGeom prst="straightConnector1">
            <a:avLst/>
          </a:prstGeom>
          <a:solidFill>
            <a:schemeClr val="accent1"/>
          </a:solidFill>
          <a:ln w="9525" cap="flat" cmpd="sng" algn="ctr">
            <a:solidFill>
              <a:srgbClr val="0000FF"/>
            </a:solidFill>
            <a:prstDash val="lgDash"/>
            <a:round/>
            <a:headEnd type="none" w="med" len="med"/>
            <a:tailEnd type="triangle"/>
          </a:ln>
          <a:effectLst/>
        </p:spPr>
      </p:cxnSp>
      <p:sp>
        <p:nvSpPr>
          <p:cNvPr id="241691" name="TextBox 241690">
            <a:extLst>
              <a:ext uri="{FF2B5EF4-FFF2-40B4-BE49-F238E27FC236}">
                <a16:creationId xmlns:a16="http://schemas.microsoft.com/office/drawing/2014/main" id="{3630219B-1CF0-A327-2C4B-6DE278A3D7A4}"/>
              </a:ext>
            </a:extLst>
          </p:cNvPr>
          <p:cNvSpPr txBox="1"/>
          <p:nvPr/>
        </p:nvSpPr>
        <p:spPr>
          <a:xfrm>
            <a:off x="5714935" y="5087591"/>
            <a:ext cx="836352" cy="215444"/>
          </a:xfrm>
          <a:prstGeom prst="rect">
            <a:avLst/>
          </a:prstGeom>
          <a:noFill/>
        </p:spPr>
        <p:txBody>
          <a:bodyPr wrap="square" rtlCol="0">
            <a:spAutoFit/>
          </a:bodyPr>
          <a:lstStyle/>
          <a:p>
            <a:r>
              <a:rPr lang="en-US" altLang="ko-KR" sz="800" dirty="0">
                <a:solidFill>
                  <a:srgbClr val="0000FF"/>
                </a:solidFill>
              </a:rPr>
              <a:t> </a:t>
            </a:r>
            <a:endParaRPr lang="ko-KR" altLang="en-US" sz="800" dirty="0">
              <a:solidFill>
                <a:srgbClr val="0000FF"/>
              </a:solidFill>
            </a:endParaRPr>
          </a:p>
        </p:txBody>
      </p:sp>
      <p:sp>
        <p:nvSpPr>
          <p:cNvPr id="241692" name="원통형 241691">
            <a:extLst>
              <a:ext uri="{FF2B5EF4-FFF2-40B4-BE49-F238E27FC236}">
                <a16:creationId xmlns:a16="http://schemas.microsoft.com/office/drawing/2014/main" id="{10AEB46B-C220-D164-8081-9F2C480E0C5C}"/>
              </a:ext>
            </a:extLst>
          </p:cNvPr>
          <p:cNvSpPr/>
          <p:nvPr/>
        </p:nvSpPr>
        <p:spPr bwMode="auto">
          <a:xfrm>
            <a:off x="7336312" y="2964139"/>
            <a:ext cx="1236188" cy="2114348"/>
          </a:xfrm>
          <a:prstGeom prst="can">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cxnSp>
        <p:nvCxnSpPr>
          <p:cNvPr id="241701" name="직선 화살표 연결선 241700">
            <a:extLst>
              <a:ext uri="{FF2B5EF4-FFF2-40B4-BE49-F238E27FC236}">
                <a16:creationId xmlns:a16="http://schemas.microsoft.com/office/drawing/2014/main" id="{3201AE0D-A57E-2292-90E4-CE11000E23A8}"/>
              </a:ext>
            </a:extLst>
          </p:cNvPr>
          <p:cNvCxnSpPr>
            <a:cxnSpLocks/>
            <a:endCxn id="241709" idx="1"/>
          </p:cNvCxnSpPr>
          <p:nvPr/>
        </p:nvCxnSpPr>
        <p:spPr bwMode="auto">
          <a:xfrm>
            <a:off x="6383806" y="3806318"/>
            <a:ext cx="1243019" cy="121011"/>
          </a:xfrm>
          <a:prstGeom prst="straightConnector1">
            <a:avLst/>
          </a:prstGeom>
          <a:solidFill>
            <a:schemeClr val="accent1"/>
          </a:solidFill>
          <a:ln w="9525" cap="flat" cmpd="sng" algn="ctr">
            <a:solidFill>
              <a:srgbClr val="0000FF"/>
            </a:solidFill>
            <a:prstDash val="lgDash"/>
            <a:round/>
            <a:headEnd type="none" w="med" len="med"/>
            <a:tailEnd type="triangle"/>
          </a:ln>
          <a:effectLst/>
        </p:spPr>
      </p:cxnSp>
      <p:sp>
        <p:nvSpPr>
          <p:cNvPr id="241709" name="직사각형 241708">
            <a:extLst>
              <a:ext uri="{FF2B5EF4-FFF2-40B4-BE49-F238E27FC236}">
                <a16:creationId xmlns:a16="http://schemas.microsoft.com/office/drawing/2014/main" id="{E351F424-300E-6693-8DF5-4534680DAECA}"/>
              </a:ext>
            </a:extLst>
          </p:cNvPr>
          <p:cNvSpPr/>
          <p:nvPr/>
        </p:nvSpPr>
        <p:spPr bwMode="auto">
          <a:xfrm>
            <a:off x="7626825" y="3669263"/>
            <a:ext cx="646346" cy="516131"/>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Original</a:t>
            </a:r>
          </a:p>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DATA</a:t>
            </a:r>
          </a:p>
        </p:txBody>
      </p:sp>
      <p:sp>
        <p:nvSpPr>
          <p:cNvPr id="241716" name="TextBox 241715">
            <a:extLst>
              <a:ext uri="{FF2B5EF4-FFF2-40B4-BE49-F238E27FC236}">
                <a16:creationId xmlns:a16="http://schemas.microsoft.com/office/drawing/2014/main" id="{19DE106D-4299-C64E-3169-A1948FB9820D}"/>
              </a:ext>
            </a:extLst>
          </p:cNvPr>
          <p:cNvSpPr txBox="1"/>
          <p:nvPr/>
        </p:nvSpPr>
        <p:spPr>
          <a:xfrm>
            <a:off x="7531822" y="5123390"/>
            <a:ext cx="836352" cy="215444"/>
          </a:xfrm>
          <a:prstGeom prst="rect">
            <a:avLst/>
          </a:prstGeom>
          <a:noFill/>
        </p:spPr>
        <p:txBody>
          <a:bodyPr wrap="square" rtlCol="0">
            <a:spAutoFit/>
          </a:bodyPr>
          <a:lstStyle/>
          <a:p>
            <a:r>
              <a:rPr lang="en-US" altLang="ko-KR" sz="800" dirty="0">
                <a:solidFill>
                  <a:srgbClr val="0000FF"/>
                </a:solidFill>
              </a:rPr>
              <a:t>RAM or ROM </a:t>
            </a:r>
            <a:endParaRPr lang="ko-KR" altLang="en-US" sz="800" dirty="0">
              <a:solidFill>
                <a:srgbClr val="0000FF"/>
              </a:solidFill>
            </a:endParaRPr>
          </a:p>
        </p:txBody>
      </p:sp>
    </p:spTree>
    <p:extLst>
      <p:ext uri="{BB962C8B-B14F-4D97-AF65-F5344CB8AC3E}">
        <p14:creationId xmlns:p14="http://schemas.microsoft.com/office/powerpoint/2010/main" val="3660550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7BFCC-0DED-2010-78D6-6F718DCA4D39}"/>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66BA5A5E-0CBA-76C4-6132-4AFE2E494547}"/>
              </a:ext>
            </a:extLst>
          </p:cNvPr>
          <p:cNvSpPr>
            <a:spLocks noGrp="1" noChangeArrowheads="1"/>
          </p:cNvSpPr>
          <p:nvPr>
            <p:ph type="title"/>
          </p:nvPr>
        </p:nvSpPr>
        <p:spPr/>
        <p:txBody>
          <a:bodyPr/>
          <a:lstStyle/>
          <a:p>
            <a:r>
              <a:rPr lang="en-US" altLang="ko-KR" sz="3200" dirty="0"/>
              <a:t>Physical File Systems : Blocked-based</a:t>
            </a:r>
          </a:p>
        </p:txBody>
      </p:sp>
      <p:sp>
        <p:nvSpPr>
          <p:cNvPr id="7" name="Rectangle 3">
            <a:extLst>
              <a:ext uri="{FF2B5EF4-FFF2-40B4-BE49-F238E27FC236}">
                <a16:creationId xmlns:a16="http://schemas.microsoft.com/office/drawing/2014/main" id="{791DCD9E-195D-9B4C-13F5-F6D385D03A57}"/>
              </a:ext>
            </a:extLst>
          </p:cNvPr>
          <p:cNvSpPr txBox="1">
            <a:spLocks noChangeArrowheads="1"/>
          </p:cNvSpPr>
          <p:nvPr/>
        </p:nvSpPr>
        <p:spPr bwMode="auto">
          <a:xfrm>
            <a:off x="574675" y="1676400"/>
            <a:ext cx="8035925" cy="4419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kern="0" dirty="0"/>
              <a:t>Blocked-based file systems are used for devices that store data in constant block units, such as SD cards, USB drives, and hard disks</a:t>
            </a:r>
            <a:r>
              <a:rPr lang="en-US" altLang="ko-KR" sz="1900" kern="0" dirty="0"/>
              <a:t>.</a:t>
            </a:r>
          </a:p>
          <a:p>
            <a:pPr latinLnBrk="1"/>
            <a:r>
              <a:rPr lang="en-US" altLang="ko-KR" sz="1500" kern="0" dirty="0"/>
              <a:t>DOSFS(FAT)</a:t>
            </a:r>
          </a:p>
          <a:p>
            <a:pPr lvl="1" latinLnBrk="1"/>
            <a:r>
              <a:rPr lang="en-US" altLang="ko-KR" sz="1100" kern="0" dirty="0"/>
              <a:t>An implementation of the FAT file systems, used since the MS-DOS</a:t>
            </a:r>
            <a:r>
              <a:rPr lang="ko-KR" altLang="en-US" sz="1100" kern="0" dirty="0"/>
              <a:t> </a:t>
            </a:r>
            <a:r>
              <a:rPr lang="en-US" altLang="ko-KR" sz="1100" kern="0" dirty="0"/>
              <a:t>era, for RTEMS.</a:t>
            </a:r>
          </a:p>
          <a:p>
            <a:pPr lvl="1" latinLnBrk="1"/>
            <a:r>
              <a:rPr lang="en-US" altLang="ko-KR" sz="1100" b="1" kern="0" dirty="0"/>
              <a:t>Compatibility with external systems </a:t>
            </a:r>
            <a:r>
              <a:rPr lang="en-US" altLang="ko-KR" sz="1100" kern="0" dirty="0"/>
              <a:t>: an SD card with data saved by DOSFS on an RTEMS device can be immediately read and written on PC.</a:t>
            </a:r>
          </a:p>
          <a:p>
            <a:pPr lvl="1" latinLnBrk="1"/>
            <a:r>
              <a:rPr lang="en-US" altLang="ko-KR" sz="1100" kern="0" dirty="0"/>
              <a:t>Used</a:t>
            </a:r>
            <a:r>
              <a:rPr lang="ko-KR" altLang="en-US" sz="1100" kern="0" dirty="0"/>
              <a:t> </a:t>
            </a:r>
            <a:r>
              <a:rPr lang="en-US" altLang="ko-KR" sz="1100" kern="0" dirty="0"/>
              <a:t>for data logger systems and when exchanging files with other systems.</a:t>
            </a:r>
          </a:p>
          <a:p>
            <a:pPr latinLnBrk="1"/>
            <a:r>
              <a:rPr lang="en-US" altLang="ko-KR" sz="1500" kern="0" dirty="0"/>
              <a:t>RFS</a:t>
            </a:r>
          </a:p>
          <a:p>
            <a:pPr lvl="1" latinLnBrk="1"/>
            <a:r>
              <a:rPr lang="en-US" altLang="ko-KR" sz="1100" kern="0" dirty="0"/>
              <a:t>A proprietary file system designed exclusively for RTEMS</a:t>
            </a:r>
          </a:p>
          <a:p>
            <a:pPr lvl="1" latinLnBrk="1"/>
            <a:r>
              <a:rPr lang="en-US" altLang="ko-KR" sz="1100" b="1" dirty="0"/>
              <a:t>Predictability and stability:</a:t>
            </a:r>
            <a:r>
              <a:rPr lang="en-US" altLang="ko-KR" sz="1100" dirty="0"/>
              <a:t> Operates stably even in environments (like RTEMS) with low-spec CPUs and small amounts of RAM.</a:t>
            </a:r>
          </a:p>
          <a:p>
            <a:pPr lvl="1" latinLnBrk="1"/>
            <a:r>
              <a:rPr lang="en-US" altLang="ko-KR" sz="1100" dirty="0"/>
              <a:t>Supports block sizes that are powers of 2, not just 512 bytes.</a:t>
            </a:r>
          </a:p>
          <a:p>
            <a:pPr latinLnBrk="1"/>
            <a:r>
              <a:rPr lang="en-US" altLang="ko-KR" sz="1400" kern="0" dirty="0"/>
              <a:t>Block Buffer Cache</a:t>
            </a:r>
          </a:p>
          <a:p>
            <a:pPr lvl="1" latinLnBrk="1"/>
            <a:r>
              <a:rPr lang="en-US" altLang="ko-KR" sz="1100" dirty="0"/>
              <a:t>A space that temporarily stores frequently used data blocks in fast RAM to prevent repeated access to media like SD cards, which are block devices similar to those used by RFS or DOSFS.</a:t>
            </a:r>
          </a:p>
          <a:p>
            <a:pPr lvl="1" latinLnBrk="1"/>
            <a:r>
              <a:rPr lang="en-US" altLang="ko-KR" sz="1100" dirty="0"/>
              <a:t>Drastically reduces the number of physical I/O operations, greatly improving the overall performance of the block-based file system.</a:t>
            </a:r>
            <a:endParaRPr lang="en-US" altLang="ko-KR" sz="1900" kern="0" dirty="0"/>
          </a:p>
          <a:p>
            <a:pPr lvl="1" latinLnBrk="1"/>
            <a:endParaRPr lang="en-US" altLang="ko-KR" sz="15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585717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B3593-CCFB-8A6D-5013-E5DCC0A5C3B5}"/>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94A2C1F2-0811-B874-942C-CDA13F8622F9}"/>
              </a:ext>
            </a:extLst>
          </p:cNvPr>
          <p:cNvSpPr>
            <a:spLocks noGrp="1" noChangeArrowheads="1"/>
          </p:cNvSpPr>
          <p:nvPr>
            <p:ph type="title"/>
          </p:nvPr>
        </p:nvSpPr>
        <p:spPr/>
        <p:txBody>
          <a:bodyPr/>
          <a:lstStyle/>
          <a:p>
            <a:r>
              <a:rPr lang="en-US" altLang="ko-KR" sz="3200" dirty="0"/>
              <a:t>Physical File Systems : Blocked-based</a:t>
            </a:r>
          </a:p>
        </p:txBody>
      </p:sp>
      <p:graphicFrame>
        <p:nvGraphicFramePr>
          <p:cNvPr id="4" name="표 3">
            <a:extLst>
              <a:ext uri="{FF2B5EF4-FFF2-40B4-BE49-F238E27FC236}">
                <a16:creationId xmlns:a16="http://schemas.microsoft.com/office/drawing/2014/main" id="{45E71DE2-3467-580B-90EF-718A742A0ECF}"/>
              </a:ext>
            </a:extLst>
          </p:cNvPr>
          <p:cNvGraphicFramePr>
            <a:graphicFrameLocks noGrp="1"/>
          </p:cNvGraphicFramePr>
          <p:nvPr>
            <p:extLst>
              <p:ext uri="{D42A27DB-BD31-4B8C-83A1-F6EECF244321}">
                <p14:modId xmlns:p14="http://schemas.microsoft.com/office/powerpoint/2010/main" val="4012115311"/>
              </p:ext>
            </p:extLst>
          </p:nvPr>
        </p:nvGraphicFramePr>
        <p:xfrm>
          <a:off x="818808" y="1828800"/>
          <a:ext cx="7506384" cy="4632960"/>
        </p:xfrm>
        <a:graphic>
          <a:graphicData uri="http://schemas.openxmlformats.org/drawingml/2006/table">
            <a:tbl>
              <a:tblPr firstRow="1" bandRow="1">
                <a:tableStyleId>{93296810-A885-4BE3-A3E7-6D5BEEA58F35}</a:tableStyleId>
              </a:tblPr>
              <a:tblGrid>
                <a:gridCol w="2502128">
                  <a:extLst>
                    <a:ext uri="{9D8B030D-6E8A-4147-A177-3AD203B41FA5}">
                      <a16:colId xmlns:a16="http://schemas.microsoft.com/office/drawing/2014/main" val="1140338743"/>
                    </a:ext>
                  </a:extLst>
                </a:gridCol>
                <a:gridCol w="2502128">
                  <a:extLst>
                    <a:ext uri="{9D8B030D-6E8A-4147-A177-3AD203B41FA5}">
                      <a16:colId xmlns:a16="http://schemas.microsoft.com/office/drawing/2014/main" val="854414979"/>
                    </a:ext>
                  </a:extLst>
                </a:gridCol>
                <a:gridCol w="2502128">
                  <a:extLst>
                    <a:ext uri="{9D8B030D-6E8A-4147-A177-3AD203B41FA5}">
                      <a16:colId xmlns:a16="http://schemas.microsoft.com/office/drawing/2014/main" val="839980048"/>
                    </a:ext>
                  </a:extLst>
                </a:gridCol>
              </a:tblGrid>
              <a:tr h="268877">
                <a:tc>
                  <a:txBody>
                    <a:bodyPr/>
                    <a:lstStyle/>
                    <a:p>
                      <a:pPr latinLnBrk="1"/>
                      <a:r>
                        <a:rPr lang="en-US" altLang="ko-KR" sz="1600" dirty="0"/>
                        <a:t>Feature</a:t>
                      </a:r>
                    </a:p>
                  </a:txBody>
                  <a:tcPr>
                    <a:solidFill>
                      <a:srgbClr val="0070C0"/>
                    </a:solidFill>
                  </a:tcPr>
                </a:tc>
                <a:tc>
                  <a:txBody>
                    <a:bodyPr/>
                    <a:lstStyle/>
                    <a:p>
                      <a:pPr latinLnBrk="1"/>
                      <a:r>
                        <a:rPr lang="en-US" altLang="ko-KR" sz="1400" dirty="0"/>
                        <a:t>DOSFS(FAT</a:t>
                      </a:r>
                      <a:r>
                        <a:rPr lang="ko-KR" altLang="en-US" sz="1400" dirty="0"/>
                        <a:t> </a:t>
                      </a:r>
                      <a:r>
                        <a:rPr lang="en-US" altLang="ko-KR" sz="1400" dirty="0"/>
                        <a:t>file</a:t>
                      </a:r>
                      <a:r>
                        <a:rPr lang="ko-KR" altLang="en-US" sz="1400" dirty="0"/>
                        <a:t> </a:t>
                      </a:r>
                      <a:r>
                        <a:rPr lang="en-US" altLang="ko-KR" sz="1400" dirty="0"/>
                        <a:t>system)</a:t>
                      </a:r>
                    </a:p>
                  </a:txBody>
                  <a:tcPr>
                    <a:solidFill>
                      <a:srgbClr val="0070C0"/>
                    </a:solidFill>
                  </a:tcPr>
                </a:tc>
                <a:tc>
                  <a:txBody>
                    <a:bodyPr/>
                    <a:lstStyle/>
                    <a:p>
                      <a:pPr latinLnBrk="1"/>
                      <a:r>
                        <a:rPr lang="en-US" altLang="ko-KR" sz="1200" dirty="0"/>
                        <a:t>RFS(RTEMS file systems</a:t>
                      </a:r>
                      <a:endParaRPr lang="ko-KR" altLang="en-US" sz="1200" dirty="0"/>
                    </a:p>
                  </a:txBody>
                  <a:tcPr>
                    <a:solidFill>
                      <a:srgbClr val="0070C0"/>
                    </a:solidFill>
                  </a:tcPr>
                </a:tc>
                <a:extLst>
                  <a:ext uri="{0D108BD9-81ED-4DB2-BD59-A6C34878D82A}">
                    <a16:rowId xmlns:a16="http://schemas.microsoft.com/office/drawing/2014/main" val="1077851250"/>
                  </a:ext>
                </a:extLst>
              </a:tr>
              <a:tr h="513310">
                <a:tc>
                  <a:txBody>
                    <a:bodyPr/>
                    <a:lstStyle/>
                    <a:p>
                      <a:pPr>
                        <a:buNone/>
                      </a:pPr>
                      <a:r>
                        <a:rPr lang="en-US" b="1"/>
                        <a:t>Core Objective</a:t>
                      </a:r>
                      <a:endParaRPr lang="en-US"/>
                    </a:p>
                  </a:txBody>
                  <a:tcPr anchor="ctr">
                    <a:solidFill>
                      <a:srgbClr val="9CB1D4"/>
                    </a:solidFill>
                  </a:tcPr>
                </a:tc>
                <a:tc>
                  <a:txBody>
                    <a:bodyPr/>
                    <a:lstStyle/>
                    <a:p>
                      <a:pPr>
                        <a:buNone/>
                      </a:pPr>
                      <a:r>
                        <a:rPr lang="en-US"/>
                        <a:t>Compatibility</a:t>
                      </a:r>
                    </a:p>
                  </a:txBody>
                  <a:tcPr anchor="ctr">
                    <a:solidFill>
                      <a:srgbClr val="9CB1D4"/>
                    </a:solidFill>
                  </a:tcPr>
                </a:tc>
                <a:tc>
                  <a:txBody>
                    <a:bodyPr/>
                    <a:lstStyle/>
                    <a:p>
                      <a:pPr>
                        <a:buNone/>
                      </a:pPr>
                      <a:r>
                        <a:rPr lang="en-US"/>
                        <a:t>Predictability &amp; Stability</a:t>
                      </a:r>
                    </a:p>
                  </a:txBody>
                  <a:tcPr anchor="ctr">
                    <a:solidFill>
                      <a:srgbClr val="9CB1D4"/>
                    </a:solidFill>
                  </a:tcPr>
                </a:tc>
                <a:extLst>
                  <a:ext uri="{0D108BD9-81ED-4DB2-BD59-A6C34878D82A}">
                    <a16:rowId xmlns:a16="http://schemas.microsoft.com/office/drawing/2014/main" val="2847771086"/>
                  </a:ext>
                </a:extLst>
              </a:tr>
              <a:tr h="733300">
                <a:tc>
                  <a:txBody>
                    <a:bodyPr/>
                    <a:lstStyle/>
                    <a:p>
                      <a:pPr>
                        <a:buNone/>
                      </a:pPr>
                      <a:r>
                        <a:rPr lang="en-US" b="1"/>
                        <a:t>Primary Use Case</a:t>
                      </a:r>
                      <a:endParaRPr lang="en-US"/>
                    </a:p>
                  </a:txBody>
                  <a:tcPr anchor="ctr">
                    <a:solidFill>
                      <a:srgbClr val="9CB1D4"/>
                    </a:solidFill>
                  </a:tcPr>
                </a:tc>
                <a:tc>
                  <a:txBody>
                    <a:bodyPr/>
                    <a:lstStyle/>
                    <a:p>
                      <a:pPr>
                        <a:buNone/>
                      </a:pPr>
                      <a:r>
                        <a:rPr lang="en-US"/>
                        <a:t>File exchange with external systems like PCs</a:t>
                      </a:r>
                    </a:p>
                  </a:txBody>
                  <a:tcPr anchor="ctr">
                    <a:solidFill>
                      <a:srgbClr val="9CB1D4"/>
                    </a:solidFill>
                  </a:tcPr>
                </a:tc>
                <a:tc>
                  <a:txBody>
                    <a:bodyPr/>
                    <a:lstStyle/>
                    <a:p>
                      <a:pPr>
                        <a:buNone/>
                      </a:pPr>
                      <a:r>
                        <a:rPr lang="en-US" dirty="0"/>
                        <a:t>Specialized for RTEMS (e.g., real-time control, aerospace)</a:t>
                      </a:r>
                    </a:p>
                  </a:txBody>
                  <a:tcPr anchor="ctr">
                    <a:solidFill>
                      <a:srgbClr val="9CB1D4"/>
                    </a:solidFill>
                  </a:tcPr>
                </a:tc>
                <a:extLst>
                  <a:ext uri="{0D108BD9-81ED-4DB2-BD59-A6C34878D82A}">
                    <a16:rowId xmlns:a16="http://schemas.microsoft.com/office/drawing/2014/main" val="2764848773"/>
                  </a:ext>
                </a:extLst>
              </a:tr>
              <a:tr h="733300">
                <a:tc>
                  <a:txBody>
                    <a:bodyPr/>
                    <a:lstStyle/>
                    <a:p>
                      <a:pPr>
                        <a:buNone/>
                      </a:pPr>
                      <a:r>
                        <a:rPr lang="en-US" b="1"/>
                        <a:t>Unique Feature</a:t>
                      </a:r>
                      <a:endParaRPr lang="en-US"/>
                    </a:p>
                  </a:txBody>
                  <a:tcPr anchor="ctr">
                    <a:solidFill>
                      <a:srgbClr val="9CB1D4"/>
                    </a:solidFill>
                  </a:tcPr>
                </a:tc>
                <a:tc>
                  <a:txBody>
                    <a:bodyPr/>
                    <a:lstStyle/>
                    <a:p>
                      <a:pPr>
                        <a:buNone/>
                      </a:pPr>
                      <a:r>
                        <a:rPr lang="en-US"/>
                        <a:t>Supports FAT12/16/32 formats</a:t>
                      </a:r>
                    </a:p>
                  </a:txBody>
                  <a:tcPr anchor="ctr">
                    <a:solidFill>
                      <a:srgbClr val="9CB1D4"/>
                    </a:solidFill>
                  </a:tcPr>
                </a:tc>
                <a:tc>
                  <a:txBody>
                    <a:bodyPr/>
                    <a:lstStyle/>
                    <a:p>
                      <a:pPr>
                        <a:buNone/>
                      </a:pPr>
                      <a:r>
                        <a:rPr lang="en-US"/>
                        <a:t>Supports block sizes that are not powers of two</a:t>
                      </a:r>
                    </a:p>
                  </a:txBody>
                  <a:tcPr anchor="ctr">
                    <a:solidFill>
                      <a:srgbClr val="9CB1D4"/>
                    </a:solidFill>
                  </a:tcPr>
                </a:tc>
                <a:extLst>
                  <a:ext uri="{0D108BD9-81ED-4DB2-BD59-A6C34878D82A}">
                    <a16:rowId xmlns:a16="http://schemas.microsoft.com/office/drawing/2014/main" val="1627165457"/>
                  </a:ext>
                </a:extLst>
              </a:tr>
              <a:tr h="733300">
                <a:tc>
                  <a:txBody>
                    <a:bodyPr/>
                    <a:lstStyle/>
                    <a:p>
                      <a:pPr>
                        <a:buNone/>
                      </a:pPr>
                      <a:r>
                        <a:rPr lang="en-US" b="1"/>
                        <a:t>Advantage</a:t>
                      </a:r>
                      <a:endParaRPr lang="en-US"/>
                    </a:p>
                  </a:txBody>
                  <a:tcPr anchor="ctr">
                    <a:solidFill>
                      <a:srgbClr val="9CB1D4"/>
                    </a:solidFill>
                  </a:tcPr>
                </a:tc>
                <a:tc>
                  <a:txBody>
                    <a:bodyPr/>
                    <a:lstStyle/>
                    <a:p>
                      <a:pPr>
                        <a:buNone/>
                      </a:pPr>
                      <a:r>
                        <a:rPr lang="en-US"/>
                        <a:t>Convenient for data sharing</a:t>
                      </a:r>
                    </a:p>
                  </a:txBody>
                  <a:tcPr anchor="ctr">
                    <a:solidFill>
                      <a:srgbClr val="9CB1D4"/>
                    </a:solidFill>
                  </a:tcPr>
                </a:tc>
                <a:tc>
                  <a:txBody>
                    <a:bodyPr/>
                    <a:lstStyle/>
                    <a:p>
                      <a:pPr>
                        <a:buNone/>
                      </a:pPr>
                      <a:r>
                        <a:rPr lang="en-US"/>
                        <a:t>Stable performance optimized for the RTEMS environment</a:t>
                      </a:r>
                    </a:p>
                  </a:txBody>
                  <a:tcPr anchor="ctr">
                    <a:solidFill>
                      <a:srgbClr val="9CB1D4"/>
                    </a:solidFill>
                  </a:tcPr>
                </a:tc>
                <a:extLst>
                  <a:ext uri="{0D108BD9-81ED-4DB2-BD59-A6C34878D82A}">
                    <a16:rowId xmlns:a16="http://schemas.microsoft.com/office/drawing/2014/main" val="1034286090"/>
                  </a:ext>
                </a:extLst>
              </a:tr>
              <a:tr h="733300">
                <a:tc>
                  <a:txBody>
                    <a:bodyPr/>
                    <a:lstStyle/>
                    <a:p>
                      <a:pPr>
                        <a:buNone/>
                      </a:pPr>
                      <a:r>
                        <a:rPr lang="en-US" b="1"/>
                        <a:t>Disadvantage</a:t>
                      </a:r>
                      <a:endParaRPr lang="en-US"/>
                    </a:p>
                  </a:txBody>
                  <a:tcPr anchor="ctr">
                    <a:solidFill>
                      <a:srgbClr val="9CB1D4"/>
                    </a:solidFill>
                  </a:tcPr>
                </a:tc>
                <a:tc>
                  <a:txBody>
                    <a:bodyPr/>
                    <a:lstStyle/>
                    <a:p>
                      <a:pPr>
                        <a:buNone/>
                      </a:pPr>
                      <a:r>
                        <a:rPr lang="en-US"/>
                        <a:t>Lower real-time predictability than RFS</a:t>
                      </a:r>
                    </a:p>
                  </a:txBody>
                  <a:tcPr anchor="ctr">
                    <a:solidFill>
                      <a:srgbClr val="9CB1D4"/>
                    </a:solidFill>
                  </a:tcPr>
                </a:tc>
                <a:tc>
                  <a:txBody>
                    <a:bodyPr/>
                    <a:lstStyle/>
                    <a:p>
                      <a:pPr>
                        <a:buNone/>
                      </a:pPr>
                      <a:r>
                        <a:rPr lang="en-US" dirty="0"/>
                        <a:t>Not directly compatible with external systems like PCs</a:t>
                      </a:r>
                    </a:p>
                  </a:txBody>
                  <a:tcPr anchor="ctr">
                    <a:solidFill>
                      <a:srgbClr val="9CB1D4"/>
                    </a:solidFill>
                  </a:tcPr>
                </a:tc>
                <a:extLst>
                  <a:ext uri="{0D108BD9-81ED-4DB2-BD59-A6C34878D82A}">
                    <a16:rowId xmlns:a16="http://schemas.microsoft.com/office/drawing/2014/main" val="2786789227"/>
                  </a:ext>
                </a:extLst>
              </a:tr>
            </a:tbl>
          </a:graphicData>
        </a:graphic>
      </p:graphicFrame>
    </p:spTree>
    <p:extLst>
      <p:ext uri="{BB962C8B-B14F-4D97-AF65-F5344CB8AC3E}">
        <p14:creationId xmlns:p14="http://schemas.microsoft.com/office/powerpoint/2010/main" val="1712183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81A5B-ADA4-FEED-5072-52A4F08CDF03}"/>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3EA0BFA6-B526-74B2-D123-50741560864A}"/>
              </a:ext>
            </a:extLst>
          </p:cNvPr>
          <p:cNvSpPr>
            <a:spLocks noGrp="1" noChangeArrowheads="1"/>
          </p:cNvSpPr>
          <p:nvPr>
            <p:ph type="title"/>
          </p:nvPr>
        </p:nvSpPr>
        <p:spPr/>
        <p:txBody>
          <a:bodyPr/>
          <a:lstStyle/>
          <a:p>
            <a:r>
              <a:rPr lang="en-US" altLang="ko-KR" sz="3200" dirty="0"/>
              <a:t>Physical File Systems : Flash-based</a:t>
            </a:r>
          </a:p>
        </p:txBody>
      </p:sp>
      <p:sp>
        <p:nvSpPr>
          <p:cNvPr id="7" name="Rectangle 3">
            <a:extLst>
              <a:ext uri="{FF2B5EF4-FFF2-40B4-BE49-F238E27FC236}">
                <a16:creationId xmlns:a16="http://schemas.microsoft.com/office/drawing/2014/main" id="{6B686ED8-1C90-17C9-9F54-3D6DD2E64AE9}"/>
              </a:ext>
            </a:extLst>
          </p:cNvPr>
          <p:cNvSpPr txBox="1">
            <a:spLocks noChangeArrowheads="1"/>
          </p:cNvSpPr>
          <p:nvPr/>
        </p:nvSpPr>
        <p:spPr bwMode="auto">
          <a:xfrm>
            <a:off x="505881" y="1369853"/>
            <a:ext cx="803592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800" kern="0" dirty="0"/>
              <a:t>Flash Memory</a:t>
            </a:r>
          </a:p>
          <a:p>
            <a:pPr lvl="1" latinLnBrk="1"/>
            <a:r>
              <a:rPr lang="en-US" altLang="ko-KR" sz="1200" b="1" dirty="0"/>
              <a:t>Cannot be overwritten:</a:t>
            </a:r>
            <a:r>
              <a:rPr lang="en-US" altLang="ko-KR" sz="1200" dirty="0"/>
              <a:t> To overwrite data, the entire large block to which the data belongs must be erased. This erase operation is very slow.</a:t>
            </a:r>
          </a:p>
          <a:p>
            <a:pPr lvl="1" latinLnBrk="1"/>
            <a:r>
              <a:rPr lang="en-US" altLang="ko-KR" sz="1200" b="1" dirty="0"/>
              <a:t>Limited write lifespan:</a:t>
            </a:r>
            <a:r>
              <a:rPr lang="en-US" altLang="ko-KR" sz="1200" dirty="0"/>
              <a:t> Each block of flash memory has a set number of times it can be erased.</a:t>
            </a:r>
          </a:p>
          <a:p>
            <a:pPr lvl="1" latinLnBrk="1"/>
            <a:r>
              <a:rPr lang="en-US" altLang="ko-KR" sz="1200" dirty="0"/>
              <a:t>JFFS2 and YAFFS were created to solve these problems.</a:t>
            </a:r>
          </a:p>
          <a:p>
            <a:pPr latinLnBrk="1"/>
            <a:r>
              <a:rPr lang="en-US" altLang="ko-KR" sz="1800" kern="0" dirty="0"/>
              <a:t>Log-structured</a:t>
            </a:r>
          </a:p>
          <a:p>
            <a:pPr lvl="1" latinLnBrk="1"/>
            <a:r>
              <a:rPr lang="en-US" altLang="ko-KR" sz="1200" dirty="0"/>
              <a:t>The core technology of JFFS2 and YAFFS.</a:t>
            </a:r>
          </a:p>
          <a:p>
            <a:pPr lvl="1" latinLnBrk="1"/>
            <a:r>
              <a:rPr lang="en-US" altLang="ko-KR" sz="1200" dirty="0"/>
              <a:t>Instead of overwriting data, it always appends it to a new, empty space.</a:t>
            </a:r>
          </a:p>
          <a:p>
            <a:pPr lvl="1" latinLnBrk="1"/>
            <a:r>
              <a:rPr lang="en-US" altLang="ko-KR" sz="1200" dirty="0"/>
              <a:t>Since the old data is simply marked as invalid, there is no need to perform the slow erase operation every time.</a:t>
            </a:r>
            <a:endParaRPr lang="en-US" altLang="ko-KR" sz="2000" kern="0" dirty="0"/>
          </a:p>
          <a:p>
            <a:pPr marL="0" indent="0" latinLnBrk="1">
              <a:buNone/>
            </a:pP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
        <p:nvSpPr>
          <p:cNvPr id="2" name="원통형 1">
            <a:extLst>
              <a:ext uri="{FF2B5EF4-FFF2-40B4-BE49-F238E27FC236}">
                <a16:creationId xmlns:a16="http://schemas.microsoft.com/office/drawing/2014/main" id="{D31784EB-EB5C-2FE2-5E5C-16DF48C430B6}"/>
              </a:ext>
            </a:extLst>
          </p:cNvPr>
          <p:cNvSpPr/>
          <p:nvPr/>
        </p:nvSpPr>
        <p:spPr bwMode="auto">
          <a:xfrm>
            <a:off x="1828800" y="4495800"/>
            <a:ext cx="1440919" cy="1555649"/>
          </a:xfrm>
          <a:prstGeom prst="can">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4" name="직사각형 3">
            <a:extLst>
              <a:ext uri="{FF2B5EF4-FFF2-40B4-BE49-F238E27FC236}">
                <a16:creationId xmlns:a16="http://schemas.microsoft.com/office/drawing/2014/main" id="{03E0F5ED-8A25-C149-B801-4886DCBE3AA2}"/>
              </a:ext>
            </a:extLst>
          </p:cNvPr>
          <p:cNvSpPr/>
          <p:nvPr/>
        </p:nvSpPr>
        <p:spPr bwMode="auto">
          <a:xfrm>
            <a:off x="1981200" y="5337175"/>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=1)</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sp>
        <p:nvSpPr>
          <p:cNvPr id="8" name="직사각형 7">
            <a:extLst>
              <a:ext uri="{FF2B5EF4-FFF2-40B4-BE49-F238E27FC236}">
                <a16:creationId xmlns:a16="http://schemas.microsoft.com/office/drawing/2014/main" id="{DC3F77E2-0E51-02FD-13F9-518EA9187B53}"/>
              </a:ext>
            </a:extLst>
          </p:cNvPr>
          <p:cNvSpPr/>
          <p:nvPr/>
        </p:nvSpPr>
        <p:spPr bwMode="auto">
          <a:xfrm>
            <a:off x="1981200" y="5039323"/>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=1)</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pic>
        <p:nvPicPr>
          <p:cNvPr id="15" name="그래픽 14" descr="직선 화살표 단색으로 채워진">
            <a:extLst>
              <a:ext uri="{FF2B5EF4-FFF2-40B4-BE49-F238E27FC236}">
                <a16:creationId xmlns:a16="http://schemas.microsoft.com/office/drawing/2014/main" id="{647AC252-2FCE-569F-928C-029DCD85BC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3609444" y="4827905"/>
            <a:ext cx="914400" cy="914400"/>
          </a:xfrm>
          <a:prstGeom prst="rect">
            <a:avLst/>
          </a:prstGeom>
        </p:spPr>
      </p:pic>
      <p:sp>
        <p:nvSpPr>
          <p:cNvPr id="16" name="원통형 15">
            <a:extLst>
              <a:ext uri="{FF2B5EF4-FFF2-40B4-BE49-F238E27FC236}">
                <a16:creationId xmlns:a16="http://schemas.microsoft.com/office/drawing/2014/main" id="{599FBF8A-1B1C-1112-9366-7A224C233B0F}"/>
              </a:ext>
            </a:extLst>
          </p:cNvPr>
          <p:cNvSpPr/>
          <p:nvPr/>
        </p:nvSpPr>
        <p:spPr bwMode="auto">
          <a:xfrm>
            <a:off x="5029200" y="4495799"/>
            <a:ext cx="1440919" cy="1555649"/>
          </a:xfrm>
          <a:prstGeom prst="can">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17" name="직사각형 16">
            <a:extLst>
              <a:ext uri="{FF2B5EF4-FFF2-40B4-BE49-F238E27FC236}">
                <a16:creationId xmlns:a16="http://schemas.microsoft.com/office/drawing/2014/main" id="{5EDF1EF4-EE5A-AD44-FCEF-2AD15589FBEB}"/>
              </a:ext>
            </a:extLst>
          </p:cNvPr>
          <p:cNvSpPr/>
          <p:nvPr/>
        </p:nvSpPr>
        <p:spPr bwMode="auto">
          <a:xfrm>
            <a:off x="5181600" y="5337174"/>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=0)</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sp>
        <p:nvSpPr>
          <p:cNvPr id="18" name="직사각형 17">
            <a:extLst>
              <a:ext uri="{FF2B5EF4-FFF2-40B4-BE49-F238E27FC236}">
                <a16:creationId xmlns:a16="http://schemas.microsoft.com/office/drawing/2014/main" id="{B3FDDAFD-DFC4-75C8-4634-423EE13D86E0}"/>
              </a:ext>
            </a:extLst>
          </p:cNvPr>
          <p:cNvSpPr/>
          <p:nvPr/>
        </p:nvSpPr>
        <p:spPr bwMode="auto">
          <a:xfrm>
            <a:off x="5181600" y="5039322"/>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=0)</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sp>
        <p:nvSpPr>
          <p:cNvPr id="19" name="직사각형 18">
            <a:extLst>
              <a:ext uri="{FF2B5EF4-FFF2-40B4-BE49-F238E27FC236}">
                <a16:creationId xmlns:a16="http://schemas.microsoft.com/office/drawing/2014/main" id="{4B6991EB-04E8-DEC2-7FE9-9BB69DE8C40F}"/>
              </a:ext>
            </a:extLst>
          </p:cNvPr>
          <p:cNvSpPr/>
          <p:nvPr/>
        </p:nvSpPr>
        <p:spPr bwMode="auto">
          <a:xfrm>
            <a:off x="5720239" y="5337174"/>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=1)</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sp>
        <p:nvSpPr>
          <p:cNvPr id="20" name="직사각형 19">
            <a:extLst>
              <a:ext uri="{FF2B5EF4-FFF2-40B4-BE49-F238E27FC236}">
                <a16:creationId xmlns:a16="http://schemas.microsoft.com/office/drawing/2014/main" id="{27947A4B-77D9-62DD-1082-B790901A9F49}"/>
              </a:ext>
            </a:extLst>
          </p:cNvPr>
          <p:cNvSpPr/>
          <p:nvPr/>
        </p:nvSpPr>
        <p:spPr bwMode="auto">
          <a:xfrm>
            <a:off x="5720239" y="5039322"/>
            <a:ext cx="538639" cy="297852"/>
          </a:xfrm>
          <a:prstGeom prst="rect">
            <a:avLst/>
          </a:prstGeom>
          <a:solidFill>
            <a:srgbClr val="CCCC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altLang="ko-KR" sz="800" b="0" i="0" u="none" strike="noStrike" cap="none" normalizeH="0" baseline="0" dirty="0">
                <a:ln>
                  <a:noFill/>
                </a:ln>
                <a:solidFill>
                  <a:schemeClr val="tx1"/>
                </a:solidFill>
                <a:effectLst/>
                <a:latin typeface="Verdana" pitchFamily="34" charset="0"/>
                <a:cs typeface="Arial" charset="0"/>
              </a:rPr>
              <a:t>A’(</a:t>
            </a:r>
            <a:r>
              <a:rPr kumimoji="0" lang="en-US" altLang="ko-KR" sz="800" b="0" i="0" u="none" strike="noStrike" cap="none" normalizeH="0" baseline="0" dirty="0" err="1">
                <a:ln>
                  <a:noFill/>
                </a:ln>
                <a:solidFill>
                  <a:schemeClr val="tx1"/>
                </a:solidFill>
                <a:effectLst/>
                <a:latin typeface="Verdana" pitchFamily="34" charset="0"/>
                <a:cs typeface="Arial" charset="0"/>
              </a:rPr>
              <a:t>i</a:t>
            </a:r>
            <a:r>
              <a:rPr kumimoji="0" lang="en-US" altLang="ko-KR" sz="800" b="0" i="0" u="none" strike="noStrike" cap="none" normalizeH="0" baseline="0" dirty="0">
                <a:ln>
                  <a:noFill/>
                </a:ln>
                <a:solidFill>
                  <a:schemeClr val="tx1"/>
                </a:solidFill>
                <a:effectLst/>
                <a:latin typeface="Verdana" pitchFamily="34" charset="0"/>
                <a:cs typeface="Arial" charset="0"/>
              </a:rPr>
              <a:t>=1)</a:t>
            </a:r>
          </a:p>
          <a:p>
            <a:pPr marL="0" marR="0" indent="0" algn="l" defTabSz="914400" rtl="0" eaLnBrk="1" fontAlgn="base" latinLnBrk="0" hangingPunct="1">
              <a:lnSpc>
                <a:spcPct val="100000"/>
              </a:lnSpc>
              <a:spcBef>
                <a:spcPct val="0"/>
              </a:spcBef>
              <a:spcAft>
                <a:spcPct val="0"/>
              </a:spcAft>
              <a:buClrTx/>
              <a:buSzTx/>
              <a:buFontTx/>
              <a:buNone/>
              <a:tabLst/>
            </a:pPr>
            <a:r>
              <a:rPr lang="en-US" altLang="ko-KR" sz="800" dirty="0"/>
              <a:t>Data</a:t>
            </a:r>
            <a:endParaRPr kumimoji="0" lang="en-US" altLang="ko-KR" sz="800" b="0" i="0" u="none" strike="noStrike" cap="none" normalizeH="0" baseline="0" dirty="0">
              <a:ln>
                <a:noFill/>
              </a:ln>
              <a:solidFill>
                <a:schemeClr val="tx1"/>
              </a:solidFill>
              <a:effectLst/>
              <a:latin typeface="Verdana" pitchFamily="34" charset="0"/>
              <a:cs typeface="Arial" charset="0"/>
            </a:endParaRPr>
          </a:p>
        </p:txBody>
      </p:sp>
      <p:sp>
        <p:nvSpPr>
          <p:cNvPr id="22" name="&quot;허용 안 됨&quot; 기호 21">
            <a:extLst>
              <a:ext uri="{FF2B5EF4-FFF2-40B4-BE49-F238E27FC236}">
                <a16:creationId xmlns:a16="http://schemas.microsoft.com/office/drawing/2014/main" id="{602F84AD-3F5E-BF64-BCF6-0A450496AC00}"/>
              </a:ext>
            </a:extLst>
          </p:cNvPr>
          <p:cNvSpPr/>
          <p:nvPr/>
        </p:nvSpPr>
        <p:spPr bwMode="auto">
          <a:xfrm>
            <a:off x="5287221" y="5042816"/>
            <a:ext cx="327398" cy="297852"/>
          </a:xfrm>
          <a:prstGeom prst="noSmoking">
            <a:avLst>
              <a:gd name="adj" fmla="val 4875"/>
            </a:avLst>
          </a:prstGeom>
          <a:solidFill>
            <a:schemeClr val="accent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
        <p:nvSpPr>
          <p:cNvPr id="23" name="&quot;허용 안 됨&quot; 기호 22">
            <a:extLst>
              <a:ext uri="{FF2B5EF4-FFF2-40B4-BE49-F238E27FC236}">
                <a16:creationId xmlns:a16="http://schemas.microsoft.com/office/drawing/2014/main" id="{89CCA6BA-50FA-57C7-025A-7EB7D47E27A2}"/>
              </a:ext>
            </a:extLst>
          </p:cNvPr>
          <p:cNvSpPr/>
          <p:nvPr/>
        </p:nvSpPr>
        <p:spPr bwMode="auto">
          <a:xfrm>
            <a:off x="5287221" y="5337174"/>
            <a:ext cx="327398" cy="297852"/>
          </a:xfrm>
          <a:prstGeom prst="noSmoking">
            <a:avLst>
              <a:gd name="adj" fmla="val 4875"/>
            </a:avLst>
          </a:prstGeom>
          <a:solidFill>
            <a:schemeClr val="accent1"/>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Verdana" pitchFamily="34" charset="0"/>
              <a:cs typeface="Arial" charset="0"/>
            </a:endParaRPr>
          </a:p>
        </p:txBody>
      </p:sp>
    </p:spTree>
    <p:extLst>
      <p:ext uri="{BB962C8B-B14F-4D97-AF65-F5344CB8AC3E}">
        <p14:creationId xmlns:p14="http://schemas.microsoft.com/office/powerpoint/2010/main" val="1340515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55556-8D27-D650-7F59-50582814EC7D}"/>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D988CF90-AF52-4862-9C65-3315CA14F7F5}"/>
              </a:ext>
            </a:extLst>
          </p:cNvPr>
          <p:cNvSpPr>
            <a:spLocks noGrp="1" noChangeArrowheads="1"/>
          </p:cNvSpPr>
          <p:nvPr>
            <p:ph type="title"/>
          </p:nvPr>
        </p:nvSpPr>
        <p:spPr/>
        <p:txBody>
          <a:bodyPr/>
          <a:lstStyle/>
          <a:p>
            <a:r>
              <a:rPr lang="en-US" altLang="ko-KR" sz="3200" dirty="0"/>
              <a:t>Physical File Systems : Flash-based</a:t>
            </a:r>
          </a:p>
        </p:txBody>
      </p:sp>
      <p:sp>
        <p:nvSpPr>
          <p:cNvPr id="7" name="Rectangle 3">
            <a:extLst>
              <a:ext uri="{FF2B5EF4-FFF2-40B4-BE49-F238E27FC236}">
                <a16:creationId xmlns:a16="http://schemas.microsoft.com/office/drawing/2014/main" id="{0D706E3E-CBA2-475A-8993-9D84E7F9FC75}"/>
              </a:ext>
            </a:extLst>
          </p:cNvPr>
          <p:cNvSpPr txBox="1">
            <a:spLocks noChangeArrowheads="1"/>
          </p:cNvSpPr>
          <p:nvPr/>
        </p:nvSpPr>
        <p:spPr bwMode="auto">
          <a:xfrm>
            <a:off x="574675" y="1520825"/>
            <a:ext cx="8035925"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800" dirty="0"/>
              <a:t>JFFS2: Reliability and Space Efficiency</a:t>
            </a:r>
          </a:p>
          <a:p>
            <a:pPr lvl="1" latinLnBrk="1"/>
            <a:r>
              <a:rPr lang="en-US" altLang="ko-KR" sz="1200" b="1" dirty="0"/>
              <a:t>Garbage collection</a:t>
            </a:r>
            <a:r>
              <a:rPr lang="en-US" altLang="ko-KR" sz="1200" dirty="0"/>
              <a:t>: Gathers scattered valid data into a new location, then erases the blocks filled with old, invalid data to create usable space</a:t>
            </a:r>
            <a:r>
              <a:rPr lang="en-US" altLang="ko-KR" sz="1000" dirty="0"/>
              <a:t>.</a:t>
            </a:r>
          </a:p>
          <a:p>
            <a:pPr lvl="1" latinLnBrk="1"/>
            <a:r>
              <a:rPr lang="en-US" altLang="ko-KR" sz="1200" b="1" dirty="0"/>
              <a:t>Wear leveling</a:t>
            </a:r>
            <a:r>
              <a:rPr lang="en-US" altLang="ko-KR" sz="1200" dirty="0"/>
              <a:t>: The process of garbage collection constantly moves the location of data, naturally causing all memory blocks to be used evenly.</a:t>
            </a:r>
          </a:p>
          <a:p>
            <a:pPr lvl="1" latinLnBrk="1"/>
            <a:r>
              <a:rPr lang="en-US" altLang="ko-KR" sz="1200" b="1" dirty="0"/>
              <a:t>Data compression</a:t>
            </a:r>
            <a:r>
              <a:rPr lang="en-US" altLang="ko-KR" sz="1200" dirty="0"/>
              <a:t>: Compresses data before storing it to save space. While effective for text files, it is less effective for already compressed images (JPEG).</a:t>
            </a:r>
          </a:p>
          <a:p>
            <a:pPr lvl="1" latinLnBrk="1"/>
            <a:r>
              <a:rPr lang="en-US" altLang="ko-KR" sz="1200" b="1" dirty="0"/>
              <a:t>Power failure stability</a:t>
            </a:r>
            <a:r>
              <a:rPr lang="en-US" altLang="ko-KR" sz="1200" dirty="0"/>
              <a:t>: Logs every change, making it possible to recover even if power is lost in the middle of an operation.</a:t>
            </a:r>
            <a:endParaRPr lang="en-US" altLang="ko-KR" sz="1600" kern="0" dirty="0"/>
          </a:p>
          <a:p>
            <a:pPr latinLnBrk="1"/>
            <a:r>
              <a:rPr lang="en-US" altLang="ko-KR" sz="1800" dirty="0"/>
              <a:t>YAFFS: Speed and Performance</a:t>
            </a:r>
          </a:p>
          <a:p>
            <a:pPr lvl="1" latinLnBrk="1"/>
            <a:r>
              <a:rPr lang="en-US" altLang="ko-KR" sz="1200" b="1" dirty="0"/>
              <a:t>Higher performance</a:t>
            </a:r>
            <a:r>
              <a:rPr lang="en-US" altLang="ko-KR" sz="1200" dirty="0"/>
              <a:t>: According to benchmark results, YAFFS is generally faster than JFFS2.</a:t>
            </a:r>
          </a:p>
          <a:p>
            <a:pPr lvl="1" latinLnBrk="1"/>
            <a:r>
              <a:rPr lang="en-US" altLang="ko-KR" sz="1200" b="1" dirty="0"/>
              <a:t>No data compression</a:t>
            </a:r>
            <a:r>
              <a:rPr lang="en-US" altLang="ko-KR" sz="1200" dirty="0"/>
              <a:t>: Unlike JFFS2, YAFFS does not have a built-in compression feature. This results in less overhead.</a:t>
            </a:r>
          </a:p>
          <a:p>
            <a:pPr lvl="1" latinLnBrk="1"/>
            <a:r>
              <a:rPr lang="en-US" altLang="ko-KR" sz="1200" b="1" dirty="0"/>
              <a:t>License</a:t>
            </a:r>
            <a:r>
              <a:rPr lang="en-US" altLang="ko-KR" sz="1200" dirty="0"/>
              <a:t>: Uses a dual-license policy that requires the purchase of a separate license for use in commercial, closed-source products.</a:t>
            </a:r>
            <a:endParaRPr lang="en-US" altLang="ko-KR" sz="1500" kern="0" dirty="0"/>
          </a:p>
          <a:p>
            <a:pPr lvl="1" latinLnBrk="1"/>
            <a:endParaRPr lang="en-US" altLang="ko-KR" sz="15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3259664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0F3C6-73A8-93DD-601D-23B965AA707B}"/>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BA040EA4-F41A-8F45-17B7-E95E8738E846}"/>
              </a:ext>
            </a:extLst>
          </p:cNvPr>
          <p:cNvSpPr>
            <a:spLocks noGrp="1" noChangeArrowheads="1"/>
          </p:cNvSpPr>
          <p:nvPr>
            <p:ph type="title"/>
          </p:nvPr>
        </p:nvSpPr>
        <p:spPr/>
        <p:txBody>
          <a:bodyPr/>
          <a:lstStyle/>
          <a:p>
            <a:r>
              <a:rPr lang="en-US" altLang="ko-KR" sz="3200" dirty="0"/>
              <a:t>DEVFS : All hardware as files</a:t>
            </a:r>
          </a:p>
        </p:txBody>
      </p:sp>
      <p:sp>
        <p:nvSpPr>
          <p:cNvPr id="7" name="Rectangle 3">
            <a:extLst>
              <a:ext uri="{FF2B5EF4-FFF2-40B4-BE49-F238E27FC236}">
                <a16:creationId xmlns:a16="http://schemas.microsoft.com/office/drawing/2014/main" id="{52F95958-0949-7457-4DC8-66E4F9CB4240}"/>
              </a:ext>
            </a:extLst>
          </p:cNvPr>
          <p:cNvSpPr txBox="1">
            <a:spLocks noChangeArrowheads="1"/>
          </p:cNvSpPr>
          <p:nvPr/>
        </p:nvSpPr>
        <p:spPr bwMode="auto">
          <a:xfrm>
            <a:off x="574675" y="1520825"/>
            <a:ext cx="8035925"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900" kern="0" dirty="0"/>
              <a:t>Device</a:t>
            </a:r>
            <a:r>
              <a:rPr lang="ko-KR" altLang="en-US" sz="1900" kern="0" dirty="0"/>
              <a:t> </a:t>
            </a:r>
            <a:r>
              <a:rPr lang="en-US" altLang="ko-KR" sz="1900" kern="0" dirty="0"/>
              <a:t>File</a:t>
            </a:r>
            <a:r>
              <a:rPr lang="ko-KR" altLang="en-US" sz="1900" kern="0" dirty="0"/>
              <a:t> </a:t>
            </a:r>
            <a:r>
              <a:rPr lang="en-US" altLang="ko-KR" sz="1900" kern="0" dirty="0"/>
              <a:t>System</a:t>
            </a:r>
          </a:p>
          <a:p>
            <a:pPr lvl="1" latinLnBrk="1"/>
            <a:r>
              <a:rPr lang="en-US" altLang="ko-KR" sz="1200" kern="0" dirty="0"/>
              <a:t>A virtual file system that makes all of the system’s hardware devices(e.g., console, SD card, controller) appear as if they are files under the /dev directory.</a:t>
            </a:r>
          </a:p>
          <a:p>
            <a:pPr latinLnBrk="1"/>
            <a:r>
              <a:rPr lang="en-US" altLang="ko-KR" sz="1800" dirty="0"/>
              <a:t>Core Role: Providing a consistent access method</a:t>
            </a:r>
          </a:p>
          <a:p>
            <a:pPr lvl="1" latinLnBrk="1"/>
            <a:r>
              <a:rPr lang="en-US" altLang="ko-KR" sz="1200" kern="0" dirty="0"/>
              <a:t>Application programs can control all hardware using the same standard POSIX functions (open(), read(), write(), </a:t>
            </a:r>
            <a:r>
              <a:rPr lang="en-US" altLang="ko-KR" sz="1200" kern="0" dirty="0" err="1"/>
              <a:t>ioctl</a:t>
            </a:r>
            <a:r>
              <a:rPr lang="en-US" altLang="ko-KR" sz="1200" kern="0" dirty="0"/>
              <a:t>()) regardless of the type of device.</a:t>
            </a:r>
            <a:r>
              <a:rPr lang="ko-KR" altLang="en-US" sz="1200" kern="0" dirty="0"/>
              <a:t> </a:t>
            </a:r>
            <a:endParaRPr lang="en-US" altLang="ko-KR" sz="1200" kern="0" dirty="0"/>
          </a:p>
          <a:p>
            <a:pPr latinLnBrk="1"/>
            <a:r>
              <a:rPr lang="en-US" altLang="ko-KR" sz="1800" dirty="0"/>
              <a:t>Operating Principle: The driver hidden behind the file</a:t>
            </a:r>
          </a:p>
          <a:p>
            <a:pPr lvl="1" latinLnBrk="1"/>
            <a:r>
              <a:rPr lang="en-US" altLang="ko-KR" sz="1200" b="1" dirty="0"/>
              <a:t>DEVFS File</a:t>
            </a:r>
            <a:r>
              <a:rPr lang="en-US" altLang="ko-KR" sz="1200" dirty="0"/>
              <a:t>: A shell file that doesn't contain actual data, but has 'major/minor numbers' to identify the device.</a:t>
            </a:r>
          </a:p>
          <a:p>
            <a:pPr lvl="1" latinLnBrk="1"/>
            <a:r>
              <a:rPr lang="en-US" altLang="ko-KR" sz="1200" b="1" dirty="0"/>
              <a:t>Device Driver</a:t>
            </a:r>
            <a:r>
              <a:rPr lang="en-US" altLang="ko-KR" sz="1200" dirty="0"/>
              <a:t>: When an I/O request is made to a DEVFS file, the VFS (Virtual File System) reads these major/minor numbers and calls the actual 'device driver' for the corresponding device.</a:t>
            </a:r>
          </a:p>
          <a:p>
            <a:pPr lvl="1" latinLnBrk="1"/>
            <a:r>
              <a:rPr lang="en-US" altLang="ko-KR" sz="1200" b="1" dirty="0"/>
              <a:t>Conclusion</a:t>
            </a:r>
            <a:r>
              <a:rPr lang="en-US" altLang="ko-KR" sz="1200" dirty="0"/>
              <a:t>: DEVFS serves as a 'standardized interface', while the actual hardware control is handled by the device driver behind it.</a:t>
            </a:r>
            <a:endParaRPr lang="en-US" altLang="ko-KR" sz="2000" kern="0" dirty="0"/>
          </a:p>
          <a:p>
            <a:pPr lvl="1" latinLnBrk="1"/>
            <a:endParaRPr lang="en-US" altLang="ko-KR" sz="2800" kern="0" dirty="0"/>
          </a:p>
          <a:p>
            <a:pPr lvl="2" latinLnBrk="1"/>
            <a:endParaRPr lang="en-US" altLang="ko-KR" sz="11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14027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43E6D-371B-1246-F2A1-582B70C44B31}"/>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964CCD7E-A3BB-17FE-5977-7D00B13154FE}"/>
              </a:ext>
            </a:extLst>
          </p:cNvPr>
          <p:cNvSpPr>
            <a:spLocks noGrp="1" noChangeArrowheads="1"/>
          </p:cNvSpPr>
          <p:nvPr>
            <p:ph type="title"/>
          </p:nvPr>
        </p:nvSpPr>
        <p:spPr/>
        <p:txBody>
          <a:bodyPr/>
          <a:lstStyle/>
          <a:p>
            <a:r>
              <a:rPr lang="en-US" altLang="ko-KR" sz="3200" dirty="0"/>
              <a:t>Performance Analysis Overview</a:t>
            </a:r>
          </a:p>
        </p:txBody>
      </p:sp>
      <p:sp>
        <p:nvSpPr>
          <p:cNvPr id="7" name="Rectangle 3">
            <a:extLst>
              <a:ext uri="{FF2B5EF4-FFF2-40B4-BE49-F238E27FC236}">
                <a16:creationId xmlns:a16="http://schemas.microsoft.com/office/drawing/2014/main" id="{52C6DED1-967E-4193-08AA-B40BAAB4B75F}"/>
              </a:ext>
            </a:extLst>
          </p:cNvPr>
          <p:cNvSpPr txBox="1">
            <a:spLocks noChangeArrowheads="1"/>
          </p:cNvSpPr>
          <p:nvPr/>
        </p:nvSpPr>
        <p:spPr bwMode="auto">
          <a:xfrm>
            <a:off x="574675" y="1520825"/>
            <a:ext cx="8035925"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800" b="1" dirty="0"/>
              <a:t>Analysis Goal:</a:t>
            </a:r>
            <a:r>
              <a:rPr lang="en-US" altLang="ko-KR" sz="1800" dirty="0"/>
              <a:t> To measure and compare the I/O performance of major file systems available in RTEMS under various conditions.</a:t>
            </a:r>
          </a:p>
          <a:p>
            <a:pPr latinLnBrk="1"/>
            <a:r>
              <a:rPr lang="en-US" altLang="ko-KR" sz="1800" dirty="0"/>
              <a:t>Test Environment</a:t>
            </a:r>
          </a:p>
          <a:p>
            <a:pPr lvl="1" latinLnBrk="1"/>
            <a:r>
              <a:rPr lang="en-US" altLang="ko-KR" sz="1200" b="1" dirty="0"/>
              <a:t>Hardware:</a:t>
            </a:r>
            <a:r>
              <a:rPr lang="en-US" altLang="ko-KR" sz="1200" dirty="0"/>
              <a:t> </a:t>
            </a:r>
            <a:r>
              <a:rPr lang="en-US" altLang="ko-KR" sz="1200" dirty="0" err="1"/>
              <a:t>BeagleBone</a:t>
            </a:r>
            <a:r>
              <a:rPr lang="en-US" altLang="ko-KR" sz="1200" dirty="0"/>
              <a:t> Black board</a:t>
            </a:r>
          </a:p>
          <a:p>
            <a:pPr lvl="1" latinLnBrk="1"/>
            <a:r>
              <a:rPr lang="en-US" altLang="ko-KR" sz="1200" b="1" dirty="0"/>
              <a:t>Software:</a:t>
            </a:r>
            <a:r>
              <a:rPr lang="en-US" altLang="ko-KR" sz="1200" dirty="0"/>
              <a:t> RTEMS 5, FIO (Flexible I/O tester) performance measurement tool</a:t>
            </a:r>
          </a:p>
          <a:p>
            <a:pPr latinLnBrk="1"/>
            <a:r>
              <a:rPr lang="en-US" altLang="ko-KR" sz="1800" dirty="0"/>
              <a:t>Core Test Methodology</a:t>
            </a:r>
            <a:endParaRPr lang="en-US" altLang="ko-KR" sz="1400" dirty="0"/>
          </a:p>
          <a:p>
            <a:pPr lvl="1" latinLnBrk="1"/>
            <a:r>
              <a:rPr lang="en-US" altLang="ko-KR" sz="1200" b="1" dirty="0"/>
              <a:t>RAM-disk:</a:t>
            </a:r>
            <a:r>
              <a:rPr lang="en-US" altLang="ko-KR" sz="1200" dirty="0"/>
              <a:t> Most tests are conducted by creating a virtual disk using a portion of RAM. This is done to eliminate variables from physical storage devices (e.g., SD cards) and purely compare the performance of the software-based file systems themselves.</a:t>
            </a:r>
            <a:endParaRPr lang="en-US" altLang="ko-KR" sz="800" dirty="0"/>
          </a:p>
          <a:p>
            <a:pPr lvl="1" latinLnBrk="1"/>
            <a:r>
              <a:rPr lang="en-US" altLang="ko-KR" sz="1600" dirty="0"/>
              <a:t>Key Variables</a:t>
            </a:r>
          </a:p>
          <a:p>
            <a:pPr lvl="2" latinLnBrk="1"/>
            <a:r>
              <a:rPr lang="en-US" altLang="ko-KR" sz="1200" b="1" dirty="0"/>
              <a:t>I/O Block Size:</a:t>
            </a:r>
            <a:r>
              <a:rPr lang="en-US" altLang="ko-KR" sz="1200" dirty="0"/>
              <a:t> The size of data read or written in a single operation.</a:t>
            </a:r>
          </a:p>
          <a:p>
            <a:pPr lvl="2" latinLnBrk="1"/>
            <a:r>
              <a:rPr lang="en-US" altLang="ko-KR" sz="1200" b="1" dirty="0"/>
              <a:t>I/O Engine</a:t>
            </a:r>
            <a:r>
              <a:rPr lang="en-US" altLang="ko-KR" sz="1200" dirty="0"/>
              <a:t> : The method (API) used to read and write data, such as read() or </a:t>
            </a:r>
            <a:r>
              <a:rPr lang="en-US" altLang="ko-KR" sz="1200" dirty="0" err="1"/>
              <a:t>pread</a:t>
            </a:r>
            <a:r>
              <a:rPr lang="en-US" altLang="ko-KR" sz="1200" dirty="0"/>
              <a:t>().</a:t>
            </a:r>
          </a:p>
          <a:p>
            <a:pPr lvl="2" latinLnBrk="1"/>
            <a:r>
              <a:rPr lang="en-US" altLang="ko-KR" sz="1600" b="1" dirty="0"/>
              <a:t>Cache Size:</a:t>
            </a:r>
            <a:r>
              <a:rPr lang="en-US" altLang="ko-KR" sz="1600" dirty="0"/>
              <a:t> The size of the block buffer cache.</a:t>
            </a:r>
            <a:endParaRPr lang="en-US" altLang="ko-KR" sz="20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129940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C6AC8-8811-DF0E-1DC9-B044426779DF}"/>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A3A3FACC-C9A0-A065-7BDB-099F9D2073DB}"/>
              </a:ext>
            </a:extLst>
          </p:cNvPr>
          <p:cNvSpPr>
            <a:spLocks noGrp="1" noChangeArrowheads="1"/>
          </p:cNvSpPr>
          <p:nvPr>
            <p:ph type="title"/>
          </p:nvPr>
        </p:nvSpPr>
        <p:spPr/>
        <p:txBody>
          <a:bodyPr/>
          <a:lstStyle/>
          <a:p>
            <a:r>
              <a:rPr lang="en-US" altLang="ko-KR" sz="3200" dirty="0"/>
              <a:t>Results : RFS &amp; DOSFS</a:t>
            </a:r>
          </a:p>
        </p:txBody>
      </p:sp>
      <p:sp>
        <p:nvSpPr>
          <p:cNvPr id="7" name="Rectangle 3">
            <a:extLst>
              <a:ext uri="{FF2B5EF4-FFF2-40B4-BE49-F238E27FC236}">
                <a16:creationId xmlns:a16="http://schemas.microsoft.com/office/drawing/2014/main" id="{48FC2BA7-3034-F241-7155-A608487276AE}"/>
              </a:ext>
            </a:extLst>
          </p:cNvPr>
          <p:cNvSpPr txBox="1">
            <a:spLocks noChangeArrowheads="1"/>
          </p:cNvSpPr>
          <p:nvPr/>
        </p:nvSpPr>
        <p:spPr bwMode="auto">
          <a:xfrm>
            <a:off x="713236" y="1408113"/>
            <a:ext cx="803592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dirty="0"/>
              <a:t>Performance improves as the block size increases</a:t>
            </a:r>
          </a:p>
          <a:p>
            <a:pPr lvl="1" latinLnBrk="1"/>
            <a:r>
              <a:rPr lang="en-US" altLang="ko-KR" sz="1200" dirty="0"/>
              <a:t>For both RFS and DOSFS, the larger the amount of data processed at once (I/O block size), the greater the throughput (bandwidth) increases.</a:t>
            </a:r>
          </a:p>
          <a:p>
            <a:pPr lvl="1" latinLnBrk="1"/>
            <a:r>
              <a:rPr lang="en-US" altLang="ko-KR" sz="1200" dirty="0"/>
              <a:t>Requesting a large amount of data in a single operation is far more effective than requesting small amounts of data multiple times, as it results in less system call overhead.</a:t>
            </a:r>
          </a:p>
          <a:p>
            <a:pPr latinLnBrk="1"/>
            <a:r>
              <a:rPr lang="en-US" altLang="ko-KR" sz="1600" dirty="0"/>
              <a:t>RFS is the fastest in native I/O.</a:t>
            </a:r>
            <a:endParaRPr lang="en-US" altLang="ko-KR" sz="1600" kern="0" dirty="0"/>
          </a:p>
          <a:p>
            <a:pPr lvl="1" latinLnBrk="1"/>
            <a:r>
              <a:rPr lang="en-US" altLang="ko-KR" sz="1200" kern="0" dirty="0"/>
              <a:t>In the case of RFS, the sync engine, which uses the basic read()/write() functions, exhibits the best performance.</a:t>
            </a:r>
          </a:p>
          <a:p>
            <a:pPr lvl="1" latinLnBrk="1"/>
            <a:r>
              <a:rPr lang="en-US" altLang="ko-KR" sz="1200" kern="0" dirty="0"/>
              <a:t>This is because POSIX functions in RTEMS, such as </a:t>
            </a:r>
            <a:r>
              <a:rPr lang="en-US" altLang="ko-KR" sz="1200" kern="0" dirty="0" err="1"/>
              <a:t>pread</a:t>
            </a:r>
            <a:r>
              <a:rPr lang="en-US" altLang="ko-KR" sz="1200" kern="0" dirty="0"/>
              <a:t>() and </a:t>
            </a:r>
            <a:r>
              <a:rPr lang="en-US" altLang="ko-KR" sz="1200" kern="0" dirty="0" err="1"/>
              <a:t>readv</a:t>
            </a:r>
            <a:r>
              <a:rPr lang="en-US" altLang="ko-KR" sz="1200" kern="0" dirty="0"/>
              <a:t>(), are implemented internally by repeatedly calling read(), which creates additional overhead.</a:t>
            </a:r>
          </a:p>
          <a:p>
            <a:pPr lvl="1" latinLnBrk="1"/>
            <a:endParaRPr lang="en-US" altLang="ko-KR" sz="1200" kern="0" dirty="0"/>
          </a:p>
          <a:p>
            <a:pPr lvl="1" latinLnBrk="1"/>
            <a:endParaRPr lang="en-US" altLang="ko-KR" sz="12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pic>
        <p:nvPicPr>
          <p:cNvPr id="3" name="그림 2" descr="텍스트, 스크린샷, 폰트, 라인이(가) 표시된 사진&#10;&#10;AI 생성 콘텐츠는 정확하지 않을 수 있습니다.">
            <a:extLst>
              <a:ext uri="{FF2B5EF4-FFF2-40B4-BE49-F238E27FC236}">
                <a16:creationId xmlns:a16="http://schemas.microsoft.com/office/drawing/2014/main" id="{03397B0A-7FA5-9352-3206-9540AD44A8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1747" y="4495800"/>
            <a:ext cx="2217051" cy="1600200"/>
          </a:xfrm>
          <a:prstGeom prst="rect">
            <a:avLst/>
          </a:prstGeom>
        </p:spPr>
      </p:pic>
      <p:pic>
        <p:nvPicPr>
          <p:cNvPr id="5" name="그림 4" descr="텍스트, 스크린샷, 도표, 그래프이(가) 표시된 사진&#10;&#10;AI 생성 콘텐츠는 정확하지 않을 수 있습니다.">
            <a:extLst>
              <a:ext uri="{FF2B5EF4-FFF2-40B4-BE49-F238E27FC236}">
                <a16:creationId xmlns:a16="http://schemas.microsoft.com/office/drawing/2014/main" id="{2ABB9755-64C5-FD90-51AE-D7ABF36200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2673" y="4495800"/>
            <a:ext cx="2217052" cy="1600200"/>
          </a:xfrm>
          <a:prstGeom prst="rect">
            <a:avLst/>
          </a:prstGeom>
        </p:spPr>
      </p:pic>
      <p:pic>
        <p:nvPicPr>
          <p:cNvPr id="8" name="그림 7" descr="텍스트, 스크린샷이(가) 표시된 사진&#10;&#10;AI 생성 콘텐츠는 정확하지 않을 수 있습니다.">
            <a:extLst>
              <a:ext uri="{FF2B5EF4-FFF2-40B4-BE49-F238E27FC236}">
                <a16:creationId xmlns:a16="http://schemas.microsoft.com/office/drawing/2014/main" id="{95A8889D-6AD1-53B5-6D84-0125CA3D74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3600" y="4495800"/>
            <a:ext cx="2217051" cy="1600200"/>
          </a:xfrm>
          <a:prstGeom prst="rect">
            <a:avLst/>
          </a:prstGeom>
        </p:spPr>
      </p:pic>
    </p:spTree>
    <p:extLst>
      <p:ext uri="{BB962C8B-B14F-4D97-AF65-F5344CB8AC3E}">
        <p14:creationId xmlns:p14="http://schemas.microsoft.com/office/powerpoint/2010/main" val="1957811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8571B-086B-CBAC-D46D-6B0124005A13}"/>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50E20E69-E0E9-5DDA-7CFD-9311E225D403}"/>
              </a:ext>
            </a:extLst>
          </p:cNvPr>
          <p:cNvSpPr>
            <a:spLocks noGrp="1" noChangeArrowheads="1"/>
          </p:cNvSpPr>
          <p:nvPr>
            <p:ph type="title"/>
          </p:nvPr>
        </p:nvSpPr>
        <p:spPr/>
        <p:txBody>
          <a:bodyPr/>
          <a:lstStyle/>
          <a:p>
            <a:r>
              <a:rPr lang="en-US" altLang="ko-KR" sz="2800" dirty="0"/>
              <a:t>Results : JFFS2 vs YAFFS2,cache size effect</a:t>
            </a:r>
          </a:p>
        </p:txBody>
      </p:sp>
      <p:sp>
        <p:nvSpPr>
          <p:cNvPr id="7" name="Rectangle 3">
            <a:extLst>
              <a:ext uri="{FF2B5EF4-FFF2-40B4-BE49-F238E27FC236}">
                <a16:creationId xmlns:a16="http://schemas.microsoft.com/office/drawing/2014/main" id="{3B7F6A09-143A-F548-9CD6-0E84B495553B}"/>
              </a:ext>
            </a:extLst>
          </p:cNvPr>
          <p:cNvSpPr txBox="1">
            <a:spLocks noChangeArrowheads="1"/>
          </p:cNvSpPr>
          <p:nvPr/>
        </p:nvSpPr>
        <p:spPr bwMode="auto">
          <a:xfrm>
            <a:off x="554037" y="1520825"/>
            <a:ext cx="8035925" cy="306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dirty="0"/>
              <a:t>YAFFS2 is generally faster than JFFS2.</a:t>
            </a:r>
          </a:p>
          <a:p>
            <a:pPr lvl="1" latinLnBrk="1"/>
            <a:r>
              <a:rPr lang="en-US" altLang="ko-KR" sz="1200" dirty="0"/>
              <a:t>Benchmark results show that YAFFS2 delivers higher performance than JFFS2.</a:t>
            </a:r>
          </a:p>
          <a:p>
            <a:pPr lvl="1" latinLnBrk="1"/>
            <a:r>
              <a:rPr lang="en-US" altLang="ko-KR" sz="1200" dirty="0"/>
              <a:t>This is due to YAFFS2's more efficient garbage collection method and its lack of a data compression feature, resulting in lower CPU overhead</a:t>
            </a:r>
          </a:p>
          <a:p>
            <a:pPr latinLnBrk="1"/>
            <a:r>
              <a:rPr lang="en-US" altLang="ko-KR" sz="1600" dirty="0"/>
              <a:t>In JFFS2, the compression feature affects performance.</a:t>
            </a:r>
          </a:p>
          <a:p>
            <a:pPr lvl="1" latinLnBrk="1"/>
            <a:r>
              <a:rPr lang="en-US" altLang="ko-KR" sz="1200" dirty="0"/>
              <a:t>When JFFS2's default data compression feature is turned off, write performance improves noticeably.</a:t>
            </a:r>
            <a:endParaRPr lang="en-US" altLang="ko-KR" sz="1200" kern="0" dirty="0"/>
          </a:p>
          <a:p>
            <a:pPr lvl="1" latinLnBrk="1"/>
            <a:r>
              <a:rPr lang="en-US" altLang="ko-KR" sz="1200" dirty="0"/>
              <a:t>Consider using compression if saving storage space is important, and consider turning it off if speed is the priority.</a:t>
            </a:r>
            <a:endParaRPr lang="en-US" altLang="ko-KR" sz="1200" kern="0" dirty="0"/>
          </a:p>
          <a:p>
            <a:pPr latinLnBrk="1"/>
            <a:r>
              <a:rPr lang="en-US" altLang="ko-KR" sz="1400" dirty="0"/>
              <a:t>IMFS is not affected by the cache, whereas RFS is sensitive to cache size</a:t>
            </a:r>
            <a:r>
              <a:rPr lang="en-US" altLang="ko-KR" sz="1400" kern="0" dirty="0"/>
              <a:t>.</a:t>
            </a:r>
          </a:p>
          <a:p>
            <a:pPr lvl="1" latinLnBrk="1"/>
            <a:endParaRPr lang="en-US" altLang="ko-KR" sz="1200" kern="0" dirty="0"/>
          </a:p>
          <a:p>
            <a:pPr lvl="1" latinLnBrk="1"/>
            <a:endParaRPr lang="en-US" altLang="ko-KR" sz="12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pic>
        <p:nvPicPr>
          <p:cNvPr id="4" name="그림 3" descr="텍스트, 스크린샷, 라인, 그래프이(가) 표시된 사진&#10;&#10;AI 생성 콘텐츠는 정확하지 않을 수 있습니다.">
            <a:extLst>
              <a:ext uri="{FF2B5EF4-FFF2-40B4-BE49-F238E27FC236}">
                <a16:creationId xmlns:a16="http://schemas.microsoft.com/office/drawing/2014/main" id="{F9D21148-DFBE-60F9-9A36-0CBE1263CC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4295765"/>
            <a:ext cx="2667000" cy="1812232"/>
          </a:xfrm>
          <a:prstGeom prst="rect">
            <a:avLst/>
          </a:prstGeom>
        </p:spPr>
      </p:pic>
      <p:pic>
        <p:nvPicPr>
          <p:cNvPr id="9" name="그림 8" descr="텍스트, 영수증, 라인, 도표이(가) 표시된 사진&#10;&#10;AI 생성 콘텐츠는 정확하지 않을 수 있습니다.">
            <a:extLst>
              <a:ext uri="{FF2B5EF4-FFF2-40B4-BE49-F238E27FC236}">
                <a16:creationId xmlns:a16="http://schemas.microsoft.com/office/drawing/2014/main" id="{A2719A15-E054-7020-4341-6B5893BA09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29200" y="4295765"/>
            <a:ext cx="2667000" cy="1812232"/>
          </a:xfrm>
          <a:prstGeom prst="rect">
            <a:avLst/>
          </a:prstGeom>
        </p:spPr>
      </p:pic>
    </p:spTree>
    <p:extLst>
      <p:ext uri="{BB962C8B-B14F-4D97-AF65-F5344CB8AC3E}">
        <p14:creationId xmlns:p14="http://schemas.microsoft.com/office/powerpoint/2010/main" val="9164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EF1C-509F-9CC7-2788-1109CB0E7D11}"/>
            </a:ext>
          </a:extLst>
        </p:cNvPr>
        <p:cNvGrpSpPr/>
        <p:nvPr/>
      </p:nvGrpSpPr>
      <p:grpSpPr>
        <a:xfrm>
          <a:off x="0" y="0"/>
          <a:ext cx="0" cy="0"/>
          <a:chOff x="0" y="0"/>
          <a:chExt cx="0" cy="0"/>
        </a:xfrm>
      </p:grpSpPr>
      <p:sp>
        <p:nvSpPr>
          <p:cNvPr id="241666" name="Rectangle 2">
            <a:extLst>
              <a:ext uri="{FF2B5EF4-FFF2-40B4-BE49-F238E27FC236}">
                <a16:creationId xmlns:a16="http://schemas.microsoft.com/office/drawing/2014/main" id="{F8F9110F-20F7-210A-4A0D-1797DD9A4B1D}"/>
              </a:ext>
            </a:extLst>
          </p:cNvPr>
          <p:cNvSpPr>
            <a:spLocks noGrp="1" noChangeArrowheads="1"/>
          </p:cNvSpPr>
          <p:nvPr>
            <p:ph type="title"/>
          </p:nvPr>
        </p:nvSpPr>
        <p:spPr/>
        <p:txBody>
          <a:bodyPr/>
          <a:lstStyle/>
          <a:p>
            <a:r>
              <a:rPr lang="en-US" altLang="ko-KR" sz="3200" dirty="0"/>
              <a:t>Conclusion</a:t>
            </a:r>
          </a:p>
        </p:txBody>
      </p:sp>
      <p:sp>
        <p:nvSpPr>
          <p:cNvPr id="7" name="Rectangle 3">
            <a:extLst>
              <a:ext uri="{FF2B5EF4-FFF2-40B4-BE49-F238E27FC236}">
                <a16:creationId xmlns:a16="http://schemas.microsoft.com/office/drawing/2014/main" id="{6ACFB161-53FD-EFB8-6C16-097F1DAB7EE2}"/>
              </a:ext>
            </a:extLst>
          </p:cNvPr>
          <p:cNvSpPr txBox="1">
            <a:spLocks noChangeArrowheads="1"/>
          </p:cNvSpPr>
          <p:nvPr/>
        </p:nvSpPr>
        <p:spPr bwMode="auto">
          <a:xfrm>
            <a:off x="574675" y="1520825"/>
            <a:ext cx="8035925" cy="457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rgbClr val="0000FF"/>
              </a:buClr>
              <a:buFont typeface="Wingdings"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rgbClr val="0000FF"/>
              </a:buClr>
              <a:buFont typeface="Wingdings"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rgbClr val="0000FF"/>
              </a:buClr>
              <a:buFont typeface="Wingdings"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rgbClr val="0000FF"/>
              </a:buClr>
              <a:buFont typeface="Wingdings"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rgbClr val="0000FF"/>
              </a:buClr>
              <a:buFont typeface="Wingdings"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a:lstStyle>
          <a:p>
            <a:pPr marL="0" indent="0" latinLnBrk="1">
              <a:buNone/>
            </a:pPr>
            <a:endParaRPr lang="en-US" altLang="ko-KR" sz="2400" kern="0" dirty="0"/>
          </a:p>
          <a:p>
            <a:pPr latinLnBrk="1"/>
            <a:r>
              <a:rPr lang="en-US" altLang="ko-KR" sz="1600" dirty="0"/>
              <a:t>Architecture: A VFS-centric, Layered, Hybrid Structure</a:t>
            </a:r>
          </a:p>
          <a:p>
            <a:pPr lvl="1" latinLnBrk="1"/>
            <a:r>
              <a:rPr lang="en-US" altLang="ko-KR" sz="1100" b="1" dirty="0"/>
              <a:t>Layered:</a:t>
            </a:r>
            <a:r>
              <a:rPr lang="en-US" altLang="ko-KR" sz="1100" dirty="0"/>
              <a:t> A flexible structure where the Virtual File System (VFS) receives standard POSIX requests from applications and routes them to the appropriate implementation for each file system.</a:t>
            </a:r>
          </a:p>
          <a:p>
            <a:pPr lvl="1" latinLnBrk="1"/>
            <a:r>
              <a:rPr lang="en-US" altLang="ko-KR" sz="1100" b="1" dirty="0"/>
              <a:t>Hybrid:</a:t>
            </a:r>
            <a:r>
              <a:rPr lang="en-US" altLang="ko-KR" sz="1100" dirty="0"/>
              <a:t> An efficient approach that uses the high-speed In-Memory File System (IMFS) on RAM as a base during boot, and expands by mounting file systems that require persistent storage, such as RFS, DOSFS, and JFFS2.</a:t>
            </a:r>
          </a:p>
          <a:p>
            <a:pPr lvl="1" latinLnBrk="1"/>
            <a:r>
              <a:rPr lang="en-US" altLang="ko-KR" sz="1100" b="1" dirty="0"/>
              <a:t>DEVFS:</a:t>
            </a:r>
            <a:r>
              <a:rPr lang="en-US" altLang="ko-KR" sz="1100" dirty="0"/>
              <a:t> Allows hardware devices to be treated as files and standardizes the interaction with device drivers.</a:t>
            </a:r>
          </a:p>
          <a:p>
            <a:pPr latinLnBrk="1"/>
            <a:r>
              <a:rPr lang="en-US" altLang="ko-KR" sz="1600" dirty="0"/>
              <a:t>Performance Analysis: The Key is How You Use It</a:t>
            </a:r>
          </a:p>
          <a:p>
            <a:pPr lvl="1" latinLnBrk="1"/>
            <a:r>
              <a:rPr lang="en-US" altLang="ko-KR" sz="1200" b="1" dirty="0"/>
              <a:t>Block Size:</a:t>
            </a:r>
            <a:r>
              <a:rPr lang="en-US" altLang="ko-KR" sz="1400" dirty="0"/>
              <a:t> </a:t>
            </a:r>
            <a:r>
              <a:rPr lang="en-US" altLang="ko-KR" sz="1200" dirty="0"/>
              <a:t>For all file systems, performance significantly improves as the I/O block size processed in a single operation increases</a:t>
            </a:r>
            <a:r>
              <a:rPr lang="en-US" altLang="ko-KR" sz="1000" dirty="0"/>
              <a:t>.</a:t>
            </a:r>
            <a:endParaRPr lang="en-US" altLang="ko-KR" sz="1000" kern="0" dirty="0"/>
          </a:p>
          <a:p>
            <a:pPr lvl="1" latinLnBrk="1"/>
            <a:r>
              <a:rPr lang="en-US" altLang="ko-KR" sz="1200" b="1" dirty="0"/>
              <a:t>Purpose:</a:t>
            </a:r>
            <a:r>
              <a:rPr lang="en-US" altLang="ko-KR" sz="1200" dirty="0"/>
              <a:t> It is advantageous to choose DOSFS for compatibility, RFS for persistent storage, and YAFFS2/JFFS2 for flash memory reliability.</a:t>
            </a:r>
          </a:p>
          <a:p>
            <a:pPr latinLnBrk="1"/>
            <a:r>
              <a:rPr lang="en-US" altLang="ko-KR" sz="1400" b="1" dirty="0"/>
              <a:t>Conclusion</a:t>
            </a:r>
            <a:r>
              <a:rPr lang="en-US" altLang="ko-KR" sz="1400" dirty="0"/>
              <a:t>: The RTEMS file system provides excellent scalability and portability through its VFS. However, to achieve optimal performance, the careful selection of a file system—taking into account the application's I/O patterns and the characteristics of the target hardware—is essential.</a:t>
            </a:r>
            <a:endParaRPr lang="en-US" altLang="ko-KR" sz="1400" kern="0" dirty="0"/>
          </a:p>
          <a:p>
            <a:pPr lvl="2" latinLnBrk="1"/>
            <a:endParaRPr lang="en-US" altLang="ko-KR" sz="900" kern="0" dirty="0"/>
          </a:p>
          <a:p>
            <a:pPr marL="471487" lvl="1" indent="0" latinLnBrk="1">
              <a:buNone/>
            </a:pPr>
            <a:endParaRPr lang="en-US" altLang="ko-KR" sz="1200" kern="0" dirty="0"/>
          </a:p>
          <a:p>
            <a:pPr lvl="1" latinLnBrk="1"/>
            <a:endParaRPr lang="en-US" altLang="ko-KR" sz="1400" kern="0" dirty="0"/>
          </a:p>
          <a:p>
            <a:pPr lvl="3" latinLnBrk="1"/>
            <a:endParaRPr lang="en-US" altLang="ko-KR" sz="800" kern="0" dirty="0"/>
          </a:p>
          <a:p>
            <a:pPr latinLnBrk="1"/>
            <a:endParaRPr lang="en-US" altLang="ko-KR" sz="2000" kern="0" dirty="0"/>
          </a:p>
        </p:txBody>
      </p:sp>
    </p:spTree>
    <p:extLst>
      <p:ext uri="{BB962C8B-B14F-4D97-AF65-F5344CB8AC3E}">
        <p14:creationId xmlns:p14="http://schemas.microsoft.com/office/powerpoint/2010/main" val="617379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CA56B4-5D5F-60E4-3144-8A79C4A4799F}"/>
              </a:ext>
            </a:extLst>
          </p:cNvPr>
          <p:cNvSpPr>
            <a:spLocks noGrp="1"/>
          </p:cNvSpPr>
          <p:nvPr>
            <p:ph type="title"/>
          </p:nvPr>
        </p:nvSpPr>
        <p:spPr/>
        <p:txBody>
          <a:bodyPr/>
          <a:lstStyle/>
          <a:p>
            <a:r>
              <a:rPr lang="en-US" altLang="ko-KR"/>
              <a:t>Thank You!</a:t>
            </a:r>
            <a:endParaRPr lang="ko-KR" altLang="en-US"/>
          </a:p>
        </p:txBody>
      </p:sp>
      <p:sp>
        <p:nvSpPr>
          <p:cNvPr id="3" name="내용 개체 틀 2">
            <a:extLst>
              <a:ext uri="{FF2B5EF4-FFF2-40B4-BE49-F238E27FC236}">
                <a16:creationId xmlns:a16="http://schemas.microsoft.com/office/drawing/2014/main" id="{D2C2CBBA-B85B-29A1-67D5-0606F2478BB4}"/>
              </a:ext>
            </a:extLst>
          </p:cNvPr>
          <p:cNvSpPr>
            <a:spLocks noGrp="1"/>
          </p:cNvSpPr>
          <p:nvPr>
            <p:ph idx="1"/>
          </p:nvPr>
        </p:nvSpPr>
        <p:spPr/>
        <p:txBody>
          <a:bodyPr/>
          <a:lstStyle/>
          <a:p>
            <a:endParaRPr lang="ko-KR" altLang="en-US"/>
          </a:p>
        </p:txBody>
      </p:sp>
    </p:spTree>
    <p:extLst>
      <p:ext uri="{BB962C8B-B14F-4D97-AF65-F5344CB8AC3E}">
        <p14:creationId xmlns:p14="http://schemas.microsoft.com/office/powerpoint/2010/main" val="4226648464"/>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cs typeface="Arial"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37487</TotalTime>
  <Words>1987</Words>
  <Application>Microsoft Office PowerPoint</Application>
  <PresentationFormat>화면 슬라이드 쇼(4:3)</PresentationFormat>
  <Paragraphs>337</Paragraphs>
  <Slides>18</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18</vt:i4>
      </vt:variant>
    </vt:vector>
  </HeadingPairs>
  <TitlesOfParts>
    <vt:vector size="23" baseType="lpstr">
      <vt:lpstr>굴림</vt:lpstr>
      <vt:lpstr>Arial</vt:lpstr>
      <vt:lpstr>Verdana</vt:lpstr>
      <vt:lpstr>Wingdings</vt:lpstr>
      <vt:lpstr>Profile</vt:lpstr>
      <vt:lpstr> RTEMS Filesystem</vt:lpstr>
      <vt:lpstr>Contents</vt:lpstr>
      <vt:lpstr>Layered File System in RTEMS</vt:lpstr>
      <vt:lpstr>Layered File System in RTEMS</vt:lpstr>
      <vt:lpstr>Mount</vt:lpstr>
      <vt:lpstr>VFS</vt:lpstr>
      <vt:lpstr>Physical File Systems : IMFS</vt:lpstr>
      <vt:lpstr>Physical File Systems : IMFS</vt:lpstr>
      <vt:lpstr>Physical File Systems : Blocked-based</vt:lpstr>
      <vt:lpstr>Physical File Systems : Blocked-based</vt:lpstr>
      <vt:lpstr>Physical File Systems : Flash-based</vt:lpstr>
      <vt:lpstr>Physical File Systems : Flash-based</vt:lpstr>
      <vt:lpstr>DEVFS : All hardware as files</vt:lpstr>
      <vt:lpstr>Performance Analysis Overview</vt:lpstr>
      <vt:lpstr>Results : RFS &amp; DOSFS</vt:lpstr>
      <vt:lpstr>Results : JFFS2 vs YAFFS2,cache size effect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지반함몰 및 액상화에 관한 지하안전 위험도 평가 고도화 기술</dc:title>
  <dc:creator>Jinman Jung</dc:creator>
  <cp:lastModifiedBy>이태우</cp:lastModifiedBy>
  <cp:revision>650</cp:revision>
  <dcterms:created xsi:type="dcterms:W3CDTF">2007-01-20T18:57:48Z</dcterms:created>
  <dcterms:modified xsi:type="dcterms:W3CDTF">2025-08-17T12:38:23Z</dcterms:modified>
</cp:coreProperties>
</file>