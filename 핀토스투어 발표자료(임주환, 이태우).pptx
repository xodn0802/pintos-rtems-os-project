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55"/>
  </p:notesMasterIdLst>
  <p:handoutMasterIdLst>
    <p:handoutMasterId r:id="rId56"/>
  </p:handoutMasterIdLst>
  <p:sldIdLst>
    <p:sldId id="2354" r:id="rId2"/>
    <p:sldId id="2401" r:id="rId3"/>
    <p:sldId id="2407" r:id="rId4"/>
    <p:sldId id="2403" r:id="rId5"/>
    <p:sldId id="2404" r:id="rId6"/>
    <p:sldId id="2405" r:id="rId7"/>
    <p:sldId id="2406" r:id="rId8"/>
    <p:sldId id="2400" r:id="rId9"/>
    <p:sldId id="2389" r:id="rId10"/>
    <p:sldId id="2390" r:id="rId11"/>
    <p:sldId id="2386" r:id="rId12"/>
    <p:sldId id="2387" r:id="rId13"/>
    <p:sldId id="2391" r:id="rId14"/>
    <p:sldId id="2388" r:id="rId15"/>
    <p:sldId id="2392" r:id="rId16"/>
    <p:sldId id="2393" r:id="rId17"/>
    <p:sldId id="2394" r:id="rId18"/>
    <p:sldId id="276" r:id="rId19"/>
    <p:sldId id="277" r:id="rId20"/>
    <p:sldId id="280" r:id="rId21"/>
    <p:sldId id="278" r:id="rId22"/>
    <p:sldId id="279" r:id="rId23"/>
    <p:sldId id="2356" r:id="rId24"/>
    <p:sldId id="2357" r:id="rId25"/>
    <p:sldId id="2358" r:id="rId26"/>
    <p:sldId id="2359" r:id="rId27"/>
    <p:sldId id="2360" r:id="rId28"/>
    <p:sldId id="284" r:id="rId29"/>
    <p:sldId id="2361" r:id="rId30"/>
    <p:sldId id="2362" r:id="rId31"/>
    <p:sldId id="281" r:id="rId32"/>
    <p:sldId id="2364" r:id="rId33"/>
    <p:sldId id="282" r:id="rId34"/>
    <p:sldId id="2410" r:id="rId35"/>
    <p:sldId id="2395" r:id="rId36"/>
    <p:sldId id="283" r:id="rId37"/>
    <p:sldId id="2396" r:id="rId38"/>
    <p:sldId id="2355" r:id="rId39"/>
    <p:sldId id="264" r:id="rId40"/>
    <p:sldId id="271" r:id="rId41"/>
    <p:sldId id="267" r:id="rId42"/>
    <p:sldId id="269" r:id="rId43"/>
    <p:sldId id="272" r:id="rId44"/>
    <p:sldId id="259" r:id="rId45"/>
    <p:sldId id="268" r:id="rId46"/>
    <p:sldId id="274" r:id="rId47"/>
    <p:sldId id="270" r:id="rId48"/>
    <p:sldId id="275" r:id="rId49"/>
    <p:sldId id="2397" r:id="rId50"/>
    <p:sldId id="2399" r:id="rId51"/>
    <p:sldId id="2363" r:id="rId52"/>
    <p:sldId id="2408" r:id="rId53"/>
    <p:sldId id="2409" r:id="rId54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2F2F2"/>
    <a:srgbClr val="A6A6A6"/>
    <a:srgbClr val="0000FF"/>
    <a:srgbClr val="00CCFF"/>
    <a:srgbClr val="BFEAFA"/>
    <a:srgbClr val="00FFFF"/>
    <a:srgbClr val="CCFFFF"/>
    <a:srgbClr val="A3A3E0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E80104-3D71-4FC9-ACFB-6CF849D39873}" v="227" dt="2025-07-03T14:10:39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5" autoAdjust="0"/>
    <p:restoredTop sz="91615" autoAdjust="0"/>
  </p:normalViewPr>
  <p:slideViewPr>
    <p:cSldViewPr>
      <p:cViewPr>
        <p:scale>
          <a:sx n="75" d="100"/>
          <a:sy n="75" d="100"/>
        </p:scale>
        <p:origin x="1075" y="52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1824"/>
    </p:cViewPr>
  </p:sorterViewPr>
  <p:notesViewPr>
    <p:cSldViewPr>
      <p:cViewPr varScale="1">
        <p:scale>
          <a:sx n="72" d="100"/>
          <a:sy n="72" d="100"/>
        </p:scale>
        <p:origin x="-3378" y="-108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fld id="{211E80FD-51A1-4138-B9E7-C62E4F374115}" type="datetimeFigureOut">
              <a:rPr lang="ko-KR" altLang="en-US"/>
              <a:pPr>
                <a:defRPr/>
              </a:pPr>
              <a:t>2025-08-20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Arial" pitchFamily="34" charset="0"/>
              </a:defRPr>
            </a:lvl1pPr>
          </a:lstStyle>
          <a:p>
            <a:pPr>
              <a:defRPr/>
            </a:pPr>
            <a:fld id="{F21F901A-645F-4CDB-97C3-785B6AEAA97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98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691063"/>
            <a:ext cx="54356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3034C4DD-B5F0-4D19-90EF-C93D91509D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22757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버츄얼박스와 우분투를 설치 데모영상입니다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7785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151C8-BC01-923A-9077-A056E38A0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457E08-94A9-948C-FB9D-1BB335324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C30E05-D20C-63D0-F15D-A61C240D3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24ABAD-E206-C8AE-0CDF-70A258D69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5990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C018-1BD6-491A-298B-A6466B74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1E8038-439E-FA95-4E5F-31A7EB87D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49832-6394-D7AF-502A-58B29CE74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21E004-91DE-047B-725E-4D4FA4BD6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8765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0364-BCF9-208B-98CC-06F0BBCC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90B78C-A5DE-46D2-7F4C-B9045399C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2351EA-226C-290B-C651-A9F226EA1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9036F-BA11-08A1-5B41-A3E6567E3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2376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D138A-C521-A3C3-658E-78C28A22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00FD05-639B-A2EF-1542-A00744A83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722D25-9D94-2C5F-3B3C-F5A7D0792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26686E-8E7B-F4C8-C812-F395A7E6E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7726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C003-BFDC-B689-31B3-830466C4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913E14-66B5-18C5-B6C5-3025A6C13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7BACBE-90E0-FA1D-588A-B8D86A273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83E4CC-14C4-50CF-C6C2-C9C5DC2C9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8981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C7A16-533F-BB88-02FC-8A6CEC9E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983576-6F32-6E15-9AC5-6A57C1EB6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2B03F-823D-4646-6263-1321E4692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1228C-55FF-0F28-FCA2-651B52566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875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9B10-AEDE-E04A-915E-50653943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8FC7C0-509F-0B12-5E51-E21803A33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EC1614-E643-9B5D-ABA8-C59906BA1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F88830-0D1B-5804-4DAA-EDFA0E6CD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8511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565BF-AA46-5167-9A25-8C49BF8A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FD2E91-0C6A-66A4-ACF7-9239E92E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3182F-2D93-6120-6A89-6EF4F5A5F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DB150-C777-4D82-EF2B-5F07289F6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0029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15DFD-7EC3-4EC0-AD3C-43797EDF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D934B3-43B2-49F7-7EED-6C048EBED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67934B-FC69-BD5D-0E0A-8193E837A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18859A-7B6F-79DF-F083-1F8F85B5F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072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740828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C836-C9F5-3FD0-9D5A-AC04BB00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318DB2-C628-DB1F-CC29-095161D1C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065F64-C780-2749-1E7B-B6B4B8D72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3B31EC-C7AA-0F2C-D8C8-95C1CB66D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455544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EC24-DB01-B020-240F-7115F228B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B5A233-B5F0-F2D8-3B7F-023736441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1B2518-45B4-D1F5-7667-1C3F3A28F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C80BD-00E1-95B2-501E-7FC401C92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80629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F145-6097-380E-9EEF-0C64ADA4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11BB26-3D20-1212-C8E8-401C986E1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169AE8-7C73-12A8-4B30-45B796F64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3EC17-DF07-4FC3-690D-465774609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56245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631A-6005-4BB7-5961-A78EA841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57AAF-B62F-FFC4-7699-843285565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0349E-8ECC-81C2-FA82-1DDAEF307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8F3568-53A7-C395-9197-C79D55FB6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26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037221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7A5B-7D15-6F56-4453-A2D46943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B0ACB-1EF3-C102-E3F8-4AA1DF3B2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519140-75D2-2058-D28B-8DCD35CC0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E3F96-EE82-FF58-5AB6-96E3EF4CE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27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789505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39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883588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3F759-2A83-8C0F-0425-C162C59B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2D239E-1592-97DF-8398-EFF53661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76C23-FBAA-4361-4AD0-DAA24ED52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E2202-C29E-BC8F-C9C6-CD4407EB1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40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738202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41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40488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8A31-234A-676D-09DC-B43AC3CA4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523255-48DA-FD76-0273-6F4871B37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AF7A3F-8145-41C6-6027-56F94A735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674ED-438F-B3F2-6831-8606BB933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noProof="0" smtClean="0"/>
              <a:pPr/>
              <a:t>42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9179324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B6F6-430E-02E9-333F-649DF35F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A06F5A-B5F6-005D-6A8E-2728AA1D7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E59286-91B8-1E43-4A99-0C5373B13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D484C-106C-7DC7-35D2-73E714A74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34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280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C6E6B-E7F4-EF2C-8B18-AF49318E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490B8C-B677-0549-DEA6-508EE3D46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5E09B-8872-EEE7-A474-F96D4DB1D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69823-01E6-66BA-1745-3BBA12304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3567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F2AD-0918-96D9-16A0-4F7EBC89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FB6597-3EDC-2543-9154-188EC8071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55B668-45E6-390F-29C4-3518BEDA8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9057FF-F25A-2D1F-5033-858EC165F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36D52-512B-47DE-BC94-6C88A56CE986}" type="slidenum">
              <a:rPr lang="en-US" altLang="ko-KR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12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DF11-7C8D-E8FB-70BF-9015FDEA4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DF427D-EDD8-85D5-C05E-513F8CDB4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D2760A-5E28-4CC4-E4B3-BFF86C65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8EC56-7CAF-D59D-F840-7B19D4E72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84385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638B-B93D-A00F-30C9-9975BFE7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DBFCC8-8A3B-65C6-78DD-A97E0F761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707AF2-BF52-A147-7D51-B76418AFB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827B5-7C04-5E3C-1136-AA5DED06C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4C4DD-B5F0-4D19-90EF-C93D91509D9D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5341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316706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20574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584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968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759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909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4F442-0702-4871-9EAF-8F0C083906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87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77BF6-BA3E-4748-B245-534E2C51AF9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532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77BF6-BA3E-4748-B245-534E2C51AF9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030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77BF6-BA3E-4748-B245-534E2C51AF9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926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4D9A6-73D7-4A68-816A-D2C18F85EA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494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CF23F-13E4-46CA-AA3A-B4A7B1C0EC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448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ABB9B-3F09-4AA4-9D80-FA51D0ADB2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992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7972A-6669-4AFE-901C-0750805E26F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7337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8492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AutoShape 7"/>
          <p:cNvSpPr>
            <a:spLocks noChangeArrowheads="1"/>
          </p:cNvSpPr>
          <p:nvPr userDrawn="1"/>
        </p:nvSpPr>
        <p:spPr bwMode="auto">
          <a:xfrm>
            <a:off x="600456" y="1563624"/>
            <a:ext cx="7772400" cy="109537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내용 개체 틀 1"/>
          <p:cNvSpPr>
            <a:spLocks noGrp="1"/>
          </p:cNvSpPr>
          <p:nvPr>
            <p:ph idx="10"/>
          </p:nvPr>
        </p:nvSpPr>
        <p:spPr>
          <a:xfrm>
            <a:off x="566738" y="1752600"/>
            <a:ext cx="8008937" cy="4267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7560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7 h 1000"/>
              <a:gd name="T6" fmla="*/ 0 w 1000"/>
              <a:gd name="T7" fmla="*/ 109537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B3FB860D-F394-48CF-92D0-A8FAD68E8B2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3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rgbClr val="0000FF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yldeCat/pintos-an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ourceforge.net/projects/vcxsrv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ozc2kBd0f--09oayeAolr6Z2NFWAa95z/view?usp=sharing" TargetMode="External"/><Relationship Id="rId2" Type="http://schemas.openxmlformats.org/officeDocument/2006/relationships/hyperlink" Target="https://drive.google.com/file/d/1wYzKqqjt-nlV78I8kweU3nsxHooNpuqt/view?usp=sharing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l9a3UcSzz2m2YDH8YR5jd5BzHmdOz577/view?usp=drive_link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14400"/>
            <a:ext cx="8001000" cy="2057400"/>
          </a:xfrm>
        </p:spPr>
        <p:txBody>
          <a:bodyPr/>
          <a:lstStyle/>
          <a:p>
            <a:pPr algn="ctr" eaLnBrk="1" hangingPunct="1"/>
            <a:br>
              <a:rPr lang="en-US" altLang="ko-KR" sz="2400" b="1">
                <a:ea typeface="굴림" pitchFamily="50" charset="-127"/>
              </a:rPr>
            </a:br>
            <a:r>
              <a:rPr lang="en-US" altLang="ko-KR" sz="3200" b="1">
                <a:ea typeface="굴림" pitchFamily="50" charset="-127"/>
              </a:rPr>
              <a:t>Pintos Tour</a:t>
            </a:r>
            <a:endParaRPr lang="en-US" altLang="ko-KR" sz="3200" b="1" dirty="0">
              <a:ea typeface="굴림" pitchFamily="50" charset="-127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81400"/>
            <a:ext cx="7467600" cy="2895600"/>
          </a:xfrm>
        </p:spPr>
        <p:txBody>
          <a:bodyPr/>
          <a:lstStyle/>
          <a:p>
            <a:pPr algn="ctr" eaLnBrk="1" hangingPunct="1"/>
            <a:r>
              <a:rPr lang="en-US" altLang="ko-KR" sz="2400" b="1">
                <a:ea typeface="굴림" pitchFamily="50" charset="-127"/>
              </a:rPr>
              <a:t>21</a:t>
            </a:r>
            <a:r>
              <a:rPr lang="ko-KR" altLang="en-US" sz="2400" b="1">
                <a:ea typeface="굴림" pitchFamily="50" charset="-127"/>
              </a:rPr>
              <a:t>학번 이태우</a:t>
            </a:r>
            <a:endParaRPr lang="en-US" altLang="ko-KR" sz="2400" b="1">
              <a:ea typeface="굴림" pitchFamily="50" charset="-127"/>
            </a:endParaRPr>
          </a:p>
          <a:p>
            <a:pPr algn="ctr" eaLnBrk="1" hangingPunct="1"/>
            <a:r>
              <a:rPr lang="en-US" altLang="ko-KR" sz="2400" b="1">
                <a:ea typeface="굴림" pitchFamily="50" charset="-127"/>
              </a:rPr>
              <a:t>21</a:t>
            </a:r>
            <a:r>
              <a:rPr lang="ko-KR" altLang="en-US" sz="2400" b="1">
                <a:ea typeface="굴림" pitchFamily="50" charset="-127"/>
              </a:rPr>
              <a:t>학번 임주환</a:t>
            </a:r>
            <a:endParaRPr lang="en-US" altLang="ko-KR" sz="2400" b="1" dirty="0">
              <a:ea typeface="굴림" pitchFamily="50" charset="-127"/>
            </a:endParaRPr>
          </a:p>
        </p:txBody>
      </p:sp>
      <p:pic>
        <p:nvPicPr>
          <p:cNvPr id="4" name="Picture 2" descr="인하대학교 - 위키백과, 우리 모두의 백과사전">
            <a:extLst>
              <a:ext uri="{FF2B5EF4-FFF2-40B4-BE49-F238E27FC236}">
                <a16:creationId xmlns:a16="http://schemas.microsoft.com/office/drawing/2014/main" id="{A5F3B9C5-6384-42D3-ABB0-138DFCFF6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" y="1250749"/>
            <a:ext cx="1629251" cy="175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DCF6-D87B-08D7-557B-A7EA7EF4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44A40-5392-48CE-361C-C460CF66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WSL</a:t>
            </a:r>
            <a:r>
              <a:rPr lang="ko-KR" altLang="en-US" dirty="0"/>
              <a:t>에 </a:t>
            </a:r>
            <a:r>
              <a:rPr lang="en-US" altLang="ko-KR" dirty="0"/>
              <a:t>Pintos </a:t>
            </a:r>
            <a:r>
              <a:rPr lang="ko-KR" altLang="en-US" dirty="0"/>
              <a:t>설치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1E4C2CC9-1FDF-0CF9-2707-ADCB7530F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0" lvl="0" indent="0" rtl="0">
              <a:buNone/>
            </a:pPr>
            <a:endParaRPr lang="en-US" altLang="ko-KR" sz="2000" dirty="0"/>
          </a:p>
          <a:p>
            <a:pPr lvl="0"/>
            <a:r>
              <a:rPr lang="ko-KR" altLang="en-US" sz="2000" dirty="0"/>
              <a:t>설치환경</a:t>
            </a:r>
            <a:endParaRPr lang="en-US" altLang="ko-KR" sz="2000" dirty="0"/>
          </a:p>
          <a:p>
            <a:pPr marL="0" lvl="0" indent="0">
              <a:buNone/>
            </a:pPr>
            <a:r>
              <a:rPr lang="en-US" altLang="ko-KR" sz="2000" dirty="0"/>
              <a:t>   - Window 10</a:t>
            </a:r>
          </a:p>
          <a:p>
            <a:pPr marL="0" indent="0">
              <a:buNone/>
            </a:pPr>
            <a:r>
              <a:rPr lang="en-US" altLang="ko-KR" sz="2000" dirty="0"/>
              <a:t>   - WSL Ubuntu 22.04.5 LTS</a:t>
            </a:r>
          </a:p>
          <a:p>
            <a:pPr marL="0" indent="0">
              <a:buNone/>
            </a:pPr>
            <a:r>
              <a:rPr lang="en-US" altLang="ko-KR" sz="2000" dirty="0"/>
              <a:t>	-Microsoft Store</a:t>
            </a:r>
            <a:r>
              <a:rPr lang="ko-KR" altLang="en-US" sz="2000" dirty="0"/>
              <a:t>에서 </a:t>
            </a:r>
            <a:r>
              <a:rPr lang="en-US" altLang="ko-KR" sz="2000" dirty="0"/>
              <a:t>Ubuntu 22.04 </a:t>
            </a:r>
            <a:r>
              <a:rPr lang="ko-KR" altLang="en-US" sz="2000" dirty="0"/>
              <a:t>설치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2664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66462-CB20-1FF7-07F0-8414D4FC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D6CE7-D649-4986-32B3-8434AF87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WSL</a:t>
            </a:r>
            <a:r>
              <a:rPr lang="ko-KR" altLang="en-US" dirty="0"/>
              <a:t>에 </a:t>
            </a:r>
            <a:r>
              <a:rPr lang="en-US" altLang="ko-KR" dirty="0"/>
              <a:t>Pintos </a:t>
            </a:r>
            <a:r>
              <a:rPr lang="ko-KR" altLang="en-US" dirty="0"/>
              <a:t>설치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316175F2-56FD-1A5A-2972-627C801C6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0" lvl="0" indent="0" rtl="0">
              <a:buNone/>
            </a:pPr>
            <a:endParaRPr lang="en-US" altLang="ko-KR" sz="2000" dirty="0"/>
          </a:p>
          <a:p>
            <a:pPr lvl="0"/>
            <a:r>
              <a:rPr lang="en-US" altLang="ko-KR" sz="1800" dirty="0"/>
              <a:t>1. </a:t>
            </a:r>
            <a:r>
              <a:rPr lang="ko-KR" altLang="en-US" sz="1800" dirty="0"/>
              <a:t>설치한 라이브러리 목록</a:t>
            </a:r>
            <a:endParaRPr lang="en-US" altLang="ko-KR" sz="1800" dirty="0"/>
          </a:p>
          <a:p>
            <a:pPr lvl="1"/>
            <a:r>
              <a:rPr lang="en-US" altLang="ko-KR" sz="1400" dirty="0"/>
              <a:t>$ </a:t>
            </a:r>
            <a:r>
              <a:rPr lang="en-US" altLang="ko-KR" sz="1400" dirty="0" err="1"/>
              <a:t>sudo</a:t>
            </a:r>
            <a:r>
              <a:rPr lang="en-US" altLang="ko-KR" sz="1400" dirty="0"/>
              <a:t> apt-get install </a:t>
            </a:r>
            <a:r>
              <a:rPr lang="en-US" altLang="ko-KR" sz="1400" dirty="0" err="1"/>
              <a:t>qemu</a:t>
            </a:r>
            <a:endParaRPr lang="en-US" altLang="ko-KR" sz="1400" dirty="0"/>
          </a:p>
          <a:p>
            <a:pPr lvl="1"/>
            <a:r>
              <a:rPr lang="en-US" altLang="ko-KR" sz="1400" dirty="0"/>
              <a:t>$ </a:t>
            </a:r>
            <a:r>
              <a:rPr lang="en-US" altLang="ko-KR" sz="1400" dirty="0" err="1"/>
              <a:t>sudo</a:t>
            </a:r>
            <a:r>
              <a:rPr lang="en-US" altLang="ko-KR" sz="1400" dirty="0"/>
              <a:t> apt-get install vim</a:t>
            </a:r>
          </a:p>
          <a:p>
            <a:pPr lvl="1"/>
            <a:r>
              <a:rPr lang="en-US" altLang="ko-KR" sz="1400" dirty="0"/>
              <a:t>$ </a:t>
            </a:r>
            <a:r>
              <a:rPr lang="en-US" altLang="ko-KR" sz="1400" dirty="0" err="1"/>
              <a:t>sudo</a:t>
            </a:r>
            <a:r>
              <a:rPr lang="en-US" altLang="ko-KR" sz="1400" dirty="0"/>
              <a:t> apt install make</a:t>
            </a:r>
          </a:p>
          <a:p>
            <a:pPr lvl="1"/>
            <a:r>
              <a:rPr lang="en-US" altLang="ko-KR" sz="1400" dirty="0"/>
              <a:t>$ </a:t>
            </a:r>
            <a:r>
              <a:rPr lang="en-US" altLang="ko-KR" sz="1400" dirty="0" err="1"/>
              <a:t>sudo</a:t>
            </a:r>
            <a:r>
              <a:rPr lang="en-US" altLang="ko-KR" sz="1400" dirty="0"/>
              <a:t> apt-get install libc6-dev </a:t>
            </a:r>
            <a:r>
              <a:rPr lang="en-US" altLang="ko-KR" sz="1400" dirty="0" err="1"/>
              <a:t>gcc</a:t>
            </a:r>
            <a:r>
              <a:rPr lang="en-US" altLang="ko-KR" sz="1400" dirty="0"/>
              <a:t> g++</a:t>
            </a:r>
          </a:p>
          <a:p>
            <a:pPr lvl="0"/>
            <a:r>
              <a:rPr lang="en-US" altLang="ko-KR" sz="1800" dirty="0"/>
              <a:t>2. Install Pintos source code</a:t>
            </a:r>
          </a:p>
          <a:p>
            <a:pPr lvl="1"/>
            <a:r>
              <a:rPr lang="en-US" altLang="ko-KR" sz="1400" dirty="0">
                <a:hlinkClick r:id="rId2"/>
              </a:rPr>
              <a:t>https://github.com/WyldeCat/pintos-anon</a:t>
            </a:r>
            <a:endParaRPr lang="en-US" altLang="ko-KR" sz="1400" dirty="0"/>
          </a:p>
          <a:p>
            <a:pPr lvl="1"/>
            <a:r>
              <a:rPr lang="ko-KR" altLang="en-US" sz="1400" dirty="0"/>
              <a:t>위에 있는 홈페이지로 들어가서 </a:t>
            </a:r>
            <a:r>
              <a:rPr lang="en-US" altLang="ko-KR" sz="1400" dirty="0"/>
              <a:t>pintos </a:t>
            </a:r>
            <a:r>
              <a:rPr lang="ko-KR" altLang="en-US" sz="1400" dirty="0"/>
              <a:t>파일을 다운받고 </a:t>
            </a:r>
            <a:r>
              <a:rPr lang="en-US" altLang="ko-KR" sz="1100" dirty="0"/>
              <a:t>pintos-anon-</a:t>
            </a:r>
            <a:r>
              <a:rPr lang="en-US" altLang="ko-KR" sz="1100" dirty="0" err="1"/>
              <a:t>maste</a:t>
            </a:r>
            <a:r>
              <a:rPr lang="ko-KR" altLang="en-US" sz="1100" dirty="0"/>
              <a:t>의 이름을 </a:t>
            </a:r>
            <a:r>
              <a:rPr lang="en-US" altLang="ko-KR" sz="1100" dirty="0"/>
              <a:t>pintos</a:t>
            </a:r>
            <a:r>
              <a:rPr lang="ko-KR" altLang="en-US" sz="1100" dirty="0"/>
              <a:t>로 변경하였습니다</a:t>
            </a:r>
            <a:r>
              <a:rPr lang="en-US" altLang="ko-KR" sz="1100" dirty="0"/>
              <a:t>.</a:t>
            </a:r>
          </a:p>
          <a:p>
            <a:pPr lvl="1"/>
            <a:r>
              <a:rPr lang="ko-KR" altLang="en-US" sz="1400" dirty="0"/>
              <a:t>이 후 주소를 입력해야 하는 경우에는 본인의 </a:t>
            </a:r>
            <a:r>
              <a:rPr lang="en-US" altLang="ko-KR" sz="1400" dirty="0"/>
              <a:t>pintos </a:t>
            </a:r>
            <a:r>
              <a:rPr lang="ko-KR" altLang="en-US" sz="1400" dirty="0"/>
              <a:t>디렉토리 절대주소를 입력하였습니다</a:t>
            </a:r>
            <a:r>
              <a:rPr lang="en-US" altLang="ko-KR" sz="1400" dirty="0"/>
              <a:t>.</a:t>
            </a:r>
          </a:p>
          <a:p>
            <a:endParaRPr lang="en-US" altLang="ko-KR" sz="1800" dirty="0"/>
          </a:p>
          <a:p>
            <a:pPr lvl="1"/>
            <a:endParaRPr lang="en-US" altLang="ko-KR" sz="1400" dirty="0"/>
          </a:p>
          <a:p>
            <a:pPr lvl="1"/>
            <a:endParaRPr lang="en-US" altLang="ko-KR" sz="700" dirty="0"/>
          </a:p>
          <a:p>
            <a:pPr lvl="1"/>
            <a:endParaRPr lang="en-US" altLang="ko-KR" sz="7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lv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1653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E7108-DF0D-B97F-70D3-27151FFF4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1FDBA-6D63-ABBF-9A00-6D809B27A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WSL</a:t>
            </a:r>
            <a:r>
              <a:rPr lang="ko-KR" altLang="en-US" dirty="0"/>
              <a:t>에 </a:t>
            </a:r>
            <a:r>
              <a:rPr lang="en-US" altLang="ko-KR" dirty="0"/>
              <a:t>Pintos </a:t>
            </a:r>
            <a:r>
              <a:rPr lang="ko-KR" altLang="en-US" dirty="0"/>
              <a:t>설치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613AB114-7EF9-79BA-E05A-C24847F9C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0" lvl="0" indent="0" rtl="0">
              <a:buNone/>
            </a:pPr>
            <a:endParaRPr lang="en-US" altLang="ko-KR" sz="2000" dirty="0"/>
          </a:p>
          <a:p>
            <a:pPr lvl="0"/>
            <a:r>
              <a:rPr lang="en-US" altLang="ko-KR" sz="2000" dirty="0"/>
              <a:t>3. </a:t>
            </a:r>
            <a:r>
              <a:rPr lang="ko-KR" altLang="en-US" sz="2000" dirty="0"/>
              <a:t>환경설정</a:t>
            </a:r>
            <a:r>
              <a:rPr lang="en-US" altLang="ko-KR" sz="1400" dirty="0"/>
              <a:t>(</a:t>
            </a:r>
            <a:r>
              <a:rPr lang="ko-KR" altLang="en-US" sz="1400" dirty="0"/>
              <a:t>주소를 </a:t>
            </a:r>
            <a:r>
              <a:rPr lang="ko-KR" altLang="en-US" sz="1400" dirty="0" err="1"/>
              <a:t>입력해야하는</a:t>
            </a:r>
            <a:r>
              <a:rPr lang="ko-KR" altLang="en-US" sz="1400" dirty="0"/>
              <a:t>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본인의 </a:t>
            </a:r>
            <a:r>
              <a:rPr lang="en-US" altLang="ko-KR" sz="1400" dirty="0"/>
              <a:t>pintos </a:t>
            </a:r>
            <a:r>
              <a:rPr lang="ko-KR" altLang="en-US" sz="1400" dirty="0"/>
              <a:t>디렉토리 주소를 입력한다</a:t>
            </a:r>
            <a:r>
              <a:rPr lang="en-US" altLang="ko-KR" sz="1400" dirty="0"/>
              <a:t>.)</a:t>
            </a:r>
          </a:p>
          <a:p>
            <a:pPr lvl="1"/>
            <a:r>
              <a:rPr lang="en-US" altLang="ko-KR" sz="1600" dirty="0"/>
              <a:t>Edit GDBMACROS</a:t>
            </a:r>
          </a:p>
          <a:p>
            <a:pPr lvl="1"/>
            <a:r>
              <a:rPr lang="en-US" altLang="ko-KR" sz="1600" dirty="0"/>
              <a:t>Edit </a:t>
            </a:r>
            <a:r>
              <a:rPr lang="en-US" altLang="ko-KR" sz="1600" dirty="0" err="1"/>
              <a:t>Makefile</a:t>
            </a:r>
            <a:endParaRPr lang="en-US" altLang="ko-KR" sz="1600" dirty="0"/>
          </a:p>
          <a:p>
            <a:pPr lvl="1"/>
            <a:r>
              <a:rPr lang="en-US" altLang="ko-KR" sz="1600" dirty="0"/>
              <a:t>Compile Utils Directory</a:t>
            </a:r>
          </a:p>
          <a:p>
            <a:pPr lvl="1"/>
            <a:r>
              <a:rPr lang="en-US" altLang="ko-KR" sz="1600" dirty="0"/>
              <a:t>Edit </a:t>
            </a:r>
            <a:r>
              <a:rPr lang="en-US" altLang="ko-KR" sz="1600" dirty="0" err="1"/>
              <a:t>Make.vars</a:t>
            </a:r>
            <a:endParaRPr lang="en-US" altLang="ko-KR" sz="1600" dirty="0"/>
          </a:p>
          <a:p>
            <a:pPr lvl="1"/>
            <a:r>
              <a:rPr lang="en-US" altLang="ko-KR" sz="1600" dirty="0"/>
              <a:t>Compile Threads Directory</a:t>
            </a:r>
          </a:p>
          <a:p>
            <a:pPr lvl="1"/>
            <a:r>
              <a:rPr lang="en-US" altLang="ko-KR" sz="1600" dirty="0"/>
              <a:t>Edit Pintos, Edit Pintos.pm</a:t>
            </a:r>
          </a:p>
          <a:p>
            <a:pPr lvl="1"/>
            <a:r>
              <a:rPr lang="en-US" altLang="ko-KR" sz="1600" dirty="0"/>
              <a:t>Export utils directory path to PATH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lv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0806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3233-7528-51D3-C3C5-26809369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10F32-6164-8CEE-1A34-BE939A0C9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WSL</a:t>
            </a:r>
            <a:r>
              <a:rPr lang="ko-KR" altLang="en-US" dirty="0"/>
              <a:t>에 </a:t>
            </a:r>
            <a:r>
              <a:rPr lang="en-US" altLang="ko-KR" dirty="0"/>
              <a:t>Pintos </a:t>
            </a:r>
            <a:r>
              <a:rPr lang="ko-KR" altLang="en-US" dirty="0"/>
              <a:t>설치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56E00437-5551-E0DB-B14B-991FE93CD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0" lvl="0" indent="0" rtl="0">
              <a:buNone/>
            </a:pPr>
            <a:endParaRPr lang="en-US" altLang="ko-KR" sz="2000" dirty="0"/>
          </a:p>
          <a:p>
            <a:pPr lvl="0"/>
            <a:r>
              <a:rPr lang="ko-KR" altLang="en-US" sz="1800" dirty="0"/>
              <a:t>문제 </a:t>
            </a:r>
            <a:r>
              <a:rPr lang="en-US" altLang="ko-KR" sz="1800" dirty="0"/>
              <a:t>1</a:t>
            </a:r>
          </a:p>
          <a:p>
            <a:pPr lvl="1"/>
            <a:r>
              <a:rPr lang="en-US" altLang="ko-KR" sz="1400" dirty="0"/>
              <a:t>~/pintos/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/utils </a:t>
            </a:r>
            <a:r>
              <a:rPr lang="ko-KR" altLang="en-US" sz="1400" dirty="0"/>
              <a:t>단계에서 </a:t>
            </a:r>
            <a:r>
              <a:rPr lang="en-US" altLang="ko-KR" sz="1400" dirty="0"/>
              <a:t>make </a:t>
            </a:r>
            <a:r>
              <a:rPr lang="ko-KR" altLang="en-US" sz="1400" dirty="0"/>
              <a:t>실행 시 </a:t>
            </a:r>
            <a:r>
              <a:rPr lang="en-US" altLang="ko-KR" sz="1400" dirty="0"/>
              <a:t>squish-pty.c:10:10: fatal error: </a:t>
            </a:r>
            <a:r>
              <a:rPr lang="en-US" altLang="ko-KR" sz="1400" dirty="0" err="1"/>
              <a:t>stropts.h</a:t>
            </a:r>
            <a:r>
              <a:rPr lang="en-US" altLang="ko-KR" sz="1400" dirty="0"/>
              <a:t>: No such file or directory error </a:t>
            </a:r>
            <a:r>
              <a:rPr lang="ko-KR" altLang="en-US" sz="1400" dirty="0"/>
              <a:t>발생</a:t>
            </a:r>
            <a:endParaRPr lang="en-US" altLang="ko-KR" sz="1400" dirty="0"/>
          </a:p>
          <a:p>
            <a:pPr lvl="1"/>
            <a:r>
              <a:rPr lang="en-US" altLang="ko-KR" sz="1400" dirty="0" err="1"/>
              <a:t>Stropts</a:t>
            </a:r>
            <a:r>
              <a:rPr lang="ko-KR" altLang="en-US" sz="1400" dirty="0"/>
              <a:t>는 오랫동안 </a:t>
            </a:r>
            <a:r>
              <a:rPr lang="en-US" altLang="ko-KR" sz="1400" dirty="0" err="1"/>
              <a:t>linux</a:t>
            </a:r>
            <a:r>
              <a:rPr lang="ko-KR" altLang="en-US" sz="1400" dirty="0"/>
              <a:t>에서 </a:t>
            </a:r>
            <a:r>
              <a:rPr lang="ko-KR" altLang="en-US" sz="1400" dirty="0" err="1"/>
              <a:t>써드파티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프로그렘이</a:t>
            </a:r>
            <a:r>
              <a:rPr lang="ko-KR" altLang="en-US" sz="1400" dirty="0"/>
              <a:t> 아니면 지원하지 않던 라이브러리</a:t>
            </a:r>
            <a:endParaRPr lang="en-US" altLang="ko-KR" sz="1400" dirty="0"/>
          </a:p>
          <a:p>
            <a:r>
              <a:rPr lang="ko-KR" altLang="en-US" sz="1800" dirty="0"/>
              <a:t>해결책</a:t>
            </a:r>
            <a:endParaRPr lang="en-US" altLang="ko-KR" sz="1800" dirty="0"/>
          </a:p>
          <a:p>
            <a:pPr lvl="1"/>
            <a:r>
              <a:rPr lang="en-US" altLang="ko-KR" sz="1400" dirty="0"/>
              <a:t>utils </a:t>
            </a:r>
            <a:r>
              <a:rPr lang="ko-KR" altLang="en-US" sz="1400" dirty="0"/>
              <a:t>폴더의 </a:t>
            </a:r>
            <a:r>
              <a:rPr lang="en-US" altLang="ko-KR" sz="1400" dirty="0"/>
              <a:t>squish-</a:t>
            </a:r>
            <a:r>
              <a:rPr lang="en-US" altLang="ko-KR" sz="1400" dirty="0" err="1"/>
              <a:t>pty.c</a:t>
            </a:r>
            <a:r>
              <a:rPr lang="en-US" altLang="ko-KR" sz="1400" dirty="0"/>
              <a:t> line: 10</a:t>
            </a:r>
            <a:r>
              <a:rPr lang="ko-KR" altLang="en-US" sz="1400" dirty="0"/>
              <a:t>부근의 </a:t>
            </a:r>
            <a:r>
              <a:rPr lang="en-US" altLang="ko-KR" sz="1400" dirty="0"/>
              <a:t>#include &lt;</a:t>
            </a:r>
            <a:r>
              <a:rPr lang="en-US" altLang="ko-KR" sz="1400" dirty="0" err="1"/>
              <a:t>stropts.h</a:t>
            </a:r>
            <a:r>
              <a:rPr lang="en-US" altLang="ko-KR" sz="1400" dirty="0"/>
              <a:t>&gt;</a:t>
            </a:r>
            <a:r>
              <a:rPr lang="ko-KR" altLang="en-US" sz="1400" dirty="0"/>
              <a:t>를 주석처리 하고 </a:t>
            </a:r>
            <a:r>
              <a:rPr lang="en-US" altLang="ko-KR" sz="1400" dirty="0"/>
              <a:t>line: 290</a:t>
            </a:r>
            <a:r>
              <a:rPr lang="ko-KR" altLang="en-US" sz="1400" dirty="0"/>
              <a:t> 부근의 </a:t>
            </a:r>
            <a:r>
              <a:rPr lang="en-US" altLang="ko-KR" sz="1400" dirty="0"/>
              <a:t>if </a:t>
            </a:r>
            <a:r>
              <a:rPr lang="ko-KR" altLang="en-US" sz="1400" dirty="0"/>
              <a:t>구문도 주석 처리해줍니다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Utils </a:t>
            </a:r>
            <a:r>
              <a:rPr lang="ko-KR" altLang="en-US" sz="1400" dirty="0"/>
              <a:t>폴더의 </a:t>
            </a:r>
            <a:r>
              <a:rPr lang="en-US" altLang="ko-KR" sz="1400" dirty="0"/>
              <a:t>squish-</a:t>
            </a:r>
            <a:r>
              <a:rPr lang="en-US" altLang="ko-KR" sz="1400" dirty="0" err="1"/>
              <a:t>unix.c</a:t>
            </a:r>
            <a:r>
              <a:rPr lang="ko-KR" altLang="en-US" sz="1400" dirty="0"/>
              <a:t>에서도 라인 </a:t>
            </a:r>
            <a:r>
              <a:rPr lang="en-US" altLang="ko-KR" sz="1400" dirty="0"/>
              <a:t>11 </a:t>
            </a:r>
            <a:r>
              <a:rPr lang="ko-KR" altLang="en-US" sz="1400" dirty="0"/>
              <a:t>부근의 </a:t>
            </a:r>
            <a:r>
              <a:rPr lang="en-US" altLang="ko-KR" sz="1400" dirty="0"/>
              <a:t>#include</a:t>
            </a:r>
            <a:r>
              <a:rPr lang="ko-KR" altLang="en-US" sz="1400" dirty="0"/>
              <a:t> </a:t>
            </a:r>
            <a:r>
              <a:rPr lang="en-US" altLang="ko-KR" sz="1400" dirty="0"/>
              <a:t>&lt;</a:t>
            </a:r>
            <a:r>
              <a:rPr lang="en-US" altLang="ko-KR" sz="1400" dirty="0" err="1"/>
              <a:t>strops.h</a:t>
            </a:r>
            <a:r>
              <a:rPr lang="en-US" altLang="ko-KR" sz="1400" dirty="0"/>
              <a:t>&gt;</a:t>
            </a:r>
            <a:r>
              <a:rPr lang="ko-KR" altLang="en-US" sz="1400" dirty="0"/>
              <a:t>를 주석 처리합니다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lv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419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450B-F2A5-543E-AD9F-A911BFA8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DC302-6711-0924-BA23-5ECC262E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WSL</a:t>
            </a:r>
            <a:r>
              <a:rPr lang="ko-KR" altLang="en-US" dirty="0"/>
              <a:t>에 </a:t>
            </a:r>
            <a:r>
              <a:rPr lang="en-US" altLang="ko-KR" dirty="0"/>
              <a:t>Pintos </a:t>
            </a:r>
            <a:r>
              <a:rPr lang="ko-KR" altLang="en-US" dirty="0"/>
              <a:t>설치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1EF9BB38-A6EB-5D70-AB06-4A79E1F16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0" lvl="0" indent="0" rtl="0">
              <a:buNone/>
            </a:pPr>
            <a:endParaRPr lang="en-US" altLang="ko-KR" sz="2000" dirty="0"/>
          </a:p>
          <a:p>
            <a:pPr lvl="0"/>
            <a:r>
              <a:rPr lang="ko-KR" altLang="en-US" sz="1800" dirty="0"/>
              <a:t>문제 </a:t>
            </a:r>
            <a:r>
              <a:rPr lang="en-US" altLang="ko-KR" sz="1800" dirty="0"/>
              <a:t>2</a:t>
            </a:r>
          </a:p>
          <a:p>
            <a:pPr lvl="1"/>
            <a:r>
              <a:rPr lang="en-US" altLang="ko-KR" sz="1400" dirty="0"/>
              <a:t>Can't exec "qemu-system-i386": No such file or directory at /home/</a:t>
            </a:r>
            <a:r>
              <a:rPr lang="en-US" altLang="ko-KR" sz="1400" dirty="0" err="1"/>
              <a:t>teo</a:t>
            </a:r>
            <a:r>
              <a:rPr lang="en-US" altLang="ko-KR" sz="1400" dirty="0"/>
              <a:t>/pintos-project/pintos/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/utils/pintos line 927. command failed error </a:t>
            </a:r>
            <a:r>
              <a:rPr lang="ko-KR" altLang="en-US" sz="1400" dirty="0"/>
              <a:t>발생</a:t>
            </a:r>
            <a:endParaRPr lang="en-US" altLang="ko-KR" sz="1400" dirty="0"/>
          </a:p>
          <a:p>
            <a:pPr lvl="1"/>
            <a:r>
              <a:rPr lang="en-US" altLang="ko-KR" sz="1400" dirty="0"/>
              <a:t>Pintos</a:t>
            </a:r>
            <a:r>
              <a:rPr lang="ko-KR" altLang="en-US" sz="1400" dirty="0"/>
              <a:t>가 요구하는 정확한 이름의 </a:t>
            </a:r>
            <a:r>
              <a:rPr lang="en-US" altLang="ko-KR" sz="1400" dirty="0"/>
              <a:t>32</a:t>
            </a:r>
            <a:r>
              <a:rPr lang="ko-KR" altLang="en-US" sz="1400" dirty="0"/>
              <a:t>비트용 실행파일</a:t>
            </a:r>
            <a:r>
              <a:rPr lang="en-US" altLang="ko-KR" sz="1400" dirty="0"/>
              <a:t>(qemu-system-i386)</a:t>
            </a:r>
            <a:r>
              <a:rPr lang="ko-KR" altLang="en-US" sz="1400" dirty="0"/>
              <a:t>이 설치되지 않은 경우 발생하는 에러</a:t>
            </a:r>
            <a:endParaRPr lang="en-US" altLang="ko-KR" sz="1400" dirty="0"/>
          </a:p>
          <a:p>
            <a:r>
              <a:rPr lang="ko-KR" altLang="en-US" sz="1800" dirty="0"/>
              <a:t>해결책</a:t>
            </a:r>
            <a:endParaRPr lang="en-US" altLang="ko-KR" sz="1800" dirty="0"/>
          </a:p>
          <a:p>
            <a:pPr lvl="1"/>
            <a:r>
              <a:rPr lang="en-US" altLang="ko-KR" sz="1400" dirty="0" err="1"/>
              <a:t>sudo</a:t>
            </a:r>
            <a:r>
              <a:rPr lang="en-US" altLang="ko-KR" sz="1400" dirty="0"/>
              <a:t> apt-get install qemu-system-x86</a:t>
            </a:r>
          </a:p>
          <a:p>
            <a:pPr lvl="1"/>
            <a:r>
              <a:rPr lang="en-US" altLang="ko-KR" sz="1400" dirty="0"/>
              <a:t>Sudo </a:t>
            </a:r>
            <a:r>
              <a:rPr lang="ko-KR" altLang="en-US" sz="1400" dirty="0"/>
              <a:t>명령어를 이용해서 관련 패키지 설치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	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lv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1323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0D49-6880-9FBC-4041-D357FD56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652C4-066A-F7ED-1409-0E45E1B6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WSL</a:t>
            </a:r>
            <a:r>
              <a:rPr lang="ko-KR" altLang="en-US" dirty="0"/>
              <a:t>에 </a:t>
            </a:r>
            <a:r>
              <a:rPr lang="en-US" altLang="ko-KR" dirty="0"/>
              <a:t>Pintos </a:t>
            </a:r>
            <a:r>
              <a:rPr lang="ko-KR" altLang="en-US" dirty="0"/>
              <a:t>설치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6B19BE31-7FF0-9B37-FA96-DB2ECA343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0" lvl="0" indent="0" rtl="0">
              <a:buNone/>
            </a:pPr>
            <a:endParaRPr lang="en-US" altLang="ko-KR" sz="2000" dirty="0"/>
          </a:p>
          <a:p>
            <a:pPr lvl="0"/>
            <a:r>
              <a:rPr lang="ko-KR" altLang="en-US" sz="1800" dirty="0"/>
              <a:t>문제 </a:t>
            </a:r>
            <a:r>
              <a:rPr lang="en-US" altLang="ko-KR" sz="1800" dirty="0"/>
              <a:t>3</a:t>
            </a:r>
          </a:p>
          <a:p>
            <a:pPr lvl="1"/>
            <a:r>
              <a:rPr lang="en-US" altLang="ko-KR" sz="1400" dirty="0"/>
              <a:t>0.Pintos install.ppt</a:t>
            </a:r>
            <a:r>
              <a:rPr lang="ko-KR" altLang="en-US" sz="1400" dirty="0"/>
              <a:t>에 나온 것처럼 </a:t>
            </a:r>
            <a:r>
              <a:rPr lang="en-US" altLang="ko-KR" sz="1400" dirty="0"/>
              <a:t>pintos -- run alarm-multiple </a:t>
            </a:r>
            <a:r>
              <a:rPr lang="ko-KR" altLang="en-US" sz="1400" dirty="0"/>
              <a:t>명령어 실행 시 </a:t>
            </a:r>
            <a:r>
              <a:rPr lang="en-US" altLang="ko-KR" sz="1400" dirty="0"/>
              <a:t>QEMU </a:t>
            </a:r>
            <a:r>
              <a:rPr lang="ko-KR" altLang="en-US" sz="1400" dirty="0"/>
              <a:t>창이 뜨지 않는 문제 발생</a:t>
            </a:r>
            <a:endParaRPr lang="en-US" altLang="ko-KR" sz="1400" dirty="0"/>
          </a:p>
          <a:p>
            <a:r>
              <a:rPr lang="ko-KR" altLang="en-US" sz="1800" dirty="0"/>
              <a:t>해결책</a:t>
            </a:r>
            <a:endParaRPr lang="en-US" altLang="ko-KR" sz="1800" dirty="0"/>
          </a:p>
          <a:p>
            <a:pPr lvl="1"/>
            <a:r>
              <a:rPr lang="en-US" altLang="ko-KR" sz="1400" dirty="0">
                <a:hlinkClick r:id="rId2"/>
              </a:rPr>
              <a:t>https://sourceforge.net/projects/vcxsrv/</a:t>
            </a:r>
            <a:endParaRPr lang="en-US" altLang="ko-KR" sz="1400" dirty="0"/>
          </a:p>
          <a:p>
            <a:pPr lvl="1"/>
            <a:r>
              <a:rPr lang="ko-KR" altLang="en-US" sz="1400" dirty="0"/>
              <a:t>위의 홈페이지에 접속해서 </a:t>
            </a:r>
            <a:r>
              <a:rPr lang="en-US" altLang="ko-KR" sz="1400" dirty="0" err="1"/>
              <a:t>VcXsrc</a:t>
            </a:r>
            <a:r>
              <a:rPr lang="en-US" altLang="ko-KR" sz="1400" dirty="0"/>
              <a:t> </a:t>
            </a:r>
            <a:r>
              <a:rPr lang="ko-KR" altLang="en-US" sz="1400" dirty="0"/>
              <a:t>설치하고 </a:t>
            </a:r>
            <a:r>
              <a:rPr lang="en-US" altLang="ko-KR" sz="1400" dirty="0" err="1"/>
              <a:t>XLaunch</a:t>
            </a:r>
            <a:r>
              <a:rPr lang="ko-KR" altLang="en-US" sz="1400" dirty="0"/>
              <a:t>실행시키고 </a:t>
            </a:r>
            <a:r>
              <a:rPr lang="en-US" altLang="ko-KR" sz="1400" dirty="0"/>
              <a:t>WSL</a:t>
            </a:r>
            <a:r>
              <a:rPr lang="ko-KR" altLang="en-US" sz="1400" dirty="0"/>
              <a:t>에 </a:t>
            </a:r>
            <a:r>
              <a:rPr lang="en-US" altLang="ko-KR" sz="1400" dirty="0"/>
              <a:t>X</a:t>
            </a:r>
            <a:r>
              <a:rPr lang="ko-KR" altLang="en-US" sz="1400" dirty="0"/>
              <a:t>의 주소를 알려주어서 해결하였습니다</a:t>
            </a:r>
            <a:r>
              <a:rPr lang="en-US" altLang="ko-KR" sz="1400"/>
              <a:t>.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2000" dirty="0"/>
              <a:t>	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lv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5276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5457C-022B-2092-627E-648DAC20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F69CE-AF38-58CD-8D31-C02C5B299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타이머 관리와 인터럽트 처리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A0B2C3AF-B742-EA30-FD01-F6C7B59B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lvl="0" rtl="0"/>
            <a:r>
              <a:rPr lang="ko-KR" altLang="en-US" sz="2000" dirty="0"/>
              <a:t>타이머</a:t>
            </a:r>
            <a:endParaRPr lang="en-US" altLang="ko-KR" sz="2000" dirty="0"/>
          </a:p>
          <a:p>
            <a:pPr marL="0" lvl="0" indent="0" rtl="0">
              <a:buNone/>
            </a:pPr>
            <a:r>
              <a:rPr lang="en-US" altLang="ko-KR" sz="2000" dirty="0"/>
              <a:t>   - </a:t>
            </a:r>
            <a:r>
              <a:rPr lang="en-US" altLang="ko-KR" sz="2000" dirty="0" err="1"/>
              <a:t>timer_sleep</a:t>
            </a:r>
            <a:r>
              <a:rPr lang="en-US" altLang="ko-KR" sz="2000" dirty="0"/>
              <a:t>()</a:t>
            </a:r>
          </a:p>
          <a:p>
            <a:pPr marL="0" lvl="0" indent="0" rtl="0">
              <a:buNone/>
            </a:pPr>
            <a:endParaRPr lang="en-US" altLang="ko-KR" sz="2000" dirty="0"/>
          </a:p>
          <a:p>
            <a:pPr lvl="0"/>
            <a:r>
              <a:rPr lang="ko-KR" altLang="en-US" sz="2000" dirty="0"/>
              <a:t>인터럽트 처리</a:t>
            </a:r>
            <a:endParaRPr lang="en-US" altLang="ko-KR" sz="2000" dirty="0"/>
          </a:p>
          <a:p>
            <a:pPr marL="0" lvl="0" indent="0">
              <a:buNone/>
            </a:pPr>
            <a:r>
              <a:rPr lang="en-US" altLang="ko-KR" sz="2000" dirty="0"/>
              <a:t>   - </a:t>
            </a:r>
            <a:r>
              <a:rPr lang="en-US" altLang="ko-KR" sz="2000" dirty="0" err="1"/>
              <a:t>Internel</a:t>
            </a:r>
            <a:r>
              <a:rPr lang="ko-KR" altLang="en-US" sz="2000" dirty="0"/>
              <a:t> </a:t>
            </a:r>
            <a:r>
              <a:rPr lang="en-US" altLang="ko-KR" sz="2000" dirty="0"/>
              <a:t>/</a:t>
            </a:r>
            <a:r>
              <a:rPr lang="ko-KR" altLang="en-US" sz="2000" dirty="0"/>
              <a:t> </a:t>
            </a:r>
            <a:r>
              <a:rPr lang="en-US" altLang="ko-KR" sz="2000" dirty="0" err="1"/>
              <a:t>Externel</a:t>
            </a:r>
            <a:r>
              <a:rPr lang="ko-KR" altLang="en-US" sz="2000" dirty="0"/>
              <a:t> </a:t>
            </a:r>
            <a:r>
              <a:rPr lang="en-US" altLang="ko-KR" sz="2000" dirty="0"/>
              <a:t>Interrupt</a:t>
            </a:r>
          </a:p>
          <a:p>
            <a:pPr marL="0" indent="0">
              <a:buNone/>
            </a:pPr>
            <a:r>
              <a:rPr lang="en-US" altLang="ko-KR" sz="2000" dirty="0"/>
              <a:t>   - </a:t>
            </a:r>
            <a:r>
              <a:rPr lang="ko-KR" altLang="en-US" sz="2000" dirty="0"/>
              <a:t>인터럽트 처리 절차 </a:t>
            </a:r>
            <a:r>
              <a:rPr lang="en-US" altLang="ko-KR" sz="2000" dirty="0"/>
              <a:t>(</a:t>
            </a:r>
            <a:r>
              <a:rPr lang="ko-KR" altLang="en-US" sz="2000" dirty="0"/>
              <a:t>타이머를 예시로</a:t>
            </a:r>
            <a:r>
              <a:rPr lang="en-US" altLang="ko-KR" sz="2000" dirty="0"/>
              <a:t>)</a:t>
            </a:r>
            <a:endParaRPr lang="ko-KR" altLang="en-US" sz="2000" dirty="0"/>
          </a:p>
          <a:p>
            <a:pPr marL="342900" lvl="1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0865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A374B-5B3C-0828-4B42-24E774D0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DFEBE0EA-3EF0-8206-9D3E-CEB61B270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err="1"/>
              <a:t>timer_sleep</a:t>
            </a:r>
            <a:endParaRPr lang="en-US" altLang="ko-KR" sz="3200" dirty="0"/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5A45FD6C-0BB8-9027-BCBD-1AB3F982C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  <a:p>
            <a:r>
              <a:rPr lang="en-US" altLang="ko-KR" sz="1400" dirty="0" err="1">
                <a:latin typeface="Consolas" panose="020B0609020204030204" pitchFamily="49" charset="0"/>
              </a:rPr>
              <a:t>timer_sleep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latin typeface="Consolas" panose="020B0609020204030204" pitchFamily="49" charset="0"/>
              </a:rPr>
              <a:t>함수는 </a:t>
            </a:r>
            <a:r>
              <a:rPr lang="en-US" altLang="ko-KR" sz="1400" dirty="0" err="1">
                <a:latin typeface="Consolas" panose="020B0609020204030204" pitchFamily="49" charset="0"/>
              </a:rPr>
              <a:t>thread_yield</a:t>
            </a:r>
            <a:r>
              <a:rPr lang="en-US" altLang="ko-KR" sz="1400" dirty="0">
                <a:latin typeface="Consolas" panose="020B0609020204030204" pitchFamily="49" charset="0"/>
              </a:rPr>
              <a:t>()</a:t>
            </a:r>
            <a:r>
              <a:rPr lang="ko-KR" altLang="en-US" sz="1400" dirty="0">
                <a:latin typeface="Consolas" panose="020B0609020204030204" pitchFamily="49" charset="0"/>
              </a:rPr>
              <a:t>를 반복 호출하며 </a:t>
            </a:r>
            <a:r>
              <a:rPr lang="en-US" altLang="ko-KR" sz="1400" dirty="0">
                <a:latin typeface="Consolas" panose="020B0609020204030204" pitchFamily="49" charset="0"/>
              </a:rPr>
              <a:t>Busy-Wait </a:t>
            </a:r>
            <a:r>
              <a:rPr lang="ko-KR" altLang="en-US" sz="1400" dirty="0">
                <a:latin typeface="Consolas" panose="020B0609020204030204" pitchFamily="49" charset="0"/>
              </a:rPr>
              <a:t>방식으로 동작한다</a:t>
            </a:r>
            <a:r>
              <a:rPr lang="en-US" altLang="ko-KR" sz="1400" dirty="0">
                <a:latin typeface="Consolas" panose="020B0609020204030204" pitchFamily="49" charset="0"/>
              </a:rPr>
              <a:t>.</a:t>
            </a:r>
          </a:p>
          <a:p>
            <a:pPr marL="909637" lvl="2" indent="0" latinLnBrk="1">
              <a:buNone/>
            </a:pPr>
            <a:endParaRPr lang="en-US" altLang="ko-KR" sz="9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marL="0" indent="0" latinLnBrk="1">
              <a:buNone/>
            </a:pPr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1D0E17-3775-82D4-E05D-7AC0A5643371}"/>
              </a:ext>
            </a:extLst>
          </p:cNvPr>
          <p:cNvSpPr/>
          <p:nvPr/>
        </p:nvSpPr>
        <p:spPr>
          <a:xfrm>
            <a:off x="574675" y="2743200"/>
            <a:ext cx="7772400" cy="3165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Consolas" panose="020B0609020204030204" pitchFamily="49" charset="0"/>
              </a:rPr>
              <a:t>91      {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n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92        int64_t start = </a:t>
            </a:r>
            <a:r>
              <a:rPr lang="en-US" altLang="ko-KR" sz="2000" dirty="0" err="1">
                <a:latin typeface="Consolas" panose="020B0609020204030204" pitchFamily="49" charset="0"/>
              </a:rPr>
              <a:t>timer_ticks</a:t>
            </a:r>
            <a:r>
              <a:rPr lang="en-US" altLang="ko-KR" sz="2000" dirty="0">
                <a:latin typeface="Consolas" panose="020B0609020204030204" pitchFamily="49" charset="0"/>
              </a:rPr>
              <a:t> ();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n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94        ASSERT (</a:t>
            </a:r>
            <a:r>
              <a:rPr lang="en-US" altLang="ko-KR" sz="2000" dirty="0" err="1">
                <a:latin typeface="Consolas" panose="020B0609020204030204" pitchFamily="49" charset="0"/>
              </a:rPr>
              <a:t>intr_get_level</a:t>
            </a:r>
            <a:r>
              <a:rPr lang="en-US" altLang="ko-KR" sz="2000" dirty="0">
                <a:latin typeface="Consolas" panose="020B0609020204030204" pitchFamily="49" charset="0"/>
              </a:rPr>
              <a:t> () == INTR_ON);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95        while (</a:t>
            </a:r>
            <a:r>
              <a:rPr lang="en-US" altLang="ko-KR" sz="2000" dirty="0" err="1">
                <a:latin typeface="Consolas" panose="020B0609020204030204" pitchFamily="49" charset="0"/>
              </a:rPr>
              <a:t>timer_elapsed</a:t>
            </a:r>
            <a:r>
              <a:rPr lang="en-US" altLang="ko-KR" sz="2000" dirty="0">
                <a:latin typeface="Consolas" panose="020B0609020204030204" pitchFamily="49" charset="0"/>
              </a:rPr>
              <a:t> (start) &lt; ticks) 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96          </a:t>
            </a:r>
            <a:r>
              <a:rPr lang="en-US" altLang="ko-KR" sz="2000" dirty="0" err="1">
                <a:solidFill>
                  <a:schemeClr val="accent6"/>
                </a:solidFill>
                <a:latin typeface="Consolas" panose="020B0609020204030204" pitchFamily="49" charset="0"/>
              </a:rPr>
              <a:t>thread_yield</a:t>
            </a:r>
            <a:r>
              <a:rPr lang="en-US" altLang="ko-KR" sz="2000" dirty="0">
                <a:solidFill>
                  <a:schemeClr val="accent6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</a:t>
            </a:r>
            <a:endParaRPr lang="en-US" altLang="ko-KR" sz="2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1B433-71A2-8FA6-37EC-CB41FA4C9E28}"/>
              </a:ext>
            </a:extLst>
          </p:cNvPr>
          <p:cNvSpPr txBox="1"/>
          <p:nvPr/>
        </p:nvSpPr>
        <p:spPr>
          <a:xfrm>
            <a:off x="2209800" y="2342148"/>
            <a:ext cx="7620000" cy="3385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entury Gothic" panose="020B0502020202020204" pitchFamily="34" charset="0"/>
              </a:rPr>
              <a:t>Breakpoint 8, </a:t>
            </a:r>
            <a:r>
              <a:rPr lang="en-US" altLang="ko-KR" sz="1600" dirty="0" err="1">
                <a:latin typeface="Century Gothic" panose="020B0502020202020204" pitchFamily="34" charset="0"/>
              </a:rPr>
              <a:t>timer_sleep</a:t>
            </a:r>
            <a:r>
              <a:rPr lang="en-US" altLang="ko-KR" sz="1600" dirty="0">
                <a:latin typeface="Century Gothic" panose="020B0502020202020204" pitchFamily="34" charset="0"/>
              </a:rPr>
              <a:t> (ticks=109) at ../../devices/timer.c:91</a:t>
            </a:r>
            <a:endParaRPr lang="ko-KR" altLang="en-US" sz="1600" dirty="0" err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874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AFD3-389D-6667-372E-4E54B8B9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518E8A57-A831-2DA9-42CE-4DDD71F3D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err="1"/>
              <a:t>thread_yield</a:t>
            </a:r>
            <a:endParaRPr lang="en-US" altLang="ko-KR" sz="3200" dirty="0"/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44B0F52B-7EE4-AA61-15BF-3E0A73ACD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  <a:p>
            <a:pPr marL="0" indent="0">
              <a:buNone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909637" lvl="2" indent="0" latinLnBrk="1">
              <a:buNone/>
            </a:pPr>
            <a:endParaRPr lang="en-US" altLang="ko-KR" sz="9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marL="0" indent="0" latinLnBrk="1">
              <a:buNone/>
            </a:pPr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C194C2-2B53-7695-3288-CEC0DCEB146D}"/>
              </a:ext>
            </a:extLst>
          </p:cNvPr>
          <p:cNvSpPr/>
          <p:nvPr/>
        </p:nvSpPr>
        <p:spPr>
          <a:xfrm>
            <a:off x="574675" y="2743200"/>
            <a:ext cx="7772400" cy="3165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301     void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302   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thread_yield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(void)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303     {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304       struct thread *cur =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thread_current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305     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enum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intr_level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old_level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		[</a:t>
            </a:r>
            <a:r>
              <a:rPr lang="ko-KR" alt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중략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309     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old_level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intr_disable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310       if (cur !=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idle_thread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311       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list_push_back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(&amp;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ready_list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, &amp;cur-&gt;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312       cur-&gt;status = THREAD_READY;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313       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schedule ();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314     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intr_set_level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old_level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315 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5362C-92B3-4896-5A70-28F0E8C500E5}"/>
              </a:ext>
            </a:extLst>
          </p:cNvPr>
          <p:cNvSpPr txBox="1"/>
          <p:nvPr/>
        </p:nvSpPr>
        <p:spPr>
          <a:xfrm>
            <a:off x="4267200" y="2342148"/>
            <a:ext cx="7620000" cy="3385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Century Gothic" panose="020B0502020202020204" pitchFamily="34" charset="0"/>
              </a:rPr>
              <a:t>thread_yield</a:t>
            </a:r>
            <a:r>
              <a:rPr lang="en-US" altLang="ko-KR" sz="1600" dirty="0">
                <a:latin typeface="Century Gothic" panose="020B0502020202020204" pitchFamily="34" charset="0"/>
              </a:rPr>
              <a:t> () at ../../threads/thread.c:303</a:t>
            </a:r>
            <a:endParaRPr lang="ko-KR" altLang="en-US" sz="1600" dirty="0" err="1">
              <a:latin typeface="Century Gothic" panose="020B0502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492F54-C7B4-E8EB-B4D5-0A26663DDDE6}"/>
              </a:ext>
            </a:extLst>
          </p:cNvPr>
          <p:cNvSpPr/>
          <p:nvPr/>
        </p:nvSpPr>
        <p:spPr>
          <a:xfrm>
            <a:off x="574675" y="1920240"/>
            <a:ext cx="3266472" cy="6553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s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l</a:t>
            </a:r>
          </a:p>
        </p:txBody>
      </p:sp>
    </p:spTree>
    <p:extLst>
      <p:ext uri="{BB962C8B-B14F-4D97-AF65-F5344CB8AC3E}">
        <p14:creationId xmlns:p14="http://schemas.microsoft.com/office/powerpoint/2010/main" val="99485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4884-7C26-B2CD-0539-21E6BF4F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B37775C7-C3F4-79E3-F07B-968A0D4E0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Interrupt</a:t>
            </a:r>
            <a:r>
              <a:rPr lang="ko-KR" altLang="en-US" sz="3200" dirty="0"/>
              <a:t> </a:t>
            </a:r>
            <a:r>
              <a:rPr lang="en-US" altLang="ko-KR" sz="3200" dirty="0"/>
              <a:t>Handling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1BF4E5B8-B35B-4E14-4A7F-0167AABB2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600" dirty="0"/>
              <a:t>Interrupt</a:t>
            </a:r>
            <a:r>
              <a:rPr lang="ko-KR" altLang="en-US" sz="1600" dirty="0"/>
              <a:t>는 </a:t>
            </a:r>
            <a:r>
              <a:rPr lang="en-US" altLang="ko-KR" sz="1600" dirty="0"/>
              <a:t>CPU</a:t>
            </a:r>
            <a:r>
              <a:rPr lang="ko-KR" altLang="en-US" sz="1600" dirty="0"/>
              <a:t>에 어떤 이벤트가 발생했다고 알리는 것이다</a:t>
            </a:r>
            <a:r>
              <a:rPr lang="en-US" altLang="ko-KR" sz="1600" dirty="0"/>
              <a:t>.</a:t>
            </a:r>
          </a:p>
          <a:p>
            <a:r>
              <a:rPr lang="en-US" altLang="ko-KR" sz="1400" dirty="0"/>
              <a:t>Internal interrupt </a:t>
            </a:r>
            <a:r>
              <a:rPr lang="en-US" altLang="ko-KR" sz="1600" dirty="0"/>
              <a:t>: </a:t>
            </a:r>
            <a:r>
              <a:rPr lang="en-US" altLang="ko-KR" sz="1200" dirty="0"/>
              <a:t>CPU </a:t>
            </a:r>
            <a:r>
              <a:rPr lang="ko-KR" altLang="en-US" sz="1200" dirty="0"/>
              <a:t>명령어에 의해 직접 발생하는 </a:t>
            </a:r>
            <a:r>
              <a:rPr lang="en-US" altLang="ko-KR" sz="1200" dirty="0"/>
              <a:t>interrupt. ex) </a:t>
            </a:r>
            <a:r>
              <a:rPr lang="en-US" altLang="ko-KR" sz="1200" dirty="0" err="1"/>
              <a:t>syscall</a:t>
            </a:r>
            <a:r>
              <a:rPr lang="en-US" altLang="ko-KR" sz="1200" dirty="0"/>
              <a:t>, page fault</a:t>
            </a:r>
          </a:p>
          <a:p>
            <a:r>
              <a:rPr lang="en-US" altLang="ko-KR" sz="1400" dirty="0"/>
              <a:t>External interrupts </a:t>
            </a:r>
            <a:r>
              <a:rPr lang="en-US" altLang="ko-KR" sz="1600" dirty="0"/>
              <a:t>: </a:t>
            </a:r>
            <a:r>
              <a:rPr lang="en-US" altLang="ko-KR" sz="1200" dirty="0"/>
              <a:t>CPU </a:t>
            </a:r>
            <a:r>
              <a:rPr lang="ko-KR" altLang="en-US" sz="1200" dirty="0"/>
              <a:t>외부에서 발생하는 </a:t>
            </a:r>
            <a:r>
              <a:rPr lang="en-US" altLang="ko-KR" sz="1200" dirty="0"/>
              <a:t>interrupt ex) timer, keyboard, serial ports</a:t>
            </a:r>
          </a:p>
          <a:p>
            <a:endParaRPr lang="en-US" altLang="ko-KR" sz="1200" dirty="0"/>
          </a:p>
          <a:p>
            <a:endParaRPr lang="ko-KR" altLang="en-US" sz="1600" dirty="0"/>
          </a:p>
          <a:p>
            <a:pPr marL="909637" lvl="2" indent="0" latinLnBrk="1">
              <a:buNone/>
            </a:pPr>
            <a:endParaRPr lang="en-US" altLang="ko-KR" sz="9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vl="1" latinLnBrk="1"/>
            <a:r>
              <a:rPr lang="en-US" altLang="ko-KR" sz="1200" dirty="0"/>
              <a:t>Pintos </a:t>
            </a:r>
            <a:r>
              <a:rPr lang="ko-KR" altLang="en-US" sz="1200" dirty="0"/>
              <a:t>문서 </a:t>
            </a:r>
            <a:r>
              <a:rPr lang="en-US" altLang="ko-KR" sz="1200" dirty="0"/>
              <a:t>p72, A.4 Interrupt Handling </a:t>
            </a:r>
            <a:r>
              <a:rPr lang="ko-KR" altLang="en-US" sz="1200" dirty="0"/>
              <a:t>中</a:t>
            </a:r>
            <a:endParaRPr lang="en-US" altLang="ko-KR" sz="1200" dirty="0"/>
          </a:p>
        </p:txBody>
      </p:sp>
      <p:pic>
        <p:nvPicPr>
          <p:cNvPr id="3" name="그림 2" descr="텍스트, 스크린샷, 폰트, 문서이(가) 표시된 사진">
            <a:extLst>
              <a:ext uri="{FF2B5EF4-FFF2-40B4-BE49-F238E27FC236}">
                <a16:creationId xmlns:a16="http://schemas.microsoft.com/office/drawing/2014/main" id="{E2B6DAA2-C46C-4163-AD65-3928B44C1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826026"/>
            <a:ext cx="6934200" cy="21203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8485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ED59-2776-E6AF-AE39-04E5CAEA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A4E5EFAF-26B4-2EB5-2EED-DFE2B5A95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Timer Interrupt</a:t>
            </a:r>
            <a:r>
              <a:rPr lang="ko-KR" altLang="en-US" sz="3200" dirty="0"/>
              <a:t> </a:t>
            </a:r>
            <a:r>
              <a:rPr lang="en-US" altLang="ko-KR" sz="3200" dirty="0"/>
              <a:t>Handling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3D95DD-9BE7-1DAD-552F-F240FC22796E}"/>
              </a:ext>
            </a:extLst>
          </p:cNvPr>
          <p:cNvSpPr/>
          <p:nvPr/>
        </p:nvSpPr>
        <p:spPr bwMode="auto">
          <a:xfrm>
            <a:off x="944880" y="1828800"/>
            <a:ext cx="1264920" cy="533400"/>
          </a:xfrm>
          <a:prstGeom prst="rect">
            <a:avLst/>
          </a:prstGeom>
          <a:solidFill>
            <a:srgbClr val="BFEA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/>
              <a:t>CPU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65722C8-A6A8-765E-36AF-FA7B5E0EA52D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 bwMode="auto">
          <a:xfrm>
            <a:off x="1577340" y="2362200"/>
            <a:ext cx="0" cy="31394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EF1F61-141D-6DC1-D897-FD172D05D1D2}"/>
              </a:ext>
            </a:extLst>
          </p:cNvPr>
          <p:cNvSpPr/>
          <p:nvPr/>
        </p:nvSpPr>
        <p:spPr bwMode="auto">
          <a:xfrm>
            <a:off x="944880" y="5501640"/>
            <a:ext cx="1264920" cy="533400"/>
          </a:xfrm>
          <a:prstGeom prst="rect">
            <a:avLst/>
          </a:prstGeom>
          <a:solidFill>
            <a:srgbClr val="BFEA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CPU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70EB267-B748-F368-163A-7B58C5B8C700}"/>
              </a:ext>
            </a:extLst>
          </p:cNvPr>
          <p:cNvSpPr/>
          <p:nvPr/>
        </p:nvSpPr>
        <p:spPr bwMode="auto">
          <a:xfrm>
            <a:off x="3886200" y="1828800"/>
            <a:ext cx="1524000" cy="5334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ASM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(</a:t>
            </a:r>
            <a:r>
              <a:rPr lang="en-US" altLang="ko-KR" sz="1400" dirty="0" err="1"/>
              <a:t>intr-stubs.S</a:t>
            </a:r>
            <a:r>
              <a:rPr lang="en-US" altLang="ko-KR" sz="1400" dirty="0"/>
              <a:t>..)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628F42F-8B1D-59F9-5070-5CB702CCE196}"/>
              </a:ext>
            </a:extLst>
          </p:cNvPr>
          <p:cNvSpPr/>
          <p:nvPr/>
        </p:nvSpPr>
        <p:spPr bwMode="auto">
          <a:xfrm>
            <a:off x="3886200" y="5478780"/>
            <a:ext cx="1524000" cy="5334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ASM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(</a:t>
            </a:r>
            <a:r>
              <a:rPr lang="en-US" altLang="ko-KR" sz="1400" dirty="0" err="1"/>
              <a:t>intr-stubs.S</a:t>
            </a:r>
            <a:r>
              <a:rPr lang="en-US" altLang="ko-KR" sz="1400" dirty="0"/>
              <a:t>..)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17BBFC1-E862-8378-5046-DFB66055FFEC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 bwMode="auto">
          <a:xfrm>
            <a:off x="4648200" y="2362200"/>
            <a:ext cx="0" cy="31165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7BECA27-A101-DD58-8E16-0A9259DA42C4}"/>
              </a:ext>
            </a:extLst>
          </p:cNvPr>
          <p:cNvSpPr/>
          <p:nvPr/>
        </p:nvSpPr>
        <p:spPr bwMode="auto">
          <a:xfrm>
            <a:off x="7086600" y="1828800"/>
            <a:ext cx="1752600" cy="5334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C code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(</a:t>
            </a:r>
            <a:r>
              <a:rPr lang="en-US" altLang="ko-KR" sz="1200" dirty="0" err="1"/>
              <a:t>interrupt.c,timer.c</a:t>
            </a:r>
            <a:r>
              <a:rPr lang="en-US" altLang="ko-KR" sz="1200" dirty="0"/>
              <a:t>..)</a:t>
            </a:r>
            <a:endParaRPr kumimoji="0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648E483-1F59-C851-761B-3ABA03861EAB}"/>
              </a:ext>
            </a:extLst>
          </p:cNvPr>
          <p:cNvSpPr/>
          <p:nvPr/>
        </p:nvSpPr>
        <p:spPr bwMode="auto">
          <a:xfrm>
            <a:off x="7086600" y="5501640"/>
            <a:ext cx="1752600" cy="5334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C code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(</a:t>
            </a:r>
            <a:r>
              <a:rPr lang="en-US" altLang="ko-KR" sz="1200" dirty="0" err="1"/>
              <a:t>interrupt.c,timer.c</a:t>
            </a:r>
            <a:r>
              <a:rPr lang="en-US" altLang="ko-KR" sz="1200" dirty="0"/>
              <a:t>..)</a:t>
            </a:r>
            <a:endParaRPr kumimoji="0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B5A3F26-8483-A8B0-5F08-D803DD61A4D0}"/>
              </a:ext>
            </a:extLst>
          </p:cNvPr>
          <p:cNvCxnSpPr>
            <a:stCxn id="34" idx="2"/>
            <a:endCxn id="37" idx="0"/>
          </p:cNvCxnSpPr>
          <p:nvPr/>
        </p:nvCxnSpPr>
        <p:spPr bwMode="auto">
          <a:xfrm>
            <a:off x="7962900" y="2362200"/>
            <a:ext cx="0" cy="31394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0C4BB63-345E-3374-8884-AC0CEA9D5CBD}"/>
              </a:ext>
            </a:extLst>
          </p:cNvPr>
          <p:cNvCxnSpPr>
            <a:cxnSpLocks/>
          </p:cNvCxnSpPr>
          <p:nvPr/>
        </p:nvCxnSpPr>
        <p:spPr bwMode="auto">
          <a:xfrm>
            <a:off x="1577340" y="2819400"/>
            <a:ext cx="30708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4ED13A-95B3-155F-5E1A-E9BBE7C1D8D0}"/>
              </a:ext>
            </a:extLst>
          </p:cNvPr>
          <p:cNvSpPr txBox="1"/>
          <p:nvPr/>
        </p:nvSpPr>
        <p:spPr>
          <a:xfrm>
            <a:off x="1527810" y="2519542"/>
            <a:ext cx="1967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1.Timer interrupt </a:t>
            </a:r>
            <a:r>
              <a:rPr lang="ko-KR" altLang="en-US" sz="1200" dirty="0"/>
              <a:t>발생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189878-3D0F-DB79-BBEC-EA44E19C0CED}"/>
              </a:ext>
            </a:extLst>
          </p:cNvPr>
          <p:cNvSpPr txBox="1"/>
          <p:nvPr/>
        </p:nvSpPr>
        <p:spPr>
          <a:xfrm>
            <a:off x="1599794" y="2876491"/>
            <a:ext cx="1600602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CPU</a:t>
            </a:r>
            <a:r>
              <a:rPr lang="ko-KR" altLang="en-US" sz="1000" dirty="0">
                <a:solidFill>
                  <a:srgbClr val="FF0000"/>
                </a:solidFill>
              </a:rPr>
              <a:t>가 </a:t>
            </a:r>
            <a:r>
              <a:rPr lang="en-US" altLang="ko-KR" sz="1000" dirty="0">
                <a:solidFill>
                  <a:srgbClr val="FF0000"/>
                </a:solidFill>
              </a:rPr>
              <a:t>IDT</a:t>
            </a:r>
            <a:r>
              <a:rPr lang="ko-KR" altLang="en-US" sz="1000" dirty="0">
                <a:solidFill>
                  <a:srgbClr val="FF0000"/>
                </a:solidFill>
              </a:rPr>
              <a:t>를 확인해서 해당 </a:t>
            </a:r>
            <a:r>
              <a:rPr lang="en-US" altLang="ko-KR" sz="1000" dirty="0" err="1">
                <a:solidFill>
                  <a:srgbClr val="FF0000"/>
                </a:solidFill>
              </a:rPr>
              <a:t>intr_stubs</a:t>
            </a:r>
            <a:r>
              <a:rPr lang="ko-KR" altLang="en-US" sz="1000" dirty="0">
                <a:solidFill>
                  <a:srgbClr val="FF0000"/>
                </a:solidFill>
              </a:rPr>
              <a:t>로 이동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40841B3-502C-0ADB-A3E8-D55A2F91A659}"/>
              </a:ext>
            </a:extLst>
          </p:cNvPr>
          <p:cNvCxnSpPr/>
          <p:nvPr/>
        </p:nvCxnSpPr>
        <p:spPr bwMode="auto">
          <a:xfrm>
            <a:off x="4648200" y="3352799"/>
            <a:ext cx="381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3229042-D73A-4EEE-13C2-68E2A0F1525B}"/>
              </a:ext>
            </a:extLst>
          </p:cNvPr>
          <p:cNvCxnSpPr/>
          <p:nvPr/>
        </p:nvCxnSpPr>
        <p:spPr bwMode="auto">
          <a:xfrm>
            <a:off x="5029200" y="3352799"/>
            <a:ext cx="0" cy="2286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277377A2-3391-D1D3-F456-663579DEA16D}"/>
              </a:ext>
            </a:extLst>
          </p:cNvPr>
          <p:cNvCxnSpPr/>
          <p:nvPr/>
        </p:nvCxnSpPr>
        <p:spPr bwMode="auto">
          <a:xfrm flipH="1">
            <a:off x="4648200" y="3581400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FDE3CEB-1E77-4F66-04EC-83B863DE8582}"/>
              </a:ext>
            </a:extLst>
          </p:cNvPr>
          <p:cNvSpPr txBox="1"/>
          <p:nvPr/>
        </p:nvSpPr>
        <p:spPr>
          <a:xfrm>
            <a:off x="3474723" y="2970460"/>
            <a:ext cx="3021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2.intr_entry : CPU</a:t>
            </a:r>
            <a:r>
              <a:rPr lang="ko-KR" altLang="en-US" sz="1200" dirty="0"/>
              <a:t>상태</a:t>
            </a:r>
            <a:r>
              <a:rPr lang="en-US" altLang="ko-KR" sz="1200" dirty="0"/>
              <a:t>(</a:t>
            </a:r>
            <a:r>
              <a:rPr lang="ko-KR" altLang="en-US" sz="1200" dirty="0"/>
              <a:t>레지스터</a:t>
            </a:r>
            <a:r>
              <a:rPr lang="en-US" altLang="ko-KR" sz="1200" dirty="0"/>
              <a:t>) </a:t>
            </a:r>
            <a:r>
              <a:rPr lang="ko-KR" altLang="en-US" sz="1200" dirty="0"/>
              <a:t>저장</a:t>
            </a:r>
          </a:p>
        </p:txBody>
      </p:sp>
      <p:cxnSp>
        <p:nvCxnSpPr>
          <p:cNvPr id="241669" name="직선 화살표 연결선 241668">
            <a:extLst>
              <a:ext uri="{FF2B5EF4-FFF2-40B4-BE49-F238E27FC236}">
                <a16:creationId xmlns:a16="http://schemas.microsoft.com/office/drawing/2014/main" id="{6597335D-6BD2-A935-D2C2-90DAC5CBC0E9}"/>
              </a:ext>
            </a:extLst>
          </p:cNvPr>
          <p:cNvCxnSpPr/>
          <p:nvPr/>
        </p:nvCxnSpPr>
        <p:spPr bwMode="auto">
          <a:xfrm>
            <a:off x="4648200" y="4009459"/>
            <a:ext cx="33147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670" name="TextBox 241669">
            <a:extLst>
              <a:ext uri="{FF2B5EF4-FFF2-40B4-BE49-F238E27FC236}">
                <a16:creationId xmlns:a16="http://schemas.microsoft.com/office/drawing/2014/main" id="{B3290D38-3A5D-D647-376F-140FB033E1C8}"/>
              </a:ext>
            </a:extLst>
          </p:cNvPr>
          <p:cNvSpPr txBox="1"/>
          <p:nvPr/>
        </p:nvSpPr>
        <p:spPr>
          <a:xfrm>
            <a:off x="4610100" y="3642358"/>
            <a:ext cx="3200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3.intr_handler(frame) </a:t>
            </a:r>
            <a:r>
              <a:rPr lang="ko-KR" altLang="en-US" sz="1200" dirty="0"/>
              <a:t>호출</a:t>
            </a:r>
          </a:p>
        </p:txBody>
      </p:sp>
      <p:cxnSp>
        <p:nvCxnSpPr>
          <p:cNvPr id="241671" name="직선 연결선 241670">
            <a:extLst>
              <a:ext uri="{FF2B5EF4-FFF2-40B4-BE49-F238E27FC236}">
                <a16:creationId xmlns:a16="http://schemas.microsoft.com/office/drawing/2014/main" id="{3E76A69D-36FD-B9E7-4F12-1FB95B238429}"/>
              </a:ext>
            </a:extLst>
          </p:cNvPr>
          <p:cNvCxnSpPr/>
          <p:nvPr/>
        </p:nvCxnSpPr>
        <p:spPr bwMode="auto">
          <a:xfrm>
            <a:off x="7962900" y="4648200"/>
            <a:ext cx="381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672" name="직선 연결선 241671">
            <a:extLst>
              <a:ext uri="{FF2B5EF4-FFF2-40B4-BE49-F238E27FC236}">
                <a16:creationId xmlns:a16="http://schemas.microsoft.com/office/drawing/2014/main" id="{CADFCEF0-E6D3-CA56-8F10-11D61D1E8EFF}"/>
              </a:ext>
            </a:extLst>
          </p:cNvPr>
          <p:cNvCxnSpPr/>
          <p:nvPr/>
        </p:nvCxnSpPr>
        <p:spPr bwMode="auto">
          <a:xfrm>
            <a:off x="8343900" y="4648200"/>
            <a:ext cx="0" cy="2286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673" name="직선 화살표 연결선 241672">
            <a:extLst>
              <a:ext uri="{FF2B5EF4-FFF2-40B4-BE49-F238E27FC236}">
                <a16:creationId xmlns:a16="http://schemas.microsoft.com/office/drawing/2014/main" id="{AD0EEB64-49FA-7693-DA77-02CA000C637E}"/>
              </a:ext>
            </a:extLst>
          </p:cNvPr>
          <p:cNvCxnSpPr/>
          <p:nvPr/>
        </p:nvCxnSpPr>
        <p:spPr bwMode="auto">
          <a:xfrm flipH="1">
            <a:off x="7962900" y="4876801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674" name="TextBox 241673">
            <a:extLst>
              <a:ext uri="{FF2B5EF4-FFF2-40B4-BE49-F238E27FC236}">
                <a16:creationId xmlns:a16="http://schemas.microsoft.com/office/drawing/2014/main" id="{F700C756-2500-CC63-8817-547B8F64BF08}"/>
              </a:ext>
            </a:extLst>
          </p:cNvPr>
          <p:cNvSpPr txBox="1"/>
          <p:nvPr/>
        </p:nvSpPr>
        <p:spPr>
          <a:xfrm>
            <a:off x="5667376" y="4531667"/>
            <a:ext cx="2478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4.intr_handler : </a:t>
            </a:r>
            <a:r>
              <a:rPr lang="en-US" altLang="ko-KR" sz="1200" dirty="0" err="1"/>
              <a:t>vec_no</a:t>
            </a:r>
            <a:r>
              <a:rPr lang="en-US" altLang="ko-KR" sz="1200" dirty="0"/>
              <a:t>(32) </a:t>
            </a:r>
            <a:r>
              <a:rPr lang="ko-KR" altLang="en-US" sz="1200" dirty="0"/>
              <a:t>확인 후 </a:t>
            </a:r>
            <a:r>
              <a:rPr lang="en-US" altLang="ko-KR" sz="1200" dirty="0" err="1"/>
              <a:t>timer_interrupt</a:t>
            </a:r>
            <a:r>
              <a:rPr lang="en-US" altLang="ko-KR" sz="1200" dirty="0"/>
              <a:t> </a:t>
            </a:r>
            <a:r>
              <a:rPr lang="ko-KR" altLang="en-US" sz="1200" dirty="0"/>
              <a:t>호출</a:t>
            </a:r>
          </a:p>
        </p:txBody>
      </p:sp>
      <p:cxnSp>
        <p:nvCxnSpPr>
          <p:cNvPr id="241677" name="직선 화살표 연결선 241676">
            <a:extLst>
              <a:ext uri="{FF2B5EF4-FFF2-40B4-BE49-F238E27FC236}">
                <a16:creationId xmlns:a16="http://schemas.microsoft.com/office/drawing/2014/main" id="{3A4EFA5F-8EAA-84E7-09A1-85DFF21CF504}"/>
              </a:ext>
            </a:extLst>
          </p:cNvPr>
          <p:cNvCxnSpPr/>
          <p:nvPr/>
        </p:nvCxnSpPr>
        <p:spPr bwMode="auto">
          <a:xfrm>
            <a:off x="994816" y="2804162"/>
            <a:ext cx="53299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1678" name="폭발: 8pt 241677">
            <a:extLst>
              <a:ext uri="{FF2B5EF4-FFF2-40B4-BE49-F238E27FC236}">
                <a16:creationId xmlns:a16="http://schemas.microsoft.com/office/drawing/2014/main" id="{54BE2A19-CECF-1C03-0296-D1EACA1B0DA6}"/>
              </a:ext>
            </a:extLst>
          </p:cNvPr>
          <p:cNvSpPr/>
          <p:nvPr/>
        </p:nvSpPr>
        <p:spPr bwMode="auto">
          <a:xfrm>
            <a:off x="-22498" y="2423956"/>
            <a:ext cx="1475501" cy="790887"/>
          </a:xfrm>
          <a:prstGeom prst="irregularSeal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  <a:cs typeface="Arial" charset="0"/>
              </a:rPr>
              <a:t>timer</a:t>
            </a: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84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2C39-1E38-318A-783C-44AF73FE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68BE9676-8357-357E-3890-24B620E75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Timer Interrupt</a:t>
            </a:r>
            <a:r>
              <a:rPr lang="ko-KR" altLang="en-US" sz="3200" dirty="0"/>
              <a:t> </a:t>
            </a:r>
            <a:r>
              <a:rPr lang="en-US" altLang="ko-KR" sz="3200" dirty="0"/>
              <a:t>Handling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FC3DDEA9-68E0-812E-2CCE-DFEC91402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  <a:p>
            <a:pPr marL="0" indent="0">
              <a:buNone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909637" lvl="2" indent="0" latinLnBrk="1">
              <a:buNone/>
            </a:pPr>
            <a:endParaRPr lang="en-US" altLang="ko-KR" sz="9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marL="0" indent="0" latinLnBrk="1">
              <a:buNone/>
            </a:pPr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DF14B2-249A-948C-9DA3-9CDFC4D4F818}"/>
              </a:ext>
            </a:extLst>
          </p:cNvPr>
          <p:cNvSpPr/>
          <p:nvPr/>
        </p:nvSpPr>
        <p:spPr>
          <a:xfrm>
            <a:off x="574675" y="2743200"/>
            <a:ext cx="7772400" cy="3165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하드웨어 신호가 어셈블리 코드를 거쳐 </a:t>
            </a:r>
            <a:r>
              <a:rPr lang="en-US" altLang="ko-KR" sz="1400" dirty="0">
                <a:solidFill>
                  <a:srgbClr val="00B050"/>
                </a:solidFill>
                <a:latin typeface="Consolas" panose="020B0609020204030204" pitchFamily="49" charset="0"/>
              </a:rPr>
              <a:t>C 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언어로 전달되는 과정을 확인할 수 있다</a:t>
            </a:r>
            <a:endParaRPr lang="en-US" altLang="ko-KR" sz="1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#0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intr_handler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(frame=0xc0107e80) at ../../threads/interrupt.c:346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#1  0xc0021de6 in </a:t>
            </a: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intr_entry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 ()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at ../../threads/intr-stubs.S:37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#2  0xc0107e80 in ?? ()</a:t>
            </a:r>
          </a:p>
          <a:p>
            <a:endParaRPr lang="en-US" altLang="ko-KR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400" dirty="0">
                <a:solidFill>
                  <a:srgbClr val="00B050"/>
                </a:solidFill>
                <a:latin typeface="Consolas" panose="020B0609020204030204" pitchFamily="49" charset="0"/>
              </a:rPr>
              <a:t>frame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에 담겨있는 </a:t>
            </a:r>
            <a:r>
              <a:rPr lang="en-US" altLang="ko-KR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vec_no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가 </a:t>
            </a:r>
            <a:r>
              <a:rPr lang="en-US" altLang="ko-KR" sz="1400" dirty="0">
                <a:solidFill>
                  <a:srgbClr val="00B050"/>
                </a:solidFill>
                <a:latin typeface="Consolas" panose="020B0609020204030204" pitchFamily="49" charset="0"/>
              </a:rPr>
              <a:t>32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인 것을 확인</a:t>
            </a:r>
            <a:r>
              <a:rPr lang="en-US" altLang="ko-KR" sz="1400" dirty="0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nn-NO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(gdb) p frame-&gt;vec_no</a:t>
            </a:r>
          </a:p>
          <a:p>
            <a:r>
              <a:rPr lang="nn-NO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$23 = 32</a:t>
            </a:r>
            <a:endParaRPr lang="en-US" altLang="ko-KR" sz="1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AB1C7-A87B-96B3-DD6B-05A64A0B1BB7}"/>
              </a:ext>
            </a:extLst>
          </p:cNvPr>
          <p:cNvSpPr txBox="1"/>
          <p:nvPr/>
        </p:nvSpPr>
        <p:spPr>
          <a:xfrm>
            <a:off x="3886200" y="2452449"/>
            <a:ext cx="5105400" cy="24622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Century Gothic" panose="020B0502020202020204" pitchFamily="34" charset="0"/>
              </a:rPr>
              <a:t>Breakpoint 9, </a:t>
            </a:r>
            <a:r>
              <a:rPr lang="en-US" altLang="ko-KR" sz="1000" dirty="0" err="1">
                <a:latin typeface="Century Gothic" panose="020B0502020202020204" pitchFamily="34" charset="0"/>
              </a:rPr>
              <a:t>intr_handler</a:t>
            </a:r>
            <a:r>
              <a:rPr lang="en-US" altLang="ko-KR" sz="1000" dirty="0">
                <a:latin typeface="Century Gothic" panose="020B0502020202020204" pitchFamily="34" charset="0"/>
              </a:rPr>
              <a:t> (frame=0xc0107e80) at ../../threads/interrupt.c:346</a:t>
            </a:r>
            <a:endParaRPr lang="ko-KR" altLang="en-US" sz="1000" dirty="0" err="1">
              <a:latin typeface="Century Gothic" panose="020B0502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DC3CB7-5134-6658-E24D-0A6CF631B07E}"/>
              </a:ext>
            </a:extLst>
          </p:cNvPr>
          <p:cNvSpPr/>
          <p:nvPr/>
        </p:nvSpPr>
        <p:spPr>
          <a:xfrm>
            <a:off x="566738" y="1676400"/>
            <a:ext cx="3274409" cy="899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b </a:t>
            </a:r>
            <a:r>
              <a:rPr lang="en-US" altLang="ko-KR" sz="2000" dirty="0" err="1">
                <a:latin typeface="Consolas" panose="020B0609020204030204" pitchFamily="49" charset="0"/>
              </a:rPr>
              <a:t>intr_handler</a:t>
            </a:r>
            <a:endParaRPr lang="en-US" altLang="ko-KR" sz="2000" dirty="0">
              <a:latin typeface="Consolas" panose="020B0609020204030204" pitchFamily="49" charset="0"/>
            </a:endParaRP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c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</a:t>
            </a:r>
            <a:r>
              <a:rPr lang="en-US" altLang="ko-KR" sz="2000" dirty="0" err="1">
                <a:latin typeface="Consolas" panose="020B0609020204030204" pitchFamily="49" charset="0"/>
              </a:rPr>
              <a:t>bt</a:t>
            </a:r>
            <a:endParaRPr lang="en-US" altLang="ko-KR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83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59CE-5799-C16F-0FC0-CACB7A9E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AAF912A8-8388-299D-1222-01A2FAD17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Timer Interrupt</a:t>
            </a:r>
            <a:r>
              <a:rPr lang="ko-KR" altLang="en-US" sz="3200" dirty="0"/>
              <a:t> </a:t>
            </a:r>
            <a:r>
              <a:rPr lang="en-US" altLang="ko-KR" sz="3200" dirty="0"/>
              <a:t>Handling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6BF5FB-12FA-C39C-AA10-1411C2A12F7A}"/>
              </a:ext>
            </a:extLst>
          </p:cNvPr>
          <p:cNvSpPr/>
          <p:nvPr/>
        </p:nvSpPr>
        <p:spPr bwMode="auto">
          <a:xfrm>
            <a:off x="944880" y="1828800"/>
            <a:ext cx="1264920" cy="533400"/>
          </a:xfrm>
          <a:prstGeom prst="rect">
            <a:avLst/>
          </a:prstGeom>
          <a:solidFill>
            <a:srgbClr val="BFEA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/>
              <a:t>CPU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824731E-A543-EA54-425B-3B87BAECDBB5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 bwMode="auto">
          <a:xfrm>
            <a:off x="1577340" y="2362200"/>
            <a:ext cx="0" cy="31394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56C033-C2D8-C655-8DD7-FF709F74F70B}"/>
              </a:ext>
            </a:extLst>
          </p:cNvPr>
          <p:cNvSpPr/>
          <p:nvPr/>
        </p:nvSpPr>
        <p:spPr bwMode="auto">
          <a:xfrm>
            <a:off x="944880" y="5501640"/>
            <a:ext cx="1264920" cy="533400"/>
          </a:xfrm>
          <a:prstGeom prst="rect">
            <a:avLst/>
          </a:prstGeom>
          <a:solidFill>
            <a:srgbClr val="BFEA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CPU</a:t>
            </a:r>
            <a:endParaRPr kumimoji="0" lang="ko-K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DB404C-8E40-6140-AA8F-EA0636C24599}"/>
              </a:ext>
            </a:extLst>
          </p:cNvPr>
          <p:cNvSpPr/>
          <p:nvPr/>
        </p:nvSpPr>
        <p:spPr bwMode="auto">
          <a:xfrm>
            <a:off x="3886200" y="1828800"/>
            <a:ext cx="1524000" cy="5334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ASM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(</a:t>
            </a:r>
            <a:r>
              <a:rPr lang="en-US" altLang="ko-KR" sz="1400" dirty="0" err="1"/>
              <a:t>intr-stubs.S</a:t>
            </a:r>
            <a:r>
              <a:rPr lang="en-US" altLang="ko-KR" sz="1400" dirty="0"/>
              <a:t>..)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4675B3-1294-1809-035D-BBF4472D3BEA}"/>
              </a:ext>
            </a:extLst>
          </p:cNvPr>
          <p:cNvSpPr/>
          <p:nvPr/>
        </p:nvSpPr>
        <p:spPr bwMode="auto">
          <a:xfrm>
            <a:off x="3886200" y="5478780"/>
            <a:ext cx="1524000" cy="5334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rPr>
              <a:t>ASM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(</a:t>
            </a:r>
            <a:r>
              <a:rPr lang="en-US" altLang="ko-KR" sz="1400" dirty="0" err="1"/>
              <a:t>intr-stubs.S</a:t>
            </a:r>
            <a:r>
              <a:rPr lang="en-US" altLang="ko-KR" sz="1400" dirty="0"/>
              <a:t>..)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9605A1F-9A58-3D25-8E75-58E7C8851580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 bwMode="auto">
          <a:xfrm>
            <a:off x="4648200" y="2362200"/>
            <a:ext cx="0" cy="31165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C7EF42-8AFA-1AB0-4A28-B247E8BD9774}"/>
              </a:ext>
            </a:extLst>
          </p:cNvPr>
          <p:cNvSpPr/>
          <p:nvPr/>
        </p:nvSpPr>
        <p:spPr bwMode="auto">
          <a:xfrm>
            <a:off x="6823075" y="1828800"/>
            <a:ext cx="1752600" cy="5334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C code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(</a:t>
            </a:r>
            <a:r>
              <a:rPr lang="en-US" altLang="ko-KR" sz="1200" dirty="0" err="1"/>
              <a:t>interrupt.c,timer.c</a:t>
            </a:r>
            <a:r>
              <a:rPr lang="en-US" altLang="ko-KR" sz="1200" dirty="0"/>
              <a:t>..)</a:t>
            </a:r>
            <a:endParaRPr kumimoji="0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FA5DBDC-F762-02EB-B0E9-F79222383BE6}"/>
              </a:ext>
            </a:extLst>
          </p:cNvPr>
          <p:cNvSpPr/>
          <p:nvPr/>
        </p:nvSpPr>
        <p:spPr bwMode="auto">
          <a:xfrm>
            <a:off x="6823075" y="5501640"/>
            <a:ext cx="1752600" cy="5334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C code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(</a:t>
            </a:r>
            <a:r>
              <a:rPr lang="en-US" altLang="ko-KR" sz="1200" dirty="0" err="1"/>
              <a:t>interrupt.c,timer.c</a:t>
            </a:r>
            <a:r>
              <a:rPr lang="en-US" altLang="ko-KR" sz="1200" dirty="0"/>
              <a:t>..)</a:t>
            </a:r>
            <a:endParaRPr kumimoji="0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3828CD9-4E36-61A9-F181-4496593AA270}"/>
              </a:ext>
            </a:extLst>
          </p:cNvPr>
          <p:cNvCxnSpPr>
            <a:stCxn id="34" idx="2"/>
            <a:endCxn id="37" idx="0"/>
          </p:cNvCxnSpPr>
          <p:nvPr/>
        </p:nvCxnSpPr>
        <p:spPr bwMode="auto">
          <a:xfrm>
            <a:off x="7699375" y="2362200"/>
            <a:ext cx="0" cy="31394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12F589B-D2DD-E397-2EFA-CE505AC372B6}"/>
              </a:ext>
            </a:extLst>
          </p:cNvPr>
          <p:cNvSpPr txBox="1"/>
          <p:nvPr/>
        </p:nvSpPr>
        <p:spPr>
          <a:xfrm>
            <a:off x="6118860" y="2554465"/>
            <a:ext cx="289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5.timer_interrupt : </a:t>
            </a:r>
            <a:r>
              <a:rPr lang="en-US" altLang="ko-KR" sz="1200" dirty="0" err="1"/>
              <a:t>thread</a:t>
            </a:r>
            <a:r>
              <a:rPr lang="en-US" altLang="ko-KR" sz="1200" err="1"/>
              <a:t>_</a:t>
            </a:r>
            <a:r>
              <a:rPr lang="en-US" altLang="ko-KR" sz="1200"/>
              <a:t>tick </a:t>
            </a:r>
            <a:r>
              <a:rPr lang="ko-KR" altLang="en-US" sz="1200" dirty="0"/>
              <a:t>호출</a:t>
            </a:r>
          </a:p>
        </p:txBody>
      </p:sp>
      <p:cxnSp>
        <p:nvCxnSpPr>
          <p:cNvPr id="241671" name="직선 연결선 241670">
            <a:extLst>
              <a:ext uri="{FF2B5EF4-FFF2-40B4-BE49-F238E27FC236}">
                <a16:creationId xmlns:a16="http://schemas.microsoft.com/office/drawing/2014/main" id="{9967CCB0-5B09-3E83-CAE2-B3AB864054F4}"/>
              </a:ext>
            </a:extLst>
          </p:cNvPr>
          <p:cNvCxnSpPr/>
          <p:nvPr/>
        </p:nvCxnSpPr>
        <p:spPr bwMode="auto">
          <a:xfrm>
            <a:off x="7699375" y="2909500"/>
            <a:ext cx="381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672" name="직선 연결선 241671">
            <a:extLst>
              <a:ext uri="{FF2B5EF4-FFF2-40B4-BE49-F238E27FC236}">
                <a16:creationId xmlns:a16="http://schemas.microsoft.com/office/drawing/2014/main" id="{D55230D2-4C81-2CB4-C7CA-3C4131A7A531}"/>
              </a:ext>
            </a:extLst>
          </p:cNvPr>
          <p:cNvCxnSpPr/>
          <p:nvPr/>
        </p:nvCxnSpPr>
        <p:spPr bwMode="auto">
          <a:xfrm>
            <a:off x="8080375" y="2909500"/>
            <a:ext cx="0" cy="2286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1673" name="직선 화살표 연결선 241672">
            <a:extLst>
              <a:ext uri="{FF2B5EF4-FFF2-40B4-BE49-F238E27FC236}">
                <a16:creationId xmlns:a16="http://schemas.microsoft.com/office/drawing/2014/main" id="{68A87BF7-7397-A22E-FDF2-FF149EBD173A}"/>
              </a:ext>
            </a:extLst>
          </p:cNvPr>
          <p:cNvCxnSpPr/>
          <p:nvPr/>
        </p:nvCxnSpPr>
        <p:spPr bwMode="auto">
          <a:xfrm flipH="1">
            <a:off x="7699375" y="3138101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D800EAD-2733-C248-69B8-4BA513AD5466}"/>
              </a:ext>
            </a:extLst>
          </p:cNvPr>
          <p:cNvCxnSpPr/>
          <p:nvPr/>
        </p:nvCxnSpPr>
        <p:spPr bwMode="auto">
          <a:xfrm>
            <a:off x="7699375" y="3756016"/>
            <a:ext cx="381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E708E0D-C870-35DD-9796-EACFB0F9E7BC}"/>
              </a:ext>
            </a:extLst>
          </p:cNvPr>
          <p:cNvCxnSpPr/>
          <p:nvPr/>
        </p:nvCxnSpPr>
        <p:spPr bwMode="auto">
          <a:xfrm>
            <a:off x="8080375" y="3756016"/>
            <a:ext cx="0" cy="2286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DDB294D-F1D9-10A1-F629-FCFC1BEC7BFC}"/>
              </a:ext>
            </a:extLst>
          </p:cNvPr>
          <p:cNvCxnSpPr/>
          <p:nvPr/>
        </p:nvCxnSpPr>
        <p:spPr bwMode="auto">
          <a:xfrm flipH="1">
            <a:off x="7699375" y="3984617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E83898E-19DB-2523-15AE-BEEDD7FAFC72}"/>
              </a:ext>
            </a:extLst>
          </p:cNvPr>
          <p:cNvSpPr txBox="1"/>
          <p:nvPr/>
        </p:nvSpPr>
        <p:spPr>
          <a:xfrm>
            <a:off x="5448302" y="3280400"/>
            <a:ext cx="3276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6.thread_tick : Time Slice </a:t>
            </a:r>
            <a:r>
              <a:rPr lang="ko-KR" altLang="en-US" sz="1200" dirty="0"/>
              <a:t>만료 확인 후 </a:t>
            </a:r>
            <a:r>
              <a:rPr lang="en-US" altLang="ko-KR" sz="1200" dirty="0"/>
              <a:t>	    </a:t>
            </a:r>
            <a:r>
              <a:rPr lang="en-US" altLang="ko-KR" sz="1200" dirty="0" err="1"/>
              <a:t>intr_yield_on_return</a:t>
            </a:r>
            <a:r>
              <a:rPr lang="en-US" altLang="ko-KR" sz="1200" dirty="0"/>
              <a:t> </a:t>
            </a:r>
            <a:r>
              <a:rPr lang="ko-KR" altLang="en-US" sz="1200" dirty="0"/>
              <a:t>호출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17E6441-6B62-AC34-2531-3CD1EEE903D9}"/>
              </a:ext>
            </a:extLst>
          </p:cNvPr>
          <p:cNvCxnSpPr/>
          <p:nvPr/>
        </p:nvCxnSpPr>
        <p:spPr bwMode="auto">
          <a:xfrm flipH="1">
            <a:off x="4648200" y="4495800"/>
            <a:ext cx="305117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AA6888-F214-58CE-F2CE-06745FE0F750}"/>
              </a:ext>
            </a:extLst>
          </p:cNvPr>
          <p:cNvSpPr txBox="1"/>
          <p:nvPr/>
        </p:nvSpPr>
        <p:spPr>
          <a:xfrm>
            <a:off x="4811396" y="4101709"/>
            <a:ext cx="2895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7.</a:t>
            </a:r>
            <a:r>
              <a:rPr lang="ko-KR" altLang="en-US" sz="1200" dirty="0"/>
              <a:t>함수들 복귀</a:t>
            </a:r>
            <a:r>
              <a:rPr lang="en-US" altLang="ko-KR" sz="1200" dirty="0"/>
              <a:t>(return)</a:t>
            </a:r>
            <a:endParaRPr lang="ko-KR" altLang="en-US" sz="12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5D726F3-7F57-E31F-6B19-A5377881A632}"/>
              </a:ext>
            </a:extLst>
          </p:cNvPr>
          <p:cNvCxnSpPr/>
          <p:nvPr/>
        </p:nvCxnSpPr>
        <p:spPr bwMode="auto">
          <a:xfrm>
            <a:off x="4648200" y="4953000"/>
            <a:ext cx="381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52D22BE-C479-9D25-3C58-BDD4E1E13F3F}"/>
              </a:ext>
            </a:extLst>
          </p:cNvPr>
          <p:cNvCxnSpPr/>
          <p:nvPr/>
        </p:nvCxnSpPr>
        <p:spPr bwMode="auto">
          <a:xfrm>
            <a:off x="5029200" y="4953000"/>
            <a:ext cx="0" cy="2286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C510F8E-A776-A0B7-8B7E-F66EDCE80EE3}"/>
              </a:ext>
            </a:extLst>
          </p:cNvPr>
          <p:cNvCxnSpPr/>
          <p:nvPr/>
        </p:nvCxnSpPr>
        <p:spPr bwMode="auto">
          <a:xfrm flipH="1">
            <a:off x="4648200" y="5181601"/>
            <a:ext cx="381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201609D-12C7-C4CB-2F00-52E8F1A018B4}"/>
              </a:ext>
            </a:extLst>
          </p:cNvPr>
          <p:cNvSpPr txBox="1"/>
          <p:nvPr/>
        </p:nvSpPr>
        <p:spPr>
          <a:xfrm>
            <a:off x="4556760" y="4696391"/>
            <a:ext cx="2895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8.intr_exit : </a:t>
            </a:r>
            <a:r>
              <a:rPr lang="ko-KR" altLang="en-US" sz="1200" dirty="0"/>
              <a:t>저장된 </a:t>
            </a:r>
            <a:r>
              <a:rPr lang="en-US" altLang="ko-KR" sz="1200" dirty="0"/>
              <a:t>CPU </a:t>
            </a:r>
            <a:r>
              <a:rPr lang="ko-KR" altLang="en-US" sz="1200" dirty="0"/>
              <a:t>상태 복원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C5CF40-CFFC-8962-CC74-B6258598280C}"/>
              </a:ext>
            </a:extLst>
          </p:cNvPr>
          <p:cNvSpPr txBox="1"/>
          <p:nvPr/>
        </p:nvSpPr>
        <p:spPr>
          <a:xfrm>
            <a:off x="6537960" y="4074831"/>
            <a:ext cx="1828797" cy="55399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solidFill>
                  <a:srgbClr val="C00000"/>
                </a:solidFill>
              </a:rPr>
              <a:t>yield_on_return</a:t>
            </a:r>
            <a:r>
              <a:rPr lang="ko-KR" altLang="en-US" sz="1000" dirty="0">
                <a:solidFill>
                  <a:srgbClr val="C00000"/>
                </a:solidFill>
              </a:rPr>
              <a:t>이 </a:t>
            </a:r>
            <a:r>
              <a:rPr lang="en-US" altLang="ko-KR" sz="1000" dirty="0">
                <a:solidFill>
                  <a:srgbClr val="C00000"/>
                </a:solidFill>
              </a:rPr>
              <a:t>true </a:t>
            </a:r>
            <a:r>
              <a:rPr lang="ko-KR" altLang="en-US" sz="1000" dirty="0">
                <a:solidFill>
                  <a:srgbClr val="C00000"/>
                </a:solidFill>
              </a:rPr>
              <a:t>상태이기 때문에 </a:t>
            </a:r>
            <a:r>
              <a:rPr lang="en-US" altLang="ko-KR" sz="1000" dirty="0" err="1">
                <a:solidFill>
                  <a:srgbClr val="C00000"/>
                </a:solidFill>
              </a:rPr>
              <a:t>thread_yield</a:t>
            </a:r>
            <a:r>
              <a:rPr lang="en-US" altLang="ko-KR" sz="1000" dirty="0">
                <a:solidFill>
                  <a:srgbClr val="C00000"/>
                </a:solidFill>
              </a:rPr>
              <a:t>()</a:t>
            </a:r>
            <a:r>
              <a:rPr lang="ko-KR" altLang="en-US" sz="1000" dirty="0">
                <a:solidFill>
                  <a:srgbClr val="C00000"/>
                </a:solidFill>
              </a:rPr>
              <a:t>가 실행된다</a:t>
            </a:r>
            <a:r>
              <a:rPr lang="en-US" altLang="ko-KR" sz="1000" dirty="0">
                <a:solidFill>
                  <a:srgbClr val="C00000"/>
                </a:solidFill>
              </a:rPr>
              <a:t>.</a:t>
            </a:r>
            <a:endParaRPr lang="ko-KR" altLang="en-US" sz="10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027DEC3-F9D9-8D19-A5FD-E001DA461657}"/>
              </a:ext>
            </a:extLst>
          </p:cNvPr>
          <p:cNvCxnSpPr/>
          <p:nvPr/>
        </p:nvCxnSpPr>
        <p:spPr bwMode="auto">
          <a:xfrm flipH="1">
            <a:off x="1577340" y="5334000"/>
            <a:ext cx="30708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F306D4F-462B-A288-CA1C-2009F8C6BBE3}"/>
              </a:ext>
            </a:extLst>
          </p:cNvPr>
          <p:cNvSpPr txBox="1"/>
          <p:nvPr/>
        </p:nvSpPr>
        <p:spPr>
          <a:xfrm>
            <a:off x="1731328" y="5002546"/>
            <a:ext cx="2743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9.iret:</a:t>
            </a:r>
            <a:r>
              <a:rPr lang="ko-KR" altLang="en-US" sz="1100" dirty="0"/>
              <a:t>인터럽트 종료</a:t>
            </a:r>
          </a:p>
        </p:txBody>
      </p:sp>
    </p:spTree>
    <p:extLst>
      <p:ext uri="{BB962C8B-B14F-4D97-AF65-F5344CB8AC3E}">
        <p14:creationId xmlns:p14="http://schemas.microsoft.com/office/powerpoint/2010/main" val="1964137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1D1B3-8B34-1D11-A5DC-E830A00D2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77620195-4786-A5E6-1613-FE7D09C35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Timer Interrupt</a:t>
            </a:r>
            <a:r>
              <a:rPr lang="ko-KR" altLang="en-US" sz="3200" dirty="0"/>
              <a:t> </a:t>
            </a:r>
            <a:r>
              <a:rPr lang="en-US" altLang="ko-KR" sz="3200" dirty="0"/>
              <a:t>Handling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02F53D14-ADF3-AF4C-69C7-828B73CA3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  <a:p>
            <a:pPr marL="0" indent="0">
              <a:buNone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909637" lvl="2" indent="0" latinLnBrk="1">
              <a:buNone/>
            </a:pPr>
            <a:endParaRPr lang="en-US" altLang="ko-KR" sz="9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marL="0" indent="0" latinLnBrk="1">
              <a:buNone/>
            </a:pPr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B7CFEC-68B0-6F67-C6D0-C8F7BF23319C}"/>
              </a:ext>
            </a:extLst>
          </p:cNvPr>
          <p:cNvSpPr/>
          <p:nvPr/>
        </p:nvSpPr>
        <p:spPr>
          <a:xfrm>
            <a:off x="574675" y="2743200"/>
            <a:ext cx="7772400" cy="3165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#0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thread_tick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() at ../../threads/thread.c:124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#1  0xc00241be in </a:t>
            </a: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timer_interrupt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=0xc000eed8)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at ../../devices/timer.c:174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#2  0xc0021b00 in </a:t>
            </a: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intr_handler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(frame=0xc000eed8)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at ../../threads/interrupt.c:367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#3  0xc0021de6 in </a:t>
            </a: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intr_entry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() at ../../threads/intr-stubs.S:37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#4  0xc000eed8 in ?? ()</a:t>
            </a:r>
            <a:endParaRPr lang="en-US" altLang="ko-KR" sz="1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083D2-4529-54B4-E0AC-9857F43AF6CC}"/>
              </a:ext>
            </a:extLst>
          </p:cNvPr>
          <p:cNvSpPr txBox="1"/>
          <p:nvPr/>
        </p:nvSpPr>
        <p:spPr>
          <a:xfrm>
            <a:off x="3848767" y="2324298"/>
            <a:ext cx="5105400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entury Gothic" panose="020B0502020202020204" pitchFamily="34" charset="0"/>
              </a:rPr>
              <a:t>Breakpoint 16, </a:t>
            </a:r>
            <a:r>
              <a:rPr lang="en-US" altLang="ko-KR" sz="1400" dirty="0" err="1">
                <a:latin typeface="Century Gothic" panose="020B0502020202020204" pitchFamily="34" charset="0"/>
              </a:rPr>
              <a:t>thread_tick</a:t>
            </a:r>
            <a:r>
              <a:rPr lang="en-US" altLang="ko-KR" sz="1400" dirty="0">
                <a:latin typeface="Century Gothic" panose="020B0502020202020204" pitchFamily="34" charset="0"/>
              </a:rPr>
              <a:t> () at ../../threads/thread.c:124</a:t>
            </a:r>
            <a:endParaRPr lang="ko-KR" altLang="en-US" sz="1400" dirty="0" err="1">
              <a:latin typeface="Century Gothic" panose="020B0502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F708A8-53DB-6BF6-F414-948DC912DE3D}"/>
              </a:ext>
            </a:extLst>
          </p:cNvPr>
          <p:cNvSpPr/>
          <p:nvPr/>
        </p:nvSpPr>
        <p:spPr>
          <a:xfrm>
            <a:off x="566738" y="1676400"/>
            <a:ext cx="3274409" cy="899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b </a:t>
            </a:r>
            <a:r>
              <a:rPr lang="en-US" altLang="ko-KR" sz="2000" dirty="0" err="1">
                <a:latin typeface="Consolas" panose="020B0609020204030204" pitchFamily="49" charset="0"/>
              </a:rPr>
              <a:t>thread_tick</a:t>
            </a:r>
            <a:endParaRPr lang="en-US" altLang="ko-KR" sz="2000" dirty="0">
              <a:latin typeface="Consolas" panose="020B0609020204030204" pitchFamily="49" charset="0"/>
            </a:endParaRP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c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</a:t>
            </a:r>
            <a:r>
              <a:rPr lang="en-US" altLang="ko-KR" sz="2000" dirty="0" err="1">
                <a:latin typeface="Consolas" panose="020B0609020204030204" pitchFamily="49" charset="0"/>
              </a:rPr>
              <a:t>bt</a:t>
            </a:r>
            <a:endParaRPr lang="en-US" altLang="ko-KR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65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0FF5-9385-234E-851C-8B4273A3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6937F7D7-98BD-0AB2-ABEF-FD3435713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Timer Interrupt</a:t>
            </a:r>
            <a:r>
              <a:rPr lang="ko-KR" altLang="en-US" sz="3200" dirty="0"/>
              <a:t> </a:t>
            </a:r>
            <a:r>
              <a:rPr lang="en-US" altLang="ko-KR" sz="3200" dirty="0"/>
              <a:t>Handling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4D406D3E-BC99-4479-7F26-EAD9AA9B1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  <a:p>
            <a:pPr marL="0" indent="0">
              <a:buNone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909637" lvl="2" indent="0" latinLnBrk="1">
              <a:buNone/>
            </a:pPr>
            <a:endParaRPr lang="en-US" altLang="ko-KR" sz="9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marL="0" indent="0" latinLnBrk="1">
              <a:buNone/>
            </a:pPr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4EFB7D-287D-E1C5-9083-BDFF67AD3BB0}"/>
              </a:ext>
            </a:extLst>
          </p:cNvPr>
          <p:cNvSpPr/>
          <p:nvPr/>
        </p:nvSpPr>
        <p:spPr>
          <a:xfrm>
            <a:off x="574675" y="2743200"/>
            <a:ext cx="7772400" cy="3165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thread_ticks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가 </a:t>
            </a:r>
            <a:r>
              <a:rPr lang="en-US" altLang="ko-KR" sz="1400" dirty="0">
                <a:solidFill>
                  <a:srgbClr val="00B050"/>
                </a:solidFill>
                <a:latin typeface="Consolas" panose="020B0609020204030204" pitchFamily="49" charset="0"/>
              </a:rPr>
              <a:t>4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인걸 확인하고 </a:t>
            </a:r>
            <a:r>
              <a:rPr lang="en-US" altLang="ko-KR" sz="1400" dirty="0">
                <a:solidFill>
                  <a:srgbClr val="00B050"/>
                </a:solidFill>
                <a:latin typeface="Consolas" panose="020B0609020204030204" pitchFamily="49" charset="0"/>
              </a:rPr>
              <a:t>if 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문으로 들어가서 </a:t>
            </a:r>
            <a:r>
              <a:rPr lang="en-US" altLang="ko-KR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intr_yield_on_return</a:t>
            </a:r>
            <a:r>
              <a:rPr lang="en-US" altLang="ko-KR" sz="1400" dirty="0">
                <a:solidFill>
                  <a:srgbClr val="00B050"/>
                </a:solidFill>
                <a:latin typeface="Consolas" panose="020B0609020204030204" pitchFamily="49" charset="0"/>
              </a:rPr>
              <a:t>() </a:t>
            </a:r>
            <a:r>
              <a:rPr lang="ko-KR" alt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실행</a:t>
            </a:r>
            <a:endParaRPr lang="en-US" altLang="ko-KR" sz="1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rabicPlain" startAt="138"/>
            </a:pP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if (++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thread_ticks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&gt;= TIME_SLICE)</a:t>
            </a:r>
          </a:p>
          <a:p>
            <a:pPr marL="342900" indent="-342900">
              <a:buAutoNum type="arabicPlain" startAt="139"/>
            </a:pP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intr_yield_on_return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 ();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p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thread_ticks</a:t>
            </a:r>
            <a:endParaRPr lang="en-US" altLang="ko-KR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$63 = 4</a:t>
            </a:r>
          </a:p>
          <a:p>
            <a:pPr marL="342900" indent="-342900">
              <a:buAutoNum type="arabicPlain" startAt="139"/>
            </a:pPr>
            <a:endParaRPr lang="en-US" altLang="ko-KR" sz="1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intr_yield_on_return</a:t>
            </a:r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 () at ../../threads/interrupt.c:223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223     {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) l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221     void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222     </a:t>
            </a:r>
            <a:r>
              <a:rPr lang="en-US" altLang="ko-KR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intr_yield_on_return</a:t>
            </a:r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 (void) 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223     {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224       ASSERT (</a:t>
            </a:r>
            <a:r>
              <a:rPr lang="en-US" altLang="ko-KR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intr_context</a:t>
            </a:r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 ());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225       </a:t>
            </a:r>
            <a:r>
              <a:rPr lang="en-US" altLang="ko-KR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yield_on_return</a:t>
            </a:r>
            <a:r>
              <a:rPr lang="en-US" altLang="ko-KR" sz="1200" dirty="0">
                <a:solidFill>
                  <a:srgbClr val="C00000"/>
                </a:solidFill>
                <a:latin typeface="Consolas" panose="020B0609020204030204" pitchFamily="49" charset="0"/>
              </a:rPr>
              <a:t> = true;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Consolas" panose="020B0609020204030204" pitchFamily="49" charset="0"/>
              </a:rPr>
              <a:t>226     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015F5-FFEA-1917-D7C7-7802212918F1}"/>
              </a:ext>
            </a:extLst>
          </p:cNvPr>
          <p:cNvSpPr txBox="1"/>
          <p:nvPr/>
        </p:nvSpPr>
        <p:spPr>
          <a:xfrm>
            <a:off x="3848767" y="2324298"/>
            <a:ext cx="5105400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entury Gothic" panose="020B0502020202020204" pitchFamily="34" charset="0"/>
              </a:rPr>
              <a:t>Breakpoint 16, </a:t>
            </a:r>
            <a:r>
              <a:rPr lang="en-US" altLang="ko-KR" sz="1400" dirty="0" err="1">
                <a:latin typeface="Century Gothic" panose="020B0502020202020204" pitchFamily="34" charset="0"/>
              </a:rPr>
              <a:t>thread_tick</a:t>
            </a:r>
            <a:r>
              <a:rPr lang="en-US" altLang="ko-KR" sz="1400" dirty="0">
                <a:latin typeface="Century Gothic" panose="020B0502020202020204" pitchFamily="34" charset="0"/>
              </a:rPr>
              <a:t> () at ../../threads/thread.c:124</a:t>
            </a:r>
            <a:endParaRPr lang="ko-KR" altLang="en-US" sz="1400" dirty="0" err="1">
              <a:latin typeface="Century Gothic" panose="020B0502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32D91D-A602-8B3E-B169-A522F6579C47}"/>
              </a:ext>
            </a:extLst>
          </p:cNvPr>
          <p:cNvSpPr/>
          <p:nvPr/>
        </p:nvSpPr>
        <p:spPr>
          <a:xfrm>
            <a:off x="566738" y="1676400"/>
            <a:ext cx="3274409" cy="89916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p </a:t>
            </a:r>
            <a:r>
              <a:rPr lang="en-US" altLang="ko-KR" sz="2000" dirty="0" err="1">
                <a:latin typeface="Consolas" panose="020B0609020204030204" pitchFamily="49" charset="0"/>
              </a:rPr>
              <a:t>thread_ticks</a:t>
            </a:r>
            <a:endParaRPr lang="en-US" altLang="ko-KR" sz="2000" dirty="0">
              <a:latin typeface="Consolas" panose="020B0609020204030204" pitchFamily="49" charset="0"/>
            </a:endParaRP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c</a:t>
            </a:r>
          </a:p>
          <a:p>
            <a:r>
              <a:rPr lang="en-US" altLang="ko-KR" sz="2000" dirty="0">
                <a:latin typeface="Consolas" panose="020B0609020204030204" pitchFamily="49" charset="0"/>
              </a:rPr>
              <a:t>(</a:t>
            </a:r>
            <a:r>
              <a:rPr lang="en-US" altLang="ko-KR" sz="2000" dirty="0" err="1">
                <a:latin typeface="Consolas" panose="020B0609020204030204" pitchFamily="49" charset="0"/>
              </a:rPr>
              <a:t>gdb</a:t>
            </a:r>
            <a:r>
              <a:rPr lang="en-US" altLang="ko-KR" sz="2000" dirty="0">
                <a:latin typeface="Consolas" panose="020B06090202040302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25125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F011-B16E-3F36-D27D-8E7DBCC0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208D32EE-4E9F-B410-B561-6AA2FA4AA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Timer Interrupt</a:t>
            </a:r>
            <a:r>
              <a:rPr lang="ko-KR" altLang="en-US" sz="3200" dirty="0"/>
              <a:t> </a:t>
            </a:r>
            <a:r>
              <a:rPr lang="en-US" altLang="ko-KR" sz="3200" dirty="0"/>
              <a:t>Handling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68261A2E-F048-E250-EF52-77657EC09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  <a:p>
            <a:pPr latinLnBrk="1"/>
            <a:endParaRPr lang="en-US" altLang="ko-KR" sz="1600" dirty="0"/>
          </a:p>
          <a:p>
            <a:pPr marL="0" indent="0">
              <a:buNone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909637" lvl="2" indent="0" latinLnBrk="1">
              <a:buNone/>
            </a:pPr>
            <a:endParaRPr lang="en-US" altLang="ko-KR" sz="9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latinLnBrk="1"/>
            <a:endParaRPr lang="en-US" altLang="ko-KR" sz="1600" dirty="0"/>
          </a:p>
          <a:p>
            <a:pPr marL="0" indent="0" latinLnBrk="1">
              <a:buNone/>
            </a:pPr>
            <a:endParaRPr lang="en-US" altLang="ko-KR" sz="16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714627-F5BC-B90B-7C04-FD0CB6D9F107}"/>
              </a:ext>
            </a:extLst>
          </p:cNvPr>
          <p:cNvSpPr/>
          <p:nvPr/>
        </p:nvSpPr>
        <p:spPr>
          <a:xfrm>
            <a:off x="574675" y="2743200"/>
            <a:ext cx="7772400" cy="3165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intr_handler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(frame=0xc000eed8) at ../../threads/interrupt.c:378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378       if (external)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n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380           ASSERT 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intr_get_level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() == INTR_OFF);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214       return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in_external_intr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383         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in_external_intr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= false;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384           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pic_end_of_interrupt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 (frame-&gt;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vec_no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386           if 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yield_on_return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gdb</a:t>
            </a:r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nsolas" panose="020B0609020204030204" pitchFamily="49" charset="0"/>
              </a:rPr>
              <a:t>387             </a:t>
            </a:r>
            <a:r>
              <a:rPr lang="en-US" altLang="ko-KR" sz="1400" dirty="0" err="1">
                <a:solidFill>
                  <a:srgbClr val="C00000"/>
                </a:solidFill>
                <a:latin typeface="Consolas" panose="020B0609020204030204" pitchFamily="49" charset="0"/>
              </a:rPr>
              <a:t>thread_yield</a:t>
            </a:r>
            <a:r>
              <a:rPr lang="en-US" altLang="ko-KR" sz="1400" dirty="0">
                <a:solidFill>
                  <a:srgbClr val="C00000"/>
                </a:solidFill>
                <a:latin typeface="Consolas" panose="020B0609020204030204" pitchFamily="49" charset="0"/>
              </a:rPr>
              <a:t> 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98874-4A82-9AFD-A1BF-710A37592FE0}"/>
              </a:ext>
            </a:extLst>
          </p:cNvPr>
          <p:cNvSpPr txBox="1"/>
          <p:nvPr/>
        </p:nvSpPr>
        <p:spPr>
          <a:xfrm>
            <a:off x="3962400" y="2336661"/>
            <a:ext cx="5447634" cy="2769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Century Gothic" panose="020B0502020202020204" pitchFamily="34" charset="0"/>
              </a:rPr>
              <a:t>intr_handler</a:t>
            </a:r>
            <a:r>
              <a:rPr lang="en-US" altLang="ko-KR" sz="1200" dirty="0">
                <a:latin typeface="Century Gothic" panose="020B0502020202020204" pitchFamily="34" charset="0"/>
              </a:rPr>
              <a:t> (frame=0xc000eed8) at ../../threads/interrupt.c:378</a:t>
            </a:r>
            <a:endParaRPr lang="ko-KR" altLang="en-US" sz="1200" dirty="0" err="1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2646C-2279-BAD6-D79C-D4229882C684}"/>
              </a:ext>
            </a:extLst>
          </p:cNvPr>
          <p:cNvSpPr txBox="1"/>
          <p:nvPr/>
        </p:nvSpPr>
        <p:spPr>
          <a:xfrm>
            <a:off x="685800" y="1905000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Return </a:t>
            </a:r>
            <a:r>
              <a:rPr lang="ko-KR" altLang="en-US" dirty="0"/>
              <a:t>상황에서 </a:t>
            </a:r>
            <a:r>
              <a:rPr lang="en-US" altLang="ko-KR" dirty="0" err="1"/>
              <a:t>yield_on_return</a:t>
            </a:r>
            <a:r>
              <a:rPr lang="en-US" altLang="ko-KR" dirty="0"/>
              <a:t> = true </a:t>
            </a:r>
            <a:r>
              <a:rPr lang="ko-KR" altLang="en-US" dirty="0"/>
              <a:t>인 경우</a:t>
            </a:r>
          </a:p>
        </p:txBody>
      </p:sp>
    </p:spTree>
    <p:extLst>
      <p:ext uri="{BB962C8B-B14F-4D97-AF65-F5344CB8AC3E}">
        <p14:creationId xmlns:p14="http://schemas.microsoft.com/office/powerpoint/2010/main" val="33437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E229-2CF3-4DE0-EEF9-D0406B42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E00DC4-2FC0-F5EA-4228-7C3669887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관리 시스템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150AB364-D15F-CA1D-EAA9-5237F18D6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lvl="0" rtl="0"/>
            <a:r>
              <a:rPr lang="en-US" altLang="ko-KR" sz="2000"/>
              <a:t>[</a:t>
            </a:r>
            <a:r>
              <a:rPr lang="ko-KR" altLang="en-US" sz="2000"/>
              <a:t>구조</a:t>
            </a:r>
            <a:r>
              <a:rPr lang="en-US" altLang="ko-KR" sz="2000"/>
              <a:t>] </a:t>
            </a:r>
          </a:p>
          <a:p>
            <a:pPr marL="0" indent="0">
              <a:buNone/>
            </a:pPr>
            <a:r>
              <a:rPr lang="en-US" altLang="ko-KR" sz="2000"/>
              <a:t>  - TCB + Stack in A Page</a:t>
            </a:r>
          </a:p>
          <a:p>
            <a:pPr marL="0" indent="0">
              <a:buNone/>
            </a:pPr>
            <a:r>
              <a:rPr lang="en-US" altLang="ko-KR" sz="2000"/>
              <a:t>  - all_list, ready_list(</a:t>
            </a:r>
            <a:r>
              <a:rPr lang="ko-KR" altLang="en-US" sz="2000"/>
              <a:t>레디 큐</a:t>
            </a:r>
            <a:r>
              <a:rPr lang="en-US" altLang="ko-KR" sz="2000"/>
              <a:t>)</a:t>
            </a:r>
          </a:p>
          <a:p>
            <a:pPr lvl="1" rtl="0"/>
            <a:endParaRPr lang="en-US" altLang="ko-KR" sz="2000"/>
          </a:p>
          <a:p>
            <a:pPr lvl="0"/>
            <a:r>
              <a:rPr lang="en-US" altLang="ko-KR" sz="2000"/>
              <a:t>[</a:t>
            </a:r>
            <a:r>
              <a:rPr lang="ko-KR" altLang="en-US" sz="2000"/>
              <a:t>기능</a:t>
            </a:r>
            <a:r>
              <a:rPr lang="en-US" altLang="ko-KR" sz="2000"/>
              <a:t>] </a:t>
            </a:r>
            <a:r>
              <a:rPr lang="ko-KR" altLang="en-US" sz="2000"/>
              <a:t>쓰레드 스위칭</a:t>
            </a:r>
            <a:r>
              <a:rPr lang="en-US" altLang="ko-KR" sz="2000"/>
              <a:t>, </a:t>
            </a:r>
            <a:r>
              <a:rPr lang="ko-KR" altLang="en-US" sz="2000"/>
              <a:t>생성</a:t>
            </a:r>
            <a:r>
              <a:rPr lang="en-US" altLang="ko-KR" sz="2000"/>
              <a:t>, </a:t>
            </a:r>
            <a:r>
              <a:rPr lang="ko-KR" altLang="en-US" sz="2000"/>
              <a:t>종료</a:t>
            </a:r>
            <a:r>
              <a:rPr lang="en-US" altLang="ko-KR" sz="2000"/>
              <a:t>, </a:t>
            </a:r>
            <a:r>
              <a:rPr lang="ko-KR" altLang="en-US" sz="2000"/>
              <a:t>스케쥴링</a:t>
            </a:r>
            <a:endParaRPr lang="en-US" altLang="ko-KR" sz="2000"/>
          </a:p>
          <a:p>
            <a:pPr lvl="1"/>
            <a:endParaRPr lang="ko-KR" altLang="en-US" sz="2000"/>
          </a:p>
          <a:p>
            <a:pPr marL="342900" lvl="1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185365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36132-DF88-E094-D29A-B386FACD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818A9-0773-FAE0-87A6-E62289C3E9C3}"/>
              </a:ext>
            </a:extLst>
          </p:cNvPr>
          <p:cNvSpPr txBox="1"/>
          <p:nvPr/>
        </p:nvSpPr>
        <p:spPr>
          <a:xfrm>
            <a:off x="5713307" y="2592674"/>
            <a:ext cx="187832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stack</a:t>
            </a:r>
            <a:endParaRPr lang="ko-KR" altLang="en-US" sz="15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35B082-41EF-592F-6B86-0F37FAE743EB}"/>
              </a:ext>
            </a:extLst>
          </p:cNvPr>
          <p:cNvSpPr txBox="1"/>
          <p:nvPr/>
        </p:nvSpPr>
        <p:spPr>
          <a:xfrm>
            <a:off x="6065376" y="4518530"/>
            <a:ext cx="187832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TCB (struct thread)</a:t>
            </a:r>
            <a:endParaRPr lang="ko-KR" altLang="en-US" sz="15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49BB4-59A6-4BFF-3165-063839E171DE}"/>
              </a:ext>
            </a:extLst>
          </p:cNvPr>
          <p:cNvSpPr txBox="1"/>
          <p:nvPr/>
        </p:nvSpPr>
        <p:spPr>
          <a:xfrm>
            <a:off x="1676400" y="3478956"/>
            <a:ext cx="1878329" cy="4847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Page</a:t>
            </a:r>
          </a:p>
          <a:p>
            <a:pPr algn="ctr"/>
            <a:r>
              <a:rPr lang="en-US" altLang="ko-KR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(4KB</a:t>
            </a:r>
            <a:r>
              <a:rPr lang="en-US" altLang="ko-KR" sz="1050" i="1" dirty="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sz="1050" dirty="0" err="1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9A417F-1386-5159-50C8-6ADA0D2555A6}"/>
              </a:ext>
            </a:extLst>
          </p:cNvPr>
          <p:cNvSpPr/>
          <p:nvPr/>
        </p:nvSpPr>
        <p:spPr>
          <a:xfrm>
            <a:off x="3332315" y="3678265"/>
            <a:ext cx="248346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magic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3B094BEB-F276-F3B8-7B6B-5CF812B97432}"/>
              </a:ext>
            </a:extLst>
          </p:cNvPr>
          <p:cNvSpPr/>
          <p:nvPr/>
        </p:nvSpPr>
        <p:spPr>
          <a:xfrm>
            <a:off x="3723519" y="1993857"/>
            <a:ext cx="1694533" cy="921982"/>
          </a:xfrm>
          <a:prstGeom prst="downArrow">
            <a:avLst>
              <a:gd name="adj1" fmla="val 73023"/>
              <a:gd name="adj2" fmla="val 44821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i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algn="ctr"/>
            <a:r>
              <a:rPr lang="en-US" altLang="ko-KR" sz="1400" i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Grows down</a:t>
            </a:r>
            <a:endParaRPr lang="ko-KR" altLang="en-US" sz="1400" i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9CBEDF-F3B9-66FF-CE0D-482B2AA42674}"/>
              </a:ext>
            </a:extLst>
          </p:cNvPr>
          <p:cNvSpPr/>
          <p:nvPr/>
        </p:nvSpPr>
        <p:spPr>
          <a:xfrm>
            <a:off x="3336445" y="4001441"/>
            <a:ext cx="524511" cy="162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946A72-5C0E-DFFF-5057-FEDAF8610F0D}"/>
              </a:ext>
            </a:extLst>
          </p:cNvPr>
          <p:cNvSpPr/>
          <p:nvPr/>
        </p:nvSpPr>
        <p:spPr>
          <a:xfrm>
            <a:off x="5278172" y="4001441"/>
            <a:ext cx="524511" cy="162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B3FEA5-0454-3A77-B815-C5B604717EF2}"/>
              </a:ext>
            </a:extLst>
          </p:cNvPr>
          <p:cNvSpPr/>
          <p:nvPr/>
        </p:nvSpPr>
        <p:spPr>
          <a:xfrm>
            <a:off x="3336445" y="4236200"/>
            <a:ext cx="524511" cy="162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C640F55-F372-8AC1-34FD-E22BA0FB41CC}"/>
              </a:ext>
            </a:extLst>
          </p:cNvPr>
          <p:cNvSpPr/>
          <p:nvPr/>
        </p:nvSpPr>
        <p:spPr>
          <a:xfrm>
            <a:off x="5278172" y="4236200"/>
            <a:ext cx="524511" cy="162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3EB89D-58C4-A652-7E56-DA2B20A73CEA}"/>
              </a:ext>
            </a:extLst>
          </p:cNvPr>
          <p:cNvSpPr/>
          <p:nvPr/>
        </p:nvSpPr>
        <p:spPr>
          <a:xfrm>
            <a:off x="3332315" y="3923853"/>
            <a:ext cx="248346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allelem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541A60-6767-E108-7CFD-DF68FE553375}"/>
              </a:ext>
            </a:extLst>
          </p:cNvPr>
          <p:cNvSpPr/>
          <p:nvPr/>
        </p:nvSpPr>
        <p:spPr>
          <a:xfrm>
            <a:off x="3334456" y="4165583"/>
            <a:ext cx="248346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0F9869D-9E25-68A0-61D3-1FCE0FB0F583}"/>
              </a:ext>
            </a:extLst>
          </p:cNvPr>
          <p:cNvSpPr/>
          <p:nvPr/>
        </p:nvSpPr>
        <p:spPr>
          <a:xfrm>
            <a:off x="3332315" y="4397190"/>
            <a:ext cx="248560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4C3CEB7-032E-0267-BF3C-CA0DB698E639}"/>
              </a:ext>
            </a:extLst>
          </p:cNvPr>
          <p:cNvSpPr/>
          <p:nvPr/>
        </p:nvSpPr>
        <p:spPr>
          <a:xfrm>
            <a:off x="3332315" y="4628004"/>
            <a:ext cx="248560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59C92F-1F8A-7534-941A-98740F3BF605}"/>
              </a:ext>
            </a:extLst>
          </p:cNvPr>
          <p:cNvSpPr/>
          <p:nvPr/>
        </p:nvSpPr>
        <p:spPr>
          <a:xfrm>
            <a:off x="3330174" y="1828800"/>
            <a:ext cx="2489886" cy="3778963"/>
          </a:xfrm>
          <a:prstGeom prst="rect">
            <a:avLst/>
          </a:prstGeom>
          <a:noFill/>
          <a:ln w="12700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D97A50-3E6A-6A12-8331-F1B7AA5F9AE2}"/>
              </a:ext>
            </a:extLst>
          </p:cNvPr>
          <p:cNvSpPr/>
          <p:nvPr/>
        </p:nvSpPr>
        <p:spPr>
          <a:xfrm>
            <a:off x="3332315" y="4875202"/>
            <a:ext cx="248560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BD82F0-DFAC-FD2D-578F-AAC05F1FF683}"/>
              </a:ext>
            </a:extLst>
          </p:cNvPr>
          <p:cNvSpPr/>
          <p:nvPr/>
        </p:nvSpPr>
        <p:spPr>
          <a:xfrm>
            <a:off x="3332315" y="5122401"/>
            <a:ext cx="248560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F75D84-6C53-3EAB-5282-EEA3FA056CC1}"/>
              </a:ext>
            </a:extLst>
          </p:cNvPr>
          <p:cNvSpPr/>
          <p:nvPr/>
        </p:nvSpPr>
        <p:spPr>
          <a:xfrm>
            <a:off x="3332315" y="5365082"/>
            <a:ext cx="2485604" cy="242681"/>
          </a:xfrm>
          <a:prstGeom prst="rect">
            <a:avLst/>
          </a:prstGeom>
          <a:solidFill>
            <a:srgbClr val="D9D9D9"/>
          </a:solidFill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2BEF0A29-0B2F-5F2F-7156-39C96EE3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9819" y="765849"/>
            <a:ext cx="1873250" cy="2443532"/>
          </a:xfrm>
          <a:prstGeom prst="can">
            <a:avLst>
              <a:gd name="adj" fmla="val 1384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q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굴림" panose="020B0600000101010101" pitchFamily="50" charset="-127"/>
              <a:buChar char="−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w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w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w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w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w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6E32318B-BA2A-D5E8-6D9C-1FFF7B6BB058}"/>
              </a:ext>
            </a:extLst>
          </p:cNvPr>
          <p:cNvSpPr/>
          <p:nvPr/>
        </p:nvSpPr>
        <p:spPr>
          <a:xfrm>
            <a:off x="3066585" y="1833838"/>
            <a:ext cx="204148" cy="37609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3B48A832-7FA9-6D68-F2E5-1FDE23FB4633}"/>
              </a:ext>
            </a:extLst>
          </p:cNvPr>
          <p:cNvSpPr/>
          <p:nvPr/>
        </p:nvSpPr>
        <p:spPr>
          <a:xfrm rot="10800000">
            <a:off x="5867400" y="1828800"/>
            <a:ext cx="238867" cy="1844816"/>
          </a:xfrm>
          <a:prstGeom prst="leftBrace">
            <a:avLst>
              <a:gd name="adj1" fmla="val 8333"/>
              <a:gd name="adj2" fmla="val 4935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왼쪽 중괄호 37">
            <a:extLst>
              <a:ext uri="{FF2B5EF4-FFF2-40B4-BE49-F238E27FC236}">
                <a16:creationId xmlns:a16="http://schemas.microsoft.com/office/drawing/2014/main" id="{D580AD22-41E8-2453-C62E-5CB65CE2C5DE}"/>
              </a:ext>
            </a:extLst>
          </p:cNvPr>
          <p:cNvSpPr/>
          <p:nvPr/>
        </p:nvSpPr>
        <p:spPr>
          <a:xfrm rot="10800000">
            <a:off x="5867399" y="3696457"/>
            <a:ext cx="238867" cy="1911306"/>
          </a:xfrm>
          <a:prstGeom prst="leftBrace">
            <a:avLst>
              <a:gd name="adj1" fmla="val 8333"/>
              <a:gd name="adj2" fmla="val 4935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CC0DF8A4-99F3-4A40-5962-52A32B40D3B2}"/>
              </a:ext>
            </a:extLst>
          </p:cNvPr>
          <p:cNvSpPr/>
          <p:nvPr/>
        </p:nvSpPr>
        <p:spPr>
          <a:xfrm>
            <a:off x="8349260" y="1957135"/>
            <a:ext cx="330379" cy="33599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endParaRPr kumimoji="1" lang="ko-KR" altLang="en-US" sz="1050" kern="0" dirty="0">
              <a:solidFill>
                <a:srgbClr val="000000"/>
              </a:solidFill>
              <a:latin typeface="Times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DE1D2488-C3FE-7165-2A2F-C8B850B84DA1}"/>
              </a:ext>
            </a:extLst>
          </p:cNvPr>
          <p:cNvSpPr/>
          <p:nvPr/>
        </p:nvSpPr>
        <p:spPr>
          <a:xfrm>
            <a:off x="8465348" y="744814"/>
            <a:ext cx="330379" cy="33599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endParaRPr kumimoji="1" lang="ko-KR" altLang="en-US" sz="1000" kern="0">
              <a:solidFill>
                <a:srgbClr val="000000"/>
              </a:solidFill>
              <a:latin typeface="Times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881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CE095-9364-E0BF-A023-75B0C2D6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(struct thread).magic </a:t>
            </a:r>
            <a:r>
              <a:rPr lang="ko-KR" altLang="en-US"/>
              <a:t>필드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00CD9-54EF-5511-BD60-961B5B416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/>
              <a:t>쓰레드 스텍이 </a:t>
            </a:r>
            <a:r>
              <a:rPr lang="en-US" altLang="ko-KR" sz="1800"/>
              <a:t>TCB </a:t>
            </a:r>
            <a:r>
              <a:rPr lang="ko-KR" altLang="en-US" sz="1800"/>
              <a:t>영역을 침범하면</a:t>
            </a:r>
            <a:r>
              <a:rPr lang="en-US" altLang="ko-KR" sz="1800"/>
              <a:t>, </a:t>
            </a:r>
            <a:r>
              <a:rPr lang="ko-KR" altLang="en-US" sz="1800"/>
              <a:t>가장 먼저 </a:t>
            </a:r>
            <a:r>
              <a:rPr lang="en-US" altLang="ko-KR" sz="1800"/>
              <a:t>magic </a:t>
            </a:r>
            <a:r>
              <a:rPr lang="ko-KR" altLang="en-US" sz="1800"/>
              <a:t>필드를 변조한다</a:t>
            </a:r>
            <a:r>
              <a:rPr lang="en-US" altLang="ko-KR" sz="1800"/>
              <a:t>. </a:t>
            </a:r>
            <a:r>
              <a:rPr lang="ko-KR" altLang="en-US" sz="1800"/>
              <a:t>이 경우 해당 쓰레드는 안전하지 않다</a:t>
            </a:r>
            <a:r>
              <a:rPr lang="en-US" altLang="ko-KR" sz="1800"/>
              <a:t>.</a:t>
            </a:r>
            <a:endParaRPr lang="ko-KR" altLang="en-US" sz="18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95D646-88C2-FA0E-22F8-35C8BA60612E}"/>
              </a:ext>
            </a:extLst>
          </p:cNvPr>
          <p:cNvSpPr/>
          <p:nvPr/>
        </p:nvSpPr>
        <p:spPr>
          <a:xfrm>
            <a:off x="498013" y="2819400"/>
            <a:ext cx="8069725" cy="25789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(gdb) tb is_thread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c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l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442     /* Returns true if T appears to point to a valid thread. */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443     static bool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444     is_thread (struct thread *t)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445     {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446       return t != NULL &amp;&amp;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t-&gt;magic == THREAD_MAGIC; 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                              // check if the magic field is valid.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447     }</a:t>
            </a:r>
            <a:endParaRPr lang="ko-KR" altLang="en-U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46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43FD-CF94-1E77-F110-125295BF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1AFAF-D601-349C-6FC2-6FC378B1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%esp</a:t>
            </a:r>
            <a:r>
              <a:rPr lang="ko-KR" altLang="en-US"/>
              <a:t> </a:t>
            </a:r>
            <a:r>
              <a:rPr lang="en-US" altLang="ko-KR"/>
              <a:t>(stack top </a:t>
            </a:r>
            <a:r>
              <a:rPr lang="ko-KR" altLang="en-US"/>
              <a:t>레지스터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35B2FC-1EB1-25F1-86BD-8A21C2B9A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%esp </a:t>
            </a:r>
            <a:r>
              <a:rPr lang="ko-KR" altLang="en-US" sz="2000"/>
              <a:t>레지스터는 </a:t>
            </a:r>
            <a:r>
              <a:rPr lang="en-US" altLang="ko-KR" sz="2000"/>
              <a:t>Pintos </a:t>
            </a:r>
            <a:r>
              <a:rPr lang="ko-KR" altLang="en-US" sz="2000"/>
              <a:t>초기화 이후 </a:t>
            </a:r>
            <a:r>
              <a:rPr lang="en-US" altLang="ko-KR" sz="2000">
                <a:solidFill>
                  <a:srgbClr val="FF0000"/>
                </a:solidFill>
              </a:rPr>
              <a:t>running</a:t>
            </a:r>
            <a:r>
              <a:rPr lang="ko-KR" altLang="en-US" sz="2000">
                <a:solidFill>
                  <a:srgbClr val="FF0000"/>
                </a:solidFill>
              </a:rPr>
              <a:t> 쓰레드</a:t>
            </a:r>
            <a:r>
              <a:rPr lang="ko-KR" altLang="en-US" sz="2000"/>
              <a:t>의 </a:t>
            </a:r>
            <a:r>
              <a:rPr lang="ko-KR" altLang="en-US" sz="2000">
                <a:solidFill>
                  <a:srgbClr val="FF0000"/>
                </a:solidFill>
              </a:rPr>
              <a:t>스텍 탑을 </a:t>
            </a:r>
            <a:r>
              <a:rPr lang="ko-KR" altLang="en-US" sz="2000"/>
              <a:t>가리킨다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Pintos</a:t>
            </a:r>
            <a:r>
              <a:rPr lang="ko-KR" altLang="en-US" sz="2000"/>
              <a:t>는 </a:t>
            </a:r>
            <a:r>
              <a:rPr lang="en-US" altLang="ko-KR" sz="2000"/>
              <a:t>%esp</a:t>
            </a:r>
            <a:r>
              <a:rPr lang="ko-KR" altLang="en-US" sz="2000"/>
              <a:t>를 통해 </a:t>
            </a:r>
            <a:r>
              <a:rPr lang="en-US" altLang="ko-KR" sz="2000"/>
              <a:t>running </a:t>
            </a:r>
            <a:r>
              <a:rPr lang="ko-KR" altLang="en-US" sz="2000"/>
              <a:t>쓰레드를 식별하고</a:t>
            </a:r>
            <a:r>
              <a:rPr lang="en-US" altLang="ko-KR" sz="2000"/>
              <a:t>, </a:t>
            </a:r>
            <a:r>
              <a:rPr lang="ko-KR" altLang="en-US" sz="2000"/>
              <a:t>별도의 </a:t>
            </a:r>
            <a:r>
              <a:rPr lang="en-US" altLang="ko-KR" sz="2000"/>
              <a:t>running </a:t>
            </a:r>
            <a:r>
              <a:rPr lang="ko-KR" altLang="en-US" sz="2000"/>
              <a:t>쓰레드를 가리키는 포인터는 없다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7D089F-2D81-BACD-9BF3-222DA0A44688}"/>
              </a:ext>
            </a:extLst>
          </p:cNvPr>
          <p:cNvSpPr/>
          <p:nvPr/>
        </p:nvSpPr>
        <p:spPr>
          <a:xfrm>
            <a:off x="540312" y="3657600"/>
            <a:ext cx="8069725" cy="22553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(gdb) tb schedule               (gdb) s 2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c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l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429     struct thread *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430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running_thread (void) 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431     {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432       uint32_t *esp;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438       asm ("mov %%esp, %0" : "=g" (esp));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439       return pg_round_down (esp);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756CC-E5BF-25FA-974F-3876DC7907E5}"/>
              </a:ext>
            </a:extLst>
          </p:cNvPr>
          <p:cNvSpPr txBox="1"/>
          <p:nvPr/>
        </p:nvSpPr>
        <p:spPr>
          <a:xfrm>
            <a:off x="3581626" y="3319046"/>
            <a:ext cx="508023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running_thread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../../threads/thread.c:438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611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34D19-A03A-B019-88A5-A5FF12CB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스위칭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D06F83-8179-0A27-EA40-1F99FD92323C}"/>
              </a:ext>
            </a:extLst>
          </p:cNvPr>
          <p:cNvSpPr/>
          <p:nvPr/>
        </p:nvSpPr>
        <p:spPr>
          <a:xfrm>
            <a:off x="118637" y="2647183"/>
            <a:ext cx="4926349" cy="2895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latin typeface="Consolas" panose="020B0609020204030204" pitchFamily="49" charset="0"/>
              </a:rPr>
              <a:t>26    pushl %ebx   pushl %ebp   pushl %esi   pushl %edi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31    # Get offsetof (struct thread, stack).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32 .globl thread_stack_ofs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33    mov thread_stack_ofs, %edx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34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36    movl SWITCH_CUR(%esp), %eax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37    movl %esp, (%eax,%edx,1)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38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40    movl SWITCH_NEXT(%esp), %ecx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41    movl (%ecx,%edx,1), %esp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42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43    # Restore caller's register state.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44    popl %edi   popl %esi   popl %ebp   popl %ebx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48    ret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0CC3B5-C0A7-E74B-0DA6-0FC20085864A}"/>
              </a:ext>
            </a:extLst>
          </p:cNvPr>
          <p:cNvSpPr txBox="1"/>
          <p:nvPr/>
        </p:nvSpPr>
        <p:spPr>
          <a:xfrm>
            <a:off x="118638" y="2308629"/>
            <a:ext cx="49263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switch_threads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../../threads/switch.S:26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33FFBB-1903-AE55-05CA-004E2C096172}"/>
              </a:ext>
            </a:extLst>
          </p:cNvPr>
          <p:cNvSpPr/>
          <p:nvPr/>
        </p:nvSpPr>
        <p:spPr>
          <a:xfrm>
            <a:off x="5409392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47978E-BF99-7CCA-AAFC-BD95CFC34E46}"/>
              </a:ext>
            </a:extLst>
          </p:cNvPr>
          <p:cNvSpPr/>
          <p:nvPr/>
        </p:nvSpPr>
        <p:spPr>
          <a:xfrm>
            <a:off x="7865255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23BC933-8C25-2CE7-D0C3-7455FD959EE3}"/>
              </a:ext>
            </a:extLst>
          </p:cNvPr>
          <p:cNvSpPr/>
          <p:nvPr/>
        </p:nvSpPr>
        <p:spPr>
          <a:xfrm>
            <a:off x="6825108" y="4184535"/>
            <a:ext cx="766894" cy="27102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%esp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8ADBC8-80AD-66F3-8D25-5461FB5F0FB3}"/>
              </a:ext>
            </a:extLst>
          </p:cNvPr>
          <p:cNvSpPr/>
          <p:nvPr/>
        </p:nvSpPr>
        <p:spPr>
          <a:xfrm>
            <a:off x="5409391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3715EE8-B850-73D8-6A9E-7241D96934C1}"/>
              </a:ext>
            </a:extLst>
          </p:cNvPr>
          <p:cNvCxnSpPr>
            <a:cxnSpLocks/>
          </p:cNvCxnSpPr>
          <p:nvPr/>
        </p:nvCxnSpPr>
        <p:spPr>
          <a:xfrm flipH="1" flipV="1">
            <a:off x="6777181" y="4313015"/>
            <a:ext cx="156210" cy="360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5D0CDC1-EF43-BA54-BF25-44E849547ACD}"/>
              </a:ext>
            </a:extLst>
          </p:cNvPr>
          <p:cNvCxnSpPr>
            <a:cxnSpLocks/>
          </p:cNvCxnSpPr>
          <p:nvPr/>
        </p:nvCxnSpPr>
        <p:spPr>
          <a:xfrm>
            <a:off x="6552391" y="3594673"/>
            <a:ext cx="228600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FC29B85-78FF-28B9-B0D6-B262175227B1}"/>
              </a:ext>
            </a:extLst>
          </p:cNvPr>
          <p:cNvSpPr txBox="1"/>
          <p:nvPr/>
        </p:nvSpPr>
        <p:spPr>
          <a:xfrm>
            <a:off x="5461769" y="2359093"/>
            <a:ext cx="98777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cur thread</a:t>
            </a:r>
            <a:endParaRPr lang="ko-KR" altLang="en-US" sz="1200" dirty="0" err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EECAE7-6B3F-1DF7-084C-BF89BEA62663}"/>
              </a:ext>
            </a:extLst>
          </p:cNvPr>
          <p:cNvSpPr txBox="1"/>
          <p:nvPr/>
        </p:nvSpPr>
        <p:spPr>
          <a:xfrm>
            <a:off x="7884600" y="2370184"/>
            <a:ext cx="10855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next thread</a:t>
            </a:r>
            <a:endParaRPr lang="ko-KR" altLang="en-US" sz="1200" dirty="0" err="1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D5CC922-1CB7-73CC-F8D9-895A3FF9BBA4}"/>
              </a:ext>
            </a:extLst>
          </p:cNvPr>
          <p:cNvSpPr/>
          <p:nvPr/>
        </p:nvSpPr>
        <p:spPr>
          <a:xfrm>
            <a:off x="5409392" y="3060232"/>
            <a:ext cx="1142999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DA626F4-731D-19E7-07D3-9A2A6DDC9AC0}"/>
              </a:ext>
            </a:extLst>
          </p:cNvPr>
          <p:cNvSpPr/>
          <p:nvPr/>
        </p:nvSpPr>
        <p:spPr>
          <a:xfrm>
            <a:off x="5409392" y="3239981"/>
            <a:ext cx="1142999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6FD409-6BCE-1EC7-4AE7-7AF8D0F5684A}"/>
              </a:ext>
            </a:extLst>
          </p:cNvPr>
          <p:cNvSpPr/>
          <p:nvPr/>
        </p:nvSpPr>
        <p:spPr>
          <a:xfrm>
            <a:off x="7865256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02824A-5893-F95B-75CF-A0F5E6B0E4FD}"/>
              </a:ext>
            </a:extLst>
          </p:cNvPr>
          <p:cNvSpPr txBox="1"/>
          <p:nvPr/>
        </p:nvSpPr>
        <p:spPr>
          <a:xfrm>
            <a:off x="5187220" y="1787981"/>
            <a:ext cx="3982180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swtich_thread procedure call do</a:t>
            </a:r>
          </a:p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push return address and arguments</a:t>
            </a:r>
            <a:r>
              <a:rPr lang="en-US" altLang="ko-KR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altLang="ko-KR" sz="16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3B19EA3-720C-202B-7AEB-479A32C0C6F4}"/>
              </a:ext>
            </a:extLst>
          </p:cNvPr>
          <p:cNvSpPr/>
          <p:nvPr/>
        </p:nvSpPr>
        <p:spPr bwMode="auto">
          <a:xfrm>
            <a:off x="5409391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F8C91B8-B147-C48A-9F56-94950A4FDF13}"/>
              </a:ext>
            </a:extLst>
          </p:cNvPr>
          <p:cNvSpPr/>
          <p:nvPr/>
        </p:nvSpPr>
        <p:spPr>
          <a:xfrm>
            <a:off x="5431443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09A3FC5-CA58-2E72-8B07-B31AE1B4C34C}"/>
              </a:ext>
            </a:extLst>
          </p:cNvPr>
          <p:cNvCxnSpPr>
            <a:cxnSpLocks/>
          </p:cNvCxnSpPr>
          <p:nvPr/>
        </p:nvCxnSpPr>
        <p:spPr>
          <a:xfrm>
            <a:off x="5152122" y="3332027"/>
            <a:ext cx="0" cy="270583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E1A6FCD-D3BC-43F0-099D-7D77915F1CFE}"/>
              </a:ext>
            </a:extLst>
          </p:cNvPr>
          <p:cNvCxnSpPr>
            <a:cxnSpLocks/>
          </p:cNvCxnSpPr>
          <p:nvPr/>
        </p:nvCxnSpPr>
        <p:spPr>
          <a:xfrm flipH="1">
            <a:off x="5152122" y="6042946"/>
            <a:ext cx="24256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BC1EADF-E331-9DA2-5245-BA38DA61463E}"/>
              </a:ext>
            </a:extLst>
          </p:cNvPr>
          <p:cNvCxnSpPr>
            <a:cxnSpLocks/>
          </p:cNvCxnSpPr>
          <p:nvPr/>
        </p:nvCxnSpPr>
        <p:spPr>
          <a:xfrm flipH="1">
            <a:off x="5152122" y="3332027"/>
            <a:ext cx="335374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42B9651E-B6B6-0DBF-B99C-F031725AB73A}"/>
              </a:ext>
            </a:extLst>
          </p:cNvPr>
          <p:cNvCxnSpPr>
            <a:cxnSpLocks/>
          </p:cNvCxnSpPr>
          <p:nvPr/>
        </p:nvCxnSpPr>
        <p:spPr>
          <a:xfrm>
            <a:off x="6449540" y="3151037"/>
            <a:ext cx="1193522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78A2C96-C5BF-E66B-4667-26B64C804833}"/>
              </a:ext>
            </a:extLst>
          </p:cNvPr>
          <p:cNvCxnSpPr>
            <a:cxnSpLocks/>
          </p:cNvCxnSpPr>
          <p:nvPr/>
        </p:nvCxnSpPr>
        <p:spPr>
          <a:xfrm>
            <a:off x="7643062" y="3151037"/>
            <a:ext cx="0" cy="289190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D289BEF-0FDE-7522-A6E8-1C22669C4709}"/>
              </a:ext>
            </a:extLst>
          </p:cNvPr>
          <p:cNvCxnSpPr>
            <a:cxnSpLocks/>
          </p:cNvCxnSpPr>
          <p:nvPr/>
        </p:nvCxnSpPr>
        <p:spPr>
          <a:xfrm flipH="1">
            <a:off x="7643062" y="6042946"/>
            <a:ext cx="204976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A2F9B537-5BD9-6494-9F62-70358A696E5F}"/>
              </a:ext>
            </a:extLst>
          </p:cNvPr>
          <p:cNvCxnSpPr>
            <a:cxnSpLocks/>
          </p:cNvCxnSpPr>
          <p:nvPr/>
        </p:nvCxnSpPr>
        <p:spPr>
          <a:xfrm>
            <a:off x="6777181" y="3594673"/>
            <a:ext cx="0" cy="7253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8FBE19AE-9D64-F76F-56A1-4A42B8DBB71D}"/>
              </a:ext>
            </a:extLst>
          </p:cNvPr>
          <p:cNvSpPr/>
          <p:nvPr/>
        </p:nvSpPr>
        <p:spPr bwMode="auto">
          <a:xfrm>
            <a:off x="7861447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192C1B7-62A8-08CA-F713-EEABE9C5013B}"/>
              </a:ext>
            </a:extLst>
          </p:cNvPr>
          <p:cNvSpPr/>
          <p:nvPr/>
        </p:nvSpPr>
        <p:spPr>
          <a:xfrm>
            <a:off x="7883499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95949D0-6941-EF51-5BD7-193974FEC0AF}"/>
              </a:ext>
            </a:extLst>
          </p:cNvPr>
          <p:cNvCxnSpPr>
            <a:cxnSpLocks/>
          </p:cNvCxnSpPr>
          <p:nvPr/>
        </p:nvCxnSpPr>
        <p:spPr>
          <a:xfrm flipH="1">
            <a:off x="7734253" y="5715000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76C818B-120F-3F8B-96B9-AF910470EEC4}"/>
              </a:ext>
            </a:extLst>
          </p:cNvPr>
          <p:cNvCxnSpPr>
            <a:cxnSpLocks/>
          </p:cNvCxnSpPr>
          <p:nvPr/>
        </p:nvCxnSpPr>
        <p:spPr>
          <a:xfrm>
            <a:off x="7734253" y="4303428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4388AF18-90B2-34B7-D6F2-373FEAE06049}"/>
              </a:ext>
            </a:extLst>
          </p:cNvPr>
          <p:cNvCxnSpPr>
            <a:cxnSpLocks/>
          </p:cNvCxnSpPr>
          <p:nvPr/>
        </p:nvCxnSpPr>
        <p:spPr>
          <a:xfrm flipH="1">
            <a:off x="7734253" y="4303428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4A5725D-AAD7-1C61-A416-3526FEAF83F3}"/>
              </a:ext>
            </a:extLst>
          </p:cNvPr>
          <p:cNvSpPr txBox="1"/>
          <p:nvPr/>
        </p:nvSpPr>
        <p:spPr>
          <a:xfrm>
            <a:off x="211258" y="6324600"/>
            <a:ext cx="474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cf. </a:t>
            </a:r>
            <a:r>
              <a:rPr lang="ko-KR" altLang="en-US" sz="1400"/>
              <a:t>각 </a:t>
            </a:r>
            <a:r>
              <a:rPr lang="en-US" altLang="ko-KR" sz="1400"/>
              <a:t>ret addr</a:t>
            </a:r>
            <a:r>
              <a:rPr lang="ko-KR" altLang="en-US" sz="1400"/>
              <a:t>는 </a:t>
            </a:r>
            <a:r>
              <a:rPr lang="en-US" altLang="ko-KR" sz="1400"/>
              <a:t>switch_thread </a:t>
            </a:r>
            <a:r>
              <a:rPr lang="ko-KR" altLang="en-US" sz="1400"/>
              <a:t>다음 명령어를 가리킴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224266B-CA32-79CD-4B2F-B715AD3BC6F3}"/>
              </a:ext>
            </a:extLst>
          </p:cNvPr>
          <p:cNvSpPr/>
          <p:nvPr/>
        </p:nvSpPr>
        <p:spPr>
          <a:xfrm>
            <a:off x="5409392" y="3428635"/>
            <a:ext cx="1142999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3B32507-2DF4-C7EE-6327-6CEF41B01CBB}"/>
              </a:ext>
            </a:extLst>
          </p:cNvPr>
          <p:cNvSpPr/>
          <p:nvPr/>
        </p:nvSpPr>
        <p:spPr>
          <a:xfrm>
            <a:off x="7868358" y="306023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DF0271E-662C-17FF-D2D8-53F0992D57B5}"/>
              </a:ext>
            </a:extLst>
          </p:cNvPr>
          <p:cNvSpPr/>
          <p:nvPr/>
        </p:nvSpPr>
        <p:spPr>
          <a:xfrm>
            <a:off x="7868358" y="323998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7988B58-1CD4-83E4-6136-E9F7BB86F196}"/>
              </a:ext>
            </a:extLst>
          </p:cNvPr>
          <p:cNvSpPr/>
          <p:nvPr/>
        </p:nvSpPr>
        <p:spPr>
          <a:xfrm>
            <a:off x="7868358" y="342863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A7A1BEC-8236-0EDE-9AE0-1FE4E261B669}"/>
              </a:ext>
            </a:extLst>
          </p:cNvPr>
          <p:cNvSpPr/>
          <p:nvPr/>
        </p:nvSpPr>
        <p:spPr>
          <a:xfrm>
            <a:off x="7861447" y="361663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A849C0A-0E33-CF70-FAD1-0CEE20B242A7}"/>
              </a:ext>
            </a:extLst>
          </p:cNvPr>
          <p:cNvSpPr/>
          <p:nvPr/>
        </p:nvSpPr>
        <p:spPr>
          <a:xfrm>
            <a:off x="7861447" y="379884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9F1A656-0F55-CACA-9BAB-84EEF2B9318D}"/>
              </a:ext>
            </a:extLst>
          </p:cNvPr>
          <p:cNvSpPr/>
          <p:nvPr/>
        </p:nvSpPr>
        <p:spPr>
          <a:xfrm>
            <a:off x="7861447" y="3982516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11D22F3-A5FC-5581-20F8-D1103C300D54}"/>
              </a:ext>
            </a:extLst>
          </p:cNvPr>
          <p:cNvSpPr/>
          <p:nvPr/>
        </p:nvSpPr>
        <p:spPr>
          <a:xfrm>
            <a:off x="7861447" y="416624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80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6589-F33E-1E06-F3E5-1A3E2154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42989-A104-33D2-904F-5FB9ABC0C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스위칭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91DB9D8-3F43-D1DD-D190-B84956E35EC9}"/>
              </a:ext>
            </a:extLst>
          </p:cNvPr>
          <p:cNvSpPr/>
          <p:nvPr/>
        </p:nvSpPr>
        <p:spPr>
          <a:xfrm>
            <a:off x="118637" y="2647183"/>
            <a:ext cx="4926349" cy="2895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26    pushl %ebx   pushl %ebp   pushl %esi   pushl %edi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31    # Get offsetof (struct thread, stack).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32 .globl thread_stack_ofs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33    mov thread_stack_ofs, %edx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34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36    movl SWITCH_CUR(%esp), %eax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37    movl %esp, (%eax,%edx,1)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38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40    movl SWITCH_NEXT(%esp), %ecx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41    movl (%ecx,%edx,1), %esp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42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43    # Restore caller's register state.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44    popl %edi   popl %esi   popl %ebp   popl %ebx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48    ret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D44AED-4A45-AE0F-9A45-4F16A34E2596}"/>
              </a:ext>
            </a:extLst>
          </p:cNvPr>
          <p:cNvSpPr txBox="1"/>
          <p:nvPr/>
        </p:nvSpPr>
        <p:spPr>
          <a:xfrm>
            <a:off x="118638" y="2308629"/>
            <a:ext cx="49263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switch_threads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../../threads/switch.S:26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16ED251-68A1-1046-5654-A32B5B3B162E}"/>
              </a:ext>
            </a:extLst>
          </p:cNvPr>
          <p:cNvSpPr/>
          <p:nvPr/>
        </p:nvSpPr>
        <p:spPr>
          <a:xfrm>
            <a:off x="5409392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1851C27-5631-F41D-6D05-EE5E330E14E5}"/>
              </a:ext>
            </a:extLst>
          </p:cNvPr>
          <p:cNvSpPr/>
          <p:nvPr/>
        </p:nvSpPr>
        <p:spPr>
          <a:xfrm>
            <a:off x="7865255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F2EDA415-837D-7048-F4CA-BBF7366F9D27}"/>
              </a:ext>
            </a:extLst>
          </p:cNvPr>
          <p:cNvSpPr/>
          <p:nvPr/>
        </p:nvSpPr>
        <p:spPr>
          <a:xfrm>
            <a:off x="6825108" y="4184535"/>
            <a:ext cx="766894" cy="27102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%esp</a:t>
            </a: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FCB192CD-9B45-C295-CEB6-631CBC463CE7}"/>
              </a:ext>
            </a:extLst>
          </p:cNvPr>
          <p:cNvCxnSpPr>
            <a:cxnSpLocks/>
          </p:cNvCxnSpPr>
          <p:nvPr/>
        </p:nvCxnSpPr>
        <p:spPr>
          <a:xfrm flipH="1" flipV="1">
            <a:off x="6777181" y="4313015"/>
            <a:ext cx="156210" cy="360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D35442EB-46A5-2267-1340-9CD75312FC52}"/>
              </a:ext>
            </a:extLst>
          </p:cNvPr>
          <p:cNvCxnSpPr>
            <a:cxnSpLocks/>
          </p:cNvCxnSpPr>
          <p:nvPr/>
        </p:nvCxnSpPr>
        <p:spPr>
          <a:xfrm>
            <a:off x="6552391" y="4313015"/>
            <a:ext cx="228600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1E2D1497-681F-3E6B-ACDA-DD2D5D129225}"/>
              </a:ext>
            </a:extLst>
          </p:cNvPr>
          <p:cNvSpPr txBox="1"/>
          <p:nvPr/>
        </p:nvSpPr>
        <p:spPr>
          <a:xfrm>
            <a:off x="5461769" y="2359093"/>
            <a:ext cx="98777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cur thread</a:t>
            </a:r>
            <a:endParaRPr lang="ko-KR" altLang="en-US" sz="1200" dirty="0" err="1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6D26291-CAB4-B3C6-E5D4-2D9A7D145100}"/>
              </a:ext>
            </a:extLst>
          </p:cNvPr>
          <p:cNvSpPr txBox="1"/>
          <p:nvPr/>
        </p:nvSpPr>
        <p:spPr>
          <a:xfrm>
            <a:off x="7884600" y="2370184"/>
            <a:ext cx="10855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next thread</a:t>
            </a:r>
            <a:endParaRPr lang="ko-KR" altLang="en-US" sz="1200" dirty="0" err="1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C1FD6F7-1035-3906-BFFD-D7AEA49AD646}"/>
              </a:ext>
            </a:extLst>
          </p:cNvPr>
          <p:cNvSpPr/>
          <p:nvPr/>
        </p:nvSpPr>
        <p:spPr>
          <a:xfrm>
            <a:off x="5409392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F002FE3-AB38-BFEC-B0D0-17169D2B149C}"/>
              </a:ext>
            </a:extLst>
          </p:cNvPr>
          <p:cNvSpPr/>
          <p:nvPr/>
        </p:nvSpPr>
        <p:spPr>
          <a:xfrm>
            <a:off x="5409392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63903CB-69C7-33D3-7867-5BA2CDCE570E}"/>
              </a:ext>
            </a:extLst>
          </p:cNvPr>
          <p:cNvSpPr/>
          <p:nvPr/>
        </p:nvSpPr>
        <p:spPr>
          <a:xfrm>
            <a:off x="5409392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82218D2-5372-2085-F5FD-5074E1FEB0FE}"/>
              </a:ext>
            </a:extLst>
          </p:cNvPr>
          <p:cNvSpPr/>
          <p:nvPr/>
        </p:nvSpPr>
        <p:spPr>
          <a:xfrm>
            <a:off x="7861447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418BB9D-FB3E-FF79-A545-B5B615AAB21C}"/>
              </a:ext>
            </a:extLst>
          </p:cNvPr>
          <p:cNvSpPr/>
          <p:nvPr/>
        </p:nvSpPr>
        <p:spPr>
          <a:xfrm>
            <a:off x="7861447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ECD72A2-142A-2265-75A8-408ADC3AADFF}"/>
              </a:ext>
            </a:extLst>
          </p:cNvPr>
          <p:cNvSpPr/>
          <p:nvPr/>
        </p:nvSpPr>
        <p:spPr>
          <a:xfrm>
            <a:off x="7861447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46825C0-DEF8-6823-844D-980C774B32D4}"/>
              </a:ext>
            </a:extLst>
          </p:cNvPr>
          <p:cNvSpPr txBox="1"/>
          <p:nvPr/>
        </p:nvSpPr>
        <p:spPr>
          <a:xfrm>
            <a:off x="5640332" y="1787981"/>
            <a:ext cx="3075970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 register context</a:t>
            </a:r>
          </a:p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pushing them into stack!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3B2CD1B0-FA88-1F32-47F6-8172AA525675}"/>
              </a:ext>
            </a:extLst>
          </p:cNvPr>
          <p:cNvSpPr/>
          <p:nvPr/>
        </p:nvSpPr>
        <p:spPr bwMode="auto">
          <a:xfrm>
            <a:off x="5409391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B41D824-CB6D-5550-4790-40068E760E8A}"/>
              </a:ext>
            </a:extLst>
          </p:cNvPr>
          <p:cNvSpPr/>
          <p:nvPr/>
        </p:nvSpPr>
        <p:spPr>
          <a:xfrm>
            <a:off x="5431443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78FBA784-DF76-D59F-F147-14EBD43D8697}"/>
              </a:ext>
            </a:extLst>
          </p:cNvPr>
          <p:cNvCxnSpPr>
            <a:cxnSpLocks/>
          </p:cNvCxnSpPr>
          <p:nvPr/>
        </p:nvCxnSpPr>
        <p:spPr>
          <a:xfrm>
            <a:off x="5152122" y="3498426"/>
            <a:ext cx="0" cy="253944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A01D4D5B-C99A-7EF6-24B7-20C608B29FD2}"/>
              </a:ext>
            </a:extLst>
          </p:cNvPr>
          <p:cNvCxnSpPr>
            <a:cxnSpLocks/>
          </p:cNvCxnSpPr>
          <p:nvPr/>
        </p:nvCxnSpPr>
        <p:spPr>
          <a:xfrm flipH="1">
            <a:off x="5152122" y="6042946"/>
            <a:ext cx="24256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BC7F2467-4123-56A7-65E8-504E161BF0C5}"/>
              </a:ext>
            </a:extLst>
          </p:cNvPr>
          <p:cNvCxnSpPr>
            <a:cxnSpLocks/>
          </p:cNvCxnSpPr>
          <p:nvPr/>
        </p:nvCxnSpPr>
        <p:spPr>
          <a:xfrm>
            <a:off x="7643062" y="3141209"/>
            <a:ext cx="0" cy="290173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B1A0E28-2618-3E53-06C7-58409FE3656D}"/>
              </a:ext>
            </a:extLst>
          </p:cNvPr>
          <p:cNvCxnSpPr>
            <a:cxnSpLocks/>
          </p:cNvCxnSpPr>
          <p:nvPr/>
        </p:nvCxnSpPr>
        <p:spPr>
          <a:xfrm flipH="1">
            <a:off x="7643062" y="6042946"/>
            <a:ext cx="204976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F057F6D-B6E9-0F33-F20D-6BF8FAA2107A}"/>
              </a:ext>
            </a:extLst>
          </p:cNvPr>
          <p:cNvSpPr/>
          <p:nvPr/>
        </p:nvSpPr>
        <p:spPr bwMode="auto">
          <a:xfrm>
            <a:off x="7861447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E93254C-C171-1D41-142E-5FFCA049B9CF}"/>
              </a:ext>
            </a:extLst>
          </p:cNvPr>
          <p:cNvSpPr/>
          <p:nvPr/>
        </p:nvSpPr>
        <p:spPr>
          <a:xfrm>
            <a:off x="7883499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B604BF9B-036E-5441-8B8A-78F4E081DE77}"/>
              </a:ext>
            </a:extLst>
          </p:cNvPr>
          <p:cNvCxnSpPr>
            <a:cxnSpLocks/>
          </p:cNvCxnSpPr>
          <p:nvPr/>
        </p:nvCxnSpPr>
        <p:spPr>
          <a:xfrm flipH="1">
            <a:off x="7734253" y="5715000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C599C663-4714-CDE3-7B41-0FAF54D2F4D2}"/>
              </a:ext>
            </a:extLst>
          </p:cNvPr>
          <p:cNvCxnSpPr>
            <a:cxnSpLocks/>
          </p:cNvCxnSpPr>
          <p:nvPr/>
        </p:nvCxnSpPr>
        <p:spPr>
          <a:xfrm>
            <a:off x="7734253" y="4303428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FCD14AE4-86FE-2274-3C3A-EACA043694C0}"/>
              </a:ext>
            </a:extLst>
          </p:cNvPr>
          <p:cNvCxnSpPr>
            <a:cxnSpLocks/>
          </p:cNvCxnSpPr>
          <p:nvPr/>
        </p:nvCxnSpPr>
        <p:spPr>
          <a:xfrm flipH="1">
            <a:off x="7734253" y="4303428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EFDA13D-A8F2-616C-42B6-F0396F880395}"/>
              </a:ext>
            </a:extLst>
          </p:cNvPr>
          <p:cNvSpPr txBox="1"/>
          <p:nvPr/>
        </p:nvSpPr>
        <p:spPr>
          <a:xfrm>
            <a:off x="211258" y="6324600"/>
            <a:ext cx="474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cf. </a:t>
            </a:r>
            <a:r>
              <a:rPr lang="ko-KR" altLang="en-US" sz="1400"/>
              <a:t>각 </a:t>
            </a:r>
            <a:r>
              <a:rPr lang="en-US" altLang="ko-KR" sz="1400"/>
              <a:t>ret addr</a:t>
            </a:r>
            <a:r>
              <a:rPr lang="ko-KR" altLang="en-US" sz="1400"/>
              <a:t>는 </a:t>
            </a:r>
            <a:r>
              <a:rPr lang="en-US" altLang="ko-KR" sz="1400"/>
              <a:t>switch_thread </a:t>
            </a:r>
            <a:r>
              <a:rPr lang="ko-KR" altLang="en-US" sz="1400"/>
              <a:t>다음 명령어를 가리킴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CC336DF-C41B-5FAF-BEDA-B7455D538A12}"/>
              </a:ext>
            </a:extLst>
          </p:cNvPr>
          <p:cNvSpPr/>
          <p:nvPr/>
        </p:nvSpPr>
        <p:spPr>
          <a:xfrm>
            <a:off x="5409568" y="3050404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099F5C1-DC88-3A45-9834-344D880D4B92}"/>
              </a:ext>
            </a:extLst>
          </p:cNvPr>
          <p:cNvSpPr/>
          <p:nvPr/>
        </p:nvSpPr>
        <p:spPr>
          <a:xfrm>
            <a:off x="5409568" y="3230153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77547F8A-45EC-B96F-7B25-E7C66CA044A8}"/>
              </a:ext>
            </a:extLst>
          </p:cNvPr>
          <p:cNvCxnSpPr>
            <a:cxnSpLocks/>
          </p:cNvCxnSpPr>
          <p:nvPr/>
        </p:nvCxnSpPr>
        <p:spPr>
          <a:xfrm>
            <a:off x="6449716" y="3141209"/>
            <a:ext cx="1193522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25A15178-3F8F-EEEB-6210-A29A0312BDDE}"/>
              </a:ext>
            </a:extLst>
          </p:cNvPr>
          <p:cNvSpPr/>
          <p:nvPr/>
        </p:nvSpPr>
        <p:spPr>
          <a:xfrm>
            <a:off x="5409568" y="341880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AB980186-50EC-4EC5-7AC7-9733F75C0FE0}"/>
              </a:ext>
            </a:extLst>
          </p:cNvPr>
          <p:cNvSpPr/>
          <p:nvPr/>
        </p:nvSpPr>
        <p:spPr>
          <a:xfrm>
            <a:off x="7865255" y="304267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1B27EA7E-BB8E-3913-F5CE-06862A31469F}"/>
              </a:ext>
            </a:extLst>
          </p:cNvPr>
          <p:cNvSpPr/>
          <p:nvPr/>
        </p:nvSpPr>
        <p:spPr>
          <a:xfrm>
            <a:off x="7865255" y="322242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A085E6E5-2D0A-2EB8-C205-3E442E5D857D}"/>
              </a:ext>
            </a:extLst>
          </p:cNvPr>
          <p:cNvSpPr/>
          <p:nvPr/>
        </p:nvSpPr>
        <p:spPr>
          <a:xfrm>
            <a:off x="7865255" y="341107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DAC955F-A7C4-86BD-A49F-229709907F27}"/>
              </a:ext>
            </a:extLst>
          </p:cNvPr>
          <p:cNvSpPr/>
          <p:nvPr/>
        </p:nvSpPr>
        <p:spPr>
          <a:xfrm>
            <a:off x="5410084" y="3590747"/>
            <a:ext cx="1142999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3A78B47C-7596-9D4B-1CC9-6269AD6E33E1}"/>
              </a:ext>
            </a:extLst>
          </p:cNvPr>
          <p:cNvSpPr/>
          <p:nvPr/>
        </p:nvSpPr>
        <p:spPr>
          <a:xfrm>
            <a:off x="5410084" y="3772952"/>
            <a:ext cx="1142999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510FA18-9DB0-25F1-E71C-BC930233C937}"/>
              </a:ext>
            </a:extLst>
          </p:cNvPr>
          <p:cNvSpPr/>
          <p:nvPr/>
        </p:nvSpPr>
        <p:spPr>
          <a:xfrm>
            <a:off x="5410084" y="3956626"/>
            <a:ext cx="1142999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56BD94C-00DD-3810-862F-C415D5C89D23}"/>
              </a:ext>
            </a:extLst>
          </p:cNvPr>
          <p:cNvSpPr/>
          <p:nvPr/>
        </p:nvSpPr>
        <p:spPr>
          <a:xfrm>
            <a:off x="5410084" y="4140352"/>
            <a:ext cx="1142999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BC88736D-619A-1C2B-CAF6-0E2E3359D4F2}"/>
              </a:ext>
            </a:extLst>
          </p:cNvPr>
          <p:cNvSpPr/>
          <p:nvPr/>
        </p:nvSpPr>
        <p:spPr>
          <a:xfrm>
            <a:off x="7861447" y="358582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A9171DCF-A6E9-FBDE-6705-26E952B97E75}"/>
              </a:ext>
            </a:extLst>
          </p:cNvPr>
          <p:cNvSpPr/>
          <p:nvPr/>
        </p:nvSpPr>
        <p:spPr>
          <a:xfrm>
            <a:off x="7861447" y="37680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80E7516-E772-2986-9FC7-A980C71B2315}"/>
              </a:ext>
            </a:extLst>
          </p:cNvPr>
          <p:cNvSpPr/>
          <p:nvPr/>
        </p:nvSpPr>
        <p:spPr>
          <a:xfrm>
            <a:off x="7861447" y="395170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92A0873-FE14-35D4-0352-222689B84483}"/>
              </a:ext>
            </a:extLst>
          </p:cNvPr>
          <p:cNvSpPr/>
          <p:nvPr/>
        </p:nvSpPr>
        <p:spPr>
          <a:xfrm>
            <a:off x="7861447" y="41354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C10A374-65D0-AA72-F6CA-8E5EAF5EDF0C}"/>
              </a:ext>
            </a:extLst>
          </p:cNvPr>
          <p:cNvSpPr/>
          <p:nvPr/>
        </p:nvSpPr>
        <p:spPr>
          <a:xfrm>
            <a:off x="7865256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072FE8B-797B-D41A-60F5-7D3DEFFBBE3C}"/>
              </a:ext>
            </a:extLst>
          </p:cNvPr>
          <p:cNvSpPr/>
          <p:nvPr/>
        </p:nvSpPr>
        <p:spPr>
          <a:xfrm>
            <a:off x="5409391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4AECF5BA-B312-5494-CC61-78888A9CC244}"/>
              </a:ext>
            </a:extLst>
          </p:cNvPr>
          <p:cNvCxnSpPr>
            <a:cxnSpLocks/>
          </p:cNvCxnSpPr>
          <p:nvPr/>
        </p:nvCxnSpPr>
        <p:spPr>
          <a:xfrm>
            <a:off x="5152122" y="3337560"/>
            <a:ext cx="0" cy="27003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DAC8F842-C327-6C29-D3DE-07046BA2F80A}"/>
              </a:ext>
            </a:extLst>
          </p:cNvPr>
          <p:cNvCxnSpPr>
            <a:cxnSpLocks/>
          </p:cNvCxnSpPr>
          <p:nvPr/>
        </p:nvCxnSpPr>
        <p:spPr>
          <a:xfrm flipH="1">
            <a:off x="5152122" y="3337560"/>
            <a:ext cx="335374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00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2F4D9-2735-3179-C7F4-59D839A7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>
            <a:extLst>
              <a:ext uri="{FF2B5EF4-FFF2-40B4-BE49-F238E27FC236}">
                <a16:creationId xmlns:a16="http://schemas.microsoft.com/office/drawing/2014/main" id="{0C3D2E0D-2DE6-2D6C-5250-A6CDB97A4DE8}"/>
              </a:ext>
            </a:extLst>
          </p:cNvPr>
          <p:cNvSpPr/>
          <p:nvPr/>
        </p:nvSpPr>
        <p:spPr bwMode="auto">
          <a:xfrm>
            <a:off x="5077091" y="5974450"/>
            <a:ext cx="992239" cy="164179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FBCFB70-F574-385B-DBB7-639F74946F3C}"/>
              </a:ext>
            </a:extLst>
          </p:cNvPr>
          <p:cNvSpPr/>
          <p:nvPr/>
        </p:nvSpPr>
        <p:spPr bwMode="auto">
          <a:xfrm>
            <a:off x="5077758" y="3232968"/>
            <a:ext cx="329826" cy="164179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70D8133-5577-2190-2DA6-6260C45991AF}"/>
              </a:ext>
            </a:extLst>
          </p:cNvPr>
          <p:cNvSpPr/>
          <p:nvPr/>
        </p:nvSpPr>
        <p:spPr bwMode="auto">
          <a:xfrm rot="5400000">
            <a:off x="3777343" y="4677797"/>
            <a:ext cx="2763673" cy="164179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8DC04A6-6124-3215-76DD-A7FB88EC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스위칭</a:t>
            </a:r>
            <a:r>
              <a:rPr lang="en-US" altLang="ko-KR"/>
              <a:t>(3)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A19A43-2C3B-CD05-A75F-9741F8A39A4F}"/>
              </a:ext>
            </a:extLst>
          </p:cNvPr>
          <p:cNvSpPr/>
          <p:nvPr/>
        </p:nvSpPr>
        <p:spPr>
          <a:xfrm>
            <a:off x="118637" y="2647183"/>
            <a:ext cx="4926349" cy="2895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26    pushl %ebx   pushl %ebp   pushl %esi   pushl %edi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31    # Get offsetof (struct thread, stack).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32 .globl thread_stack_ofs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33    mov thread_stack_ofs, %edx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34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36    movl SWITCH_CUR(%esp), %eax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37    movl %esp, (%eax,%edx,1)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38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40    movl SWITCH_NEXT(%esp), %ecx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41    movl (%ecx,%edx,1), %esp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42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43    # Restore caller's register state.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44    popl %edi   popl %esi   popl %ebp   popl %ebx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48    ret</a:t>
            </a:r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658E9-9198-99E1-18C3-68DB31972309}"/>
              </a:ext>
            </a:extLst>
          </p:cNvPr>
          <p:cNvSpPr txBox="1"/>
          <p:nvPr/>
        </p:nvSpPr>
        <p:spPr>
          <a:xfrm>
            <a:off x="118638" y="2308629"/>
            <a:ext cx="49263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switch_threads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../../threads/switch.S:26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46D73D-8EFB-C2DB-E2C0-E6078CF7F687}"/>
              </a:ext>
            </a:extLst>
          </p:cNvPr>
          <p:cNvSpPr/>
          <p:nvPr/>
        </p:nvSpPr>
        <p:spPr>
          <a:xfrm>
            <a:off x="5409392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29A4A7-E38B-D31B-DA24-24F3648D2F48}"/>
              </a:ext>
            </a:extLst>
          </p:cNvPr>
          <p:cNvSpPr/>
          <p:nvPr/>
        </p:nvSpPr>
        <p:spPr>
          <a:xfrm>
            <a:off x="7865255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A2D076D-C47F-57B3-75AA-5D7AD487EF06}"/>
              </a:ext>
            </a:extLst>
          </p:cNvPr>
          <p:cNvSpPr/>
          <p:nvPr/>
        </p:nvSpPr>
        <p:spPr>
          <a:xfrm>
            <a:off x="6825108" y="4184535"/>
            <a:ext cx="766894" cy="27102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%esp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BDE466-F321-D34D-C622-54EAF3B97042}"/>
              </a:ext>
            </a:extLst>
          </p:cNvPr>
          <p:cNvSpPr/>
          <p:nvPr/>
        </p:nvSpPr>
        <p:spPr>
          <a:xfrm>
            <a:off x="5409391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236D20B-D41E-5CA6-CDE4-0F7EC4884607}"/>
              </a:ext>
            </a:extLst>
          </p:cNvPr>
          <p:cNvCxnSpPr>
            <a:cxnSpLocks/>
          </p:cNvCxnSpPr>
          <p:nvPr/>
        </p:nvCxnSpPr>
        <p:spPr>
          <a:xfrm flipH="1" flipV="1">
            <a:off x="6777181" y="4313015"/>
            <a:ext cx="156210" cy="360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D33A8FE-5171-ACE5-B19C-991E70A9C451}"/>
              </a:ext>
            </a:extLst>
          </p:cNvPr>
          <p:cNvCxnSpPr>
            <a:cxnSpLocks/>
          </p:cNvCxnSpPr>
          <p:nvPr/>
        </p:nvCxnSpPr>
        <p:spPr>
          <a:xfrm>
            <a:off x="6552391" y="4313015"/>
            <a:ext cx="228600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7C18F6-77D4-A481-DA0D-105223B6D8C0}"/>
              </a:ext>
            </a:extLst>
          </p:cNvPr>
          <p:cNvSpPr txBox="1"/>
          <p:nvPr/>
        </p:nvSpPr>
        <p:spPr>
          <a:xfrm>
            <a:off x="5461769" y="2359093"/>
            <a:ext cx="98777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cur thread</a:t>
            </a:r>
            <a:endParaRPr lang="ko-KR" altLang="en-US" sz="1200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3A894E-EBB9-DA4B-2D79-371FBEFC920A}"/>
              </a:ext>
            </a:extLst>
          </p:cNvPr>
          <p:cNvSpPr txBox="1"/>
          <p:nvPr/>
        </p:nvSpPr>
        <p:spPr>
          <a:xfrm>
            <a:off x="7884600" y="2370184"/>
            <a:ext cx="10855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next thread</a:t>
            </a:r>
            <a:endParaRPr lang="ko-KR" altLang="en-US" sz="1200" dirty="0" err="1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77F8C2-6158-BDC0-B6BD-FD8A60D68A2F}"/>
              </a:ext>
            </a:extLst>
          </p:cNvPr>
          <p:cNvSpPr/>
          <p:nvPr/>
        </p:nvSpPr>
        <p:spPr>
          <a:xfrm>
            <a:off x="5409392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D18424-CEF8-96CB-D511-2F39A11AC4DC}"/>
              </a:ext>
            </a:extLst>
          </p:cNvPr>
          <p:cNvSpPr/>
          <p:nvPr/>
        </p:nvSpPr>
        <p:spPr>
          <a:xfrm>
            <a:off x="5409392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883E646-56DE-855E-8E65-F5AB950D1904}"/>
              </a:ext>
            </a:extLst>
          </p:cNvPr>
          <p:cNvSpPr/>
          <p:nvPr/>
        </p:nvSpPr>
        <p:spPr>
          <a:xfrm>
            <a:off x="5409392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FAC8953-E70A-C92E-FEB2-AA00AA75E19B}"/>
              </a:ext>
            </a:extLst>
          </p:cNvPr>
          <p:cNvSpPr/>
          <p:nvPr/>
        </p:nvSpPr>
        <p:spPr>
          <a:xfrm>
            <a:off x="7861447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3E79077-30AC-7025-5B5E-0DA1D163BD22}"/>
              </a:ext>
            </a:extLst>
          </p:cNvPr>
          <p:cNvSpPr/>
          <p:nvPr/>
        </p:nvSpPr>
        <p:spPr>
          <a:xfrm>
            <a:off x="7861447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1FAB27-B38D-DFC5-AB3B-FD9CA0E3D9AC}"/>
              </a:ext>
            </a:extLst>
          </p:cNvPr>
          <p:cNvSpPr/>
          <p:nvPr/>
        </p:nvSpPr>
        <p:spPr>
          <a:xfrm>
            <a:off x="7861447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3384228-3267-F5F2-4581-2B2E93334461}"/>
              </a:ext>
            </a:extLst>
          </p:cNvPr>
          <p:cNvSpPr/>
          <p:nvPr/>
        </p:nvSpPr>
        <p:spPr>
          <a:xfrm>
            <a:off x="7861447" y="358582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F4230B9-7014-A348-F714-567E8270D426}"/>
              </a:ext>
            </a:extLst>
          </p:cNvPr>
          <p:cNvSpPr/>
          <p:nvPr/>
        </p:nvSpPr>
        <p:spPr>
          <a:xfrm>
            <a:off x="7861447" y="37680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3B9C664-DB4D-DB27-8EBD-5CF8AA23368E}"/>
              </a:ext>
            </a:extLst>
          </p:cNvPr>
          <p:cNvSpPr/>
          <p:nvPr/>
        </p:nvSpPr>
        <p:spPr>
          <a:xfrm>
            <a:off x="7861447" y="395170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B4596F-53B9-4E4B-59AD-A8A04D15500E}"/>
              </a:ext>
            </a:extLst>
          </p:cNvPr>
          <p:cNvSpPr/>
          <p:nvPr/>
        </p:nvSpPr>
        <p:spPr>
          <a:xfrm>
            <a:off x="7861447" y="41354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851A28-F72F-4225-F332-F496A8FF74FC}"/>
              </a:ext>
            </a:extLst>
          </p:cNvPr>
          <p:cNvSpPr/>
          <p:nvPr/>
        </p:nvSpPr>
        <p:spPr>
          <a:xfrm>
            <a:off x="7865256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34D614-81CD-9F2D-3A8D-95E889D74BE7}"/>
              </a:ext>
            </a:extLst>
          </p:cNvPr>
          <p:cNvSpPr txBox="1"/>
          <p:nvPr/>
        </p:nvSpPr>
        <p:spPr>
          <a:xfrm>
            <a:off x="5407741" y="1787981"/>
            <a:ext cx="354116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 %esp of the current thread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EBB257C-D477-317F-F9CD-ABC3CB088E37}"/>
              </a:ext>
            </a:extLst>
          </p:cNvPr>
          <p:cNvSpPr/>
          <p:nvPr/>
        </p:nvSpPr>
        <p:spPr bwMode="auto">
          <a:xfrm>
            <a:off x="5409391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CF38DDE-5574-1A9F-88F7-7F5EA940BA76}"/>
              </a:ext>
            </a:extLst>
          </p:cNvPr>
          <p:cNvSpPr/>
          <p:nvPr/>
        </p:nvSpPr>
        <p:spPr>
          <a:xfrm>
            <a:off x="5431443" y="5630974"/>
            <a:ext cx="1098898" cy="18233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91002AE-26CD-FC77-EC79-4633A13510CE}"/>
              </a:ext>
            </a:extLst>
          </p:cNvPr>
          <p:cNvCxnSpPr>
            <a:cxnSpLocks/>
          </p:cNvCxnSpPr>
          <p:nvPr/>
        </p:nvCxnSpPr>
        <p:spPr>
          <a:xfrm>
            <a:off x="5152122" y="3498426"/>
            <a:ext cx="0" cy="253944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6A752AD-15EB-6EB0-F70B-DE9383EEAE21}"/>
              </a:ext>
            </a:extLst>
          </p:cNvPr>
          <p:cNvCxnSpPr>
            <a:cxnSpLocks/>
          </p:cNvCxnSpPr>
          <p:nvPr/>
        </p:nvCxnSpPr>
        <p:spPr>
          <a:xfrm flipH="1">
            <a:off x="5152122" y="6042946"/>
            <a:ext cx="24256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5BDE537-9C4B-3F4A-46D4-C4DDADEEDFCD}"/>
              </a:ext>
            </a:extLst>
          </p:cNvPr>
          <p:cNvCxnSpPr>
            <a:cxnSpLocks/>
          </p:cNvCxnSpPr>
          <p:nvPr/>
        </p:nvCxnSpPr>
        <p:spPr>
          <a:xfrm>
            <a:off x="6457771" y="3124200"/>
            <a:ext cx="1193522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344B668-5E9A-77B1-5C8B-AEF885456E42}"/>
              </a:ext>
            </a:extLst>
          </p:cNvPr>
          <p:cNvCxnSpPr>
            <a:cxnSpLocks/>
          </p:cNvCxnSpPr>
          <p:nvPr/>
        </p:nvCxnSpPr>
        <p:spPr>
          <a:xfrm>
            <a:off x="7643062" y="3124200"/>
            <a:ext cx="0" cy="291874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98F822B-DE26-E9DA-344A-907515D381C3}"/>
              </a:ext>
            </a:extLst>
          </p:cNvPr>
          <p:cNvCxnSpPr>
            <a:cxnSpLocks/>
          </p:cNvCxnSpPr>
          <p:nvPr/>
        </p:nvCxnSpPr>
        <p:spPr>
          <a:xfrm flipH="1">
            <a:off x="7643062" y="6042946"/>
            <a:ext cx="204976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BFFCAA7-E575-3475-626F-AA11662ED3A4}"/>
              </a:ext>
            </a:extLst>
          </p:cNvPr>
          <p:cNvSpPr/>
          <p:nvPr/>
        </p:nvSpPr>
        <p:spPr bwMode="auto">
          <a:xfrm>
            <a:off x="7861447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3D718FB-3003-DA05-41EA-C707553BB366}"/>
              </a:ext>
            </a:extLst>
          </p:cNvPr>
          <p:cNvSpPr/>
          <p:nvPr/>
        </p:nvSpPr>
        <p:spPr>
          <a:xfrm>
            <a:off x="7883499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4084EA6-A41D-59B2-8521-C49BA23CC249}"/>
              </a:ext>
            </a:extLst>
          </p:cNvPr>
          <p:cNvCxnSpPr>
            <a:cxnSpLocks/>
          </p:cNvCxnSpPr>
          <p:nvPr/>
        </p:nvCxnSpPr>
        <p:spPr>
          <a:xfrm flipH="1">
            <a:off x="7734253" y="5715000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3182DF9F-52C3-0F15-C942-47A62AF4361A}"/>
              </a:ext>
            </a:extLst>
          </p:cNvPr>
          <p:cNvCxnSpPr>
            <a:cxnSpLocks/>
          </p:cNvCxnSpPr>
          <p:nvPr/>
        </p:nvCxnSpPr>
        <p:spPr>
          <a:xfrm>
            <a:off x="7734253" y="4303428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B42EABD-AB3F-5645-76FF-DCACFD4E615C}"/>
              </a:ext>
            </a:extLst>
          </p:cNvPr>
          <p:cNvCxnSpPr>
            <a:cxnSpLocks/>
          </p:cNvCxnSpPr>
          <p:nvPr/>
        </p:nvCxnSpPr>
        <p:spPr>
          <a:xfrm flipH="1">
            <a:off x="7734253" y="4303428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3F1673C-D27E-22FF-237B-02B5A8B38E0A}"/>
              </a:ext>
            </a:extLst>
          </p:cNvPr>
          <p:cNvSpPr/>
          <p:nvPr/>
        </p:nvSpPr>
        <p:spPr>
          <a:xfrm>
            <a:off x="5411199" y="358582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87DC99-FB76-B0F2-D168-951E1BEB5FAE}"/>
              </a:ext>
            </a:extLst>
          </p:cNvPr>
          <p:cNvSpPr/>
          <p:nvPr/>
        </p:nvSpPr>
        <p:spPr>
          <a:xfrm>
            <a:off x="5411199" y="37680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A1F62E5-3628-014B-F0C8-B43900638463}"/>
              </a:ext>
            </a:extLst>
          </p:cNvPr>
          <p:cNvSpPr/>
          <p:nvPr/>
        </p:nvSpPr>
        <p:spPr>
          <a:xfrm>
            <a:off x="5411199" y="395170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04C7AAF-6DA7-DB6B-D8F2-E51D01AE5994}"/>
              </a:ext>
            </a:extLst>
          </p:cNvPr>
          <p:cNvSpPr/>
          <p:nvPr/>
        </p:nvSpPr>
        <p:spPr>
          <a:xfrm>
            <a:off x="5411199" y="41354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39E018-0F00-6178-99DC-3F6E7C8F50F7}"/>
              </a:ext>
            </a:extLst>
          </p:cNvPr>
          <p:cNvSpPr txBox="1"/>
          <p:nvPr/>
        </p:nvSpPr>
        <p:spPr>
          <a:xfrm>
            <a:off x="211258" y="6324600"/>
            <a:ext cx="474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cf. </a:t>
            </a:r>
            <a:r>
              <a:rPr lang="ko-KR" altLang="en-US" sz="1400"/>
              <a:t>각 </a:t>
            </a:r>
            <a:r>
              <a:rPr lang="en-US" altLang="ko-KR" sz="1400"/>
              <a:t>ret addr</a:t>
            </a:r>
            <a:r>
              <a:rPr lang="ko-KR" altLang="en-US" sz="1400"/>
              <a:t>는 </a:t>
            </a:r>
            <a:r>
              <a:rPr lang="en-US" altLang="ko-KR" sz="1400"/>
              <a:t>switch_thread </a:t>
            </a:r>
            <a:r>
              <a:rPr lang="ko-KR" altLang="en-US" sz="1400"/>
              <a:t>다음 명령어를 가리킴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CFCED6C-2706-7A2F-DC5B-B79FAEA7F470}"/>
              </a:ext>
            </a:extLst>
          </p:cNvPr>
          <p:cNvCxnSpPr>
            <a:cxnSpLocks/>
          </p:cNvCxnSpPr>
          <p:nvPr/>
        </p:nvCxnSpPr>
        <p:spPr>
          <a:xfrm flipH="1">
            <a:off x="5281494" y="5718048"/>
            <a:ext cx="358838" cy="0"/>
          </a:xfrm>
          <a:prstGeom prst="line">
            <a:avLst/>
          </a:prstGeom>
          <a:ln>
            <a:headEnd type="oval" w="sm" len="sm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99DDFFD-567A-1DB3-F822-1AEDF980EB6F}"/>
              </a:ext>
            </a:extLst>
          </p:cNvPr>
          <p:cNvCxnSpPr>
            <a:cxnSpLocks/>
          </p:cNvCxnSpPr>
          <p:nvPr/>
        </p:nvCxnSpPr>
        <p:spPr>
          <a:xfrm>
            <a:off x="5281494" y="4306476"/>
            <a:ext cx="0" cy="1411572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578ABCB-49B3-5DD3-F213-677E34654075}"/>
              </a:ext>
            </a:extLst>
          </p:cNvPr>
          <p:cNvCxnSpPr>
            <a:cxnSpLocks/>
          </p:cNvCxnSpPr>
          <p:nvPr/>
        </p:nvCxnSpPr>
        <p:spPr>
          <a:xfrm flipH="1">
            <a:off x="5281494" y="4306476"/>
            <a:ext cx="114347" cy="0"/>
          </a:xfrm>
          <a:prstGeom prst="line">
            <a:avLst/>
          </a:prstGeom>
          <a:ln>
            <a:headEnd type="triangle" w="med" len="med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38F6B949-89A6-B454-1F07-9CD0EBA65235}"/>
              </a:ext>
            </a:extLst>
          </p:cNvPr>
          <p:cNvCxnSpPr>
            <a:cxnSpLocks/>
          </p:cNvCxnSpPr>
          <p:nvPr/>
        </p:nvCxnSpPr>
        <p:spPr>
          <a:xfrm>
            <a:off x="5152122" y="3337560"/>
            <a:ext cx="0" cy="27003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1F181C6-1382-E631-4015-F679448C8C2C}"/>
              </a:ext>
            </a:extLst>
          </p:cNvPr>
          <p:cNvCxnSpPr>
            <a:cxnSpLocks/>
          </p:cNvCxnSpPr>
          <p:nvPr/>
        </p:nvCxnSpPr>
        <p:spPr>
          <a:xfrm flipH="1">
            <a:off x="5152122" y="3337560"/>
            <a:ext cx="335374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화살표: 아래쪽 68">
            <a:extLst>
              <a:ext uri="{FF2B5EF4-FFF2-40B4-BE49-F238E27FC236}">
                <a16:creationId xmlns:a16="http://schemas.microsoft.com/office/drawing/2014/main" id="{57376E15-495E-2D46-BA08-88BE4BCC2755}"/>
              </a:ext>
            </a:extLst>
          </p:cNvPr>
          <p:cNvSpPr/>
          <p:nvPr/>
        </p:nvSpPr>
        <p:spPr bwMode="auto">
          <a:xfrm rot="10800000">
            <a:off x="5842453" y="5813307"/>
            <a:ext cx="304798" cy="222812"/>
          </a:xfrm>
          <a:prstGeom prst="downArrow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888D2E-F1F2-15F7-CCAF-87E8B2D01F0C}"/>
              </a:ext>
            </a:extLst>
          </p:cNvPr>
          <p:cNvSpPr txBox="1"/>
          <p:nvPr/>
        </p:nvSpPr>
        <p:spPr>
          <a:xfrm>
            <a:off x="4952364" y="6177524"/>
            <a:ext cx="32766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00CCFF"/>
                </a:solidFill>
              </a:rPr>
              <a:t>이 경로로 계산한 </a:t>
            </a:r>
            <a:r>
              <a:rPr lang="en-US" altLang="ko-KR" sz="1000">
                <a:solidFill>
                  <a:srgbClr val="00CCFF"/>
                </a:solidFill>
              </a:rPr>
              <a:t>stack</a:t>
            </a:r>
            <a:r>
              <a:rPr lang="ko-KR" altLang="en-US" sz="1000">
                <a:solidFill>
                  <a:srgbClr val="00CCFF"/>
                </a:solidFill>
              </a:rPr>
              <a:t> 필드 주소에 </a:t>
            </a:r>
            <a:r>
              <a:rPr lang="en-US" altLang="ko-KR" sz="1000">
                <a:solidFill>
                  <a:srgbClr val="00CCFF"/>
                </a:solidFill>
              </a:rPr>
              <a:t>%esp </a:t>
            </a:r>
            <a:r>
              <a:rPr lang="ko-KR" altLang="en-US" sz="1000">
                <a:solidFill>
                  <a:srgbClr val="00CCFF"/>
                </a:solidFill>
              </a:rPr>
              <a:t>값 삽입</a:t>
            </a:r>
            <a:r>
              <a:rPr lang="en-US" altLang="ko-KR" sz="1000">
                <a:solidFill>
                  <a:srgbClr val="00CCFF"/>
                </a:solidFill>
              </a:rPr>
              <a:t>.</a:t>
            </a:r>
            <a:r>
              <a:rPr lang="ko-KR" altLang="en-US" sz="1000">
                <a:solidFill>
                  <a:srgbClr val="00CC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130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FE29-D815-4B75-1140-EF5567E3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ED6E2D03-A66E-F60C-F2C3-8EE597BB9B96}"/>
              </a:ext>
            </a:extLst>
          </p:cNvPr>
          <p:cNvSpPr/>
          <p:nvPr/>
        </p:nvSpPr>
        <p:spPr bwMode="auto">
          <a:xfrm>
            <a:off x="7734253" y="5970127"/>
            <a:ext cx="792527" cy="169787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0062861-7F0C-6444-7CC2-64309294C3F9}"/>
              </a:ext>
            </a:extLst>
          </p:cNvPr>
          <p:cNvSpPr/>
          <p:nvPr/>
        </p:nvSpPr>
        <p:spPr bwMode="auto">
          <a:xfrm>
            <a:off x="6400800" y="3045345"/>
            <a:ext cx="1333453" cy="169134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604C55D-8A2F-98C5-4572-142DDADC12E9}"/>
              </a:ext>
            </a:extLst>
          </p:cNvPr>
          <p:cNvSpPr/>
          <p:nvPr/>
        </p:nvSpPr>
        <p:spPr bwMode="auto">
          <a:xfrm rot="5400000">
            <a:off x="6181306" y="4587369"/>
            <a:ext cx="2943718" cy="169787"/>
          </a:xfrm>
          <a:prstGeom prst="rect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286250-C8DF-D736-ADCE-0FCDDCF7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스위칭</a:t>
            </a:r>
            <a:r>
              <a:rPr lang="en-US" altLang="ko-KR"/>
              <a:t>(4)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86605F-B0F7-E504-5605-F31020E9F563}"/>
              </a:ext>
            </a:extLst>
          </p:cNvPr>
          <p:cNvSpPr/>
          <p:nvPr/>
        </p:nvSpPr>
        <p:spPr>
          <a:xfrm>
            <a:off x="118637" y="2647183"/>
            <a:ext cx="4926349" cy="2895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26    pushl %ebx   pushl %ebp   pushl %esi   pushl %edi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31    # Get offsetof (struct thread, stack).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32 .globl thread_stack_ofs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33    mov thread_stack_ofs, %edx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34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36    movl SWITCH_CUR(%esp), %eax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37    movl %esp, (%eax,%edx,1)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38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40    movl SWITCH_NEXT(%esp), %ecx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41    movl (%ecx,%edx,1), %esp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42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43    # Restore caller's register state.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44    popl %edi   popl %esi   popl %ebp   popl %ebx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48    ret</a:t>
            </a:r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C1261-1093-8F68-D940-C503F6B159B2}"/>
              </a:ext>
            </a:extLst>
          </p:cNvPr>
          <p:cNvSpPr txBox="1"/>
          <p:nvPr/>
        </p:nvSpPr>
        <p:spPr>
          <a:xfrm>
            <a:off x="118638" y="2308629"/>
            <a:ext cx="49263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switch_threads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../../threads/switch.S:26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5C81EB-40AA-033D-767C-76D630F7B705}"/>
              </a:ext>
            </a:extLst>
          </p:cNvPr>
          <p:cNvSpPr/>
          <p:nvPr/>
        </p:nvSpPr>
        <p:spPr>
          <a:xfrm>
            <a:off x="5409392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BF2286-C344-309B-E5B9-58DB71D5E2B8}"/>
              </a:ext>
            </a:extLst>
          </p:cNvPr>
          <p:cNvSpPr/>
          <p:nvPr/>
        </p:nvSpPr>
        <p:spPr>
          <a:xfrm>
            <a:off x="7865255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160E083-ECD5-84F2-2F82-7C0E944E4FD2}"/>
              </a:ext>
            </a:extLst>
          </p:cNvPr>
          <p:cNvSpPr/>
          <p:nvPr/>
        </p:nvSpPr>
        <p:spPr>
          <a:xfrm>
            <a:off x="6825108" y="4184535"/>
            <a:ext cx="766894" cy="27102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%esp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2C4F2A-07BE-2522-026C-BD63BB367EBA}"/>
              </a:ext>
            </a:extLst>
          </p:cNvPr>
          <p:cNvSpPr/>
          <p:nvPr/>
        </p:nvSpPr>
        <p:spPr>
          <a:xfrm>
            <a:off x="5409391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9FC5B1-61F3-07AA-69E1-C1DB13548495}"/>
              </a:ext>
            </a:extLst>
          </p:cNvPr>
          <p:cNvCxnSpPr>
            <a:cxnSpLocks/>
          </p:cNvCxnSpPr>
          <p:nvPr/>
        </p:nvCxnSpPr>
        <p:spPr>
          <a:xfrm flipV="1">
            <a:off x="7501690" y="4303428"/>
            <a:ext cx="232563" cy="3122"/>
          </a:xfrm>
          <a:prstGeom prst="line">
            <a:avLst/>
          </a:prstGeom>
          <a:ln>
            <a:headEnd type="oval" w="med" len="med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B869A1-D267-A233-643D-BEA592B20154}"/>
              </a:ext>
            </a:extLst>
          </p:cNvPr>
          <p:cNvSpPr txBox="1"/>
          <p:nvPr/>
        </p:nvSpPr>
        <p:spPr>
          <a:xfrm>
            <a:off x="5461769" y="2359093"/>
            <a:ext cx="98777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cur thread</a:t>
            </a:r>
            <a:endParaRPr lang="ko-KR" altLang="en-US" sz="1200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B6881-4B40-FB4E-12D9-C0FEE327F02C}"/>
              </a:ext>
            </a:extLst>
          </p:cNvPr>
          <p:cNvSpPr txBox="1"/>
          <p:nvPr/>
        </p:nvSpPr>
        <p:spPr>
          <a:xfrm>
            <a:off x="7884600" y="2370184"/>
            <a:ext cx="10855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next thread</a:t>
            </a:r>
            <a:endParaRPr lang="ko-KR" altLang="en-US" sz="1200" dirty="0" err="1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BFF2F1-D7DD-DDB1-94C6-257D50865C11}"/>
              </a:ext>
            </a:extLst>
          </p:cNvPr>
          <p:cNvSpPr/>
          <p:nvPr/>
        </p:nvSpPr>
        <p:spPr>
          <a:xfrm>
            <a:off x="5409392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0FC2862-2400-3024-97FE-EE5D60F3B89D}"/>
              </a:ext>
            </a:extLst>
          </p:cNvPr>
          <p:cNvSpPr/>
          <p:nvPr/>
        </p:nvSpPr>
        <p:spPr>
          <a:xfrm>
            <a:off x="5409392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36B857-3C58-43EE-6138-E83B79335C3B}"/>
              </a:ext>
            </a:extLst>
          </p:cNvPr>
          <p:cNvSpPr/>
          <p:nvPr/>
        </p:nvSpPr>
        <p:spPr>
          <a:xfrm>
            <a:off x="5409392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8A783B-C986-D103-A510-673C00B73593}"/>
              </a:ext>
            </a:extLst>
          </p:cNvPr>
          <p:cNvSpPr/>
          <p:nvPr/>
        </p:nvSpPr>
        <p:spPr>
          <a:xfrm>
            <a:off x="7861447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676C768-8B01-0964-61E5-D9BCD45D1052}"/>
              </a:ext>
            </a:extLst>
          </p:cNvPr>
          <p:cNvSpPr/>
          <p:nvPr/>
        </p:nvSpPr>
        <p:spPr>
          <a:xfrm>
            <a:off x="7861447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CD33C35-0B1E-7B00-949F-19CABFB6F669}"/>
              </a:ext>
            </a:extLst>
          </p:cNvPr>
          <p:cNvSpPr/>
          <p:nvPr/>
        </p:nvSpPr>
        <p:spPr>
          <a:xfrm>
            <a:off x="7861447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E2E40FD-9D76-FB77-789E-53824D42FC57}"/>
              </a:ext>
            </a:extLst>
          </p:cNvPr>
          <p:cNvSpPr/>
          <p:nvPr/>
        </p:nvSpPr>
        <p:spPr>
          <a:xfrm>
            <a:off x="7861447" y="358582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09B035F-1FA9-5D17-F642-3843A602B992}"/>
              </a:ext>
            </a:extLst>
          </p:cNvPr>
          <p:cNvSpPr/>
          <p:nvPr/>
        </p:nvSpPr>
        <p:spPr>
          <a:xfrm>
            <a:off x="7861447" y="37680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BAE0A1C-9AFA-06F4-12CE-AD4FC7593853}"/>
              </a:ext>
            </a:extLst>
          </p:cNvPr>
          <p:cNvSpPr/>
          <p:nvPr/>
        </p:nvSpPr>
        <p:spPr>
          <a:xfrm>
            <a:off x="7861447" y="395170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A31147-4F26-8893-3BA8-77160C021EFF}"/>
              </a:ext>
            </a:extLst>
          </p:cNvPr>
          <p:cNvSpPr/>
          <p:nvPr/>
        </p:nvSpPr>
        <p:spPr>
          <a:xfrm>
            <a:off x="7861447" y="41354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0995FC3-6704-F9B6-926C-A82D9D3B3531}"/>
              </a:ext>
            </a:extLst>
          </p:cNvPr>
          <p:cNvSpPr/>
          <p:nvPr/>
        </p:nvSpPr>
        <p:spPr>
          <a:xfrm>
            <a:off x="7865256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0AD6EF-231B-5506-0F84-996EFEAB8961}"/>
              </a:ext>
            </a:extLst>
          </p:cNvPr>
          <p:cNvSpPr txBox="1"/>
          <p:nvPr/>
        </p:nvSpPr>
        <p:spPr>
          <a:xfrm>
            <a:off x="5772332" y="1787981"/>
            <a:ext cx="2811988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restore stack top address</a:t>
            </a:r>
          </a:p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next thread!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4A06615-8306-1BE9-B902-3089F2EA83E3}"/>
              </a:ext>
            </a:extLst>
          </p:cNvPr>
          <p:cNvSpPr/>
          <p:nvPr/>
        </p:nvSpPr>
        <p:spPr bwMode="auto">
          <a:xfrm>
            <a:off x="5409391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5FF90E9-28CB-8325-B52B-7343A5177EB5}"/>
              </a:ext>
            </a:extLst>
          </p:cNvPr>
          <p:cNvSpPr/>
          <p:nvPr/>
        </p:nvSpPr>
        <p:spPr>
          <a:xfrm>
            <a:off x="5431443" y="5630974"/>
            <a:ext cx="1098898" cy="1823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BA52576-7F61-CD8D-8661-7095060DA7E8}"/>
              </a:ext>
            </a:extLst>
          </p:cNvPr>
          <p:cNvCxnSpPr>
            <a:cxnSpLocks/>
          </p:cNvCxnSpPr>
          <p:nvPr/>
        </p:nvCxnSpPr>
        <p:spPr>
          <a:xfrm>
            <a:off x="5152122" y="3337560"/>
            <a:ext cx="0" cy="27003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7A8EFBB-A151-DD62-7675-D09926CB12C9}"/>
              </a:ext>
            </a:extLst>
          </p:cNvPr>
          <p:cNvCxnSpPr>
            <a:cxnSpLocks/>
          </p:cNvCxnSpPr>
          <p:nvPr/>
        </p:nvCxnSpPr>
        <p:spPr>
          <a:xfrm flipH="1">
            <a:off x="5152122" y="6042946"/>
            <a:ext cx="24256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6E55895-04F5-3254-BB59-59B90418B079}"/>
              </a:ext>
            </a:extLst>
          </p:cNvPr>
          <p:cNvCxnSpPr>
            <a:cxnSpLocks/>
          </p:cNvCxnSpPr>
          <p:nvPr/>
        </p:nvCxnSpPr>
        <p:spPr>
          <a:xfrm flipH="1">
            <a:off x="5152122" y="3337560"/>
            <a:ext cx="335374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FADFF5E-C18E-AF7E-2101-84ED7C0BE5A3}"/>
              </a:ext>
            </a:extLst>
          </p:cNvPr>
          <p:cNvCxnSpPr>
            <a:cxnSpLocks/>
          </p:cNvCxnSpPr>
          <p:nvPr/>
        </p:nvCxnSpPr>
        <p:spPr>
          <a:xfrm>
            <a:off x="6457771" y="3124200"/>
            <a:ext cx="1193522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332C9DC-DA90-48F3-59BC-87BF1AD05428}"/>
              </a:ext>
            </a:extLst>
          </p:cNvPr>
          <p:cNvCxnSpPr>
            <a:cxnSpLocks/>
          </p:cNvCxnSpPr>
          <p:nvPr/>
        </p:nvCxnSpPr>
        <p:spPr>
          <a:xfrm>
            <a:off x="7643062" y="3124200"/>
            <a:ext cx="0" cy="291874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CA2FE4E-E5EE-3ED4-C6F8-F210C5EE55B2}"/>
              </a:ext>
            </a:extLst>
          </p:cNvPr>
          <p:cNvCxnSpPr>
            <a:cxnSpLocks/>
          </p:cNvCxnSpPr>
          <p:nvPr/>
        </p:nvCxnSpPr>
        <p:spPr>
          <a:xfrm flipH="1">
            <a:off x="7643062" y="6042946"/>
            <a:ext cx="204976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69DAF17-5ABE-9A13-FE29-8C89F113CEFA}"/>
              </a:ext>
            </a:extLst>
          </p:cNvPr>
          <p:cNvSpPr/>
          <p:nvPr/>
        </p:nvSpPr>
        <p:spPr bwMode="auto">
          <a:xfrm>
            <a:off x="7861447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960727C-FA9A-888A-3530-E80B53F2DD84}"/>
              </a:ext>
            </a:extLst>
          </p:cNvPr>
          <p:cNvSpPr/>
          <p:nvPr/>
        </p:nvSpPr>
        <p:spPr>
          <a:xfrm>
            <a:off x="7883499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30E138C-848F-B15F-C414-904408A1F81A}"/>
              </a:ext>
            </a:extLst>
          </p:cNvPr>
          <p:cNvCxnSpPr>
            <a:cxnSpLocks/>
          </p:cNvCxnSpPr>
          <p:nvPr/>
        </p:nvCxnSpPr>
        <p:spPr>
          <a:xfrm flipH="1">
            <a:off x="7734253" y="5715000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0798C5D-0197-D936-5F41-EB829F289B80}"/>
              </a:ext>
            </a:extLst>
          </p:cNvPr>
          <p:cNvCxnSpPr>
            <a:cxnSpLocks/>
          </p:cNvCxnSpPr>
          <p:nvPr/>
        </p:nvCxnSpPr>
        <p:spPr>
          <a:xfrm>
            <a:off x="7734253" y="4303428"/>
            <a:ext cx="0" cy="1411572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B6005C5-A41D-AE02-332E-6EEF9E4C425B}"/>
              </a:ext>
            </a:extLst>
          </p:cNvPr>
          <p:cNvCxnSpPr>
            <a:cxnSpLocks/>
          </p:cNvCxnSpPr>
          <p:nvPr/>
        </p:nvCxnSpPr>
        <p:spPr>
          <a:xfrm flipH="1">
            <a:off x="7734253" y="4303428"/>
            <a:ext cx="114347" cy="0"/>
          </a:xfrm>
          <a:prstGeom prst="line">
            <a:avLst/>
          </a:prstGeom>
          <a:ln>
            <a:headEnd type="triangle" w="med" len="med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A2C9B8C-DACB-49B0-494B-F6E21EE55E6A}"/>
              </a:ext>
            </a:extLst>
          </p:cNvPr>
          <p:cNvSpPr/>
          <p:nvPr/>
        </p:nvSpPr>
        <p:spPr>
          <a:xfrm>
            <a:off x="5411199" y="358582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9B93691-BEB9-B023-E170-CA70D1CF2E3A}"/>
              </a:ext>
            </a:extLst>
          </p:cNvPr>
          <p:cNvSpPr/>
          <p:nvPr/>
        </p:nvSpPr>
        <p:spPr>
          <a:xfrm>
            <a:off x="5411199" y="37680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20C1984-B8E8-6DE9-80F7-45CC91BDBCAC}"/>
              </a:ext>
            </a:extLst>
          </p:cNvPr>
          <p:cNvSpPr/>
          <p:nvPr/>
        </p:nvSpPr>
        <p:spPr>
          <a:xfrm>
            <a:off x="5411199" y="395170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B121655-AD13-EB85-29B4-4F81834C7BDA}"/>
              </a:ext>
            </a:extLst>
          </p:cNvPr>
          <p:cNvSpPr/>
          <p:nvPr/>
        </p:nvSpPr>
        <p:spPr>
          <a:xfrm>
            <a:off x="5411199" y="41354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44B555-158E-C87D-6F3A-6E01576A9FC3}"/>
              </a:ext>
            </a:extLst>
          </p:cNvPr>
          <p:cNvSpPr txBox="1"/>
          <p:nvPr/>
        </p:nvSpPr>
        <p:spPr>
          <a:xfrm>
            <a:off x="211258" y="6324600"/>
            <a:ext cx="474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cf. </a:t>
            </a:r>
            <a:r>
              <a:rPr lang="ko-KR" altLang="en-US" sz="1400"/>
              <a:t>각 </a:t>
            </a:r>
            <a:r>
              <a:rPr lang="en-US" altLang="ko-KR" sz="1400"/>
              <a:t>ret addr</a:t>
            </a:r>
            <a:r>
              <a:rPr lang="ko-KR" altLang="en-US" sz="1400"/>
              <a:t>는 </a:t>
            </a:r>
            <a:r>
              <a:rPr lang="en-US" altLang="ko-KR" sz="1400"/>
              <a:t>switch_thread </a:t>
            </a:r>
            <a:r>
              <a:rPr lang="ko-KR" altLang="en-US" sz="1400"/>
              <a:t>다음 명령어를 가리킴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B5A0A41-E71B-A1C2-8C3C-F5B2DC033D01}"/>
              </a:ext>
            </a:extLst>
          </p:cNvPr>
          <p:cNvCxnSpPr>
            <a:cxnSpLocks/>
          </p:cNvCxnSpPr>
          <p:nvPr/>
        </p:nvCxnSpPr>
        <p:spPr>
          <a:xfrm flipH="1">
            <a:off x="5281494" y="5718048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A83F2A7-B5F4-BA37-5101-D927024E85DD}"/>
              </a:ext>
            </a:extLst>
          </p:cNvPr>
          <p:cNvCxnSpPr>
            <a:cxnSpLocks/>
          </p:cNvCxnSpPr>
          <p:nvPr/>
        </p:nvCxnSpPr>
        <p:spPr>
          <a:xfrm>
            <a:off x="5281494" y="4306476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0A78B71-2238-5C69-B2D0-505149AE815A}"/>
              </a:ext>
            </a:extLst>
          </p:cNvPr>
          <p:cNvCxnSpPr>
            <a:cxnSpLocks/>
          </p:cNvCxnSpPr>
          <p:nvPr/>
        </p:nvCxnSpPr>
        <p:spPr>
          <a:xfrm flipH="1">
            <a:off x="5281494" y="4306476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화살표: 아래쪽 64">
            <a:extLst>
              <a:ext uri="{FF2B5EF4-FFF2-40B4-BE49-F238E27FC236}">
                <a16:creationId xmlns:a16="http://schemas.microsoft.com/office/drawing/2014/main" id="{B02BC5C0-6494-7024-DFC1-B0A05E5DEB73}"/>
              </a:ext>
            </a:extLst>
          </p:cNvPr>
          <p:cNvSpPr/>
          <p:nvPr/>
        </p:nvSpPr>
        <p:spPr bwMode="auto">
          <a:xfrm rot="10800000">
            <a:off x="8297810" y="5813307"/>
            <a:ext cx="304798" cy="222812"/>
          </a:xfrm>
          <a:prstGeom prst="downArrow">
            <a:avLst/>
          </a:prstGeom>
          <a:solidFill>
            <a:srgbClr val="CC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D1A846-F4D1-1508-CA47-923CA878B5B4}"/>
              </a:ext>
            </a:extLst>
          </p:cNvPr>
          <p:cNvSpPr txBox="1"/>
          <p:nvPr/>
        </p:nvSpPr>
        <p:spPr>
          <a:xfrm>
            <a:off x="5863389" y="6171606"/>
            <a:ext cx="32766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00CCFF"/>
                </a:solidFill>
              </a:rPr>
              <a:t>이 경로를 따라 </a:t>
            </a:r>
            <a:r>
              <a:rPr lang="en-US" altLang="ko-KR" sz="1000">
                <a:solidFill>
                  <a:srgbClr val="00CCFF"/>
                </a:solidFill>
              </a:rPr>
              <a:t>next thread</a:t>
            </a:r>
            <a:r>
              <a:rPr lang="ko-KR" altLang="en-US" sz="1000">
                <a:solidFill>
                  <a:srgbClr val="00CCFF"/>
                </a:solidFill>
              </a:rPr>
              <a:t>의 스텍탑 주소 획득</a:t>
            </a:r>
          </a:p>
        </p:txBody>
      </p:sp>
    </p:spTree>
    <p:extLst>
      <p:ext uri="{BB962C8B-B14F-4D97-AF65-F5344CB8AC3E}">
        <p14:creationId xmlns:p14="http://schemas.microsoft.com/office/powerpoint/2010/main" val="32787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D09F-D5EA-61FF-DE60-D60A578A1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AC0DD-B451-B650-27D4-71B82C40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스위칭</a:t>
            </a:r>
            <a:r>
              <a:rPr lang="en-US" altLang="ko-KR"/>
              <a:t>(5)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DD78EE-1D2C-924F-577B-936EC622FCE7}"/>
              </a:ext>
            </a:extLst>
          </p:cNvPr>
          <p:cNvSpPr/>
          <p:nvPr/>
        </p:nvSpPr>
        <p:spPr>
          <a:xfrm>
            <a:off x="118637" y="2647183"/>
            <a:ext cx="4926349" cy="2895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26    pushl %ebx   pushl %ebp   pushl %esi   pushl %edi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31    # Get offsetof (struct thread, stack).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32 .globl thread_stack_ofs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33    mov thread_stack_ofs, %edx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34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36    movl SWITCH_CUR(%esp), %eax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37    movl %esp, (%eax,%edx,1)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38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40    movl SWITCH_NEXT(%esp), %ecx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41    movl (%ecx,%edx,1), %esp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42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43    # Restore caller's register state.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44    popl %edi   popl %esi   popl %ebp   popl %ebx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48    ret</a:t>
            </a:r>
            <a:endParaRPr lang="ko-KR" altLang="en-US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8428B-AAC9-C816-0931-D76E4AABEFC8}"/>
              </a:ext>
            </a:extLst>
          </p:cNvPr>
          <p:cNvSpPr txBox="1"/>
          <p:nvPr/>
        </p:nvSpPr>
        <p:spPr>
          <a:xfrm>
            <a:off x="118638" y="2308629"/>
            <a:ext cx="49263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switch_threads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../../threads/switch.S:26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8B7E19-82A9-CFBE-8E95-3E43E35C1C30}"/>
              </a:ext>
            </a:extLst>
          </p:cNvPr>
          <p:cNvSpPr/>
          <p:nvPr/>
        </p:nvSpPr>
        <p:spPr>
          <a:xfrm>
            <a:off x="5409392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9309A5-33A9-9CAD-4E8B-4B4ABF173BE2}"/>
              </a:ext>
            </a:extLst>
          </p:cNvPr>
          <p:cNvSpPr/>
          <p:nvPr/>
        </p:nvSpPr>
        <p:spPr>
          <a:xfrm>
            <a:off x="7865255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CDAAA16-4EC1-EB20-0755-38E79D6F22E2}"/>
              </a:ext>
            </a:extLst>
          </p:cNvPr>
          <p:cNvSpPr/>
          <p:nvPr/>
        </p:nvSpPr>
        <p:spPr>
          <a:xfrm>
            <a:off x="6825108" y="4184535"/>
            <a:ext cx="766894" cy="27102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%esp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92279E-4E35-6AC3-D4B5-A7C366A58CEF}"/>
              </a:ext>
            </a:extLst>
          </p:cNvPr>
          <p:cNvSpPr/>
          <p:nvPr/>
        </p:nvSpPr>
        <p:spPr>
          <a:xfrm>
            <a:off x="5409391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9F886-6F97-CB13-3125-0DA3490F45E1}"/>
              </a:ext>
            </a:extLst>
          </p:cNvPr>
          <p:cNvSpPr txBox="1"/>
          <p:nvPr/>
        </p:nvSpPr>
        <p:spPr>
          <a:xfrm>
            <a:off x="5461769" y="2359093"/>
            <a:ext cx="98777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cur thread</a:t>
            </a:r>
            <a:endParaRPr lang="ko-KR" altLang="en-US" sz="12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1B2E88-FAB7-8064-D991-8182A004E789}"/>
              </a:ext>
            </a:extLst>
          </p:cNvPr>
          <p:cNvSpPr txBox="1"/>
          <p:nvPr/>
        </p:nvSpPr>
        <p:spPr>
          <a:xfrm>
            <a:off x="7884600" y="2370184"/>
            <a:ext cx="10855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next thread</a:t>
            </a:r>
            <a:endParaRPr lang="ko-KR" altLang="en-US" sz="1200" dirty="0" err="1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E89782-75FF-89BC-BC29-A22EA1DEA7D1}"/>
              </a:ext>
            </a:extLst>
          </p:cNvPr>
          <p:cNvSpPr/>
          <p:nvPr/>
        </p:nvSpPr>
        <p:spPr>
          <a:xfrm>
            <a:off x="5409392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DFF580-C7FD-C30B-CC15-5476E1F9FEF0}"/>
              </a:ext>
            </a:extLst>
          </p:cNvPr>
          <p:cNvSpPr/>
          <p:nvPr/>
        </p:nvSpPr>
        <p:spPr>
          <a:xfrm>
            <a:off x="5409392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050F50-98A1-3667-1D7D-2BAE863349CB}"/>
              </a:ext>
            </a:extLst>
          </p:cNvPr>
          <p:cNvSpPr/>
          <p:nvPr/>
        </p:nvSpPr>
        <p:spPr>
          <a:xfrm>
            <a:off x="5409392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EC5BB0B-AC4B-C576-A83B-A39E940646DC}"/>
              </a:ext>
            </a:extLst>
          </p:cNvPr>
          <p:cNvSpPr/>
          <p:nvPr/>
        </p:nvSpPr>
        <p:spPr>
          <a:xfrm>
            <a:off x="7861447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7E18435-BA02-FDA6-028E-F1C47DC06374}"/>
              </a:ext>
            </a:extLst>
          </p:cNvPr>
          <p:cNvSpPr/>
          <p:nvPr/>
        </p:nvSpPr>
        <p:spPr>
          <a:xfrm>
            <a:off x="7861447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2C675A3-944C-0C37-C1CF-B94999516301}"/>
              </a:ext>
            </a:extLst>
          </p:cNvPr>
          <p:cNvSpPr/>
          <p:nvPr/>
        </p:nvSpPr>
        <p:spPr>
          <a:xfrm>
            <a:off x="7861447" y="3585822"/>
            <a:ext cx="1142999" cy="182333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strike="sngStrike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stored %ebx</a:t>
            </a:r>
            <a:endParaRPr lang="ko-KR" altLang="en-US" sz="1000" strike="sngStrike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7DC3D2F-3F21-8FC2-5D7B-8057BCF95887}"/>
              </a:ext>
            </a:extLst>
          </p:cNvPr>
          <p:cNvSpPr/>
          <p:nvPr/>
        </p:nvSpPr>
        <p:spPr>
          <a:xfrm>
            <a:off x="7861447" y="3768027"/>
            <a:ext cx="1142999" cy="182333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strike="sngStrike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stored %ebp</a:t>
            </a:r>
            <a:endParaRPr lang="ko-KR" altLang="en-US" sz="1000" strike="sngStrike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CF945E4-ED9B-5EA7-0A8F-6E53B2055058}"/>
              </a:ext>
            </a:extLst>
          </p:cNvPr>
          <p:cNvSpPr/>
          <p:nvPr/>
        </p:nvSpPr>
        <p:spPr>
          <a:xfrm>
            <a:off x="7861447" y="3951701"/>
            <a:ext cx="1142999" cy="182333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strike="sngStrike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stored %esi</a:t>
            </a:r>
            <a:endParaRPr lang="ko-KR" altLang="en-US" sz="1000" strike="sngStrike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306C28C-A1B5-F7A5-48DD-2AFE1A4EC92D}"/>
              </a:ext>
            </a:extLst>
          </p:cNvPr>
          <p:cNvSpPr/>
          <p:nvPr/>
        </p:nvSpPr>
        <p:spPr>
          <a:xfrm>
            <a:off x="7861447" y="4135427"/>
            <a:ext cx="1142999" cy="182333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strike="sngStrike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stored %edi</a:t>
            </a:r>
            <a:endParaRPr lang="ko-KR" altLang="en-US" sz="1000" strike="sngStrike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4787D50-B6DF-6349-1129-9C28B5CDAC80}"/>
              </a:ext>
            </a:extLst>
          </p:cNvPr>
          <p:cNvSpPr/>
          <p:nvPr/>
        </p:nvSpPr>
        <p:spPr>
          <a:xfrm>
            <a:off x="7865256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DBCC53-B0DF-2EE9-7900-722BEF8D0F46}"/>
              </a:ext>
            </a:extLst>
          </p:cNvPr>
          <p:cNvSpPr txBox="1"/>
          <p:nvPr/>
        </p:nvSpPr>
        <p:spPr>
          <a:xfrm>
            <a:off x="5868518" y="1781369"/>
            <a:ext cx="2619628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restore register context</a:t>
            </a:r>
          </a:p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popping from stack!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F5A8BF6-BE6A-110D-F8CD-5CABD0C4079F}"/>
              </a:ext>
            </a:extLst>
          </p:cNvPr>
          <p:cNvSpPr/>
          <p:nvPr/>
        </p:nvSpPr>
        <p:spPr bwMode="auto">
          <a:xfrm>
            <a:off x="5409391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B46A73C-20F7-AB94-859E-C661C663A47B}"/>
              </a:ext>
            </a:extLst>
          </p:cNvPr>
          <p:cNvSpPr/>
          <p:nvPr/>
        </p:nvSpPr>
        <p:spPr>
          <a:xfrm>
            <a:off x="5431443" y="5630974"/>
            <a:ext cx="1098898" cy="1823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1638997-D142-2016-42A6-167B88B2E9A9}"/>
              </a:ext>
            </a:extLst>
          </p:cNvPr>
          <p:cNvCxnSpPr>
            <a:cxnSpLocks/>
          </p:cNvCxnSpPr>
          <p:nvPr/>
        </p:nvCxnSpPr>
        <p:spPr>
          <a:xfrm>
            <a:off x="5152122" y="3337560"/>
            <a:ext cx="0" cy="27003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CBCED50-65CF-A223-B6FA-A2414063E4EE}"/>
              </a:ext>
            </a:extLst>
          </p:cNvPr>
          <p:cNvCxnSpPr>
            <a:cxnSpLocks/>
          </p:cNvCxnSpPr>
          <p:nvPr/>
        </p:nvCxnSpPr>
        <p:spPr>
          <a:xfrm flipH="1">
            <a:off x="5152122" y="6042946"/>
            <a:ext cx="24256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3921222A-4995-8E25-54AF-83FC19B14511}"/>
              </a:ext>
            </a:extLst>
          </p:cNvPr>
          <p:cNvCxnSpPr>
            <a:cxnSpLocks/>
          </p:cNvCxnSpPr>
          <p:nvPr/>
        </p:nvCxnSpPr>
        <p:spPr>
          <a:xfrm flipH="1">
            <a:off x="5152122" y="3337560"/>
            <a:ext cx="335374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FE0CC372-9731-5377-9F18-30DFADA1FF45}"/>
              </a:ext>
            </a:extLst>
          </p:cNvPr>
          <p:cNvCxnSpPr>
            <a:cxnSpLocks/>
          </p:cNvCxnSpPr>
          <p:nvPr/>
        </p:nvCxnSpPr>
        <p:spPr>
          <a:xfrm>
            <a:off x="6457771" y="3124200"/>
            <a:ext cx="1193522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BF0EDF-0B1C-63C6-3739-A742B8DE433A}"/>
              </a:ext>
            </a:extLst>
          </p:cNvPr>
          <p:cNvCxnSpPr>
            <a:cxnSpLocks/>
          </p:cNvCxnSpPr>
          <p:nvPr/>
        </p:nvCxnSpPr>
        <p:spPr>
          <a:xfrm>
            <a:off x="7643062" y="3124200"/>
            <a:ext cx="0" cy="291874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D4CCD47-D00D-7425-F5B3-5AA42AEDEC58}"/>
              </a:ext>
            </a:extLst>
          </p:cNvPr>
          <p:cNvCxnSpPr>
            <a:cxnSpLocks/>
          </p:cNvCxnSpPr>
          <p:nvPr/>
        </p:nvCxnSpPr>
        <p:spPr>
          <a:xfrm flipH="1">
            <a:off x="7643062" y="6042946"/>
            <a:ext cx="204976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083AD52-2053-6411-D2BA-D381AA75ED78}"/>
              </a:ext>
            </a:extLst>
          </p:cNvPr>
          <p:cNvSpPr/>
          <p:nvPr/>
        </p:nvSpPr>
        <p:spPr bwMode="auto">
          <a:xfrm>
            <a:off x="7861447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2301BFA-61AB-79EE-0F87-3BF4C075B2FA}"/>
              </a:ext>
            </a:extLst>
          </p:cNvPr>
          <p:cNvSpPr/>
          <p:nvPr/>
        </p:nvSpPr>
        <p:spPr>
          <a:xfrm>
            <a:off x="7883499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29CF454-288B-4A6D-ED17-DA97EF9DDA76}"/>
              </a:ext>
            </a:extLst>
          </p:cNvPr>
          <p:cNvCxnSpPr>
            <a:cxnSpLocks/>
          </p:cNvCxnSpPr>
          <p:nvPr/>
        </p:nvCxnSpPr>
        <p:spPr>
          <a:xfrm flipH="1">
            <a:off x="7734253" y="5715000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4FA638A-DF07-3C8F-1E39-EDEC99FD5CB5}"/>
              </a:ext>
            </a:extLst>
          </p:cNvPr>
          <p:cNvSpPr/>
          <p:nvPr/>
        </p:nvSpPr>
        <p:spPr>
          <a:xfrm>
            <a:off x="5411199" y="358582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8625E26-A9A6-285A-8081-C2CA17967C60}"/>
              </a:ext>
            </a:extLst>
          </p:cNvPr>
          <p:cNvSpPr/>
          <p:nvPr/>
        </p:nvSpPr>
        <p:spPr>
          <a:xfrm>
            <a:off x="5411199" y="37680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88FD829-D1BD-D6B6-6553-C3525D8737C0}"/>
              </a:ext>
            </a:extLst>
          </p:cNvPr>
          <p:cNvSpPr/>
          <p:nvPr/>
        </p:nvSpPr>
        <p:spPr>
          <a:xfrm>
            <a:off x="5411199" y="395170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016839A-59C1-1CC2-99D9-BF0E43841BE5}"/>
              </a:ext>
            </a:extLst>
          </p:cNvPr>
          <p:cNvSpPr/>
          <p:nvPr/>
        </p:nvSpPr>
        <p:spPr>
          <a:xfrm>
            <a:off x="5411199" y="41354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7C4CF4-53E2-B52D-9E42-89F5D25702D4}"/>
              </a:ext>
            </a:extLst>
          </p:cNvPr>
          <p:cNvSpPr txBox="1"/>
          <p:nvPr/>
        </p:nvSpPr>
        <p:spPr>
          <a:xfrm>
            <a:off x="211258" y="6324600"/>
            <a:ext cx="474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cf. </a:t>
            </a:r>
            <a:r>
              <a:rPr lang="ko-KR" altLang="en-US" sz="1400"/>
              <a:t>각 </a:t>
            </a:r>
            <a:r>
              <a:rPr lang="en-US" altLang="ko-KR" sz="1400"/>
              <a:t>ret addr</a:t>
            </a:r>
            <a:r>
              <a:rPr lang="ko-KR" altLang="en-US" sz="1400"/>
              <a:t>는 </a:t>
            </a:r>
            <a:r>
              <a:rPr lang="en-US" altLang="ko-KR" sz="1400"/>
              <a:t>switch_thread </a:t>
            </a:r>
            <a:r>
              <a:rPr lang="ko-KR" altLang="en-US" sz="1400"/>
              <a:t>다음 명령어를 가리킴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200D3E5-6A7E-37B8-A910-072818E26EB4}"/>
              </a:ext>
            </a:extLst>
          </p:cNvPr>
          <p:cNvCxnSpPr>
            <a:cxnSpLocks/>
          </p:cNvCxnSpPr>
          <p:nvPr/>
        </p:nvCxnSpPr>
        <p:spPr>
          <a:xfrm flipH="1">
            <a:off x="5281494" y="5718048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BC996E9-083D-336C-A8B7-B317E5462C74}"/>
              </a:ext>
            </a:extLst>
          </p:cNvPr>
          <p:cNvCxnSpPr>
            <a:cxnSpLocks/>
          </p:cNvCxnSpPr>
          <p:nvPr/>
        </p:nvCxnSpPr>
        <p:spPr>
          <a:xfrm>
            <a:off x="5281494" y="4306476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D3B4A0B-F06F-BEC6-2DF8-A3D2967EBDC0}"/>
              </a:ext>
            </a:extLst>
          </p:cNvPr>
          <p:cNvCxnSpPr>
            <a:cxnSpLocks/>
          </p:cNvCxnSpPr>
          <p:nvPr/>
        </p:nvCxnSpPr>
        <p:spPr>
          <a:xfrm flipH="1">
            <a:off x="5281494" y="4306476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5AD2EB5-F081-82EE-DF97-331435189F4E}"/>
              </a:ext>
            </a:extLst>
          </p:cNvPr>
          <p:cNvCxnSpPr>
            <a:cxnSpLocks/>
          </p:cNvCxnSpPr>
          <p:nvPr/>
        </p:nvCxnSpPr>
        <p:spPr>
          <a:xfrm>
            <a:off x="7734253" y="4303428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A176E6D-03DB-E60A-C1DD-DEAAA8DA54E8}"/>
              </a:ext>
            </a:extLst>
          </p:cNvPr>
          <p:cNvCxnSpPr>
            <a:cxnSpLocks/>
          </p:cNvCxnSpPr>
          <p:nvPr/>
        </p:nvCxnSpPr>
        <p:spPr>
          <a:xfrm flipH="1">
            <a:off x="7734253" y="4303428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8EC43C3-E605-A03C-32BB-048E4A3C1A09}"/>
              </a:ext>
            </a:extLst>
          </p:cNvPr>
          <p:cNvCxnSpPr>
            <a:cxnSpLocks/>
          </p:cNvCxnSpPr>
          <p:nvPr/>
        </p:nvCxnSpPr>
        <p:spPr>
          <a:xfrm flipV="1">
            <a:off x="7467600" y="3585822"/>
            <a:ext cx="0" cy="717606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78A159EC-BFDE-0609-3362-1116B5515090}"/>
              </a:ext>
            </a:extLst>
          </p:cNvPr>
          <p:cNvCxnSpPr>
            <a:cxnSpLocks/>
          </p:cNvCxnSpPr>
          <p:nvPr/>
        </p:nvCxnSpPr>
        <p:spPr>
          <a:xfrm flipH="1">
            <a:off x="7467600" y="3591570"/>
            <a:ext cx="38043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F95A7D8-7CCF-17AF-AE4F-1622C504549C}"/>
              </a:ext>
            </a:extLst>
          </p:cNvPr>
          <p:cNvSpPr/>
          <p:nvPr/>
        </p:nvSpPr>
        <p:spPr>
          <a:xfrm>
            <a:off x="7861447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5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53A4-41F3-7923-F06D-542DA2D1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50B0A-46B4-DF03-9CBC-901CA3D4B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스위칭</a:t>
            </a:r>
            <a:r>
              <a:rPr lang="en-US" altLang="ko-KR"/>
              <a:t>(6)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2CD334-A50B-684F-11D5-C1F65F91FCA2}"/>
              </a:ext>
            </a:extLst>
          </p:cNvPr>
          <p:cNvSpPr/>
          <p:nvPr/>
        </p:nvSpPr>
        <p:spPr>
          <a:xfrm>
            <a:off x="118637" y="2647183"/>
            <a:ext cx="4926349" cy="2895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26    pushl %ebx   pushl %ebp   pushl %esi   pushl %edi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31    # Get offsetof (struct thread, stack).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32 .globl thread_stack_ofs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33    mov thread_stack_ofs, %edx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34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36    movl SWITCH_CUR(%esp), %eax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37    movl %esp, (%eax,%edx,1)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38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40    movl SWITCH_NEXT(%esp), %ecx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41    movl (%ecx,%edx,1), %esp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42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43    # Restore caller's register state.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44    popl %edi   popl %esi   popl %ebp   popl %ebx</a:t>
            </a:r>
          </a:p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48    ret</a:t>
            </a:r>
            <a:endParaRPr lang="ko-KR" altLang="en-US" sz="12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C96EC-F8D1-86CE-25A4-8B575DF246E7}"/>
              </a:ext>
            </a:extLst>
          </p:cNvPr>
          <p:cNvSpPr txBox="1"/>
          <p:nvPr/>
        </p:nvSpPr>
        <p:spPr>
          <a:xfrm>
            <a:off x="118638" y="2308629"/>
            <a:ext cx="49263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switch_threads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../../threads/switch.S:26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712D57-4EAD-4EEF-DDEF-1493B1DEDDD7}"/>
              </a:ext>
            </a:extLst>
          </p:cNvPr>
          <p:cNvSpPr/>
          <p:nvPr/>
        </p:nvSpPr>
        <p:spPr>
          <a:xfrm>
            <a:off x="5409392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C70FA8-7998-CBB9-71FB-058A89BFEED6}"/>
              </a:ext>
            </a:extLst>
          </p:cNvPr>
          <p:cNvSpPr/>
          <p:nvPr/>
        </p:nvSpPr>
        <p:spPr>
          <a:xfrm>
            <a:off x="7865255" y="2636092"/>
            <a:ext cx="1142999" cy="4106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some frames</a:t>
            </a:r>
            <a:endParaRPr lang="ko-KR" altLang="en-US" sz="100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E031322-F0FC-B8AD-27DF-207EBBA21149}"/>
              </a:ext>
            </a:extLst>
          </p:cNvPr>
          <p:cNvSpPr/>
          <p:nvPr/>
        </p:nvSpPr>
        <p:spPr>
          <a:xfrm>
            <a:off x="6825108" y="4184535"/>
            <a:ext cx="766894" cy="27102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%esp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7CC1AC-D22B-2872-C88E-0EE35E1B0508}"/>
              </a:ext>
            </a:extLst>
          </p:cNvPr>
          <p:cNvSpPr/>
          <p:nvPr/>
        </p:nvSpPr>
        <p:spPr>
          <a:xfrm>
            <a:off x="5409391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DC0ED8-7CD5-9266-4A3F-8EBEFAD1A916}"/>
              </a:ext>
            </a:extLst>
          </p:cNvPr>
          <p:cNvSpPr txBox="1"/>
          <p:nvPr/>
        </p:nvSpPr>
        <p:spPr>
          <a:xfrm>
            <a:off x="5461769" y="2359093"/>
            <a:ext cx="98777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cur thread</a:t>
            </a:r>
            <a:endParaRPr lang="ko-KR" altLang="en-US" sz="1200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8D0B11-3380-651A-A7F8-D8BD262FEDEF}"/>
              </a:ext>
            </a:extLst>
          </p:cNvPr>
          <p:cNvSpPr txBox="1"/>
          <p:nvPr/>
        </p:nvSpPr>
        <p:spPr>
          <a:xfrm>
            <a:off x="7884600" y="2370184"/>
            <a:ext cx="10855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next thread</a:t>
            </a:r>
            <a:endParaRPr lang="ko-KR" altLang="en-US" sz="1200" dirty="0" err="1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CB9DD48-60BF-DB15-2A03-511BDCEB5B53}"/>
              </a:ext>
            </a:extLst>
          </p:cNvPr>
          <p:cNvSpPr/>
          <p:nvPr/>
        </p:nvSpPr>
        <p:spPr>
          <a:xfrm>
            <a:off x="5409392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C8CE3CE-4D05-DF88-2340-621D548980D0}"/>
              </a:ext>
            </a:extLst>
          </p:cNvPr>
          <p:cNvSpPr/>
          <p:nvPr/>
        </p:nvSpPr>
        <p:spPr>
          <a:xfrm>
            <a:off x="5409392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75073B-EA52-8405-3048-54849DECDA0F}"/>
              </a:ext>
            </a:extLst>
          </p:cNvPr>
          <p:cNvSpPr/>
          <p:nvPr/>
        </p:nvSpPr>
        <p:spPr>
          <a:xfrm>
            <a:off x="5409392" y="3412340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ret addr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B514E9D-54E3-55B4-A818-8C3D59A1C8EE}"/>
              </a:ext>
            </a:extLst>
          </p:cNvPr>
          <p:cNvSpPr/>
          <p:nvPr/>
        </p:nvSpPr>
        <p:spPr>
          <a:xfrm>
            <a:off x="7861447" y="3045345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*next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342EE2-29FF-39C4-4735-F9B70569F6FA}"/>
              </a:ext>
            </a:extLst>
          </p:cNvPr>
          <p:cNvSpPr/>
          <p:nvPr/>
        </p:nvSpPr>
        <p:spPr>
          <a:xfrm>
            <a:off x="7861447" y="323259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arg *cur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B8D2AC-4597-DFED-0FFF-8DB99899FC87}"/>
              </a:ext>
            </a:extLst>
          </p:cNvPr>
          <p:cNvSpPr txBox="1"/>
          <p:nvPr/>
        </p:nvSpPr>
        <p:spPr>
          <a:xfrm>
            <a:off x="5920620" y="1781369"/>
            <a:ext cx="251543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</a:t>
            </a:r>
            <a:r>
              <a:rPr lang="ko-KR" altLang="en-US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‘ret addr’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C959890-19F1-4985-AED7-827570F8C1E4}"/>
              </a:ext>
            </a:extLst>
          </p:cNvPr>
          <p:cNvSpPr/>
          <p:nvPr/>
        </p:nvSpPr>
        <p:spPr bwMode="auto">
          <a:xfrm>
            <a:off x="5409391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879881-DEDB-8789-F086-C39C75DE6570}"/>
              </a:ext>
            </a:extLst>
          </p:cNvPr>
          <p:cNvSpPr/>
          <p:nvPr/>
        </p:nvSpPr>
        <p:spPr>
          <a:xfrm>
            <a:off x="5431443" y="5630974"/>
            <a:ext cx="1098898" cy="1823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DC0B4E4-3CF8-3D3D-94A4-0A97C2265C8C}"/>
              </a:ext>
            </a:extLst>
          </p:cNvPr>
          <p:cNvCxnSpPr>
            <a:cxnSpLocks/>
          </p:cNvCxnSpPr>
          <p:nvPr/>
        </p:nvCxnSpPr>
        <p:spPr>
          <a:xfrm>
            <a:off x="5152122" y="3337560"/>
            <a:ext cx="0" cy="27003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5D9A6F9-4A4D-D3BC-E025-E98A53A8AFB9}"/>
              </a:ext>
            </a:extLst>
          </p:cNvPr>
          <p:cNvCxnSpPr>
            <a:cxnSpLocks/>
          </p:cNvCxnSpPr>
          <p:nvPr/>
        </p:nvCxnSpPr>
        <p:spPr>
          <a:xfrm flipH="1">
            <a:off x="5152122" y="6042946"/>
            <a:ext cx="24256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8B33CD8-00DF-0E6F-6575-EAC6E9DEAF84}"/>
              </a:ext>
            </a:extLst>
          </p:cNvPr>
          <p:cNvCxnSpPr>
            <a:cxnSpLocks/>
          </p:cNvCxnSpPr>
          <p:nvPr/>
        </p:nvCxnSpPr>
        <p:spPr>
          <a:xfrm flipH="1">
            <a:off x="5152122" y="3337560"/>
            <a:ext cx="335374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A765049-5243-9F53-34E1-F4DAF2B73A06}"/>
              </a:ext>
            </a:extLst>
          </p:cNvPr>
          <p:cNvCxnSpPr>
            <a:cxnSpLocks/>
          </p:cNvCxnSpPr>
          <p:nvPr/>
        </p:nvCxnSpPr>
        <p:spPr>
          <a:xfrm>
            <a:off x="6457771" y="3124200"/>
            <a:ext cx="1193522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2D56888-1288-F08B-FA76-1932DECF96B3}"/>
              </a:ext>
            </a:extLst>
          </p:cNvPr>
          <p:cNvCxnSpPr>
            <a:cxnSpLocks/>
          </p:cNvCxnSpPr>
          <p:nvPr/>
        </p:nvCxnSpPr>
        <p:spPr>
          <a:xfrm>
            <a:off x="7643062" y="3124200"/>
            <a:ext cx="0" cy="291874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4B88662-759A-8D76-01AA-8B226D8BCA1E}"/>
              </a:ext>
            </a:extLst>
          </p:cNvPr>
          <p:cNvCxnSpPr>
            <a:cxnSpLocks/>
          </p:cNvCxnSpPr>
          <p:nvPr/>
        </p:nvCxnSpPr>
        <p:spPr>
          <a:xfrm flipH="1">
            <a:off x="7643062" y="6042946"/>
            <a:ext cx="204976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9669CA4-263E-6940-1E25-551140F92358}"/>
              </a:ext>
            </a:extLst>
          </p:cNvPr>
          <p:cNvSpPr/>
          <p:nvPr/>
        </p:nvSpPr>
        <p:spPr bwMode="auto">
          <a:xfrm>
            <a:off x="7861447" y="5105400"/>
            <a:ext cx="1142999" cy="937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struct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  <a:cs typeface="Arial" charset="0"/>
              </a:rPr>
              <a:t>thread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Arial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BE3C5E6-F046-CDC7-6187-DD0ACC2EF96B}"/>
              </a:ext>
            </a:extLst>
          </p:cNvPr>
          <p:cNvSpPr/>
          <p:nvPr/>
        </p:nvSpPr>
        <p:spPr>
          <a:xfrm>
            <a:off x="7883499" y="5630974"/>
            <a:ext cx="1098898" cy="182333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*stack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5FE81B8-D901-FC2C-6C5F-5FCE69187102}"/>
              </a:ext>
            </a:extLst>
          </p:cNvPr>
          <p:cNvCxnSpPr>
            <a:cxnSpLocks/>
          </p:cNvCxnSpPr>
          <p:nvPr/>
        </p:nvCxnSpPr>
        <p:spPr>
          <a:xfrm flipH="1">
            <a:off x="7734253" y="5715000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9886DCB-7E77-9FE9-EF80-99CB4E3E3EAC}"/>
              </a:ext>
            </a:extLst>
          </p:cNvPr>
          <p:cNvSpPr/>
          <p:nvPr/>
        </p:nvSpPr>
        <p:spPr>
          <a:xfrm>
            <a:off x="5411199" y="3585822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%ebx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BCCD4C8-6EEC-80CB-FD5B-A32816FA3F5E}"/>
              </a:ext>
            </a:extLst>
          </p:cNvPr>
          <p:cNvSpPr/>
          <p:nvPr/>
        </p:nvSpPr>
        <p:spPr>
          <a:xfrm>
            <a:off x="5411199" y="37680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%ebp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AE087A-CEBC-728F-1206-E9C4B6B16677}"/>
              </a:ext>
            </a:extLst>
          </p:cNvPr>
          <p:cNvSpPr/>
          <p:nvPr/>
        </p:nvSpPr>
        <p:spPr>
          <a:xfrm>
            <a:off x="5411199" y="3951701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%esi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3F37C78-87E9-E595-2E91-2A14F884EE95}"/>
              </a:ext>
            </a:extLst>
          </p:cNvPr>
          <p:cNvSpPr/>
          <p:nvPr/>
        </p:nvSpPr>
        <p:spPr>
          <a:xfrm>
            <a:off x="5411199" y="4135427"/>
            <a:ext cx="1142999" cy="18233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Consolas" panose="020B0609020204030204" pitchFamily="49" charset="0"/>
              </a:rPr>
              <a:t>stored %edi</a:t>
            </a:r>
            <a:endParaRPr lang="ko-KR" altLang="en-US" sz="1000">
              <a:latin typeface="Consolas" panose="020B060902020403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7E8574-5D8E-1AA8-C03A-94EFCE6A2383}"/>
              </a:ext>
            </a:extLst>
          </p:cNvPr>
          <p:cNvSpPr txBox="1"/>
          <p:nvPr/>
        </p:nvSpPr>
        <p:spPr>
          <a:xfrm>
            <a:off x="211258" y="6324600"/>
            <a:ext cx="474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cf. </a:t>
            </a:r>
            <a:r>
              <a:rPr lang="ko-KR" altLang="en-US" sz="1400"/>
              <a:t>각 </a:t>
            </a:r>
            <a:r>
              <a:rPr lang="en-US" altLang="ko-KR" sz="1400"/>
              <a:t>ret addr</a:t>
            </a:r>
            <a:r>
              <a:rPr lang="ko-KR" altLang="en-US" sz="1400"/>
              <a:t>는 </a:t>
            </a:r>
            <a:r>
              <a:rPr lang="en-US" altLang="ko-KR" sz="1400"/>
              <a:t>switch_thread </a:t>
            </a:r>
            <a:r>
              <a:rPr lang="ko-KR" altLang="en-US" sz="1400"/>
              <a:t>다음 명령어를 가리킴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B900EDF-20E8-6974-D220-BA9F8CFD3014}"/>
              </a:ext>
            </a:extLst>
          </p:cNvPr>
          <p:cNvCxnSpPr>
            <a:cxnSpLocks/>
          </p:cNvCxnSpPr>
          <p:nvPr/>
        </p:nvCxnSpPr>
        <p:spPr>
          <a:xfrm flipH="1">
            <a:off x="5281494" y="5718048"/>
            <a:ext cx="358838" cy="0"/>
          </a:xfrm>
          <a:prstGeom prst="line">
            <a:avLst/>
          </a:prstGeom>
          <a:ln w="9525">
            <a:solidFill>
              <a:schemeClr val="tx1"/>
            </a:solidFill>
            <a:headEnd type="oval" w="sm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1B42D2A-3A82-2253-37C3-7B7B9764010D}"/>
              </a:ext>
            </a:extLst>
          </p:cNvPr>
          <p:cNvCxnSpPr>
            <a:cxnSpLocks/>
          </p:cNvCxnSpPr>
          <p:nvPr/>
        </p:nvCxnSpPr>
        <p:spPr>
          <a:xfrm>
            <a:off x="5281494" y="4306476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AFFA6BE-AA82-59B2-9AFF-6B6D4F48C990}"/>
              </a:ext>
            </a:extLst>
          </p:cNvPr>
          <p:cNvCxnSpPr>
            <a:cxnSpLocks/>
          </p:cNvCxnSpPr>
          <p:nvPr/>
        </p:nvCxnSpPr>
        <p:spPr>
          <a:xfrm flipH="1">
            <a:off x="5281494" y="4306476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37BAB8E-B904-42B1-2428-44D475E7845F}"/>
              </a:ext>
            </a:extLst>
          </p:cNvPr>
          <p:cNvCxnSpPr>
            <a:cxnSpLocks/>
          </p:cNvCxnSpPr>
          <p:nvPr/>
        </p:nvCxnSpPr>
        <p:spPr>
          <a:xfrm>
            <a:off x="7734253" y="4303428"/>
            <a:ext cx="0" cy="14115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9206EEA-0D30-6301-3244-56F9315DB781}"/>
              </a:ext>
            </a:extLst>
          </p:cNvPr>
          <p:cNvCxnSpPr>
            <a:cxnSpLocks/>
          </p:cNvCxnSpPr>
          <p:nvPr/>
        </p:nvCxnSpPr>
        <p:spPr>
          <a:xfrm flipH="1">
            <a:off x="7734253" y="4303428"/>
            <a:ext cx="114347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E9A3C69-B7C3-75FD-2269-E0375FDE25DC}"/>
              </a:ext>
            </a:extLst>
          </p:cNvPr>
          <p:cNvCxnSpPr>
            <a:cxnSpLocks/>
          </p:cNvCxnSpPr>
          <p:nvPr/>
        </p:nvCxnSpPr>
        <p:spPr>
          <a:xfrm flipV="1">
            <a:off x="7467600" y="3408690"/>
            <a:ext cx="0" cy="894738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2105DD7-702A-DAED-ED12-629C947EE06F}"/>
              </a:ext>
            </a:extLst>
          </p:cNvPr>
          <p:cNvCxnSpPr>
            <a:cxnSpLocks/>
          </p:cNvCxnSpPr>
          <p:nvPr/>
        </p:nvCxnSpPr>
        <p:spPr>
          <a:xfrm flipH="1">
            <a:off x="7467600" y="3408690"/>
            <a:ext cx="380438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A1E2369-4F43-97EE-BD26-788A87014909}"/>
              </a:ext>
            </a:extLst>
          </p:cNvPr>
          <p:cNvSpPr/>
          <p:nvPr/>
        </p:nvSpPr>
        <p:spPr>
          <a:xfrm>
            <a:off x="7861447" y="3412340"/>
            <a:ext cx="1142999" cy="182333"/>
          </a:xfrm>
          <a:prstGeom prst="rect">
            <a:avLst/>
          </a:prstGeom>
          <a:solidFill>
            <a:schemeClr val="bg1"/>
          </a:solidFill>
          <a:ln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strike="sngStrik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ret addr</a:t>
            </a:r>
            <a:endParaRPr lang="ko-KR" altLang="en-US" sz="1000" strike="sngStrike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6F64DF-24EC-2494-85A4-2C2EDFDD4D91}"/>
              </a:ext>
            </a:extLst>
          </p:cNvPr>
          <p:cNvSpPr/>
          <p:nvPr/>
        </p:nvSpPr>
        <p:spPr>
          <a:xfrm>
            <a:off x="7865256" y="2636092"/>
            <a:ext cx="1143000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71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C1D8-6BFD-555B-407C-0C34E886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B939E-0F94-890D-8855-3D4F17CD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1B800-5F86-0C34-A4A3-4000171F6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/>
              <a:t>tid_ t    </a:t>
            </a:r>
            <a:r>
              <a:rPr lang="en-US" altLang="ko-KR" sz="1600" b="1"/>
              <a:t>thread_create</a:t>
            </a:r>
          </a:p>
          <a:p>
            <a:pPr marL="0" indent="0">
              <a:buNone/>
            </a:pPr>
            <a:r>
              <a:rPr lang="en-US" altLang="ko-KR" sz="1600"/>
              <a:t>      (const char *name, int priority, thread_func *function, void *aux)</a:t>
            </a:r>
          </a:p>
          <a:p>
            <a:pPr marL="342900" indent="-342900">
              <a:buAutoNum type="arabicPeriod"/>
            </a:pPr>
            <a:r>
              <a:rPr lang="ko-KR" altLang="en-US" sz="1800"/>
              <a:t>딱 한 페이지 할당</a:t>
            </a:r>
            <a:r>
              <a:rPr lang="en-US" altLang="ko-KR" sz="1800"/>
              <a:t>(TCB + stack in A Page)</a:t>
            </a:r>
            <a:r>
              <a:rPr lang="ko-KR" altLang="en-US" sz="1800"/>
              <a:t>과 </a:t>
            </a:r>
            <a:r>
              <a:rPr lang="en-US" altLang="ko-KR" sz="1800"/>
              <a:t>TCB </a:t>
            </a:r>
            <a:r>
              <a:rPr lang="ko-KR" altLang="en-US" sz="1800"/>
              <a:t>초기화</a:t>
            </a:r>
            <a:endParaRPr lang="en-US" altLang="ko-KR" sz="1800"/>
          </a:p>
          <a:p>
            <a:pPr marL="342900" indent="-342900">
              <a:buAutoNum type="arabicPeriod"/>
            </a:pPr>
            <a:r>
              <a:rPr lang="ko-KR" altLang="en-US" sz="1800"/>
              <a:t>사전에 설계된 세 개의 </a:t>
            </a:r>
            <a:r>
              <a:rPr lang="ko-KR" altLang="en-US" sz="1800">
                <a:solidFill>
                  <a:srgbClr val="FF0000"/>
                </a:solidFill>
              </a:rPr>
              <a:t>더미 스텍 프레임</a:t>
            </a:r>
            <a:r>
              <a:rPr lang="ko-KR" altLang="en-US" sz="1800"/>
              <a:t> 강제 삽입 </a:t>
            </a:r>
            <a:r>
              <a:rPr lang="en-US" altLang="ko-KR" sz="1800">
                <a:solidFill>
                  <a:srgbClr val="FF0000"/>
                </a:solidFill>
              </a:rPr>
              <a:t>(WHY?)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F4159A-BD5A-AB1F-7D55-3A6342D6F514}"/>
              </a:ext>
            </a:extLst>
          </p:cNvPr>
          <p:cNvSpPr/>
          <p:nvPr/>
        </p:nvSpPr>
        <p:spPr>
          <a:xfrm>
            <a:off x="540312" y="3462754"/>
            <a:ext cx="8069725" cy="30904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(gdb) b</a:t>
            </a:r>
            <a:r>
              <a:rPr lang="ko-KR" altLang="en-US" sz="1500">
                <a:latin typeface="Consolas" panose="020B0609020204030204" pitchFamily="49" charset="0"/>
              </a:rPr>
              <a:t> </a:t>
            </a:r>
            <a:r>
              <a:rPr lang="en-US" altLang="ko-KR" sz="1500">
                <a:latin typeface="Consolas" panose="020B0609020204030204" pitchFamily="49" charset="0"/>
              </a:rPr>
              <a:t>create_thread        (gdb) c         (gdb) l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169       struct thread *t;</a:t>
            </a:r>
          </a:p>
          <a:p>
            <a:pPr marL="342900" indent="-342900">
              <a:buAutoNum type="arabicPlain" startAt="178"/>
            </a:pPr>
            <a:r>
              <a:rPr lang="fr-FR" altLang="ko-KR" sz="1500">
                <a:latin typeface="Consolas" panose="020B0609020204030204" pitchFamily="49" charset="0"/>
              </a:rPr>
              <a:t>       t = palloc_get_page (PAL_ZERO);  </a:t>
            </a:r>
          </a:p>
          <a:p>
            <a:r>
              <a:rPr lang="fr-FR" altLang="ko-KR" sz="1500">
                <a:latin typeface="Consolas" panose="020B0609020204030204" pitchFamily="49" charset="0"/>
              </a:rPr>
              <a:t>                </a:t>
            </a:r>
            <a:r>
              <a:rPr lang="fr-FR" altLang="ko-KR" sz="1500" i="1">
                <a:solidFill>
                  <a:srgbClr val="00B050"/>
                </a:solidFill>
                <a:latin typeface="Consolas" panose="020B0609020204030204" pitchFamily="49" charset="0"/>
              </a:rPr>
              <a:t>// struct</a:t>
            </a:r>
            <a:r>
              <a:rPr lang="ko-KR" altLang="en-US" sz="1500" i="1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500" i="1">
                <a:solidFill>
                  <a:srgbClr val="00B050"/>
                </a:solidFill>
                <a:latin typeface="Consolas" panose="020B0609020204030204" pitchFamily="49" charset="0"/>
              </a:rPr>
              <a:t>thread</a:t>
            </a:r>
            <a:r>
              <a:rPr lang="ko-KR" altLang="en-US" sz="1500" i="1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500" i="1">
                <a:solidFill>
                  <a:srgbClr val="00B050"/>
                </a:solidFill>
                <a:latin typeface="Consolas" panose="020B0609020204030204" pitchFamily="49" charset="0"/>
              </a:rPr>
              <a:t>t</a:t>
            </a:r>
            <a:r>
              <a:rPr lang="ko-KR" altLang="en-US" sz="1500" i="1">
                <a:solidFill>
                  <a:srgbClr val="00B050"/>
                </a:solidFill>
                <a:latin typeface="Consolas" panose="020B0609020204030204" pitchFamily="49" charset="0"/>
              </a:rPr>
              <a:t> 보다 훨씬 큰 페이지 하나를 </a:t>
            </a:r>
            <a:r>
              <a:rPr lang="en-US" altLang="ko-KR" sz="1500" i="1">
                <a:solidFill>
                  <a:srgbClr val="00B050"/>
                </a:solidFill>
                <a:latin typeface="Consolas" panose="020B0609020204030204" pitchFamily="49" charset="0"/>
              </a:rPr>
              <a:t>t</a:t>
            </a:r>
            <a:r>
              <a:rPr lang="ko-KR" altLang="en-US" sz="1500" i="1">
                <a:solidFill>
                  <a:srgbClr val="00B050"/>
                </a:solidFill>
                <a:latin typeface="Consolas" panose="020B0609020204030204" pitchFamily="49" charset="0"/>
              </a:rPr>
              <a:t>의 주소에 할당</a:t>
            </a:r>
            <a:endParaRPr lang="en-US" altLang="ko-KR" sz="1500" i="1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ko-KR" sz="1500" i="1">
                <a:solidFill>
                  <a:srgbClr val="00B050"/>
                </a:solidFill>
                <a:latin typeface="Consolas" panose="020B0609020204030204" pitchFamily="49" charset="0"/>
              </a:rPr>
              <a:t>                //                       =&gt; TCB</a:t>
            </a:r>
            <a:r>
              <a:rPr lang="ko-KR" altLang="en-US" sz="1500" i="1">
                <a:solidFill>
                  <a:srgbClr val="00B050"/>
                </a:solidFill>
                <a:latin typeface="Consolas" panose="020B0609020204030204" pitchFamily="49" charset="0"/>
              </a:rPr>
              <a:t>와 스텍이 한 페이지 안에 있음</a:t>
            </a:r>
            <a:r>
              <a:rPr lang="en-US" altLang="ko-KR" sz="1500" i="1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183       init_thread (t, name, priority);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187       kf = alloc_frame (t, sizeof *kf);</a:t>
            </a:r>
          </a:p>
          <a:p>
            <a:pPr marL="342900" indent="-342900">
              <a:buAutoNum type="arabicPlain" startAt="188"/>
            </a:pP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       kf-&gt;eip = NULL;  kf-&gt;function = function;  kf-&gt;aux = aux;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193       ef = alloc_frame (t, sizeof *ef);</a:t>
            </a:r>
          </a:p>
          <a:p>
            <a:pPr marL="342900" indent="-342900">
              <a:buAutoNum type="arabicPlain" startAt="194"/>
            </a:pP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       ef-&gt;eip = (void (*) (void)) kernel_thread;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197       sf = alloc_frame (t, sizeof *sf);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198       sf-&gt;eip = switch_entry;  sf-&gt;ebp = 0;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E1A1E-2173-9E38-A39A-95A689EAD2AB}"/>
              </a:ext>
            </a:extLst>
          </p:cNvPr>
          <p:cNvSpPr txBox="1"/>
          <p:nvPr/>
        </p:nvSpPr>
        <p:spPr>
          <a:xfrm>
            <a:off x="3581626" y="3124200"/>
            <a:ext cx="508023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running_thread ()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../../threads/thread.c:438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012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97DA-E148-5FA6-044F-9DE5CA83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8CB3D-4435-5485-BE6C-B6A0CBC7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쓰레드 생성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6A20CBA-3505-13A4-1C75-1A45F5F13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15" y="1756510"/>
            <a:ext cx="8001000" cy="522501"/>
          </a:xfrm>
        </p:spPr>
        <p:txBody>
          <a:bodyPr/>
          <a:lstStyle/>
          <a:p>
            <a:r>
              <a:rPr lang="ko-KR" altLang="en-US" sz="2000"/>
              <a:t>한 페이지 할당 및 </a:t>
            </a:r>
            <a:r>
              <a:rPr lang="en-US" altLang="ko-KR" sz="2000"/>
              <a:t>struct</a:t>
            </a:r>
            <a:r>
              <a:rPr lang="ko-KR" altLang="en-US" sz="2000"/>
              <a:t> </a:t>
            </a:r>
            <a:r>
              <a:rPr lang="en-US" altLang="ko-KR" sz="2000"/>
              <a:t>thread </a:t>
            </a:r>
            <a:r>
              <a:rPr lang="ko-KR" altLang="en-US" sz="2000"/>
              <a:t>필드 초기화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286BD4E-0C4A-A24F-7A2C-525183D47C4C}"/>
              </a:ext>
            </a:extLst>
          </p:cNvPr>
          <p:cNvSpPr/>
          <p:nvPr/>
        </p:nvSpPr>
        <p:spPr>
          <a:xfrm>
            <a:off x="3581401" y="5068093"/>
            <a:ext cx="2512998" cy="70096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struct</a:t>
            </a:r>
            <a:r>
              <a:rPr lang="ko-KR" altLang="en-US" sz="1200">
                <a:latin typeface="Consolas" panose="020B0609020204030204" pitchFamily="49" charset="0"/>
              </a:rPr>
              <a:t> </a:t>
            </a:r>
            <a:r>
              <a:rPr lang="en-US" altLang="ko-KR" sz="1200">
                <a:latin typeface="Consolas" panose="020B0609020204030204" pitchFamily="49" charset="0"/>
              </a:rPr>
              <a:t>thread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94F80E-6C6D-C8F5-6A00-EA5FD71EC3E8}"/>
              </a:ext>
            </a:extLst>
          </p:cNvPr>
          <p:cNvSpPr txBox="1"/>
          <p:nvPr/>
        </p:nvSpPr>
        <p:spPr>
          <a:xfrm>
            <a:off x="304800" y="5584388"/>
            <a:ext cx="160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struct thread *t</a:t>
            </a:r>
            <a:endParaRPr lang="ko-KR" altLang="en-US" sz="14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F4871C8-A6E9-1E8B-5F94-7347A66BADAD}"/>
              </a:ext>
            </a:extLst>
          </p:cNvPr>
          <p:cNvCxnSpPr>
            <a:cxnSpLocks/>
          </p:cNvCxnSpPr>
          <p:nvPr/>
        </p:nvCxnSpPr>
        <p:spPr>
          <a:xfrm>
            <a:off x="1904918" y="5750766"/>
            <a:ext cx="1600282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98F5BC88-C54D-0948-63A5-B332CB59BB8A}"/>
              </a:ext>
            </a:extLst>
          </p:cNvPr>
          <p:cNvSpPr/>
          <p:nvPr/>
        </p:nvSpPr>
        <p:spPr bwMode="auto">
          <a:xfrm>
            <a:off x="6248400" y="2362200"/>
            <a:ext cx="304800" cy="3406854"/>
          </a:xfrm>
          <a:prstGeom prst="rightBrace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7447BF-5993-F112-B4BB-7DBE545A21E5}"/>
              </a:ext>
            </a:extLst>
          </p:cNvPr>
          <p:cNvSpPr txBox="1"/>
          <p:nvPr/>
        </p:nvSpPr>
        <p:spPr>
          <a:xfrm>
            <a:off x="6560598" y="3911738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allocate one page</a:t>
            </a: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E896E6-34B8-29DF-FE24-7CE0CC246016}"/>
              </a:ext>
            </a:extLst>
          </p:cNvPr>
          <p:cNvSpPr/>
          <p:nvPr/>
        </p:nvSpPr>
        <p:spPr>
          <a:xfrm>
            <a:off x="3581400" y="2362200"/>
            <a:ext cx="2512998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961A5B-E917-8ACC-2E9F-5FDB241D064A}"/>
              </a:ext>
            </a:extLst>
          </p:cNvPr>
          <p:cNvSpPr txBox="1"/>
          <p:nvPr/>
        </p:nvSpPr>
        <p:spPr>
          <a:xfrm>
            <a:off x="4075899" y="2577257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solidFill>
                  <a:srgbClr val="FF0000"/>
                </a:solidFill>
              </a:rPr>
              <a:t>???</a:t>
            </a:r>
            <a:endParaRPr lang="ko-KR" altLang="en-US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45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3985-D542-8975-5612-E3F56FBC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7E8A7-7B41-41D3-2689-969F1F8C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91" y="304800"/>
            <a:ext cx="8001000" cy="1216025"/>
          </a:xfrm>
        </p:spPr>
        <p:txBody>
          <a:bodyPr/>
          <a:lstStyle/>
          <a:p>
            <a:r>
              <a:rPr lang="ko-KR" altLang="en-US"/>
              <a:t>쓰레드 생성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50E0933-1D79-5435-97FF-2F2490CDA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15" y="1775145"/>
            <a:ext cx="8001000" cy="522501"/>
          </a:xfrm>
        </p:spPr>
        <p:txBody>
          <a:bodyPr/>
          <a:lstStyle/>
          <a:p>
            <a:r>
              <a:rPr lang="ko-KR" altLang="en-US" sz="2000"/>
              <a:t>더미 스텍 프레임 삽입</a:t>
            </a:r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ko-KR" altLang="en-US" sz="2000"/>
              <a:t>이후 이 쓰레드가 </a:t>
            </a:r>
            <a:r>
              <a:rPr lang="en-US" altLang="ko-KR" sz="2000"/>
              <a:t>switch_thread(cur, next)</a:t>
            </a:r>
            <a:r>
              <a:rPr lang="ko-KR" altLang="en-US" sz="2000"/>
              <a:t>의 </a:t>
            </a:r>
            <a:r>
              <a:rPr lang="en-US" altLang="ko-KR" sz="2000"/>
              <a:t>next</a:t>
            </a:r>
            <a:r>
              <a:rPr lang="ko-KR" altLang="en-US" sz="2000"/>
              <a:t>가 된다면</a:t>
            </a:r>
            <a:r>
              <a:rPr lang="en-US" altLang="ko-KR" sz="2000"/>
              <a:t>, </a:t>
            </a:r>
            <a:r>
              <a:rPr lang="ko-KR" altLang="en-US" sz="2000"/>
              <a:t>프레임을 소모하며</a:t>
            </a:r>
            <a:r>
              <a:rPr lang="en-US" altLang="ko-KR" sz="2000"/>
              <a:t> </a:t>
            </a:r>
            <a:r>
              <a:rPr lang="ko-KR" altLang="en-US" sz="2000"/>
              <a:t>결국 </a:t>
            </a:r>
            <a:r>
              <a:rPr lang="en-US" altLang="ko-KR" sz="200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function(aux)</a:t>
            </a:r>
            <a:r>
              <a:rPr lang="ko-KR" altLang="en-US" sz="2000"/>
              <a:t>가 실행됨</a:t>
            </a:r>
            <a:r>
              <a:rPr lang="en-US" altLang="ko-KR" sz="2000"/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0D640D-6871-0ECF-80B2-BF14CC3DD58B}"/>
              </a:ext>
            </a:extLst>
          </p:cNvPr>
          <p:cNvSpPr/>
          <p:nvPr/>
        </p:nvSpPr>
        <p:spPr>
          <a:xfrm>
            <a:off x="3581401" y="5068093"/>
            <a:ext cx="2512998" cy="7009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struct</a:t>
            </a:r>
            <a:r>
              <a:rPr lang="ko-KR" altLang="en-US" sz="1200">
                <a:latin typeface="Consolas" panose="020B0609020204030204" pitchFamily="49" charset="0"/>
              </a:rPr>
              <a:t> </a:t>
            </a:r>
            <a:r>
              <a:rPr lang="en-US" altLang="ko-KR" sz="1200">
                <a:latin typeface="Consolas" panose="020B0609020204030204" pitchFamily="49" charset="0"/>
              </a:rPr>
              <a:t>thread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422339-FCFC-1033-DB30-51E1CC34B6E3}"/>
              </a:ext>
            </a:extLst>
          </p:cNvPr>
          <p:cNvSpPr txBox="1"/>
          <p:nvPr/>
        </p:nvSpPr>
        <p:spPr>
          <a:xfrm>
            <a:off x="304800" y="5584388"/>
            <a:ext cx="160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struct thread *t</a:t>
            </a:r>
            <a:endParaRPr lang="ko-KR" altLang="en-US" sz="14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A11D07C-927A-3B64-5809-08EB42686DD1}"/>
              </a:ext>
            </a:extLst>
          </p:cNvPr>
          <p:cNvCxnSpPr>
            <a:cxnSpLocks/>
          </p:cNvCxnSpPr>
          <p:nvPr/>
        </p:nvCxnSpPr>
        <p:spPr>
          <a:xfrm>
            <a:off x="1904918" y="5750766"/>
            <a:ext cx="1600282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0AF7322-ADCD-1F00-BE2D-DB6541BC95C8}"/>
              </a:ext>
            </a:extLst>
          </p:cNvPr>
          <p:cNvSpPr/>
          <p:nvPr/>
        </p:nvSpPr>
        <p:spPr>
          <a:xfrm>
            <a:off x="3581400" y="2362200"/>
            <a:ext cx="2512998" cy="3406854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2644DB-DD60-7E58-DB15-B61F926B3C2E}"/>
              </a:ext>
            </a:extLst>
          </p:cNvPr>
          <p:cNvSpPr/>
          <p:nvPr/>
        </p:nvSpPr>
        <p:spPr>
          <a:xfrm>
            <a:off x="3589020" y="2353509"/>
            <a:ext cx="2512998" cy="70777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CA5726-04A2-6C6E-5314-8918741B570C}"/>
              </a:ext>
            </a:extLst>
          </p:cNvPr>
          <p:cNvSpPr/>
          <p:nvPr/>
        </p:nvSpPr>
        <p:spPr>
          <a:xfrm>
            <a:off x="3589020" y="3054101"/>
            <a:ext cx="2512998" cy="39688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2C1F44-22A2-4A7C-33BF-B1FB4136C295}"/>
              </a:ext>
            </a:extLst>
          </p:cNvPr>
          <p:cNvSpPr/>
          <p:nvPr/>
        </p:nvSpPr>
        <p:spPr>
          <a:xfrm>
            <a:off x="3589020" y="3365674"/>
            <a:ext cx="2512998" cy="114645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CFC0CA-A93B-835D-796A-61C4835E944C}"/>
              </a:ext>
            </a:extLst>
          </p:cNvPr>
          <p:cNvSpPr/>
          <p:nvPr/>
        </p:nvSpPr>
        <p:spPr bwMode="auto">
          <a:xfrm>
            <a:off x="3618699" y="3405250"/>
            <a:ext cx="2439202" cy="20481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*next (dummy)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9C697F-0304-A644-69E8-A76B671D820D}"/>
              </a:ext>
            </a:extLst>
          </p:cNvPr>
          <p:cNvSpPr/>
          <p:nvPr/>
        </p:nvSpPr>
        <p:spPr bwMode="auto">
          <a:xfrm>
            <a:off x="3618699" y="3610067"/>
            <a:ext cx="2439202" cy="20481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*cur (dummy)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B17900-7D4E-C242-133C-1D8B2119ACB2}"/>
              </a:ext>
            </a:extLst>
          </p:cNvPr>
          <p:cNvSpPr/>
          <p:nvPr/>
        </p:nvSpPr>
        <p:spPr bwMode="auto">
          <a:xfrm>
            <a:off x="3618699" y="3814884"/>
            <a:ext cx="2439202" cy="20481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*eip (return address)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C7FC6A-26E3-6C4A-D669-9784C0ED20B6}"/>
              </a:ext>
            </a:extLst>
          </p:cNvPr>
          <p:cNvSpPr/>
          <p:nvPr/>
        </p:nvSpPr>
        <p:spPr bwMode="auto">
          <a:xfrm>
            <a:off x="3618699" y="3112592"/>
            <a:ext cx="2439202" cy="20481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*eip (return address)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6D9041-4883-2110-B7F2-0BBE3493F07E}"/>
              </a:ext>
            </a:extLst>
          </p:cNvPr>
          <p:cNvSpPr/>
          <p:nvPr/>
        </p:nvSpPr>
        <p:spPr bwMode="auto">
          <a:xfrm>
            <a:off x="3618699" y="4018787"/>
            <a:ext cx="2439202" cy="43224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register context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(dummy)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5ADE27-049A-3756-413F-7B0DC80284A5}"/>
              </a:ext>
            </a:extLst>
          </p:cNvPr>
          <p:cNvSpPr/>
          <p:nvPr/>
        </p:nvSpPr>
        <p:spPr bwMode="auto">
          <a:xfrm>
            <a:off x="3618699" y="2815582"/>
            <a:ext cx="2439202" cy="20481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*eip (dummy)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644E6F-9E59-E109-94E8-3B568B48FC28}"/>
              </a:ext>
            </a:extLst>
          </p:cNvPr>
          <p:cNvSpPr/>
          <p:nvPr/>
        </p:nvSpPr>
        <p:spPr bwMode="auto">
          <a:xfrm>
            <a:off x="3618699" y="2610765"/>
            <a:ext cx="2439202" cy="20481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latin typeface="Consolas" panose="020B0609020204030204" pitchFamily="49" charset="0"/>
              </a:rPr>
              <a:t>*function (func of new thread)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65A319-C0FB-5BDE-DD70-81A67ABC951D}"/>
              </a:ext>
            </a:extLst>
          </p:cNvPr>
          <p:cNvSpPr/>
          <p:nvPr/>
        </p:nvSpPr>
        <p:spPr bwMode="auto">
          <a:xfrm>
            <a:off x="3618699" y="2405948"/>
            <a:ext cx="2439202" cy="20481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*aux (args of new thread func)</a:t>
            </a:r>
            <a:endParaRPr kumimoji="0" lang="ko-KR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C5AAEDC0-E1B6-284B-ACCF-FAF06751F309}"/>
              </a:ext>
            </a:extLst>
          </p:cNvPr>
          <p:cNvSpPr/>
          <p:nvPr/>
        </p:nvSpPr>
        <p:spPr bwMode="auto">
          <a:xfrm>
            <a:off x="6248400" y="2362200"/>
            <a:ext cx="304800" cy="658199"/>
          </a:xfrm>
          <a:prstGeom prst="rightBrace">
            <a:avLst>
              <a:gd name="adj1" fmla="val 8333"/>
              <a:gd name="adj2" fmla="val 18974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FC0C28F3-2865-8CC3-EC7A-B0FCBFA81350}"/>
              </a:ext>
            </a:extLst>
          </p:cNvPr>
          <p:cNvSpPr/>
          <p:nvPr/>
        </p:nvSpPr>
        <p:spPr bwMode="auto">
          <a:xfrm>
            <a:off x="6248400" y="3407428"/>
            <a:ext cx="304800" cy="1104699"/>
          </a:xfrm>
          <a:prstGeom prst="rightBrace">
            <a:avLst>
              <a:gd name="adj1" fmla="val 8333"/>
              <a:gd name="adj2" fmla="val 7372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1CD9524C-5088-C446-1792-65026E2892F9}"/>
              </a:ext>
            </a:extLst>
          </p:cNvPr>
          <p:cNvSpPr/>
          <p:nvPr/>
        </p:nvSpPr>
        <p:spPr bwMode="auto">
          <a:xfrm>
            <a:off x="6248400" y="3070748"/>
            <a:ext cx="304800" cy="305205"/>
          </a:xfrm>
          <a:prstGeom prst="rightBrace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D97A8D-BB93-FB66-6F90-DEA7BFA29B09}"/>
              </a:ext>
            </a:extLst>
          </p:cNvPr>
          <p:cNvSpPr txBox="1"/>
          <p:nvPr/>
        </p:nvSpPr>
        <p:spPr>
          <a:xfrm>
            <a:off x="6553200" y="4065627"/>
            <a:ext cx="1934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u="sng"/>
              <a:t>dummy frame #0</a:t>
            </a:r>
          </a:p>
          <a:p>
            <a:r>
              <a:rPr lang="en-US" altLang="ko-KR" sz="1200" i="1"/>
              <a:t>(</a:t>
            </a:r>
            <a:r>
              <a:rPr lang="en-US" altLang="ko-KR" sz="1200" i="1">
                <a:solidFill>
                  <a:srgbClr val="FF0000"/>
                </a:solidFill>
              </a:rPr>
              <a:t>switch_thread()</a:t>
            </a:r>
          </a:p>
          <a:p>
            <a:r>
              <a:rPr lang="en-US" altLang="ko-KR" sz="1200" i="1"/>
              <a:t>works with this frame)</a:t>
            </a:r>
            <a:endParaRPr lang="ko-KR" altLang="en-US" sz="1200" i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B95D1D-34F9-D12B-CD45-13498F2B5198}"/>
              </a:ext>
            </a:extLst>
          </p:cNvPr>
          <p:cNvSpPr txBox="1"/>
          <p:nvPr/>
        </p:nvSpPr>
        <p:spPr>
          <a:xfrm>
            <a:off x="6553200" y="3076323"/>
            <a:ext cx="1934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u="sng"/>
              <a:t>dummy frame #1</a:t>
            </a:r>
          </a:p>
          <a:p>
            <a:r>
              <a:rPr lang="en-US" altLang="ko-KR" sz="1200" i="1"/>
              <a:t>(</a:t>
            </a:r>
            <a:r>
              <a:rPr lang="en-US" altLang="ko-KR" sz="1200" i="1">
                <a:solidFill>
                  <a:srgbClr val="FF0000"/>
                </a:solidFill>
              </a:rPr>
              <a:t>switch_entry()</a:t>
            </a:r>
          </a:p>
          <a:p>
            <a:r>
              <a:rPr lang="en-US" altLang="ko-KR" sz="1200" i="1"/>
              <a:t>works with this frame)</a:t>
            </a:r>
            <a:endParaRPr lang="ko-KR" altLang="en-US" sz="12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29FF12-893A-342A-CA20-914A3CF8FAFF}"/>
              </a:ext>
            </a:extLst>
          </p:cNvPr>
          <p:cNvSpPr txBox="1"/>
          <p:nvPr/>
        </p:nvSpPr>
        <p:spPr>
          <a:xfrm>
            <a:off x="6553200" y="2338911"/>
            <a:ext cx="1934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u="sng"/>
              <a:t>dummy frame #2</a:t>
            </a:r>
          </a:p>
          <a:p>
            <a:r>
              <a:rPr lang="en-US" altLang="ko-KR" sz="1200" i="1"/>
              <a:t>(</a:t>
            </a:r>
            <a:r>
              <a:rPr lang="en-US" altLang="ko-KR" sz="1200" i="1">
                <a:solidFill>
                  <a:srgbClr val="FF0000"/>
                </a:solidFill>
              </a:rPr>
              <a:t>kernel_thread()</a:t>
            </a:r>
          </a:p>
          <a:p>
            <a:r>
              <a:rPr lang="en-US" altLang="ko-KR" sz="1200" i="1"/>
              <a:t>works with this frame)</a:t>
            </a:r>
            <a:endParaRPr lang="ko-KR" altLang="en-US" sz="1200" i="1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3B43F2-398A-B01F-57DF-34D14045A5C9}"/>
              </a:ext>
            </a:extLst>
          </p:cNvPr>
          <p:cNvSpPr/>
          <p:nvPr/>
        </p:nvSpPr>
        <p:spPr>
          <a:xfrm>
            <a:off x="601617" y="2872184"/>
            <a:ext cx="2133600" cy="2309415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kernel_thread() :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   </a:t>
            </a:r>
            <a:r>
              <a:rPr lang="en-US" altLang="ko-KR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1. function(aux)</a:t>
            </a:r>
            <a:r>
              <a:rPr lang="ko-KR" altLang="en-US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를</a:t>
            </a:r>
            <a:endParaRPr lang="en-US" altLang="ko-KR" sz="1200" b="1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 </a:t>
            </a:r>
            <a:r>
              <a:rPr lang="ko-KR" altLang="en-US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실행</a:t>
            </a:r>
            <a:r>
              <a:rPr lang="en-US" altLang="ko-KR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쓰레드 시작</a:t>
            </a:r>
            <a:r>
              <a:rPr lang="en-US" altLang="ko-KR" sz="1200" b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   2. function </a:t>
            </a:r>
            <a:r>
              <a:rPr lang="ko-KR" altLang="en-US" sz="1200">
                <a:latin typeface="Consolas" panose="020B0609020204030204" pitchFamily="49" charset="0"/>
              </a:rPr>
              <a:t>종료시 </a:t>
            </a:r>
            <a:endParaRPr lang="en-US" altLang="ko-KR" sz="1200">
              <a:latin typeface="Consolas" panose="020B0609020204030204" pitchFamily="49" charset="0"/>
            </a:endParaRPr>
          </a:p>
          <a:p>
            <a:r>
              <a:rPr lang="en-US" altLang="ko-KR" sz="1200">
                <a:latin typeface="Consolas" panose="020B0609020204030204" pitchFamily="49" charset="0"/>
              </a:rPr>
              <a:t>     thread_exit()</a:t>
            </a:r>
          </a:p>
          <a:p>
            <a:endParaRPr lang="en-US" altLang="ko-KR" sz="1200">
              <a:latin typeface="Consolas" panose="020B0609020204030204" pitchFamily="49" charset="0"/>
            </a:endParaRPr>
          </a:p>
          <a:p>
            <a:r>
              <a:rPr lang="en-US" altLang="ko-KR" sz="1200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switch_entry() :</a:t>
            </a:r>
          </a:p>
          <a:p>
            <a:r>
              <a:rPr lang="en-US" altLang="ko-KR" sz="1200">
                <a:latin typeface="Consolas" panose="020B0609020204030204" pitchFamily="49" charset="0"/>
              </a:rPr>
              <a:t>   1. status &lt;- RUNNING</a:t>
            </a:r>
          </a:p>
          <a:p>
            <a:r>
              <a:rPr lang="ko-KR" altLang="en-US" sz="1200">
                <a:latin typeface="Consolas" panose="020B0609020204030204" pitchFamily="49" charset="0"/>
              </a:rPr>
              <a:t>   으로 설정</a:t>
            </a:r>
            <a:endParaRPr lang="en-US" altLang="ko-KR" sz="1200">
              <a:latin typeface="Consolas" panose="020B0609020204030204" pitchFamily="49" charset="0"/>
            </a:endParaRPr>
          </a:p>
          <a:p>
            <a:r>
              <a:rPr lang="en-US" altLang="ko-KR" sz="1200">
                <a:latin typeface="Consolas" panose="020B0609020204030204" pitchFamily="49" charset="0"/>
              </a:rPr>
              <a:t>   2. return 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6DCD1-8BCC-7E0C-6778-9DB30B977A1F}"/>
              </a:ext>
            </a:extLst>
          </p:cNvPr>
          <p:cNvSpPr txBox="1"/>
          <p:nvPr/>
        </p:nvSpPr>
        <p:spPr>
          <a:xfrm>
            <a:off x="514381" y="250285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.code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9B63DB1-D5E4-0DE6-FAF1-36E8B45EF7FB}"/>
              </a:ext>
            </a:extLst>
          </p:cNvPr>
          <p:cNvCxnSpPr>
            <a:cxnSpLocks/>
          </p:cNvCxnSpPr>
          <p:nvPr/>
        </p:nvCxnSpPr>
        <p:spPr>
          <a:xfrm flipH="1">
            <a:off x="2137304" y="3924300"/>
            <a:ext cx="1733505" cy="364884"/>
          </a:xfrm>
          <a:prstGeom prst="straightConnector1">
            <a:avLst/>
          </a:prstGeom>
          <a:ln w="12700">
            <a:headEnd type="oval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6542128-B498-65F4-2012-BC2C379F138B}"/>
              </a:ext>
            </a:extLst>
          </p:cNvPr>
          <p:cNvCxnSpPr>
            <a:cxnSpLocks/>
          </p:cNvCxnSpPr>
          <p:nvPr/>
        </p:nvCxnSpPr>
        <p:spPr>
          <a:xfrm flipH="1">
            <a:off x="2212662" y="3200400"/>
            <a:ext cx="1658147" cy="0"/>
          </a:xfrm>
          <a:prstGeom prst="straightConnector1">
            <a:avLst/>
          </a:prstGeom>
          <a:ln w="12700">
            <a:headEnd type="oval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별: 꼭짓점 5개 45">
            <a:extLst>
              <a:ext uri="{FF2B5EF4-FFF2-40B4-BE49-F238E27FC236}">
                <a16:creationId xmlns:a16="http://schemas.microsoft.com/office/drawing/2014/main" id="{8CD776F4-EE6B-1900-BBD7-D73C617E91E2}"/>
              </a:ext>
            </a:extLst>
          </p:cNvPr>
          <p:cNvSpPr/>
          <p:nvPr/>
        </p:nvSpPr>
        <p:spPr bwMode="auto">
          <a:xfrm rot="1068103">
            <a:off x="687533" y="3384145"/>
            <a:ext cx="238815" cy="238815"/>
          </a:xfrm>
          <a:prstGeom prst="star5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54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3F64D-EABC-9DCD-92A0-668B6D7B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all_list</a:t>
            </a:r>
            <a:r>
              <a:rPr lang="ko-KR" altLang="en-US"/>
              <a:t>와</a:t>
            </a:r>
            <a:r>
              <a:rPr lang="en-US" altLang="ko-KR"/>
              <a:t> ready_list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1C892B-189C-EC49-A4AD-2D7D08A387D7}"/>
              </a:ext>
            </a:extLst>
          </p:cNvPr>
          <p:cNvSpPr/>
          <p:nvPr/>
        </p:nvSpPr>
        <p:spPr bwMode="auto">
          <a:xfrm>
            <a:off x="1595762" y="2362200"/>
            <a:ext cx="609600" cy="69689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thread</a:t>
            </a:r>
            <a:endParaRPr kumimoji="0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FC25D6-4C17-D606-7CF0-4AB95F2D6E4E}"/>
              </a:ext>
            </a:extLst>
          </p:cNvPr>
          <p:cNvSpPr/>
          <p:nvPr/>
        </p:nvSpPr>
        <p:spPr bwMode="auto">
          <a:xfrm>
            <a:off x="2205362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2C2D8C-A516-F38C-31E7-7396B2F3F0C1}"/>
              </a:ext>
            </a:extLst>
          </p:cNvPr>
          <p:cNvSpPr/>
          <p:nvPr/>
        </p:nvSpPr>
        <p:spPr bwMode="auto">
          <a:xfrm>
            <a:off x="2205362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08363F-AE0B-5C80-6128-C0D831DFB241}"/>
              </a:ext>
            </a:extLst>
          </p:cNvPr>
          <p:cNvSpPr/>
          <p:nvPr/>
        </p:nvSpPr>
        <p:spPr bwMode="auto">
          <a:xfrm>
            <a:off x="1288003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35B2FAA-8F64-4AAC-CC00-E8083F0F177E}"/>
              </a:ext>
            </a:extLst>
          </p:cNvPr>
          <p:cNvSpPr/>
          <p:nvPr/>
        </p:nvSpPr>
        <p:spPr bwMode="auto">
          <a:xfrm>
            <a:off x="1288003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679F321-A6BA-6AD5-1582-D4D39FF93C24}"/>
              </a:ext>
            </a:extLst>
          </p:cNvPr>
          <p:cNvSpPr/>
          <p:nvPr/>
        </p:nvSpPr>
        <p:spPr bwMode="auto">
          <a:xfrm>
            <a:off x="3276600" y="2362200"/>
            <a:ext cx="609600" cy="69689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thread</a:t>
            </a:r>
            <a:endParaRPr kumimoji="0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B9EDE9-529A-49FF-CA6A-A083C80CB908}"/>
              </a:ext>
            </a:extLst>
          </p:cNvPr>
          <p:cNvSpPr/>
          <p:nvPr/>
        </p:nvSpPr>
        <p:spPr bwMode="auto">
          <a:xfrm>
            <a:off x="3886200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E3BF24-DB14-955E-FAFD-0C843238FA1A}"/>
              </a:ext>
            </a:extLst>
          </p:cNvPr>
          <p:cNvSpPr/>
          <p:nvPr/>
        </p:nvSpPr>
        <p:spPr bwMode="auto">
          <a:xfrm>
            <a:off x="3886200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C95F5A-F6C1-5251-66F6-2A14D26FC6AD}"/>
              </a:ext>
            </a:extLst>
          </p:cNvPr>
          <p:cNvSpPr/>
          <p:nvPr/>
        </p:nvSpPr>
        <p:spPr bwMode="auto">
          <a:xfrm>
            <a:off x="2968841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6966CD6-70A6-332A-0E20-F9DC49BAB19E}"/>
              </a:ext>
            </a:extLst>
          </p:cNvPr>
          <p:cNvSpPr/>
          <p:nvPr/>
        </p:nvSpPr>
        <p:spPr bwMode="auto">
          <a:xfrm>
            <a:off x="2968841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B658846-D75E-D2A1-15C1-840D9BB39B09}"/>
              </a:ext>
            </a:extLst>
          </p:cNvPr>
          <p:cNvSpPr/>
          <p:nvPr/>
        </p:nvSpPr>
        <p:spPr bwMode="auto">
          <a:xfrm>
            <a:off x="4942646" y="2362200"/>
            <a:ext cx="609600" cy="69689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thread</a:t>
            </a:r>
            <a:endParaRPr kumimoji="0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AB8A70E-7C33-3A53-18B3-9438D287FBA0}"/>
              </a:ext>
            </a:extLst>
          </p:cNvPr>
          <p:cNvSpPr/>
          <p:nvPr/>
        </p:nvSpPr>
        <p:spPr bwMode="auto">
          <a:xfrm>
            <a:off x="5552246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B1B096-22D5-65E2-B98E-4D5692C69066}"/>
              </a:ext>
            </a:extLst>
          </p:cNvPr>
          <p:cNvSpPr/>
          <p:nvPr/>
        </p:nvSpPr>
        <p:spPr bwMode="auto">
          <a:xfrm>
            <a:off x="5552246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A1F237-B1EC-B5DE-2CF0-83B23E694390}"/>
              </a:ext>
            </a:extLst>
          </p:cNvPr>
          <p:cNvSpPr/>
          <p:nvPr/>
        </p:nvSpPr>
        <p:spPr bwMode="auto">
          <a:xfrm>
            <a:off x="4634887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088359-5260-F8EA-DEFA-F24545681C26}"/>
              </a:ext>
            </a:extLst>
          </p:cNvPr>
          <p:cNvSpPr/>
          <p:nvPr/>
        </p:nvSpPr>
        <p:spPr bwMode="auto">
          <a:xfrm>
            <a:off x="4634887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0EE9168-D111-1C4F-03BB-C8C29236A798}"/>
              </a:ext>
            </a:extLst>
          </p:cNvPr>
          <p:cNvSpPr/>
          <p:nvPr/>
        </p:nvSpPr>
        <p:spPr bwMode="auto">
          <a:xfrm>
            <a:off x="6608692" y="2362200"/>
            <a:ext cx="609600" cy="69689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thread</a:t>
            </a:r>
            <a:endParaRPr kumimoji="0" lang="ko-KR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082BB73-464D-696F-3208-CEF07DDAD324}"/>
              </a:ext>
            </a:extLst>
          </p:cNvPr>
          <p:cNvSpPr/>
          <p:nvPr/>
        </p:nvSpPr>
        <p:spPr bwMode="auto">
          <a:xfrm>
            <a:off x="7218292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8CAABF-A7A8-390B-41FC-4E69EFD8CC96}"/>
              </a:ext>
            </a:extLst>
          </p:cNvPr>
          <p:cNvSpPr/>
          <p:nvPr/>
        </p:nvSpPr>
        <p:spPr bwMode="auto">
          <a:xfrm>
            <a:off x="7218292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31AA1EE-4893-502C-F15A-9EC78E300E51}"/>
              </a:ext>
            </a:extLst>
          </p:cNvPr>
          <p:cNvSpPr/>
          <p:nvPr/>
        </p:nvSpPr>
        <p:spPr bwMode="auto">
          <a:xfrm>
            <a:off x="6300933" y="2362200"/>
            <a:ext cx="307759" cy="34844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CA82280-E780-7760-2F40-08BD3902E89B}"/>
              </a:ext>
            </a:extLst>
          </p:cNvPr>
          <p:cNvSpPr/>
          <p:nvPr/>
        </p:nvSpPr>
        <p:spPr bwMode="auto">
          <a:xfrm>
            <a:off x="6300933" y="2707640"/>
            <a:ext cx="307759" cy="351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B208DCF-ACA1-276B-CD6B-ED3B99BD412A}"/>
              </a:ext>
            </a:extLst>
          </p:cNvPr>
          <p:cNvCxnSpPr>
            <a:cxnSpLocks/>
          </p:cNvCxnSpPr>
          <p:nvPr/>
        </p:nvCxnSpPr>
        <p:spPr bwMode="auto">
          <a:xfrm>
            <a:off x="2362200" y="2514600"/>
            <a:ext cx="60664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698E676-3AE1-7793-D73B-DDEF80E3246C}"/>
              </a:ext>
            </a:extLst>
          </p:cNvPr>
          <p:cNvCxnSpPr>
            <a:cxnSpLocks/>
          </p:cNvCxnSpPr>
          <p:nvPr/>
        </p:nvCxnSpPr>
        <p:spPr bwMode="auto">
          <a:xfrm flipH="1">
            <a:off x="2514600" y="2590800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9CE501-2D97-A955-1361-5B826C7D0835}"/>
              </a:ext>
            </a:extLst>
          </p:cNvPr>
          <p:cNvCxnSpPr>
            <a:cxnSpLocks/>
          </p:cNvCxnSpPr>
          <p:nvPr/>
        </p:nvCxnSpPr>
        <p:spPr bwMode="auto">
          <a:xfrm>
            <a:off x="4028246" y="2514600"/>
            <a:ext cx="60664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31FD4FA-44D0-E52B-4E40-BFABCC7A303C}"/>
              </a:ext>
            </a:extLst>
          </p:cNvPr>
          <p:cNvCxnSpPr>
            <a:cxnSpLocks/>
          </p:cNvCxnSpPr>
          <p:nvPr/>
        </p:nvCxnSpPr>
        <p:spPr bwMode="auto">
          <a:xfrm flipH="1">
            <a:off x="4180646" y="2590800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BAF89AE-217A-8EC8-5886-CB892406CEB7}"/>
              </a:ext>
            </a:extLst>
          </p:cNvPr>
          <p:cNvCxnSpPr>
            <a:cxnSpLocks/>
          </p:cNvCxnSpPr>
          <p:nvPr/>
        </p:nvCxnSpPr>
        <p:spPr bwMode="auto">
          <a:xfrm>
            <a:off x="5694292" y="2514600"/>
            <a:ext cx="60664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27B125D-07D8-582D-C06F-189D8BB1FBC0}"/>
              </a:ext>
            </a:extLst>
          </p:cNvPr>
          <p:cNvCxnSpPr>
            <a:cxnSpLocks/>
          </p:cNvCxnSpPr>
          <p:nvPr/>
        </p:nvCxnSpPr>
        <p:spPr bwMode="auto">
          <a:xfrm flipH="1">
            <a:off x="5846692" y="2590800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965418D-1BD3-CD7A-33EA-825F62BB69F2}"/>
              </a:ext>
            </a:extLst>
          </p:cNvPr>
          <p:cNvCxnSpPr>
            <a:cxnSpLocks/>
          </p:cNvCxnSpPr>
          <p:nvPr/>
        </p:nvCxnSpPr>
        <p:spPr>
          <a:xfrm>
            <a:off x="2374481" y="2895600"/>
            <a:ext cx="0" cy="60960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4E0AADF-6416-B503-04A2-6273ECF70C56}"/>
              </a:ext>
            </a:extLst>
          </p:cNvPr>
          <p:cNvCxnSpPr>
            <a:cxnSpLocks/>
          </p:cNvCxnSpPr>
          <p:nvPr/>
        </p:nvCxnSpPr>
        <p:spPr>
          <a:xfrm flipH="1">
            <a:off x="2374481" y="3505200"/>
            <a:ext cx="234991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61E45DA1-4D4C-2C1C-C539-39F2F7486EDC}"/>
              </a:ext>
            </a:extLst>
          </p:cNvPr>
          <p:cNvCxnSpPr>
            <a:cxnSpLocks/>
          </p:cNvCxnSpPr>
          <p:nvPr/>
        </p:nvCxnSpPr>
        <p:spPr>
          <a:xfrm>
            <a:off x="2286000" y="3052044"/>
            <a:ext cx="0" cy="605556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CB7C2E6-3061-29F7-D5EA-159295A938B3}"/>
              </a:ext>
            </a:extLst>
          </p:cNvPr>
          <p:cNvCxnSpPr>
            <a:cxnSpLocks/>
          </p:cNvCxnSpPr>
          <p:nvPr/>
        </p:nvCxnSpPr>
        <p:spPr>
          <a:xfrm>
            <a:off x="4813150" y="2895600"/>
            <a:ext cx="0" cy="76200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2F187A5-3B67-8594-363E-20FFD715056F}"/>
              </a:ext>
            </a:extLst>
          </p:cNvPr>
          <p:cNvCxnSpPr>
            <a:cxnSpLocks/>
          </p:cNvCxnSpPr>
          <p:nvPr/>
        </p:nvCxnSpPr>
        <p:spPr>
          <a:xfrm flipH="1">
            <a:off x="2286000" y="3657600"/>
            <a:ext cx="25271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1CA903A-3D5D-6659-1D8A-AC087E7C13B0}"/>
              </a:ext>
            </a:extLst>
          </p:cNvPr>
          <p:cNvCxnSpPr>
            <a:cxnSpLocks/>
          </p:cNvCxnSpPr>
          <p:nvPr/>
        </p:nvCxnSpPr>
        <p:spPr>
          <a:xfrm>
            <a:off x="4724400" y="3052044"/>
            <a:ext cx="0" cy="453156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8CA52A7-01F9-5F32-B7CD-5005EBE7AD62}"/>
              </a:ext>
            </a:extLst>
          </p:cNvPr>
          <p:cNvCxnSpPr>
            <a:cxnSpLocks/>
          </p:cNvCxnSpPr>
          <p:nvPr/>
        </p:nvCxnSpPr>
        <p:spPr>
          <a:xfrm>
            <a:off x="5685506" y="2895600"/>
            <a:ext cx="0" cy="76200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02A092D-E6B9-9183-DEA2-71483B038629}"/>
              </a:ext>
            </a:extLst>
          </p:cNvPr>
          <p:cNvCxnSpPr>
            <a:cxnSpLocks/>
          </p:cNvCxnSpPr>
          <p:nvPr/>
        </p:nvCxnSpPr>
        <p:spPr>
          <a:xfrm flipH="1">
            <a:off x="5685506" y="3657600"/>
            <a:ext cx="79149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73C11CC-AC22-7159-4E46-76E4965C37F0}"/>
              </a:ext>
            </a:extLst>
          </p:cNvPr>
          <p:cNvCxnSpPr>
            <a:cxnSpLocks/>
          </p:cNvCxnSpPr>
          <p:nvPr/>
        </p:nvCxnSpPr>
        <p:spPr>
          <a:xfrm>
            <a:off x="6477000" y="3059097"/>
            <a:ext cx="0" cy="605556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9387EEE-DF76-855B-542B-1D2AEB59DF92}"/>
              </a:ext>
            </a:extLst>
          </p:cNvPr>
          <p:cNvSpPr/>
          <p:nvPr/>
        </p:nvSpPr>
        <p:spPr bwMode="auto">
          <a:xfrm>
            <a:off x="838200" y="2308761"/>
            <a:ext cx="7017794" cy="453156"/>
          </a:xfrm>
          <a:prstGeom prst="rect">
            <a:avLst/>
          </a:prstGeom>
          <a:noFill/>
          <a:ln>
            <a:solidFill>
              <a:schemeClr val="accent2">
                <a:alpha val="54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4C1302E-3AEB-F382-0D1F-1DFA0660BE66}"/>
              </a:ext>
            </a:extLst>
          </p:cNvPr>
          <p:cNvSpPr/>
          <p:nvPr/>
        </p:nvSpPr>
        <p:spPr bwMode="auto">
          <a:xfrm>
            <a:off x="838200" y="3374057"/>
            <a:ext cx="7017794" cy="453156"/>
          </a:xfrm>
          <a:prstGeom prst="rect">
            <a:avLst/>
          </a:prstGeom>
          <a:noFill/>
          <a:ln>
            <a:solidFill>
              <a:schemeClr val="accent2">
                <a:alpha val="54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0CD38702-E9C5-0125-299C-2225711BF388}"/>
              </a:ext>
            </a:extLst>
          </p:cNvPr>
          <p:cNvCxnSpPr>
            <a:cxnSpLocks/>
          </p:cNvCxnSpPr>
          <p:nvPr/>
        </p:nvCxnSpPr>
        <p:spPr>
          <a:xfrm flipH="1">
            <a:off x="5791200" y="3505200"/>
            <a:ext cx="58593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8D36BAE-2DC4-4DA2-CD15-5E21E7FAE77E}"/>
              </a:ext>
            </a:extLst>
          </p:cNvPr>
          <p:cNvSpPr txBox="1"/>
          <p:nvPr/>
        </p:nvSpPr>
        <p:spPr>
          <a:xfrm>
            <a:off x="6608692" y="3811973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ready_list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37D2ED-86E5-15CD-3FB2-57FAE4CB20B6}"/>
              </a:ext>
            </a:extLst>
          </p:cNvPr>
          <p:cNvSpPr txBox="1"/>
          <p:nvPr/>
        </p:nvSpPr>
        <p:spPr>
          <a:xfrm>
            <a:off x="6953113" y="194381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all_list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706D3AEF-91C8-3E04-5BEF-053BC2E453CF}"/>
              </a:ext>
            </a:extLst>
          </p:cNvPr>
          <p:cNvCxnSpPr>
            <a:cxnSpLocks/>
          </p:cNvCxnSpPr>
          <p:nvPr/>
        </p:nvCxnSpPr>
        <p:spPr>
          <a:xfrm>
            <a:off x="6377133" y="2895600"/>
            <a:ext cx="0" cy="60960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A13C785-E27A-43E4-9111-49D31B17EFFE}"/>
              </a:ext>
            </a:extLst>
          </p:cNvPr>
          <p:cNvCxnSpPr>
            <a:cxnSpLocks/>
          </p:cNvCxnSpPr>
          <p:nvPr/>
        </p:nvCxnSpPr>
        <p:spPr>
          <a:xfrm>
            <a:off x="5791200" y="3059097"/>
            <a:ext cx="0" cy="446103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내용 개체 틀 2">
            <a:extLst>
              <a:ext uri="{FF2B5EF4-FFF2-40B4-BE49-F238E27FC236}">
                <a16:creationId xmlns:a16="http://schemas.microsoft.com/office/drawing/2014/main" id="{CF941206-3D4A-8A7A-D960-8F8A52AEF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15" y="1756510"/>
            <a:ext cx="8001000" cy="522501"/>
          </a:xfrm>
        </p:spPr>
        <p:txBody>
          <a:bodyPr/>
          <a:lstStyle/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Wait List</a:t>
            </a:r>
            <a:r>
              <a:rPr lang="ko-KR" altLang="en-US" sz="2000"/>
              <a:t>가 없다</a:t>
            </a:r>
            <a:r>
              <a:rPr lang="en-US" altLang="ko-KR" sz="2000"/>
              <a:t>.</a:t>
            </a:r>
            <a:endParaRPr lang="ko-KR" altLang="en-US" sz="2000"/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EDCD94E-A1AE-77C8-E951-5E63FD102C06}"/>
              </a:ext>
            </a:extLst>
          </p:cNvPr>
          <p:cNvCxnSpPr>
            <a:cxnSpLocks/>
          </p:cNvCxnSpPr>
          <p:nvPr/>
        </p:nvCxnSpPr>
        <p:spPr>
          <a:xfrm>
            <a:off x="7395890" y="2514600"/>
            <a:ext cx="1748110" cy="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C42A08AA-380B-9A4A-5396-863F288255B6}"/>
              </a:ext>
            </a:extLst>
          </p:cNvPr>
          <p:cNvCxnSpPr>
            <a:cxnSpLocks/>
          </p:cNvCxnSpPr>
          <p:nvPr/>
        </p:nvCxnSpPr>
        <p:spPr>
          <a:xfrm>
            <a:off x="7526051" y="2616105"/>
            <a:ext cx="1617949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B2F6850-8312-8452-8827-54991B2C8C11}"/>
              </a:ext>
            </a:extLst>
          </p:cNvPr>
          <p:cNvCxnSpPr>
            <a:cxnSpLocks/>
          </p:cNvCxnSpPr>
          <p:nvPr/>
        </p:nvCxnSpPr>
        <p:spPr>
          <a:xfrm>
            <a:off x="7395890" y="2883368"/>
            <a:ext cx="1748110" cy="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7646978B-E474-6A6D-E485-9C7E15362BDD}"/>
              </a:ext>
            </a:extLst>
          </p:cNvPr>
          <p:cNvCxnSpPr>
            <a:cxnSpLocks/>
          </p:cNvCxnSpPr>
          <p:nvPr/>
        </p:nvCxnSpPr>
        <p:spPr>
          <a:xfrm>
            <a:off x="7526051" y="2981825"/>
            <a:ext cx="1617949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8777553B-6DFD-2762-3031-4D8AC46D6BEA}"/>
              </a:ext>
            </a:extLst>
          </p:cNvPr>
          <p:cNvCxnSpPr>
            <a:cxnSpLocks/>
          </p:cNvCxnSpPr>
          <p:nvPr/>
        </p:nvCxnSpPr>
        <p:spPr>
          <a:xfrm flipH="1">
            <a:off x="1426" y="2852888"/>
            <a:ext cx="1440456" cy="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B04D980E-9F2A-B811-B963-DE8F366EDDC3}"/>
              </a:ext>
            </a:extLst>
          </p:cNvPr>
          <p:cNvCxnSpPr>
            <a:cxnSpLocks/>
          </p:cNvCxnSpPr>
          <p:nvPr/>
        </p:nvCxnSpPr>
        <p:spPr>
          <a:xfrm flipH="1">
            <a:off x="0" y="2981825"/>
            <a:ext cx="1288003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411A7B6-59B2-A8C1-35C1-00CE6A9B149C}"/>
              </a:ext>
            </a:extLst>
          </p:cNvPr>
          <p:cNvCxnSpPr>
            <a:cxnSpLocks/>
          </p:cNvCxnSpPr>
          <p:nvPr/>
        </p:nvCxnSpPr>
        <p:spPr>
          <a:xfrm flipH="1">
            <a:off x="1426" y="2438400"/>
            <a:ext cx="1440456" cy="0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43DAFA49-3A90-442B-0AEA-9E4616B724D7}"/>
              </a:ext>
            </a:extLst>
          </p:cNvPr>
          <p:cNvCxnSpPr>
            <a:cxnSpLocks/>
          </p:cNvCxnSpPr>
          <p:nvPr/>
        </p:nvCxnSpPr>
        <p:spPr>
          <a:xfrm flipH="1">
            <a:off x="0" y="2567337"/>
            <a:ext cx="1288003" cy="0"/>
          </a:xfrm>
          <a:prstGeom prst="line">
            <a:avLst/>
          </a:prstGeom>
          <a:ln w="9525">
            <a:solidFill>
              <a:schemeClr val="tx1"/>
            </a:solidFill>
            <a:headEnd type="triangl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화살표: 위쪽 109">
            <a:extLst>
              <a:ext uri="{FF2B5EF4-FFF2-40B4-BE49-F238E27FC236}">
                <a16:creationId xmlns:a16="http://schemas.microsoft.com/office/drawing/2014/main" id="{5BD5035B-05ED-5265-702B-0E24CE858440}"/>
              </a:ext>
            </a:extLst>
          </p:cNvPr>
          <p:cNvSpPr/>
          <p:nvPr/>
        </p:nvSpPr>
        <p:spPr bwMode="auto">
          <a:xfrm rot="10800000">
            <a:off x="1254710" y="3838444"/>
            <a:ext cx="1901303" cy="381000"/>
          </a:xfrm>
          <a:prstGeom prst="up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CFA34F9-1AED-BBC7-B0D7-3063A74450B7}"/>
              </a:ext>
            </a:extLst>
          </p:cNvPr>
          <p:cNvSpPr txBox="1"/>
          <p:nvPr/>
        </p:nvSpPr>
        <p:spPr>
          <a:xfrm>
            <a:off x="833761" y="418130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Schedule()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2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9751-1221-CD29-41C9-BF0625D61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D1091-1774-2BCF-E9BC-3C7D9957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all_list</a:t>
            </a:r>
            <a:r>
              <a:rPr lang="ko-KR" altLang="en-US"/>
              <a:t>와</a:t>
            </a:r>
            <a:r>
              <a:rPr lang="en-US" altLang="ko-KR"/>
              <a:t> ready_list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84727B-FAD1-D2BA-F09F-36BDEC3D5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/>
              <a:t>생성된 쓰레드는 모두 </a:t>
            </a:r>
            <a:r>
              <a:rPr lang="en-US" altLang="ko-KR" sz="2000"/>
              <a:t>all_list</a:t>
            </a:r>
            <a:r>
              <a:rPr lang="ko-KR" altLang="en-US" sz="2000"/>
              <a:t>에 담기게 됨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pPr marL="0" indent="0">
              <a:buNone/>
            </a:pPr>
            <a:endParaRPr lang="en-US" altLang="ko-KR" sz="2000"/>
          </a:p>
          <a:p>
            <a:endParaRPr lang="en-US" altLang="ko-KR" sz="2000"/>
          </a:p>
          <a:p>
            <a:r>
              <a:rPr lang="ko-KR" altLang="en-US" sz="2000"/>
              <a:t>새로 생성</a:t>
            </a:r>
            <a:r>
              <a:rPr lang="en-US" altLang="ko-KR" sz="2000"/>
              <a:t>, yield, preempted</a:t>
            </a:r>
            <a:r>
              <a:rPr lang="ko-KR" altLang="en-US" sz="2000"/>
              <a:t> 한 쓰레드 등은 </a:t>
            </a:r>
            <a:r>
              <a:rPr lang="en-US" altLang="ko-KR" sz="2000"/>
              <a:t>ready_list</a:t>
            </a:r>
            <a:r>
              <a:rPr lang="ko-KR" altLang="en-US" sz="2000"/>
              <a:t>에 삽입</a:t>
            </a:r>
            <a:r>
              <a:rPr lang="en-US" altLang="ko-KR" sz="2000"/>
              <a:t>. (status = THREAD_READY)</a:t>
            </a:r>
            <a:endParaRPr lang="ko-KR" altLang="en-US" sz="20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99641A-83D6-64A4-5E57-C77C61274BCC}"/>
              </a:ext>
            </a:extLst>
          </p:cNvPr>
          <p:cNvSpPr/>
          <p:nvPr/>
        </p:nvSpPr>
        <p:spPr>
          <a:xfrm>
            <a:off x="610235" y="2209800"/>
            <a:ext cx="8069725" cy="1524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bt                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# thread_create calls init_thread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     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#0  init_thread () ../../threads/thread.c:453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#1  0xc0020cf4 in thread_create() ../threads/thread.c:183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l</a:t>
            </a:r>
          </a:p>
          <a:p>
            <a:pPr marL="342900" indent="-342900">
              <a:buAutoNum type="arabicPlain" startAt="468"/>
            </a:pP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list_push_back (&amp;all_list, &amp;t-&gt;allelem);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                             // init_thread push new thread into all_list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8E9018-76D3-3CBC-44FA-B88C1605FAA3}"/>
              </a:ext>
            </a:extLst>
          </p:cNvPr>
          <p:cNvSpPr/>
          <p:nvPr/>
        </p:nvSpPr>
        <p:spPr>
          <a:xfrm>
            <a:off x="620395" y="4775199"/>
            <a:ext cx="8001000" cy="19081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bt                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# thread_create calls thread_unblock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#0  thread_unblock () at ../../threads/thread.c:233 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#1  0xc0020d99 in thread_create ()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l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240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list_push_back (&amp;ready_list, &amp;t-&gt;elem);</a:t>
            </a:r>
          </a:p>
          <a:p>
            <a:pPr marL="342900" indent="-342900">
              <a:buAutoNum type="arabicPlain" startAt="241"/>
            </a:pP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t-&gt;status = THREAD_READY;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// thread_unblock push new thread.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(...)</a:t>
            </a:r>
          </a:p>
        </p:txBody>
      </p:sp>
    </p:spTree>
    <p:extLst>
      <p:ext uri="{BB962C8B-B14F-4D97-AF65-F5344CB8AC3E}">
        <p14:creationId xmlns:p14="http://schemas.microsoft.com/office/powerpoint/2010/main" val="419690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7892C-8D38-D715-A829-A603DA9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 states model</a:t>
            </a:r>
            <a:br>
              <a:rPr lang="en-US" altLang="ko-KR"/>
            </a:br>
            <a:r>
              <a:rPr lang="en-US" altLang="ko-KR"/>
              <a:t>vs Pintos thread states</a:t>
            </a:r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EC7BAEE-8BBC-7F61-93B7-24518E1E6D3A}"/>
              </a:ext>
            </a:extLst>
          </p:cNvPr>
          <p:cNvSpPr/>
          <p:nvPr/>
        </p:nvSpPr>
        <p:spPr bwMode="auto">
          <a:xfrm>
            <a:off x="2919373" y="2133600"/>
            <a:ext cx="1066800" cy="1066800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3A09F9F-982C-C67A-A077-C80EC0015A2A}"/>
              </a:ext>
            </a:extLst>
          </p:cNvPr>
          <p:cNvSpPr/>
          <p:nvPr/>
        </p:nvSpPr>
        <p:spPr bwMode="auto">
          <a:xfrm>
            <a:off x="5189220" y="2133600"/>
            <a:ext cx="1066800" cy="1066800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CE706766-435D-29FE-E912-0F225B87F89F}"/>
              </a:ext>
            </a:extLst>
          </p:cNvPr>
          <p:cNvSpPr/>
          <p:nvPr/>
        </p:nvSpPr>
        <p:spPr bwMode="auto">
          <a:xfrm>
            <a:off x="691971" y="2133600"/>
            <a:ext cx="1066800" cy="1066800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i="0" u="none" strike="noStrike" normalizeH="0" baseline="0" dirty="0">
              <a:solidFill>
                <a:schemeClr val="tx1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7C60273-9F0C-CD13-1B36-5E18A9467CF4}"/>
              </a:ext>
            </a:extLst>
          </p:cNvPr>
          <p:cNvSpPr/>
          <p:nvPr/>
        </p:nvSpPr>
        <p:spPr bwMode="auto">
          <a:xfrm>
            <a:off x="7413148" y="2130028"/>
            <a:ext cx="1066800" cy="1066800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i="0" u="none" strike="noStrike" normalizeH="0" baseline="0">
              <a:solidFill>
                <a:schemeClr val="tx1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930AB1-BA5B-CFBF-5DFD-8F232CE6950C}"/>
              </a:ext>
            </a:extLst>
          </p:cNvPr>
          <p:cNvSpPr txBox="1"/>
          <p:nvPr/>
        </p:nvSpPr>
        <p:spPr>
          <a:xfrm>
            <a:off x="912153" y="2283562"/>
            <a:ext cx="1296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New</a:t>
            </a:r>
            <a:endParaRPr lang="ko-KR" alt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A0F177-D534-B886-E269-B1AA097B7369}"/>
              </a:ext>
            </a:extLst>
          </p:cNvPr>
          <p:cNvSpPr txBox="1"/>
          <p:nvPr/>
        </p:nvSpPr>
        <p:spPr>
          <a:xfrm>
            <a:off x="3065832" y="248318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Ready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3796A1-EDD8-6C7B-A181-E9429AEFE650}"/>
              </a:ext>
            </a:extLst>
          </p:cNvPr>
          <p:cNvSpPr txBox="1"/>
          <p:nvPr/>
        </p:nvSpPr>
        <p:spPr>
          <a:xfrm>
            <a:off x="5270045" y="247876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Running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E26BB1-BE2B-6259-BF71-297DC316202B}"/>
              </a:ext>
            </a:extLst>
          </p:cNvPr>
          <p:cNvSpPr txBox="1"/>
          <p:nvPr/>
        </p:nvSpPr>
        <p:spPr>
          <a:xfrm>
            <a:off x="7671483" y="248291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Exit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9B06D4-067C-07B2-0BF5-828617EF246B}"/>
              </a:ext>
            </a:extLst>
          </p:cNvPr>
          <p:cNvSpPr txBox="1"/>
          <p:nvPr/>
        </p:nvSpPr>
        <p:spPr>
          <a:xfrm>
            <a:off x="2040619" y="2341184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admit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3F77F0-DDE1-8CF4-8F79-8F0A8ECEC52F}"/>
              </a:ext>
            </a:extLst>
          </p:cNvPr>
          <p:cNvSpPr txBox="1"/>
          <p:nvPr/>
        </p:nvSpPr>
        <p:spPr>
          <a:xfrm>
            <a:off x="4158449" y="2174400"/>
            <a:ext cx="904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scheduled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DB1687-E66E-9066-B8D2-F055BCA8FD2C}"/>
              </a:ext>
            </a:extLst>
          </p:cNvPr>
          <p:cNvSpPr txBox="1"/>
          <p:nvPr/>
        </p:nvSpPr>
        <p:spPr>
          <a:xfrm>
            <a:off x="4197071" y="2868337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time out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436019E-82E1-AB56-E4D0-5FF0F94092CE}"/>
              </a:ext>
            </a:extLst>
          </p:cNvPr>
          <p:cNvSpPr txBox="1"/>
          <p:nvPr/>
        </p:nvSpPr>
        <p:spPr>
          <a:xfrm>
            <a:off x="6328676" y="2286773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termination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151E8AB7-F12E-F7D6-3873-92BC121621F8}"/>
              </a:ext>
            </a:extLst>
          </p:cNvPr>
          <p:cNvSpPr/>
          <p:nvPr/>
        </p:nvSpPr>
        <p:spPr bwMode="auto">
          <a:xfrm>
            <a:off x="2919373" y="4200091"/>
            <a:ext cx="1066800" cy="1066800"/>
          </a:xfrm>
          <a:prstGeom prst="ellipse">
            <a:avLst/>
          </a:prstGeom>
          <a:solidFill>
            <a:srgbClr val="D9D9D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A36333-7847-3139-19D6-91288ECF00FF}"/>
              </a:ext>
            </a:extLst>
          </p:cNvPr>
          <p:cNvSpPr txBox="1"/>
          <p:nvPr/>
        </p:nvSpPr>
        <p:spPr>
          <a:xfrm>
            <a:off x="2919373" y="453215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Blocked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FAACEE-A0BC-4463-2EA0-A888739FDDE1}"/>
              </a:ext>
            </a:extLst>
          </p:cNvPr>
          <p:cNvSpPr txBox="1"/>
          <p:nvPr/>
        </p:nvSpPr>
        <p:spPr>
          <a:xfrm rot="19068592">
            <a:off x="4489672" y="3631076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I/O wait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7F3A40-84E6-5555-C187-D56F569F4E54}"/>
              </a:ext>
            </a:extLst>
          </p:cNvPr>
          <p:cNvSpPr txBox="1"/>
          <p:nvPr/>
        </p:nvSpPr>
        <p:spPr>
          <a:xfrm>
            <a:off x="2594846" y="3546357"/>
            <a:ext cx="857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I/O event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8B033EE-0398-D896-5EA8-297E7429746C}"/>
              </a:ext>
            </a:extLst>
          </p:cNvPr>
          <p:cNvCxnSpPr>
            <a:cxnSpLocks/>
            <a:stCxn id="58" idx="6"/>
            <a:endCxn id="56" idx="2"/>
          </p:cNvCxnSpPr>
          <p:nvPr/>
        </p:nvCxnSpPr>
        <p:spPr>
          <a:xfrm>
            <a:off x="1758771" y="2667000"/>
            <a:ext cx="11606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FC9F170-457F-8A8E-AC82-8FBBE6BC0F5A}"/>
              </a:ext>
            </a:extLst>
          </p:cNvPr>
          <p:cNvSpPr/>
          <p:nvPr/>
        </p:nvSpPr>
        <p:spPr>
          <a:xfrm>
            <a:off x="6641690" y="775547"/>
            <a:ext cx="721453" cy="5285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Pre-processor</a:t>
            </a:r>
          </a:p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(</a:t>
            </a:r>
            <a:r>
              <a:rPr kumimoji="1" lang="en-US" altLang="ko-KR" sz="1000" kern="0" dirty="0" err="1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cpp</a:t>
            </a: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)</a:t>
            </a:r>
            <a:endParaRPr kumimoji="1" lang="ko-KR" altLang="en-US" sz="1000" kern="0" dirty="0">
              <a:solidFill>
                <a:srgbClr val="000000"/>
              </a:solidFill>
              <a:latin typeface="Times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E803BA-7466-FB6D-8020-4BC620AA1368}"/>
              </a:ext>
            </a:extLst>
          </p:cNvPr>
          <p:cNvSpPr/>
          <p:nvPr/>
        </p:nvSpPr>
        <p:spPr>
          <a:xfrm>
            <a:off x="7585822" y="533400"/>
            <a:ext cx="721453" cy="528507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ko-KR" altLang="en-US" sz="9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전처리기</a:t>
            </a:r>
            <a:endParaRPr kumimoji="1" lang="en-US" altLang="ko-KR" sz="9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(</a:t>
            </a:r>
            <a:r>
              <a:rPr kumimoji="1" lang="en-US" altLang="ko-KR" sz="1000" kern="0" dirty="0" err="1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cpp</a:t>
            </a: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)</a:t>
            </a:r>
            <a:endParaRPr kumimoji="1" lang="ko-KR" altLang="en-US" sz="1000" kern="0" dirty="0">
              <a:solidFill>
                <a:srgbClr val="000000"/>
              </a:solidFill>
              <a:latin typeface="Times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630DF49-F207-B89C-0A64-BC4539ACE0B0}"/>
              </a:ext>
            </a:extLst>
          </p:cNvPr>
          <p:cNvCxnSpPr>
            <a:cxnSpLocks/>
          </p:cNvCxnSpPr>
          <p:nvPr/>
        </p:nvCxnSpPr>
        <p:spPr>
          <a:xfrm>
            <a:off x="3954781" y="2503517"/>
            <a:ext cx="124757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86F0D17-6C16-56C7-4ED5-5780DFBFC71E}"/>
              </a:ext>
            </a:extLst>
          </p:cNvPr>
          <p:cNvCxnSpPr>
            <a:cxnSpLocks/>
          </p:cNvCxnSpPr>
          <p:nvPr/>
        </p:nvCxnSpPr>
        <p:spPr>
          <a:xfrm flipH="1">
            <a:off x="3954781" y="2853976"/>
            <a:ext cx="125589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A11F9FC-DC61-8686-4BC2-29EE00107C93}"/>
              </a:ext>
            </a:extLst>
          </p:cNvPr>
          <p:cNvCxnSpPr>
            <a:cxnSpLocks/>
            <a:stCxn id="75" idx="0"/>
            <a:endCxn id="56" idx="4"/>
          </p:cNvCxnSpPr>
          <p:nvPr/>
        </p:nvCxnSpPr>
        <p:spPr>
          <a:xfrm flipV="1">
            <a:off x="3452773" y="3200400"/>
            <a:ext cx="0" cy="9996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4FEB96C-D71F-A30F-4076-B5B7A43378CF}"/>
              </a:ext>
            </a:extLst>
          </p:cNvPr>
          <p:cNvCxnSpPr>
            <a:cxnSpLocks/>
            <a:stCxn id="57" idx="6"/>
            <a:endCxn id="60" idx="2"/>
          </p:cNvCxnSpPr>
          <p:nvPr/>
        </p:nvCxnSpPr>
        <p:spPr>
          <a:xfrm flipV="1">
            <a:off x="6256020" y="2663428"/>
            <a:ext cx="1157128" cy="35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006F06A-6AE6-FE54-98C2-0EB5AF270DFD}"/>
              </a:ext>
            </a:extLst>
          </p:cNvPr>
          <p:cNvCxnSpPr>
            <a:cxnSpLocks/>
            <a:stCxn id="57" idx="3"/>
            <a:endCxn id="75" idx="7"/>
          </p:cNvCxnSpPr>
          <p:nvPr/>
        </p:nvCxnSpPr>
        <p:spPr>
          <a:xfrm flipH="1">
            <a:off x="3829944" y="3044171"/>
            <a:ext cx="1515505" cy="13121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07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7DAE8-4C80-98F6-319B-27E98D69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D333051F-24DB-62C9-7A89-D93118857099}"/>
              </a:ext>
            </a:extLst>
          </p:cNvPr>
          <p:cNvSpPr txBox="1"/>
          <p:nvPr/>
        </p:nvSpPr>
        <p:spPr>
          <a:xfrm>
            <a:off x="5058419" y="4804693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admit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9E9BD0-8E4A-3AD8-C155-6E9F9C74737A}"/>
              </a:ext>
            </a:extLst>
          </p:cNvPr>
          <p:cNvSpPr txBox="1"/>
          <p:nvPr/>
        </p:nvSpPr>
        <p:spPr>
          <a:xfrm>
            <a:off x="707776" y="670057"/>
            <a:ext cx="1271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Times" panose="02020603050405020304" pitchFamily="18" charset="0"/>
                <a:cs typeface="Times" panose="02020603050405020304" pitchFamily="18" charset="0"/>
              </a:rPr>
              <a:t>thread_create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()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7E0A95-0A7E-1BAD-6541-AFCBF6D5CE36}"/>
              </a:ext>
            </a:extLst>
          </p:cNvPr>
          <p:cNvSpPr txBox="1"/>
          <p:nvPr/>
        </p:nvSpPr>
        <p:spPr>
          <a:xfrm>
            <a:off x="6811723" y="5526920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time out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14C0D1-913E-15A1-4413-C064CBFE3475}"/>
              </a:ext>
            </a:extLst>
          </p:cNvPr>
          <p:cNvSpPr txBox="1"/>
          <p:nvPr/>
        </p:nvSpPr>
        <p:spPr>
          <a:xfrm>
            <a:off x="8436985" y="4996970"/>
            <a:ext cx="1011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termination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0A34FA-A718-0F51-67EB-6D64D72958E2}"/>
              </a:ext>
            </a:extLst>
          </p:cNvPr>
          <p:cNvSpPr txBox="1"/>
          <p:nvPr/>
        </p:nvSpPr>
        <p:spPr>
          <a:xfrm rot="19068592">
            <a:off x="4024572" y="5297319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I/O wait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38BC00-743D-0B3E-48E7-703B1B90DA18}"/>
              </a:ext>
            </a:extLst>
          </p:cNvPr>
          <p:cNvSpPr txBox="1"/>
          <p:nvPr/>
        </p:nvSpPr>
        <p:spPr>
          <a:xfrm>
            <a:off x="485600" y="3944909"/>
            <a:ext cx="857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I/O event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27B2827-73A6-E94B-2D41-3160868BF815}"/>
              </a:ext>
            </a:extLst>
          </p:cNvPr>
          <p:cNvCxnSpPr>
            <a:cxnSpLocks/>
          </p:cNvCxnSpPr>
          <p:nvPr/>
        </p:nvCxnSpPr>
        <p:spPr>
          <a:xfrm>
            <a:off x="7801367" y="5696984"/>
            <a:ext cx="11606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F7F027C-E553-2336-CE97-CB6B1D4CBFA1}"/>
              </a:ext>
            </a:extLst>
          </p:cNvPr>
          <p:cNvSpPr/>
          <p:nvPr/>
        </p:nvSpPr>
        <p:spPr>
          <a:xfrm>
            <a:off x="-756819" y="648294"/>
            <a:ext cx="1442619" cy="827226"/>
          </a:xfrm>
          <a:prstGeom prst="roundRect">
            <a:avLst/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THREAD_BLOCKED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55945E1-E4E8-5856-8BF8-1BC958564922}"/>
              </a:ext>
            </a:extLst>
          </p:cNvPr>
          <p:cNvSpPr/>
          <p:nvPr/>
        </p:nvSpPr>
        <p:spPr>
          <a:xfrm>
            <a:off x="5856095" y="4991890"/>
            <a:ext cx="721453" cy="528507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ko-KR" altLang="en-US" sz="9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전처리기</a:t>
            </a:r>
            <a:endParaRPr kumimoji="1" lang="en-US" altLang="ko-KR" sz="9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(</a:t>
            </a:r>
            <a:r>
              <a:rPr kumimoji="1" lang="en-US" altLang="ko-KR" sz="1000" kern="0" dirty="0" err="1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cpp</a:t>
            </a: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)</a:t>
            </a:r>
            <a:endParaRPr kumimoji="1" lang="ko-KR" altLang="en-US" sz="1000" kern="0" dirty="0">
              <a:solidFill>
                <a:srgbClr val="000000"/>
              </a:solidFill>
              <a:latin typeface="Times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73F204A-7688-37A4-738B-92BBF366EDEC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>
            <a:off x="685800" y="1061907"/>
            <a:ext cx="128461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E859BBE-673B-70A4-6333-300BF7EF9CE2}"/>
              </a:ext>
            </a:extLst>
          </p:cNvPr>
          <p:cNvCxnSpPr>
            <a:cxnSpLocks/>
          </p:cNvCxnSpPr>
          <p:nvPr/>
        </p:nvCxnSpPr>
        <p:spPr>
          <a:xfrm flipH="1">
            <a:off x="6658365" y="5562600"/>
            <a:ext cx="125589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CC0EA1E-C6FE-6FF1-3B3F-BB649602D342}"/>
              </a:ext>
            </a:extLst>
          </p:cNvPr>
          <p:cNvCxnSpPr>
            <a:cxnSpLocks/>
            <a:stCxn id="52" idx="0"/>
            <a:endCxn id="35" idx="2"/>
          </p:cNvCxnSpPr>
          <p:nvPr/>
        </p:nvCxnSpPr>
        <p:spPr>
          <a:xfrm flipV="1">
            <a:off x="2686648" y="1475520"/>
            <a:ext cx="5080" cy="12112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11C0E94-0AD1-1996-7E97-8852428DE485}"/>
              </a:ext>
            </a:extLst>
          </p:cNvPr>
          <p:cNvCxnSpPr>
            <a:cxnSpLocks/>
          </p:cNvCxnSpPr>
          <p:nvPr/>
        </p:nvCxnSpPr>
        <p:spPr>
          <a:xfrm flipV="1">
            <a:off x="9448800" y="5451207"/>
            <a:ext cx="1157128" cy="35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EF366C5-B78F-73E3-F459-D623A43A825A}"/>
              </a:ext>
            </a:extLst>
          </p:cNvPr>
          <p:cNvCxnSpPr>
            <a:cxnSpLocks/>
            <a:stCxn id="39" idx="2"/>
            <a:endCxn id="52" idx="3"/>
          </p:cNvCxnSpPr>
          <p:nvPr/>
        </p:nvCxnSpPr>
        <p:spPr>
          <a:xfrm flipH="1">
            <a:off x="3407957" y="1475520"/>
            <a:ext cx="2011008" cy="16248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7FCBED6-85C0-F87C-A009-CD43E84BFA6F}"/>
              </a:ext>
            </a:extLst>
          </p:cNvPr>
          <p:cNvSpPr/>
          <p:nvPr/>
        </p:nvSpPr>
        <p:spPr>
          <a:xfrm>
            <a:off x="1970418" y="648294"/>
            <a:ext cx="1442619" cy="827226"/>
          </a:xfrm>
          <a:prstGeom prst="roundRect">
            <a:avLst/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THREAD_READY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46AADC3-AFEE-2183-2594-C5151315A520}"/>
              </a:ext>
            </a:extLst>
          </p:cNvPr>
          <p:cNvSpPr/>
          <p:nvPr/>
        </p:nvSpPr>
        <p:spPr>
          <a:xfrm>
            <a:off x="9478724" y="4735374"/>
            <a:ext cx="1442619" cy="827226"/>
          </a:xfrm>
          <a:prstGeom prst="roundRect">
            <a:avLst/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THREAD_RUNNING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07447AD-2671-3D09-F809-C7FBEF595FB6}"/>
              </a:ext>
            </a:extLst>
          </p:cNvPr>
          <p:cNvSpPr/>
          <p:nvPr/>
        </p:nvSpPr>
        <p:spPr>
          <a:xfrm>
            <a:off x="4697655" y="648294"/>
            <a:ext cx="1442619" cy="827226"/>
          </a:xfrm>
          <a:prstGeom prst="roundRect">
            <a:avLst/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THREAD_RUNNING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FA4943-D0B2-BF2E-A443-B527A58F0DDE}"/>
              </a:ext>
            </a:extLst>
          </p:cNvPr>
          <p:cNvCxnSpPr>
            <a:cxnSpLocks/>
          </p:cNvCxnSpPr>
          <p:nvPr/>
        </p:nvCxnSpPr>
        <p:spPr>
          <a:xfrm>
            <a:off x="3413037" y="962781"/>
            <a:ext cx="128461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CE14CC-B2A8-D3F5-BC71-C2470B6AEA3C}"/>
              </a:ext>
            </a:extLst>
          </p:cNvPr>
          <p:cNvSpPr txBox="1"/>
          <p:nvPr/>
        </p:nvSpPr>
        <p:spPr>
          <a:xfrm>
            <a:off x="3588711" y="592595"/>
            <a:ext cx="9332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schedule()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816ED69-8656-694B-E664-D304F3E2385E}"/>
              </a:ext>
            </a:extLst>
          </p:cNvPr>
          <p:cNvSpPr/>
          <p:nvPr/>
        </p:nvSpPr>
        <p:spPr>
          <a:xfrm>
            <a:off x="7404572" y="648294"/>
            <a:ext cx="1442619" cy="827226"/>
          </a:xfrm>
          <a:prstGeom prst="roundRect">
            <a:avLst/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THREAD_DYING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4E71920-AD8A-E8C6-1102-488596982059}"/>
              </a:ext>
            </a:extLst>
          </p:cNvPr>
          <p:cNvCxnSpPr>
            <a:cxnSpLocks/>
            <a:stCxn id="39" idx="3"/>
            <a:endCxn id="45" idx="1"/>
          </p:cNvCxnSpPr>
          <p:nvPr/>
        </p:nvCxnSpPr>
        <p:spPr>
          <a:xfrm>
            <a:off x="6140274" y="1061907"/>
            <a:ext cx="126429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BE86388-C657-7FA6-62A8-D3CF47B62381}"/>
              </a:ext>
            </a:extLst>
          </p:cNvPr>
          <p:cNvSpPr txBox="1"/>
          <p:nvPr/>
        </p:nvSpPr>
        <p:spPr>
          <a:xfrm>
            <a:off x="6216822" y="670057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Times" panose="02020603050405020304" pitchFamily="18" charset="0"/>
                <a:cs typeface="Times" panose="02020603050405020304" pitchFamily="18" charset="0"/>
              </a:rPr>
              <a:t>thread_exit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()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DEA7BD3-A2E6-410E-365A-ABB005240392}"/>
              </a:ext>
            </a:extLst>
          </p:cNvPr>
          <p:cNvSpPr/>
          <p:nvPr/>
        </p:nvSpPr>
        <p:spPr>
          <a:xfrm>
            <a:off x="1965338" y="2686786"/>
            <a:ext cx="1442619" cy="827226"/>
          </a:xfrm>
          <a:prstGeom prst="roundRect">
            <a:avLst/>
          </a:prstGeom>
          <a:solidFill>
            <a:srgbClr val="D9D9D9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>
              <a:spcBef>
                <a:spcPct val="0"/>
              </a:spcBef>
            </a:pPr>
            <a:r>
              <a:rPr kumimoji="1" lang="en-US" altLang="ko-KR" sz="1000" kern="0" dirty="0">
                <a:solidFill>
                  <a:srgbClr val="000000"/>
                </a:solidFill>
                <a:latin typeface="Times" panose="02020603050405020304" pitchFamily="18" charset="0"/>
                <a:ea typeface="굴림" panose="020B0600000101010101" pitchFamily="50" charset="-127"/>
              </a:rPr>
              <a:t>THREAD_BLOCKED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857AD21-EB36-E9D4-8C08-FE1AF072B42D}"/>
              </a:ext>
            </a:extLst>
          </p:cNvPr>
          <p:cNvCxnSpPr>
            <a:cxnSpLocks/>
          </p:cNvCxnSpPr>
          <p:nvPr/>
        </p:nvCxnSpPr>
        <p:spPr>
          <a:xfrm flipH="1">
            <a:off x="3407957" y="1219200"/>
            <a:ext cx="12677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0A7983B-55B0-395D-34CC-43A9B27D86D8}"/>
              </a:ext>
            </a:extLst>
          </p:cNvPr>
          <p:cNvSpPr txBox="1"/>
          <p:nvPr/>
        </p:nvSpPr>
        <p:spPr>
          <a:xfrm>
            <a:off x="3506373" y="1204699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Times" panose="02020603050405020304" pitchFamily="18" charset="0"/>
                <a:cs typeface="Times" panose="02020603050405020304" pitchFamily="18" charset="0"/>
              </a:rPr>
              <a:t>thread_yield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()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360BB1D-3189-AB17-2FF2-DB89289D56FB}"/>
              </a:ext>
            </a:extLst>
          </p:cNvPr>
          <p:cNvSpPr txBox="1"/>
          <p:nvPr/>
        </p:nvSpPr>
        <p:spPr>
          <a:xfrm rot="19258553">
            <a:off x="3886554" y="2321324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thread_ block()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5BACFE4-F18E-CE96-C53A-60B4F4DC9E07}"/>
              </a:ext>
            </a:extLst>
          </p:cNvPr>
          <p:cNvSpPr txBox="1"/>
          <p:nvPr/>
        </p:nvSpPr>
        <p:spPr>
          <a:xfrm>
            <a:off x="1255047" y="1927264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Times" panose="02020603050405020304" pitchFamily="18" charset="0"/>
                <a:cs typeface="Times" panose="02020603050405020304" pitchFamily="18" charset="0"/>
              </a:rPr>
              <a:t>thread_unblock</a:t>
            </a:r>
            <a:r>
              <a:rPr lang="en-US" altLang="ko-KR" sz="1400" dirty="0">
                <a:latin typeface="Times" panose="02020603050405020304" pitchFamily="18" charset="0"/>
                <a:cs typeface="Times" panose="02020603050405020304" pitchFamily="18" charset="0"/>
              </a:rPr>
              <a:t>()</a:t>
            </a:r>
            <a:endParaRPr lang="ko-KR" altLang="en-US" sz="1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721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B2ED-5560-9137-DFDA-C828B812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내용 개체 틀 2">
            <a:extLst>
              <a:ext uri="{FF2B5EF4-FFF2-40B4-BE49-F238E27FC236}">
                <a16:creationId xmlns:a16="http://schemas.microsoft.com/office/drawing/2014/main" id="{3072CD90-FADB-BEA6-0E8E-CE80D251E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sz="1800" dirty="0"/>
          </a:p>
          <a:p>
            <a:r>
              <a:rPr lang="en-US" altLang="ko-KR" sz="1800" dirty="0" err="1"/>
              <a:t>thread_unblock</a:t>
            </a:r>
            <a:r>
              <a:rPr lang="en-US" altLang="ko-KR" sz="1800" dirty="0"/>
              <a:t>()</a:t>
            </a:r>
            <a:r>
              <a:rPr lang="ko-KR" altLang="en-US" sz="1800" dirty="0"/>
              <a:t>은 </a:t>
            </a:r>
            <a:r>
              <a:rPr lang="en-US" altLang="ko-KR" sz="1800" dirty="0" err="1"/>
              <a:t>ready_list</a:t>
            </a:r>
            <a:r>
              <a:rPr lang="ko-KR" altLang="en-US" sz="1800" dirty="0"/>
              <a:t>에 쓰레드를 넣고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thread_block</a:t>
            </a:r>
            <a:r>
              <a:rPr lang="en-US" altLang="ko-KR" sz="1800" dirty="0"/>
              <a:t>()</a:t>
            </a:r>
            <a:r>
              <a:rPr lang="ko-KR" altLang="en-US" sz="1800" dirty="0"/>
              <a:t>은 </a:t>
            </a:r>
            <a:r>
              <a:rPr lang="en-US" altLang="ko-KR" sz="1800" dirty="0"/>
              <a:t>schedule()</a:t>
            </a:r>
            <a:r>
              <a:rPr lang="ko-KR" altLang="en-US" sz="1800" dirty="0"/>
              <a:t>을 수행하지만</a:t>
            </a:r>
            <a:r>
              <a:rPr lang="en-US" altLang="ko-KR" sz="1800" dirty="0"/>
              <a:t>, </a:t>
            </a:r>
            <a:r>
              <a:rPr lang="ko-KR" altLang="en-US" sz="1800" dirty="0"/>
              <a:t>별도의 </a:t>
            </a:r>
            <a:r>
              <a:rPr lang="en-US" altLang="ko-KR" sz="1800" dirty="0"/>
              <a:t>wait queue</a:t>
            </a:r>
            <a:r>
              <a:rPr lang="ko-KR" altLang="en-US" sz="1800" dirty="0"/>
              <a:t>에 넣거나 빼지 않는다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604738-0753-5BB4-44AA-F2829AD5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 states model</a:t>
            </a:r>
            <a:br>
              <a:rPr lang="en-US" altLang="ko-KR" dirty="0"/>
            </a:br>
            <a:r>
              <a:rPr lang="en-US" altLang="ko-KR" dirty="0"/>
              <a:t>vs Pintos thread states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DA59AAA-C1AA-C261-5E6F-EAF803A7A8BC}"/>
              </a:ext>
            </a:extLst>
          </p:cNvPr>
          <p:cNvCxnSpPr>
            <a:cxnSpLocks/>
            <a:stCxn id="24" idx="6"/>
            <a:endCxn id="22" idx="2"/>
          </p:cNvCxnSpPr>
          <p:nvPr/>
        </p:nvCxnSpPr>
        <p:spPr bwMode="auto">
          <a:xfrm flipV="1">
            <a:off x="1433661" y="2626638"/>
            <a:ext cx="1485712" cy="59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D4EA20C-0E3B-971A-6C26-EAE4855C78BD}"/>
              </a:ext>
            </a:extLst>
          </p:cNvPr>
          <p:cNvCxnSpPr>
            <a:cxnSpLocks/>
          </p:cNvCxnSpPr>
          <p:nvPr/>
        </p:nvCxnSpPr>
        <p:spPr bwMode="auto">
          <a:xfrm flipV="1">
            <a:off x="6256020" y="2626638"/>
            <a:ext cx="1070610" cy="59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00C55FE1-A8BB-34EB-D996-FAC9430B3B32}"/>
              </a:ext>
            </a:extLst>
          </p:cNvPr>
          <p:cNvSpPr/>
          <p:nvPr/>
        </p:nvSpPr>
        <p:spPr bwMode="auto">
          <a:xfrm>
            <a:off x="2919373" y="2093238"/>
            <a:ext cx="1066800" cy="1066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5CD6454-836E-6F13-D227-A25A83A5EEDF}"/>
              </a:ext>
            </a:extLst>
          </p:cNvPr>
          <p:cNvSpPr/>
          <p:nvPr/>
        </p:nvSpPr>
        <p:spPr bwMode="auto">
          <a:xfrm>
            <a:off x="5189220" y="2093238"/>
            <a:ext cx="1066800" cy="1066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45F7991-A789-5A39-78C8-1D350A2281D2}"/>
              </a:ext>
            </a:extLst>
          </p:cNvPr>
          <p:cNvSpPr/>
          <p:nvPr/>
        </p:nvSpPr>
        <p:spPr bwMode="auto">
          <a:xfrm>
            <a:off x="366861" y="2099156"/>
            <a:ext cx="1066800" cy="1066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i="0" u="none" strike="noStrike" normalizeH="0" baseline="0">
              <a:solidFill>
                <a:schemeClr val="tx1"/>
              </a:solidFill>
              <a:latin typeface="Verdana" pitchFamily="34" charset="0"/>
              <a:cs typeface="Arial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D5C6852-FF95-151B-410A-8C8F8BE392AD}"/>
              </a:ext>
            </a:extLst>
          </p:cNvPr>
          <p:cNvSpPr/>
          <p:nvPr/>
        </p:nvSpPr>
        <p:spPr bwMode="auto">
          <a:xfrm>
            <a:off x="7322820" y="2093238"/>
            <a:ext cx="1066800" cy="1066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i="0" u="none" strike="noStrike" normalizeH="0" baseline="0">
              <a:solidFill>
                <a:schemeClr val="tx1"/>
              </a:solidFill>
              <a:latin typeface="Verdana" pitchFamily="34" charset="0"/>
              <a:cs typeface="Arial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683287B-9D00-2849-AEF2-91D9B2B3200E}"/>
              </a:ext>
            </a:extLst>
          </p:cNvPr>
          <p:cNvCxnSpPr>
            <a:cxnSpLocks/>
          </p:cNvCxnSpPr>
          <p:nvPr/>
        </p:nvCxnSpPr>
        <p:spPr bwMode="auto">
          <a:xfrm>
            <a:off x="3998841" y="2480156"/>
            <a:ext cx="11903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13B7D64-32C6-8B1A-C04D-54DDF2272757}"/>
              </a:ext>
            </a:extLst>
          </p:cNvPr>
          <p:cNvCxnSpPr>
            <a:cxnSpLocks/>
          </p:cNvCxnSpPr>
          <p:nvPr/>
        </p:nvCxnSpPr>
        <p:spPr bwMode="auto">
          <a:xfrm flipH="1">
            <a:off x="3986173" y="2784956"/>
            <a:ext cx="119542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lg"/>
            <a:tailEnd type="triangle" w="lg" len="lg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57C25CC-8D61-A1B5-030C-A28D64D15169}"/>
              </a:ext>
            </a:extLst>
          </p:cNvPr>
          <p:cNvSpPr txBox="1"/>
          <p:nvPr/>
        </p:nvSpPr>
        <p:spPr>
          <a:xfrm>
            <a:off x="521183" y="244197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start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29B993-2C25-284F-93B8-60960ED70D0B}"/>
              </a:ext>
            </a:extLst>
          </p:cNvPr>
          <p:cNvSpPr txBox="1"/>
          <p:nvPr/>
        </p:nvSpPr>
        <p:spPr>
          <a:xfrm>
            <a:off x="3037756" y="243840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ready</a:t>
            </a:r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F3EE9F-E2E9-86E7-03AC-B3EFC0B3B10C}"/>
              </a:ext>
            </a:extLst>
          </p:cNvPr>
          <p:cNvSpPr txBox="1"/>
          <p:nvPr/>
        </p:nvSpPr>
        <p:spPr>
          <a:xfrm>
            <a:off x="5446474" y="2441972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run</a:t>
            </a:r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DCD049-74B9-4A6F-6E90-4A394F03CC56}"/>
              </a:ext>
            </a:extLst>
          </p:cNvPr>
          <p:cNvSpPr txBox="1"/>
          <p:nvPr/>
        </p:nvSpPr>
        <p:spPr>
          <a:xfrm>
            <a:off x="7550989" y="2415624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>
                    <a:lumMod val="95000"/>
                    <a:lumOff val="5000"/>
                  </a:schemeClr>
                </a:solidFill>
              </a:rPr>
              <a:t>exit</a:t>
            </a:r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59A07D-E2F2-3861-2584-34C66AB06D47}"/>
              </a:ext>
            </a:extLst>
          </p:cNvPr>
          <p:cNvSpPr txBox="1"/>
          <p:nvPr/>
        </p:nvSpPr>
        <p:spPr>
          <a:xfrm>
            <a:off x="1359098" y="2261735"/>
            <a:ext cx="1612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thread_create()</a:t>
            </a:r>
            <a:endParaRPr lang="ko-KR" altLang="en-US" sz="1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6D2DD3-76DD-7FAE-4099-6DF9DAE0242F}"/>
              </a:ext>
            </a:extLst>
          </p:cNvPr>
          <p:cNvSpPr txBox="1"/>
          <p:nvPr/>
        </p:nvSpPr>
        <p:spPr>
          <a:xfrm>
            <a:off x="3982220" y="2155378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schedule()</a:t>
            </a:r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3A7147-0E94-3211-7488-7AB68BDB8878}"/>
              </a:ext>
            </a:extLst>
          </p:cNvPr>
          <p:cNvSpPr txBox="1"/>
          <p:nvPr/>
        </p:nvSpPr>
        <p:spPr>
          <a:xfrm>
            <a:off x="3883921" y="2820825"/>
            <a:ext cx="1475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err="1"/>
              <a:t>thread_yield</a:t>
            </a:r>
            <a:r>
              <a:rPr lang="en-US" altLang="ko-KR" sz="1400" dirty="0"/>
              <a:t>()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9BF66E-C9AC-D83F-530E-2A104AB31CA5}"/>
              </a:ext>
            </a:extLst>
          </p:cNvPr>
          <p:cNvSpPr txBox="1"/>
          <p:nvPr/>
        </p:nvSpPr>
        <p:spPr>
          <a:xfrm>
            <a:off x="6097564" y="2107106"/>
            <a:ext cx="1383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thread_exit()</a:t>
            </a:r>
            <a:endParaRPr lang="ko-KR" altLang="en-US" sz="140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D15BCCD8-A3A5-3562-1D09-66D372734C62}"/>
              </a:ext>
            </a:extLst>
          </p:cNvPr>
          <p:cNvCxnSpPr>
            <a:cxnSpLocks/>
          </p:cNvCxnSpPr>
          <p:nvPr/>
        </p:nvCxnSpPr>
        <p:spPr bwMode="auto">
          <a:xfrm flipV="1">
            <a:off x="3452773" y="3160038"/>
            <a:ext cx="0" cy="7856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lg" len="lg"/>
            <a:tailEnd type="triangle" w="lg" len="lg"/>
          </a:ln>
          <a:effectLst/>
        </p:spPr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8E516D9-BD7F-6C74-FE49-B7897631B064}"/>
              </a:ext>
            </a:extLst>
          </p:cNvPr>
          <p:cNvCxnSpPr>
            <a:cxnSpLocks/>
          </p:cNvCxnSpPr>
          <p:nvPr/>
        </p:nvCxnSpPr>
        <p:spPr bwMode="auto">
          <a:xfrm flipH="1">
            <a:off x="3982220" y="3003809"/>
            <a:ext cx="1363229" cy="12693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lg" len="lg"/>
            <a:tailEnd type="triangle" w="lg" len="lg"/>
          </a:ln>
          <a:effectLst/>
        </p:spPr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7C9368FB-4E5A-6E6D-EA02-DE8A15F15F99}"/>
              </a:ext>
            </a:extLst>
          </p:cNvPr>
          <p:cNvSpPr/>
          <p:nvPr/>
        </p:nvSpPr>
        <p:spPr bwMode="auto">
          <a:xfrm>
            <a:off x="2919373" y="3927956"/>
            <a:ext cx="1066800" cy="1066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1A3DE7-1228-5A3C-BFB7-13B2483F482C}"/>
              </a:ext>
            </a:extLst>
          </p:cNvPr>
          <p:cNvSpPr txBox="1"/>
          <p:nvPr/>
        </p:nvSpPr>
        <p:spPr>
          <a:xfrm>
            <a:off x="3120310" y="4273118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trike="sngStrike">
                <a:solidFill>
                  <a:schemeClr val="bg1">
                    <a:lumMod val="50000"/>
                  </a:schemeClr>
                </a:solidFill>
              </a:rPr>
              <a:t>wait</a:t>
            </a:r>
            <a:endParaRPr lang="ko-KR" altLang="en-US" strike="sngStrik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3F0649-098B-8771-12C4-98C3251C5144}"/>
              </a:ext>
            </a:extLst>
          </p:cNvPr>
          <p:cNvSpPr txBox="1"/>
          <p:nvPr/>
        </p:nvSpPr>
        <p:spPr>
          <a:xfrm rot="19068592">
            <a:off x="3998683" y="3622899"/>
            <a:ext cx="1519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/>
              <a:t>thread_block()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7D304F-952C-84B9-CD94-DF033632339F}"/>
              </a:ext>
            </a:extLst>
          </p:cNvPr>
          <p:cNvSpPr txBox="1"/>
          <p:nvPr/>
        </p:nvSpPr>
        <p:spPr>
          <a:xfrm>
            <a:off x="1720419" y="3421761"/>
            <a:ext cx="17475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/>
              <a:t>thread_unblock()</a:t>
            </a:r>
          </a:p>
        </p:txBody>
      </p:sp>
    </p:spTree>
    <p:extLst>
      <p:ext uri="{BB962C8B-B14F-4D97-AF65-F5344CB8AC3E}">
        <p14:creationId xmlns:p14="http://schemas.microsoft.com/office/powerpoint/2010/main" val="40203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D534-221B-CD5E-BEDA-F20151CD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38AA2-A7FC-84E7-27C7-6AE35CF3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Schedule()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25494A-5431-1712-FF86-BA9AAFB29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Round Robin </a:t>
            </a:r>
            <a:r>
              <a:rPr lang="ko-KR" altLang="en-US"/>
              <a:t>스케쥴링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sz="1800"/>
              <a:t>ready_list</a:t>
            </a:r>
            <a:r>
              <a:rPr lang="ko-KR" altLang="en-US" sz="1800"/>
              <a:t>의 가장 앞 쓰레드를 스케쥴링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AF4653-1A92-E293-FED4-97F5FDA990DD}"/>
              </a:ext>
            </a:extLst>
          </p:cNvPr>
          <p:cNvSpPr/>
          <p:nvPr/>
        </p:nvSpPr>
        <p:spPr>
          <a:xfrm>
            <a:off x="566738" y="2348706"/>
            <a:ext cx="8001000" cy="30749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bt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#0  next_thread_to_run () at ../../threads/thread.c:493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#1  schedule () at ../../threads/thread.c:556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l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490     static struct thread *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491     next_thread_to_run (void) 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492     {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493       if (list_empty (&amp;ready_list))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494         return idle_thread;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495       else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496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return list_entry (list_pop_front (&amp;ready_list), struct thread, elem);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497     } </a:t>
            </a:r>
          </a:p>
        </p:txBody>
      </p:sp>
    </p:spTree>
    <p:extLst>
      <p:ext uri="{BB962C8B-B14F-4D97-AF65-F5344CB8AC3E}">
        <p14:creationId xmlns:p14="http://schemas.microsoft.com/office/powerpoint/2010/main" val="322242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E508C-420E-2702-9076-316F84A3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Schedule()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871E38-9864-9FFE-BA64-F4911519D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Round Robin </a:t>
            </a:r>
            <a:r>
              <a:rPr lang="ko-KR" altLang="en-US"/>
              <a:t>스케쥴링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 sz="2000"/>
              <a:t>ready_list</a:t>
            </a:r>
            <a:r>
              <a:rPr lang="ko-KR" altLang="en-US" sz="2000"/>
              <a:t>의 맨 마지막에 </a:t>
            </a:r>
            <a:r>
              <a:rPr lang="en-US" altLang="ko-KR" sz="2000"/>
              <a:t>yield</a:t>
            </a:r>
            <a:r>
              <a:rPr lang="ko-KR" altLang="en-US" sz="2000"/>
              <a:t>하는 쓰레드를 삽입</a:t>
            </a:r>
            <a:endParaRPr lang="en-US" altLang="ko-KR" sz="2000"/>
          </a:p>
          <a:p>
            <a:r>
              <a:rPr lang="en-US" altLang="ko-KR" sz="2000"/>
              <a:t>Interrupt </a:t>
            </a:r>
            <a:r>
              <a:rPr lang="ko-KR" altLang="en-US" sz="2000"/>
              <a:t>파트에서 보았듯이</a:t>
            </a:r>
            <a:r>
              <a:rPr lang="en-US" altLang="ko-KR" sz="2000"/>
              <a:t>, time slice</a:t>
            </a:r>
            <a:r>
              <a:rPr lang="ko-KR" altLang="en-US" sz="2000"/>
              <a:t>를 벗어날 시</a:t>
            </a:r>
            <a:r>
              <a:rPr lang="en-US" altLang="ko-KR" sz="2000"/>
              <a:t> timer interrupt</a:t>
            </a:r>
            <a:r>
              <a:rPr lang="ko-KR" altLang="en-US" sz="2000"/>
              <a:t>에 의해 자원을 선점당함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따라서</a:t>
            </a:r>
            <a:r>
              <a:rPr lang="en-US" altLang="ko-KR" sz="2000"/>
              <a:t>, RR</a:t>
            </a:r>
            <a:endParaRPr lang="ko-KR" altLang="en-US" sz="2000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68DFEB-0469-8DE0-61A4-D65BA7134FDB}"/>
              </a:ext>
            </a:extLst>
          </p:cNvPr>
          <p:cNvSpPr/>
          <p:nvPr/>
        </p:nvSpPr>
        <p:spPr>
          <a:xfrm>
            <a:off x="579755" y="2286000"/>
            <a:ext cx="8001000" cy="19812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tb thread_yield()          (gdb) c             (gdb) l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306       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307       ASSERT (!intr_context ());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308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309       old_level = intr_disable ();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310       if (cur != idle_thread) 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311         list_push_back (&amp;ready_list, &amp;cur-&gt;elem);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312       cur-&gt;status = THREAD_READY;</a:t>
            </a:r>
          </a:p>
        </p:txBody>
      </p:sp>
    </p:spTree>
    <p:extLst>
      <p:ext uri="{BB962C8B-B14F-4D97-AF65-F5344CB8AC3E}">
        <p14:creationId xmlns:p14="http://schemas.microsoft.com/office/powerpoint/2010/main" val="29159995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226F1-9787-BAF5-0173-19D5CEAF6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메모리 관리 시스템</a:t>
            </a:r>
          </a:p>
        </p:txBody>
      </p:sp>
      <p:sp>
        <p:nvSpPr>
          <p:cNvPr id="6" name="내용 개체 틀 13">
            <a:extLst>
              <a:ext uri="{FF2B5EF4-FFF2-40B4-BE49-F238E27FC236}">
                <a16:creationId xmlns:a16="http://schemas.microsoft.com/office/drawing/2014/main" id="{360B4278-EB8E-C467-E2AD-087AFFBF8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lvl="0" rtl="0"/>
            <a:r>
              <a:rPr lang="en-US" altLang="ko-KR" sz="2000"/>
              <a:t>[</a:t>
            </a:r>
            <a:r>
              <a:rPr lang="ko-KR" altLang="en-US" sz="2000"/>
              <a:t>구조</a:t>
            </a:r>
            <a:r>
              <a:rPr lang="en-US" altLang="ko-KR" sz="2000"/>
              <a:t>] </a:t>
            </a:r>
            <a:r>
              <a:rPr lang="ko-KR" altLang="en-US" sz="2000"/>
              <a:t>두 개의 메모리 풀</a:t>
            </a:r>
            <a:r>
              <a:rPr lang="en-US" altLang="ko-KR" sz="2000"/>
              <a:t>(Memory Pool)</a:t>
            </a:r>
            <a:endParaRPr lang="ko-KR" altLang="en-US" sz="2000"/>
          </a:p>
          <a:p>
            <a:pPr lvl="1" rtl="0"/>
            <a:r>
              <a:rPr lang="en-US" altLang="ko-KR" sz="2000"/>
              <a:t>static pool kernel_pool</a:t>
            </a:r>
          </a:p>
          <a:p>
            <a:pPr lvl="1" rtl="0"/>
            <a:r>
              <a:rPr lang="en-US" altLang="ko-KR" sz="2000"/>
              <a:t>static pool user_pool</a:t>
            </a:r>
          </a:p>
          <a:p>
            <a:pPr lvl="1" rtl="0"/>
            <a:endParaRPr lang="en-US" altLang="ko-KR" sz="2000"/>
          </a:p>
          <a:p>
            <a:pPr lvl="0"/>
            <a:r>
              <a:rPr lang="en-US" altLang="ko-KR" sz="2000"/>
              <a:t>[</a:t>
            </a:r>
            <a:r>
              <a:rPr lang="ko-KR" altLang="en-US" sz="2000"/>
              <a:t>기능</a:t>
            </a:r>
            <a:r>
              <a:rPr lang="en-US" altLang="ko-KR" sz="2000"/>
              <a:t>] </a:t>
            </a:r>
            <a:r>
              <a:rPr lang="ko-KR" altLang="en-US" sz="2000"/>
              <a:t>페이지 할당과 해제 </a:t>
            </a:r>
            <a:r>
              <a:rPr lang="en-US" altLang="ko-KR" sz="2000"/>
              <a:t>: </a:t>
            </a:r>
            <a:r>
              <a:rPr lang="ko-KR" altLang="en-US" sz="2000"/>
              <a:t>연속 페이지 할당 </a:t>
            </a:r>
            <a:r>
              <a:rPr lang="en-US" altLang="ko-KR" sz="2000"/>
              <a:t>+ First Fit</a:t>
            </a:r>
          </a:p>
          <a:p>
            <a:pPr lvl="1"/>
            <a:r>
              <a:rPr lang="en-US" altLang="ko-KR" sz="2000"/>
              <a:t>palloc_get_multiple(void*, size_t)</a:t>
            </a:r>
          </a:p>
          <a:p>
            <a:pPr lvl="1"/>
            <a:r>
              <a:rPr lang="en-US" altLang="ko-KR" sz="2000"/>
              <a:t>palloc_free_multiple(enum palloc_flag, size_t)</a:t>
            </a:r>
          </a:p>
          <a:p>
            <a:pPr lvl="1"/>
            <a:endParaRPr lang="ko-KR" altLang="en-US" sz="2000"/>
          </a:p>
          <a:p>
            <a:pPr marL="342900" lvl="1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406759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605FD-BEB5-5DA0-D6B0-65E1DFD0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Memory Pool </a:t>
            </a:r>
            <a:r>
              <a:rPr lang="ko-KR" altLang="en-US"/>
              <a:t>구조 </a:t>
            </a:r>
            <a:r>
              <a:rPr lang="en-US" altLang="ko-KR"/>
              <a:t>(kernel_pool)</a:t>
            </a:r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B96D431-9A30-E385-FF53-87BBDA5346C6}"/>
              </a:ext>
            </a:extLst>
          </p:cNvPr>
          <p:cNvSpPr/>
          <p:nvPr/>
        </p:nvSpPr>
        <p:spPr>
          <a:xfrm>
            <a:off x="4208608" y="4280769"/>
            <a:ext cx="4346885" cy="821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Consolas" panose="020B0609020204030204" pitchFamily="49" charset="0"/>
              </a:rPr>
              <a:t>Pages to be allocated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48C5EDA-5C93-AEE4-86E3-8601485388DC}"/>
              </a:ext>
            </a:extLst>
          </p:cNvPr>
          <p:cNvSpPr/>
          <p:nvPr/>
        </p:nvSpPr>
        <p:spPr>
          <a:xfrm>
            <a:off x="2677307" y="4280769"/>
            <a:ext cx="1219200" cy="821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Consolas" panose="020B0609020204030204" pitchFamily="49" charset="0"/>
              </a:rPr>
              <a:t>struct</a:t>
            </a:r>
          </a:p>
          <a:p>
            <a:pPr algn="ctr"/>
            <a:r>
              <a:rPr lang="en-US" altLang="ko-KR">
                <a:latin typeface="Consolas" panose="020B0609020204030204" pitchFamily="49" charset="0"/>
              </a:rPr>
              <a:t>bitmap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F0FACFA-2AC7-3228-F9FF-DD17F06F5D4D}"/>
              </a:ext>
            </a:extLst>
          </p:cNvPr>
          <p:cNvSpPr/>
          <p:nvPr/>
        </p:nvSpPr>
        <p:spPr>
          <a:xfrm>
            <a:off x="588507" y="4254932"/>
            <a:ext cx="339365" cy="873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base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6CAB15-B4FD-6C70-2568-A0EE5D0D9B3F}"/>
              </a:ext>
            </a:extLst>
          </p:cNvPr>
          <p:cNvSpPr/>
          <p:nvPr/>
        </p:nvSpPr>
        <p:spPr>
          <a:xfrm>
            <a:off x="927871" y="4254932"/>
            <a:ext cx="339365" cy="873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used_map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624A701-BE4E-788E-D36F-F9C86B96D5BE}"/>
              </a:ext>
            </a:extLst>
          </p:cNvPr>
          <p:cNvSpPr/>
          <p:nvPr/>
        </p:nvSpPr>
        <p:spPr>
          <a:xfrm>
            <a:off x="1267236" y="4254932"/>
            <a:ext cx="339365" cy="873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lock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3E714E-066A-CEFB-259D-74AABF6C2793}"/>
              </a:ext>
            </a:extLst>
          </p:cNvPr>
          <p:cNvSpPr/>
          <p:nvPr/>
        </p:nvSpPr>
        <p:spPr>
          <a:xfrm>
            <a:off x="2653585" y="4254932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1433531-99D9-7D17-955A-23585E3259A3}"/>
              </a:ext>
            </a:extLst>
          </p:cNvPr>
          <p:cNvSpPr/>
          <p:nvPr/>
        </p:nvSpPr>
        <p:spPr>
          <a:xfrm>
            <a:off x="4155270" y="4254932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7CFE700-BC47-13F1-3A5B-8082FB610303}"/>
              </a:ext>
            </a:extLst>
          </p:cNvPr>
          <p:cNvSpPr/>
          <p:nvPr/>
        </p:nvSpPr>
        <p:spPr>
          <a:xfrm>
            <a:off x="5630927" y="4254932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B021856-3C44-B8FF-D09B-436924AD0163}"/>
              </a:ext>
            </a:extLst>
          </p:cNvPr>
          <p:cNvSpPr/>
          <p:nvPr/>
        </p:nvSpPr>
        <p:spPr>
          <a:xfrm>
            <a:off x="7132612" y="4254932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79E2212-C526-E683-6316-50664D01E31F}"/>
              </a:ext>
            </a:extLst>
          </p:cNvPr>
          <p:cNvCxnSpPr>
            <a:cxnSpLocks/>
          </p:cNvCxnSpPr>
          <p:nvPr/>
        </p:nvCxnSpPr>
        <p:spPr>
          <a:xfrm flipH="1">
            <a:off x="4239094" y="5128607"/>
            <a:ext cx="1394" cy="198573"/>
          </a:xfrm>
          <a:prstGeom prst="line">
            <a:avLst/>
          </a:pr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41F879F-38ED-838A-6A17-435CBE267072}"/>
              </a:ext>
            </a:extLst>
          </p:cNvPr>
          <p:cNvCxnSpPr>
            <a:cxnSpLocks/>
          </p:cNvCxnSpPr>
          <p:nvPr/>
        </p:nvCxnSpPr>
        <p:spPr>
          <a:xfrm>
            <a:off x="8611622" y="4254929"/>
            <a:ext cx="0" cy="873672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7C58D93-C5C2-096F-F59A-C9E7620BB2FD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756100" y="5128607"/>
            <a:ext cx="2090" cy="198573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70646F3-061B-738B-2EE0-5E3F9A085171}"/>
              </a:ext>
            </a:extLst>
          </p:cNvPr>
          <p:cNvCxnSpPr>
            <a:cxnSpLocks/>
          </p:cNvCxnSpPr>
          <p:nvPr/>
        </p:nvCxnSpPr>
        <p:spPr>
          <a:xfrm flipH="1">
            <a:off x="756099" y="5327180"/>
            <a:ext cx="34829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4312A76C-C7F3-97DB-BF18-180E49548286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097554" y="5128608"/>
            <a:ext cx="0" cy="42298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7CEA5A0-818D-56A1-7FE4-322BB59FD451}"/>
              </a:ext>
            </a:extLst>
          </p:cNvPr>
          <p:cNvCxnSpPr>
            <a:cxnSpLocks/>
          </p:cNvCxnSpPr>
          <p:nvPr/>
        </p:nvCxnSpPr>
        <p:spPr>
          <a:xfrm flipH="1">
            <a:off x="1097554" y="5551589"/>
            <a:ext cx="16768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79C1DF3-63BA-F09E-7B64-AA2A371D90BF}"/>
              </a:ext>
            </a:extLst>
          </p:cNvPr>
          <p:cNvCxnSpPr>
            <a:cxnSpLocks/>
          </p:cNvCxnSpPr>
          <p:nvPr/>
        </p:nvCxnSpPr>
        <p:spPr>
          <a:xfrm>
            <a:off x="2774376" y="5128601"/>
            <a:ext cx="0" cy="422988"/>
          </a:xfrm>
          <a:prstGeom prst="line">
            <a:avLst/>
          </a:pr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8B09D04-3DC2-8AD7-C25A-9408DB670E18}"/>
              </a:ext>
            </a:extLst>
          </p:cNvPr>
          <p:cNvCxnSpPr>
            <a:cxnSpLocks/>
          </p:cNvCxnSpPr>
          <p:nvPr/>
        </p:nvCxnSpPr>
        <p:spPr>
          <a:xfrm flipH="1" flipV="1">
            <a:off x="2203202" y="3589439"/>
            <a:ext cx="474105" cy="6913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A9FF4D18-99BE-5072-F73B-A36300B84522}"/>
              </a:ext>
            </a:extLst>
          </p:cNvPr>
          <p:cNvCxnSpPr>
            <a:cxnSpLocks/>
          </p:cNvCxnSpPr>
          <p:nvPr/>
        </p:nvCxnSpPr>
        <p:spPr>
          <a:xfrm flipV="1">
            <a:off x="3896507" y="3589435"/>
            <a:ext cx="401809" cy="691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BA6D079-08F4-A04A-9C8C-860643A2E731}"/>
              </a:ext>
            </a:extLst>
          </p:cNvPr>
          <p:cNvSpPr/>
          <p:nvPr/>
        </p:nvSpPr>
        <p:spPr>
          <a:xfrm>
            <a:off x="2203201" y="2722546"/>
            <a:ext cx="339365" cy="873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bit_cnt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7AC18B2-B8E9-5B67-B38F-21F96AB35074}"/>
              </a:ext>
            </a:extLst>
          </p:cNvPr>
          <p:cNvSpPr/>
          <p:nvPr/>
        </p:nvSpPr>
        <p:spPr>
          <a:xfrm>
            <a:off x="2544025" y="2722545"/>
            <a:ext cx="339365" cy="873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bits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47082CB-883F-9375-581D-07748DAACDD0}"/>
              </a:ext>
            </a:extLst>
          </p:cNvPr>
          <p:cNvSpPr/>
          <p:nvPr/>
        </p:nvSpPr>
        <p:spPr>
          <a:xfrm>
            <a:off x="2881975" y="2722545"/>
            <a:ext cx="1416338" cy="873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00000000</a:t>
            </a:r>
          </a:p>
          <a:p>
            <a:pPr algn="ctr"/>
            <a:r>
              <a:rPr lang="en-US" altLang="ko-KR" sz="1200">
                <a:latin typeface="Consolas" panose="020B0609020204030204" pitchFamily="49" charset="0"/>
              </a:rPr>
              <a:t>00001000</a:t>
            </a:r>
          </a:p>
          <a:p>
            <a:pPr algn="ctr"/>
            <a:r>
              <a:rPr lang="en-US" altLang="ko-KR" sz="1200">
                <a:latin typeface="Consolas" panose="020B0609020204030204" pitchFamily="49" charset="0"/>
              </a:rPr>
              <a:t>01000100</a:t>
            </a:r>
          </a:p>
          <a:p>
            <a:pPr algn="ctr"/>
            <a:r>
              <a:rPr lang="en-US" altLang="ko-KR" sz="1200">
                <a:latin typeface="Consolas" panose="020B0609020204030204" pitchFamily="49" charset="0"/>
              </a:rPr>
              <a:t>...</a:t>
            </a:r>
          </a:p>
          <a:p>
            <a:pPr algn="ctr"/>
            <a:r>
              <a:rPr lang="en-US" altLang="ko-KR" sz="1200">
                <a:latin typeface="Consolas" panose="020B0609020204030204" pitchFamily="49" charset="0"/>
              </a:rPr>
              <a:t>00011001</a:t>
            </a:r>
            <a:endParaRPr lang="ko-KR" altLang="en-US" sz="1200">
              <a:latin typeface="Consolas" panose="020B0609020204030204" pitchFamily="49" charset="0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61C8A77B-C12D-8F26-2E0E-87E26CAE8E80}"/>
              </a:ext>
            </a:extLst>
          </p:cNvPr>
          <p:cNvCxnSpPr>
            <a:cxnSpLocks/>
          </p:cNvCxnSpPr>
          <p:nvPr/>
        </p:nvCxnSpPr>
        <p:spPr>
          <a:xfrm flipV="1">
            <a:off x="2707130" y="2442152"/>
            <a:ext cx="0" cy="280394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8EF0ACED-4925-87DA-7AE8-B9B9E2C96245}"/>
              </a:ext>
            </a:extLst>
          </p:cNvPr>
          <p:cNvCxnSpPr>
            <a:cxnSpLocks/>
          </p:cNvCxnSpPr>
          <p:nvPr/>
        </p:nvCxnSpPr>
        <p:spPr>
          <a:xfrm flipH="1">
            <a:off x="2707129" y="2442152"/>
            <a:ext cx="3314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A672BE38-A90E-95DA-DD55-2A11021C0995}"/>
              </a:ext>
            </a:extLst>
          </p:cNvPr>
          <p:cNvCxnSpPr>
            <a:cxnSpLocks/>
          </p:cNvCxnSpPr>
          <p:nvPr/>
        </p:nvCxnSpPr>
        <p:spPr>
          <a:xfrm flipV="1">
            <a:off x="3038544" y="2442152"/>
            <a:ext cx="0" cy="280394"/>
          </a:xfrm>
          <a:prstGeom prst="line">
            <a:avLst/>
          </a:pr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오른쪽 중괄호 118">
            <a:extLst>
              <a:ext uri="{FF2B5EF4-FFF2-40B4-BE49-F238E27FC236}">
                <a16:creationId xmlns:a16="http://schemas.microsoft.com/office/drawing/2014/main" id="{6D960494-8A86-B017-3389-C7487794BA7A}"/>
              </a:ext>
            </a:extLst>
          </p:cNvPr>
          <p:cNvSpPr/>
          <p:nvPr/>
        </p:nvSpPr>
        <p:spPr>
          <a:xfrm rot="5400000">
            <a:off x="7399447" y="4973511"/>
            <a:ext cx="217170" cy="75084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9D72386-EB01-6499-3F92-74278CC69FE9}"/>
              </a:ext>
            </a:extLst>
          </p:cNvPr>
          <p:cNvSpPr txBox="1"/>
          <p:nvPr/>
        </p:nvSpPr>
        <p:spPr>
          <a:xfrm>
            <a:off x="6879494" y="5457517"/>
            <a:ext cx="125707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A page</a:t>
            </a:r>
          </a:p>
          <a:p>
            <a:pPr algn="ctr"/>
            <a:r>
              <a:rPr lang="en-US" altLang="ko-KR" sz="1200">
                <a:latin typeface="Consolas" panose="020B0609020204030204" pitchFamily="49" charset="0"/>
              </a:rPr>
              <a:t>(</a:t>
            </a:r>
            <a:r>
              <a:rPr lang="ko-KR" altLang="en-US" sz="1200">
                <a:latin typeface="Consolas" panose="020B0609020204030204" pitchFamily="49" charset="0"/>
              </a:rPr>
              <a:t>크기</a:t>
            </a:r>
            <a:r>
              <a:rPr lang="en-US" altLang="ko-KR" sz="1200">
                <a:latin typeface="Consolas" panose="020B0609020204030204" pitchFamily="49" charset="0"/>
              </a:rPr>
              <a:t>=PGSIZE)</a:t>
            </a:r>
            <a:endParaRPr lang="ko-KR" altLang="en-US" sz="1200" dirty="0" err="1">
              <a:latin typeface="Consolas" panose="020B0609020204030204" pitchFamily="49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894A891-6D35-FD76-D9E5-BE8B6E5A2E56}"/>
              </a:ext>
            </a:extLst>
          </p:cNvPr>
          <p:cNvSpPr txBox="1"/>
          <p:nvPr/>
        </p:nvSpPr>
        <p:spPr>
          <a:xfrm rot="5400000">
            <a:off x="2224946" y="5413089"/>
            <a:ext cx="86433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0x100000</a:t>
            </a:r>
            <a:endParaRPr lang="ko-KR" altLang="en-US" sz="1200" dirty="0" err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7C4CFB5-4009-E66E-8132-A51FC70EE66E}"/>
              </a:ext>
            </a:extLst>
          </p:cNvPr>
          <p:cNvSpPr txBox="1"/>
          <p:nvPr/>
        </p:nvSpPr>
        <p:spPr>
          <a:xfrm rot="5400000">
            <a:off x="136672" y="5210432"/>
            <a:ext cx="43954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Consolas" panose="020B0609020204030204" pitchFamily="49" charset="0"/>
              </a:rPr>
              <a:t>0x0</a:t>
            </a:r>
            <a:endParaRPr lang="ko-KR" altLang="en-US" sz="1200" dirty="0" err="1">
              <a:latin typeface="Consolas" panose="020B0609020204030204" pitchFamily="49" charset="0"/>
            </a:endParaRPr>
          </a:p>
        </p:txBody>
      </p:sp>
      <p:sp>
        <p:nvSpPr>
          <p:cNvPr id="125" name="내용 개체 틀 13">
            <a:extLst>
              <a:ext uri="{FF2B5EF4-FFF2-40B4-BE49-F238E27FC236}">
                <a16:creationId xmlns:a16="http://schemas.microsoft.com/office/drawing/2014/main" id="{8A2E292F-052E-5473-5D92-347DBFAF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0650" y="2379264"/>
            <a:ext cx="4439572" cy="2091517"/>
          </a:xfrm>
        </p:spPr>
        <p:txBody>
          <a:bodyPr rtlCol="0"/>
          <a:lstStyle/>
          <a:p>
            <a:pPr lvl="1" rtl="0"/>
            <a:r>
              <a:rPr lang="en-US" altLang="ko-KR" sz="1500">
                <a:latin typeface="Consolas" panose="020B0609020204030204" pitchFamily="49" charset="0"/>
              </a:rPr>
              <a:t>bitmap</a:t>
            </a:r>
            <a:r>
              <a:rPr lang="ko-KR" altLang="en-US" sz="1500">
                <a:latin typeface="Consolas" panose="020B0609020204030204" pitchFamily="49" charset="0"/>
              </a:rPr>
              <a:t>의 </a:t>
            </a:r>
            <a:r>
              <a:rPr lang="en-US" altLang="ko-KR" sz="1500">
                <a:latin typeface="Consolas" panose="020B0609020204030204" pitchFamily="49" charset="0"/>
              </a:rPr>
              <a:t>i</a:t>
            </a:r>
            <a:r>
              <a:rPr lang="ko-KR" altLang="en-US" sz="1500">
                <a:latin typeface="Consolas" panose="020B0609020204030204" pitchFamily="49" charset="0"/>
              </a:rPr>
              <a:t>번째 비트는</a:t>
            </a:r>
            <a:r>
              <a:rPr lang="en-US" altLang="ko-KR" sz="1500">
                <a:latin typeface="Consolas" panose="020B0609020204030204" pitchFamily="49" charset="0"/>
              </a:rPr>
              <a:t>‘pages to be allocated’</a:t>
            </a:r>
            <a:r>
              <a:rPr lang="ko-KR" altLang="en-US" sz="1500">
                <a:latin typeface="Consolas" panose="020B0609020204030204" pitchFamily="49" charset="0"/>
              </a:rPr>
              <a:t>의 </a:t>
            </a:r>
            <a:r>
              <a:rPr lang="en-US" altLang="ko-KR" sz="1500">
                <a:latin typeface="Consolas" panose="020B0609020204030204" pitchFamily="49" charset="0"/>
              </a:rPr>
              <a:t>i</a:t>
            </a:r>
            <a:r>
              <a:rPr lang="ko-KR" altLang="en-US" sz="1500">
                <a:latin typeface="Consolas" panose="020B0609020204030204" pitchFamily="49" charset="0"/>
              </a:rPr>
              <a:t>번째 페이지가 할당되어있다면 </a:t>
            </a:r>
            <a:r>
              <a:rPr lang="en-US" altLang="ko-KR" sz="1500">
                <a:latin typeface="Consolas" panose="020B0609020204030204" pitchFamily="49" charset="0"/>
              </a:rPr>
              <a:t>1, </a:t>
            </a:r>
            <a:r>
              <a:rPr lang="ko-KR" altLang="en-US" sz="1500">
                <a:latin typeface="Consolas" panose="020B0609020204030204" pitchFamily="49" charset="0"/>
              </a:rPr>
              <a:t>아니면 </a:t>
            </a:r>
            <a:r>
              <a:rPr lang="en-US" altLang="ko-KR" sz="1500">
                <a:latin typeface="Consolas" panose="020B0609020204030204" pitchFamily="49" charset="0"/>
              </a:rPr>
              <a:t>0</a:t>
            </a:r>
            <a:r>
              <a:rPr lang="ko-KR" altLang="en-US" sz="1500">
                <a:latin typeface="Consolas" panose="020B0609020204030204" pitchFamily="49" charset="0"/>
              </a:rPr>
              <a:t>이다</a:t>
            </a:r>
            <a:r>
              <a:rPr lang="en-US" altLang="ko-KR" sz="1500">
                <a:latin typeface="Consolas" panose="020B0609020204030204" pitchFamily="49" charset="0"/>
              </a:rPr>
              <a:t>.</a:t>
            </a:r>
          </a:p>
          <a:p>
            <a:pPr lvl="1" rtl="0"/>
            <a:r>
              <a:rPr lang="ko-KR" altLang="en-US" sz="1500" i="1">
                <a:latin typeface="Consolas" panose="020B0609020204030204" pitchFamily="49" charset="0"/>
              </a:rPr>
              <a:t>주의 </a:t>
            </a:r>
            <a:r>
              <a:rPr lang="en-US" altLang="ko-KR" sz="1500" i="1">
                <a:latin typeface="Consolas" panose="020B0609020204030204" pitchFamily="49" charset="0"/>
              </a:rPr>
              <a:t>: </a:t>
            </a:r>
            <a:r>
              <a:rPr lang="ko-KR" altLang="en-US" sz="1500" i="1">
                <a:latin typeface="Consolas" panose="020B0609020204030204" pitchFamily="49" charset="0"/>
              </a:rPr>
              <a:t>각 영역이 차지하는 페이지 수는 그림과 다를 수 있다</a:t>
            </a:r>
            <a:r>
              <a:rPr lang="en-US" altLang="ko-KR" sz="1500" i="1">
                <a:latin typeface="Consolas" panose="020B0609020204030204" pitchFamily="49" charset="0"/>
              </a:rPr>
              <a:t>.</a:t>
            </a:r>
            <a:endParaRPr lang="en-US" altLang="ko-KR" i="1"/>
          </a:p>
          <a:p>
            <a:pPr marL="342900" lvl="1" indent="0">
              <a:buNone/>
            </a:pPr>
            <a:endParaRPr lang="ko-KR" altLang="en-US"/>
          </a:p>
        </p:txBody>
      </p:sp>
      <p:sp>
        <p:nvSpPr>
          <p:cNvPr id="126" name="오른쪽 중괄호 125">
            <a:extLst>
              <a:ext uri="{FF2B5EF4-FFF2-40B4-BE49-F238E27FC236}">
                <a16:creationId xmlns:a16="http://schemas.microsoft.com/office/drawing/2014/main" id="{8B8EE9E9-71A9-DF5E-B752-AD32712FA040}"/>
              </a:ext>
            </a:extLst>
          </p:cNvPr>
          <p:cNvSpPr/>
          <p:nvPr/>
        </p:nvSpPr>
        <p:spPr>
          <a:xfrm rot="16200000">
            <a:off x="996123" y="3540164"/>
            <a:ext cx="202865" cy="101809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3D8E63E-8063-F085-AD80-EDCE074A4D65}"/>
              </a:ext>
            </a:extLst>
          </p:cNvPr>
          <p:cNvSpPr txBox="1"/>
          <p:nvPr/>
        </p:nvSpPr>
        <p:spPr>
          <a:xfrm>
            <a:off x="341592" y="3441280"/>
            <a:ext cx="146892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Consolas" panose="020B0609020204030204" pitchFamily="49" charset="0"/>
              </a:rPr>
              <a:t>struct pool</a:t>
            </a:r>
          </a:p>
          <a:p>
            <a:pPr algn="ctr"/>
            <a:r>
              <a:rPr lang="en-US" altLang="ko-KR" sz="1200">
                <a:latin typeface="Consolas" panose="020B0609020204030204" pitchFamily="49" charset="0"/>
              </a:rPr>
              <a:t>   </a:t>
            </a:r>
            <a:r>
              <a:rPr lang="en-US" altLang="ko-KR" sz="1200">
                <a:solidFill>
                  <a:srgbClr val="FF0000"/>
                </a:solidFill>
                <a:latin typeface="Consolas" panose="020B0609020204030204" pitchFamily="49" charset="0"/>
              </a:rPr>
              <a:t>kernel_pool</a:t>
            </a:r>
            <a:endParaRPr lang="ko-KR" altLang="en-US" sz="1200" dirty="0" err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C35968-CE82-5DE9-D23D-5452115CF7EA}"/>
              </a:ext>
            </a:extLst>
          </p:cNvPr>
          <p:cNvSpPr txBox="1"/>
          <p:nvPr/>
        </p:nvSpPr>
        <p:spPr>
          <a:xfrm>
            <a:off x="6074721" y="3886348"/>
            <a:ext cx="2765501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&lt;physical memory space&gt;</a:t>
            </a:r>
            <a:endParaRPr lang="ko-KR" altLang="en-US" sz="16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28F7A30-2417-3F42-A488-E498DC757B96}"/>
              </a:ext>
            </a:extLst>
          </p:cNvPr>
          <p:cNvCxnSpPr>
            <a:cxnSpLocks/>
          </p:cNvCxnSpPr>
          <p:nvPr/>
        </p:nvCxnSpPr>
        <p:spPr>
          <a:xfrm>
            <a:off x="363679" y="4254932"/>
            <a:ext cx="8476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2F6B3E3-B35E-E5CA-61CE-EF719FB7E194}"/>
              </a:ext>
            </a:extLst>
          </p:cNvPr>
          <p:cNvCxnSpPr>
            <a:cxnSpLocks/>
          </p:cNvCxnSpPr>
          <p:nvPr/>
        </p:nvCxnSpPr>
        <p:spPr>
          <a:xfrm>
            <a:off x="363679" y="5128612"/>
            <a:ext cx="8476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43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B8A3-849C-23E3-DFC9-B74B2796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CFEB960-CBBB-3B0E-6E3C-93B1501F657A}"/>
              </a:ext>
            </a:extLst>
          </p:cNvPr>
          <p:cNvSpPr/>
          <p:nvPr/>
        </p:nvSpPr>
        <p:spPr>
          <a:xfrm>
            <a:off x="758953" y="2492079"/>
            <a:ext cx="671852" cy="87367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>
                <a:latin typeface="Consolas" panose="020B0609020204030204" pitchFamily="49" charset="0"/>
              </a:rPr>
              <a:t>user</a:t>
            </a:r>
          </a:p>
          <a:p>
            <a:pPr algn="ctr"/>
            <a:r>
              <a:rPr lang="en-US" altLang="ko-KR">
                <a:latin typeface="Consolas" panose="020B0609020204030204" pitchFamily="49" charset="0"/>
              </a:rPr>
              <a:t>_pool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0" name="내용 개체 틀 2">
            <a:extLst>
              <a:ext uri="{FF2B5EF4-FFF2-40B4-BE49-F238E27FC236}">
                <a16:creationId xmlns:a16="http://schemas.microsoft.com/office/drawing/2014/main" id="{C76A004F-6E98-89F5-3BFF-10FB8084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13610"/>
            <a:ext cx="7886700" cy="371335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user_pool</a:t>
            </a:r>
            <a:r>
              <a:rPr lang="ko-KR" altLang="en-US"/>
              <a:t>도 </a:t>
            </a:r>
            <a:r>
              <a:rPr lang="en-US" altLang="ko-KR"/>
              <a:t>kernel_pool</a:t>
            </a:r>
            <a:r>
              <a:rPr lang="ko-KR" altLang="en-US"/>
              <a:t>과 그 구조가 동일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DECE45-C942-084E-CA24-70F848F357CD}"/>
              </a:ext>
            </a:extLst>
          </p:cNvPr>
          <p:cNvSpPr/>
          <p:nvPr/>
        </p:nvSpPr>
        <p:spPr>
          <a:xfrm>
            <a:off x="5742541" y="2526170"/>
            <a:ext cx="2901329" cy="8219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Consolas" panose="020B0609020204030204" pitchFamily="49" charset="0"/>
              </a:rPr>
              <a:t>Pages for user</a:t>
            </a:r>
          </a:p>
          <a:p>
            <a:pPr algn="ctr"/>
            <a:r>
              <a:rPr lang="en-US" altLang="ko-KR">
                <a:latin typeface="Consolas" panose="020B0609020204030204" pitchFamily="49" charset="0"/>
              </a:rPr>
              <a:t>+ bitmap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B0FE96-495E-15FD-8199-5295C666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Memory Pool </a:t>
            </a:r>
            <a:r>
              <a:rPr lang="ko-KR" altLang="en-US"/>
              <a:t>구조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4AD193C-1A19-FE8E-BEEB-A6A886B11AE5}"/>
              </a:ext>
            </a:extLst>
          </p:cNvPr>
          <p:cNvCxnSpPr>
            <a:cxnSpLocks/>
          </p:cNvCxnSpPr>
          <p:nvPr/>
        </p:nvCxnSpPr>
        <p:spPr>
          <a:xfrm>
            <a:off x="449266" y="2500676"/>
            <a:ext cx="8476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568DA60-A384-6379-ED06-21538CCA5E00}"/>
              </a:ext>
            </a:extLst>
          </p:cNvPr>
          <p:cNvCxnSpPr>
            <a:cxnSpLocks/>
          </p:cNvCxnSpPr>
          <p:nvPr/>
        </p:nvCxnSpPr>
        <p:spPr>
          <a:xfrm>
            <a:off x="449266" y="3374357"/>
            <a:ext cx="84765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81BFD3-FA54-41E0-F421-0696B837F51F}"/>
              </a:ext>
            </a:extLst>
          </p:cNvPr>
          <p:cNvSpPr/>
          <p:nvPr/>
        </p:nvSpPr>
        <p:spPr>
          <a:xfrm>
            <a:off x="2764165" y="2526170"/>
            <a:ext cx="2901329" cy="821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Consolas" panose="020B0609020204030204" pitchFamily="49" charset="0"/>
              </a:rPr>
              <a:t>Pages for kernel</a:t>
            </a:r>
          </a:p>
          <a:p>
            <a:pPr algn="ctr"/>
            <a:r>
              <a:rPr lang="en-US" altLang="ko-KR">
                <a:latin typeface="Consolas" panose="020B0609020204030204" pitchFamily="49" charset="0"/>
              </a:rPr>
              <a:t>+ bitmap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615094-1848-5193-2F54-7D4E632BA6C8}"/>
              </a:ext>
            </a:extLst>
          </p:cNvPr>
          <p:cNvSpPr/>
          <p:nvPr/>
        </p:nvSpPr>
        <p:spPr>
          <a:xfrm>
            <a:off x="1438237" y="2492079"/>
            <a:ext cx="671852" cy="873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ko-KR">
                <a:latin typeface="Consolas" panose="020B0609020204030204" pitchFamily="49" charset="0"/>
              </a:rPr>
              <a:t>kernel</a:t>
            </a:r>
          </a:p>
          <a:p>
            <a:pPr algn="ctr"/>
            <a:r>
              <a:rPr lang="en-US" altLang="ko-KR">
                <a:latin typeface="Consolas" panose="020B0609020204030204" pitchFamily="49" charset="0"/>
              </a:rPr>
              <a:t>_pool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B8F4B6-6412-4C85-9EBC-1D2F82E1C72A}"/>
              </a:ext>
            </a:extLst>
          </p:cNvPr>
          <p:cNvSpPr/>
          <p:nvPr/>
        </p:nvSpPr>
        <p:spPr>
          <a:xfrm>
            <a:off x="2739172" y="2500677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DA1725-1772-E44E-A3E0-5226129B3056}"/>
              </a:ext>
            </a:extLst>
          </p:cNvPr>
          <p:cNvSpPr/>
          <p:nvPr/>
        </p:nvSpPr>
        <p:spPr>
          <a:xfrm>
            <a:off x="4240857" y="2500677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EA0EF-472A-555B-54EF-55565AF5522E}"/>
              </a:ext>
            </a:extLst>
          </p:cNvPr>
          <p:cNvSpPr/>
          <p:nvPr/>
        </p:nvSpPr>
        <p:spPr>
          <a:xfrm>
            <a:off x="5716514" y="2500677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D6BEF5-6F78-899C-09EE-C58C4C71F17D}"/>
              </a:ext>
            </a:extLst>
          </p:cNvPr>
          <p:cNvSpPr/>
          <p:nvPr/>
        </p:nvSpPr>
        <p:spPr>
          <a:xfrm>
            <a:off x="7218199" y="2500677"/>
            <a:ext cx="750842" cy="87367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DBE03AA-338D-BD83-6440-29CF9A8F5557}"/>
              </a:ext>
            </a:extLst>
          </p:cNvPr>
          <p:cNvCxnSpPr>
            <a:cxnSpLocks/>
          </p:cNvCxnSpPr>
          <p:nvPr/>
        </p:nvCxnSpPr>
        <p:spPr>
          <a:xfrm>
            <a:off x="8697209" y="2500674"/>
            <a:ext cx="0" cy="873672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F194007-75D6-41EA-CCCB-8DE4DFAA606B}"/>
              </a:ext>
            </a:extLst>
          </p:cNvPr>
          <p:cNvSpPr txBox="1"/>
          <p:nvPr/>
        </p:nvSpPr>
        <p:spPr>
          <a:xfrm rot="5400000">
            <a:off x="159742" y="3410010"/>
            <a:ext cx="56457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0x0</a:t>
            </a:r>
            <a:endParaRPr lang="ko-KR" altLang="en-US" dirty="0" err="1">
              <a:latin typeface="Consolas" panose="020B0609020204030204" pitchFamily="49" charset="0"/>
            </a:endParaRPr>
          </a:p>
        </p:txBody>
      </p:sp>
      <p:sp>
        <p:nvSpPr>
          <p:cNvPr id="31" name="화살표: 위로 구부러짐 30">
            <a:extLst>
              <a:ext uri="{FF2B5EF4-FFF2-40B4-BE49-F238E27FC236}">
                <a16:creationId xmlns:a16="http://schemas.microsoft.com/office/drawing/2014/main" id="{87C584A2-A911-6A23-3F40-7FD1AC1E56FC}"/>
              </a:ext>
            </a:extLst>
          </p:cNvPr>
          <p:cNvSpPr/>
          <p:nvPr/>
        </p:nvSpPr>
        <p:spPr>
          <a:xfrm>
            <a:off x="1707356" y="3486091"/>
            <a:ext cx="2533500" cy="872484"/>
          </a:xfrm>
          <a:prstGeom prst="curvedUpArrow">
            <a:avLst>
              <a:gd name="adj1" fmla="val 21227"/>
              <a:gd name="adj2" fmla="val 51376"/>
              <a:gd name="adj3" fmla="val 2272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위로 구부러짐 31">
            <a:extLst>
              <a:ext uri="{FF2B5EF4-FFF2-40B4-BE49-F238E27FC236}">
                <a16:creationId xmlns:a16="http://schemas.microsoft.com/office/drawing/2014/main" id="{A92AC1FE-2CC1-199D-70B4-460134571F84}"/>
              </a:ext>
            </a:extLst>
          </p:cNvPr>
          <p:cNvSpPr/>
          <p:nvPr/>
        </p:nvSpPr>
        <p:spPr>
          <a:xfrm>
            <a:off x="889660" y="3486090"/>
            <a:ext cx="6467354" cy="1314507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1CFC7A-DCD0-7474-5ABA-B8DE98F3F4D5}"/>
              </a:ext>
            </a:extLst>
          </p:cNvPr>
          <p:cNvSpPr txBox="1"/>
          <p:nvPr/>
        </p:nvSpPr>
        <p:spPr>
          <a:xfrm rot="5400000">
            <a:off x="2150271" y="3840915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0x100000</a:t>
            </a:r>
            <a:endParaRPr lang="ko-KR" altLang="en-US" dirty="0" err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23093D-0CAB-48FA-D07C-6478F29F3CFC}"/>
              </a:ext>
            </a:extLst>
          </p:cNvPr>
          <p:cNvSpPr txBox="1"/>
          <p:nvPr/>
        </p:nvSpPr>
        <p:spPr>
          <a:xfrm>
            <a:off x="5808352" y="2118245"/>
            <a:ext cx="309732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&lt;physical memory space&gt;</a:t>
            </a:r>
            <a:endParaRPr lang="ko-KR" altLang="en-US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5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ED522-799F-B325-788E-F9133097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80x86 Protect Mode</a:t>
            </a:r>
            <a:r>
              <a:rPr lang="ko-KR" altLang="en-US"/>
              <a:t>에서 가상주소공간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6ABEF-B660-5340-7698-1BB587E8B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13610"/>
            <a:ext cx="7886700" cy="4187190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/>
              <a:t>Pintos </a:t>
            </a:r>
            <a:r>
              <a:rPr lang="ko-KR" altLang="en-US"/>
              <a:t>문서 </a:t>
            </a:r>
            <a:r>
              <a:rPr lang="en-US" altLang="ko-KR"/>
              <a:t>p59, A.1.2. Low</a:t>
            </a:r>
            <a:r>
              <a:rPr lang="ko-KR" altLang="en-US"/>
              <a:t> </a:t>
            </a:r>
            <a:r>
              <a:rPr lang="en-US" altLang="ko-KR"/>
              <a:t>Level</a:t>
            </a:r>
            <a:r>
              <a:rPr lang="ko-KR" altLang="en-US"/>
              <a:t> </a:t>
            </a:r>
            <a:r>
              <a:rPr lang="en-US" altLang="ko-KR"/>
              <a:t>Kernel Initialization </a:t>
            </a:r>
            <a:r>
              <a:rPr lang="ko-KR" altLang="en-US"/>
              <a:t>中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Pintos </a:t>
            </a:r>
            <a:r>
              <a:rPr lang="ko-KR" altLang="en-US"/>
              <a:t>부팅 이후로 우리가 사용하는 모든 주소공간는 </a:t>
            </a:r>
            <a:r>
              <a:rPr lang="en-US" altLang="ko-KR"/>
              <a:t>Protect mode</a:t>
            </a:r>
            <a:r>
              <a:rPr lang="ko-KR" altLang="en-US"/>
              <a:t>에서의 가상주소공간이다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944FFB-CBF8-FA92-9028-CA6C990F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999" y="2819400"/>
            <a:ext cx="5898001" cy="14208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C1F0D-433F-AF14-FFEB-72F825F9A38F}"/>
              </a:ext>
            </a:extLst>
          </p:cNvPr>
          <p:cNvSpPr txBox="1"/>
          <p:nvPr/>
        </p:nvSpPr>
        <p:spPr>
          <a:xfrm>
            <a:off x="990600" y="4462871"/>
            <a:ext cx="779525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Virtual Address = </a:t>
            </a:r>
          </a:p>
          <a:p>
            <a:r>
              <a:rPr lang="en-US" altLang="ko-KR" sz="2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   Physical Address + LOADER_PHYS_BASE</a:t>
            </a:r>
            <a:endParaRPr lang="ko-KR" altLang="en-US" sz="21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04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E2D9-915B-5FD4-E606-DB1562FC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98E8F00-B8B6-2942-F965-7B5F301B7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13610"/>
            <a:ext cx="7886700" cy="37133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r>
              <a:rPr lang="en-US" altLang="ko-KR" sz="1800"/>
              <a:t>Protect Mode</a:t>
            </a:r>
            <a:r>
              <a:rPr lang="ko-KR" altLang="en-US" sz="1800"/>
              <a:t>에서는 가상주소공간을 사용하기 때문에</a:t>
            </a:r>
            <a:r>
              <a:rPr lang="en-US" altLang="ko-KR" sz="1800"/>
              <a:t>, </a:t>
            </a:r>
            <a:r>
              <a:rPr lang="ko-KR" altLang="en-US" sz="1800"/>
              <a:t>실제주소에 접근하기 위해서는 대응하는 가상주소를 사용</a:t>
            </a:r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ko-KR" altLang="en-US" sz="1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248FDB-5FE6-FD5A-EAC2-291AFFA8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80x86 Protect Mode</a:t>
            </a:r>
            <a:r>
              <a:rPr lang="ko-KR" altLang="en-US"/>
              <a:t>에서 물리주소 접근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55172A-CBA6-A7A9-3DDA-CEDCF7FB6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765" y="2004721"/>
            <a:ext cx="6229350" cy="5929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7D9E595-5E61-DF69-2D5B-6B955F72CC5B}"/>
              </a:ext>
            </a:extLst>
          </p:cNvPr>
          <p:cNvSpPr/>
          <p:nvPr/>
        </p:nvSpPr>
        <p:spPr>
          <a:xfrm>
            <a:off x="1374104" y="3983378"/>
            <a:ext cx="6324672" cy="19740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49        uint8_t *free_start = ptov (1024 * 1024);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n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p /x 1024*1024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$1 = 0x100000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p /x free_start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$2 = 0xc0100000 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p /x $2 - $1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$3 = 0xc0000000            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# == PHYS_BASE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5165C-0A3A-30A0-7FB1-5F2B85D217B1}"/>
              </a:ext>
            </a:extLst>
          </p:cNvPr>
          <p:cNvSpPr txBox="1"/>
          <p:nvPr/>
        </p:nvSpPr>
        <p:spPr>
          <a:xfrm>
            <a:off x="2161683" y="3644824"/>
            <a:ext cx="5537093" cy="3385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/>
              <a:t>Breakpoint 2, palloc_init at </a:t>
            </a:r>
            <a:r>
              <a:rPr lang="en-US" altLang="ko-KR" sz="16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../../threads/palloc.c:47</a:t>
            </a:r>
            <a:endParaRPr lang="ko-KR" altLang="en-US" sz="1600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485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DEE8-FF7A-E802-0F79-5B76B88F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E75A915F-5804-151C-FDA0-2DC00473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메모리 관리 시스템 구조 확인 </a:t>
            </a:r>
            <a:r>
              <a:rPr lang="en-US" altLang="ko-KR"/>
              <a:t>(gdb)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AA9D57-1D40-BE64-9DCD-7068CE36A3E1}"/>
              </a:ext>
            </a:extLst>
          </p:cNvPr>
          <p:cNvSpPr/>
          <p:nvPr/>
        </p:nvSpPr>
        <p:spPr>
          <a:xfrm>
            <a:off x="1447800" y="2903359"/>
            <a:ext cx="6495133" cy="30898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(gdb) info variables pool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All variables matching regular expression "pool":</a:t>
            </a:r>
          </a:p>
          <a:p>
            <a:endParaRPr lang="en-US" altLang="ko-KR" sz="15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File ../../threads/palloc.c: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37:     static struct pool kernel_pool;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37:     static struct pool user_pool;</a:t>
            </a:r>
          </a:p>
          <a:p>
            <a:endParaRPr lang="en-US" altLang="ko-KR" sz="1500">
              <a:latin typeface="Consolas" panose="020B0609020204030204" pitchFamily="49" charset="0"/>
            </a:endParaRPr>
          </a:p>
          <a:p>
            <a:r>
              <a:rPr lang="en-US" altLang="ko-KR" sz="1500">
                <a:latin typeface="Consolas" panose="020B0609020204030204" pitchFamily="49" charset="0"/>
              </a:rPr>
              <a:t>(gdb) ptype kernel_pool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type = struct pool {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    struct lock lock;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    struct bitmap *used_map;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    uint8_t *base;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내용 개체 틀 13">
            <a:extLst>
              <a:ext uri="{FF2B5EF4-FFF2-40B4-BE49-F238E27FC236}">
                <a16:creationId xmlns:a16="http://schemas.microsoft.com/office/drawing/2014/main" id="{CA481F0B-2470-F503-FC44-2380F02B6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25266"/>
            <a:ext cx="7886700" cy="3263504"/>
          </a:xfrm>
        </p:spPr>
        <p:txBody>
          <a:bodyPr rtlCol="0"/>
          <a:lstStyle/>
          <a:p>
            <a:pPr lvl="0" rtl="0"/>
            <a:r>
              <a:rPr lang="en-US" altLang="ko-KR"/>
              <a:t>Kernel_pool</a:t>
            </a:r>
            <a:r>
              <a:rPr lang="ko-KR" altLang="en-US"/>
              <a:t>과 </a:t>
            </a:r>
            <a:r>
              <a:rPr lang="en-US" altLang="ko-KR"/>
              <a:t>user_pool</a:t>
            </a:r>
            <a:r>
              <a:rPr lang="ko-KR" altLang="en-US"/>
              <a:t> 확인</a:t>
            </a:r>
          </a:p>
          <a:p>
            <a:pPr marL="342900" lvl="1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866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메모리 관리 시스템 구조 확인 </a:t>
            </a:r>
            <a:r>
              <a:rPr lang="en-US" altLang="ko-KR"/>
              <a:t>(gdb)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F5BC16-9E35-C17B-3226-36E26B818791}"/>
              </a:ext>
            </a:extLst>
          </p:cNvPr>
          <p:cNvSpPr/>
          <p:nvPr/>
        </p:nvSpPr>
        <p:spPr>
          <a:xfrm>
            <a:off x="628650" y="2047137"/>
            <a:ext cx="2956608" cy="8764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(gdb) b palloc_init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c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l</a:t>
            </a:r>
            <a:endParaRPr lang="ko-KR" altLang="en-US" sz="1500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B4193A-0C68-873C-4C19-0FBB7B2E6806}"/>
              </a:ext>
            </a:extLst>
          </p:cNvPr>
          <p:cNvSpPr/>
          <p:nvPr/>
        </p:nvSpPr>
        <p:spPr>
          <a:xfrm>
            <a:off x="628650" y="3444240"/>
            <a:ext cx="8069725" cy="26855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48        /* Free memory starts at 1 MB and runs to the end of RAM. */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49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uint8_t *free_start = ptov (1024 * 1024);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50        uint8_t *free_end = ptov (init_ram_pages * PGSIZE);</a:t>
            </a:r>
          </a:p>
          <a:p>
            <a:pPr marL="342900" indent="-342900">
              <a:buAutoNum type="arabicPlain" startAt="51"/>
            </a:pPr>
            <a:r>
              <a:rPr lang="en-US" altLang="ko-KR" sz="1500">
                <a:latin typeface="Consolas" panose="020B0609020204030204" pitchFamily="49" charset="0"/>
              </a:rPr>
              <a:t>       size_t free_pages = (free_end - free_start) / PGSIZE;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                                       </a:t>
            </a:r>
            <a:r>
              <a:rPr lang="en-US" altLang="ko-KR" sz="1500" i="1">
                <a:latin typeface="Consolas" panose="020B0609020204030204" pitchFamily="49" charset="0"/>
              </a:rPr>
              <a:t>[</a:t>
            </a:r>
            <a:r>
              <a:rPr lang="ko-KR" altLang="en-US" sz="1500" i="1">
                <a:latin typeface="Consolas" panose="020B0609020204030204" pitchFamily="49" charset="0"/>
              </a:rPr>
              <a:t>중략</a:t>
            </a:r>
            <a:r>
              <a:rPr lang="en-US" altLang="ko-KR" sz="1500" i="1"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58        /* Give half of memory to kernel, half to user. */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59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init_pool (&amp;kernel_pool, free_start, kernel_pages, "kernel pool");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60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init_pool (&amp;user_pool, free_start + kernel_pages * PGSIZE,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61                   user_pages, "user pool");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62      }</a:t>
            </a:r>
            <a:endParaRPr lang="ko-KR" altLang="en-US" sz="15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C3F38-1324-8706-3442-55EFF59AC665}"/>
              </a:ext>
            </a:extLst>
          </p:cNvPr>
          <p:cNvSpPr txBox="1"/>
          <p:nvPr/>
        </p:nvSpPr>
        <p:spPr>
          <a:xfrm>
            <a:off x="2516356" y="3074908"/>
            <a:ext cx="6202339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Breakpoint 2, palloc_init at </a:t>
            </a:r>
            <a:r>
              <a:rPr lang="en-US" altLang="ko-KR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../../threads/palloc.c:47</a:t>
            </a:r>
            <a:endParaRPr lang="ko-KR" altLang="en-US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내용 개체 틀 13">
            <a:extLst>
              <a:ext uri="{FF2B5EF4-FFF2-40B4-BE49-F238E27FC236}">
                <a16:creationId xmlns:a16="http://schemas.microsoft.com/office/drawing/2014/main" id="{46CBF7D7-0424-6136-2792-BF457C4F9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2047137"/>
            <a:ext cx="7886700" cy="3263504"/>
          </a:xfrm>
        </p:spPr>
        <p:txBody>
          <a:bodyPr rtlCol="0"/>
          <a:lstStyle/>
          <a:p>
            <a:pPr lvl="0" rtl="0"/>
            <a:r>
              <a:rPr lang="ko-KR" altLang="en-US" sz="2400"/>
              <a:t>각 </a:t>
            </a:r>
            <a:r>
              <a:rPr lang="en-US" altLang="ko-KR" sz="2400"/>
              <a:t>Pool</a:t>
            </a:r>
            <a:r>
              <a:rPr lang="ko-KR" altLang="en-US" sz="2400"/>
              <a:t>의 초기화 확인</a:t>
            </a:r>
            <a:r>
              <a:rPr lang="en-US" altLang="ko-KR" sz="2400"/>
              <a:t>(</a:t>
            </a:r>
            <a:r>
              <a:rPr lang="ko-KR" altLang="en-US" sz="2400"/>
              <a:t>주소</a:t>
            </a:r>
            <a:r>
              <a:rPr lang="en-US" altLang="ko-KR" sz="2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088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15C07-7CB0-73DB-D04A-D9F9346A2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13">
            <a:extLst>
              <a:ext uri="{FF2B5EF4-FFF2-40B4-BE49-F238E27FC236}">
                <a16:creationId xmlns:a16="http://schemas.microsoft.com/office/drawing/2014/main" id="{D534899F-9905-F35A-6F8F-15AA4C979024}"/>
              </a:ext>
            </a:extLst>
          </p:cNvPr>
          <p:cNvSpPr txBox="1">
            <a:spLocks/>
          </p:cNvSpPr>
          <p:nvPr/>
        </p:nvSpPr>
        <p:spPr bwMode="auto">
          <a:xfrm>
            <a:off x="566738" y="1797248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rgbClr val="0000FF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altLang="ko-KR" sz="2400" kern="0"/>
              <a:t>kernel_pool</a:t>
            </a:r>
            <a:r>
              <a:rPr lang="ko-KR" altLang="en-US" sz="2400" kern="0"/>
              <a:t>의 상세구조 확인</a:t>
            </a:r>
            <a:endParaRPr lang="en-US" altLang="ko-KR" sz="2400" kern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FEEE9ABC-075A-B2A1-0C7A-2B58C230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메모리 관리 시스템 구조 확인 </a:t>
            </a:r>
            <a:r>
              <a:rPr lang="en-US" altLang="ko-KR"/>
              <a:t>(gdb)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2FDF25-C85F-8956-D72B-71A7D6E3D398}"/>
              </a:ext>
            </a:extLst>
          </p:cNvPr>
          <p:cNvSpPr/>
          <p:nvPr/>
        </p:nvSpPr>
        <p:spPr>
          <a:xfrm>
            <a:off x="485775" y="2511133"/>
            <a:ext cx="2956608" cy="6185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latin typeface="Consolas" panose="020B0609020204030204" pitchFamily="49" charset="0"/>
              </a:rPr>
              <a:t>(gdb) tb init_pool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87121E-4053-94E9-027E-A627C40C2A6E}"/>
              </a:ext>
            </a:extLst>
          </p:cNvPr>
          <p:cNvSpPr/>
          <p:nvPr/>
        </p:nvSpPr>
        <p:spPr>
          <a:xfrm>
            <a:off x="485775" y="3657600"/>
            <a:ext cx="8172450" cy="23693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153     static void</a:t>
            </a:r>
          </a:p>
          <a:p>
            <a:pPr marL="342900" indent="-342900">
              <a:buAutoNum type="arabicPlain" startAt="154"/>
            </a:pP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init_pool (struct pool *p, void *base, size_t page_cnt, const char *name) 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altLang="ko-KR" sz="1500" i="1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ko-KR" altLang="en-US" sz="1500" i="1">
                <a:solidFill>
                  <a:schemeClr val="tx1"/>
                </a:solidFill>
                <a:latin typeface="Consolas" panose="020B0609020204030204" pitchFamily="49" charset="0"/>
              </a:rPr>
              <a:t>중략</a:t>
            </a:r>
            <a:r>
              <a:rPr lang="en-US" altLang="ko-KR" sz="1500" i="1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166       /* Initialize the pool. */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167       lock_init (&amp;p-&gt;lock);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168       p-&gt;used_map = bitmap_create_in_buf (page_cnt, base, bm_pages * PGSIZE);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169       p-&gt;base = base + bm_pages * PGSIZE;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5EBDD-C8FC-8A91-DDE4-C71B0156E775}"/>
              </a:ext>
            </a:extLst>
          </p:cNvPr>
          <p:cNvSpPr txBox="1"/>
          <p:nvPr/>
        </p:nvSpPr>
        <p:spPr>
          <a:xfrm>
            <a:off x="1121932" y="3305639"/>
            <a:ext cx="746390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Temporary breakpoint 4, init_pool </a:t>
            </a:r>
            <a:r>
              <a:rPr lang="en-US" altLang="ko-K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</a:t>
            </a:r>
            <a:r>
              <a:rPr lang="en-US" altLang="ko-KR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../../threads/palloc.c:155</a:t>
            </a:r>
            <a:endParaRPr lang="ko-KR" altLang="en-US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316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C418-0BC6-26F6-8EB5-9AB2BB08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940B1A7F-171D-51FC-CA1A-739909BB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/>
              <a:t>메모리 관리 시스템 구조 확인 </a:t>
            </a:r>
            <a:r>
              <a:rPr lang="en-US" altLang="ko-KR"/>
              <a:t>(gdb)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3053F2-6D73-695D-0637-46029F7993CB}"/>
              </a:ext>
            </a:extLst>
          </p:cNvPr>
          <p:cNvSpPr/>
          <p:nvPr/>
        </p:nvSpPr>
        <p:spPr>
          <a:xfrm>
            <a:off x="308262" y="2588656"/>
            <a:ext cx="8709660" cy="32635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lain" startAt="168"/>
            </a:pP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p-&gt;used_map = bitmap_create_in_buf (page_cnt, base, bm_pages * PGSIZE);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n                                          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500">
                <a:solidFill>
                  <a:srgbClr val="FF0000"/>
                </a:solidFill>
                <a:latin typeface="Consolas" panose="020B0609020204030204" pitchFamily="49" charset="0"/>
              </a:rPr>
              <a:t>위 명령어 수행</a:t>
            </a:r>
            <a:endParaRPr lang="en-US" altLang="ko-KR" sz="15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altLang="ko-KR" sz="15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ko-KR" sz="1500">
                <a:latin typeface="Consolas" panose="020B0609020204030204" pitchFamily="49" charset="0"/>
              </a:rPr>
              <a:t>(gdb) print kernel_pool-&gt;used_map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$7 = (struct bitmap *) 0xc0100000                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500">
                <a:solidFill>
                  <a:srgbClr val="FF0000"/>
                </a:solidFill>
                <a:latin typeface="Consolas" panose="020B0609020204030204" pitchFamily="49" charset="0"/>
              </a:rPr>
              <a:t>물리주소로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0x100000  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(gdb) x/16wx kernel_pool-&gt;used_map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0xc0100000:     0x0000016f      0xc0100008      0x00000000      0x00000000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0xc0100010:     0x00000000      0x00000000      0x00000000      0x00000000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0xc0100020:     0x00000000      0x00000000      0x00000000      0x00000000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0xc0100030:     0x00000000      0x00000000      0x00000000      0x00000000</a:t>
            </a:r>
          </a:p>
          <a:p>
            <a:endParaRPr lang="en-US" altLang="ko-KR" sz="1500">
              <a:latin typeface="Consolas" panose="020B0609020204030204" pitchFamily="49" charset="0"/>
            </a:endParaRPr>
          </a:p>
          <a:p>
            <a:r>
              <a:rPr lang="en-US" altLang="ko-KR" sz="1500">
                <a:latin typeface="Consolas" panose="020B0609020204030204" pitchFamily="49" charset="0"/>
              </a:rPr>
              <a:t>(gdb) print kernel_pool-&gt;base</a:t>
            </a:r>
          </a:p>
          <a:p>
            <a:r>
              <a:rPr lang="en-US" altLang="ko-KR" sz="1500">
                <a:latin typeface="Consolas" panose="020B0609020204030204" pitchFamily="49" charset="0"/>
              </a:rPr>
              <a:t>$8 = (uint8_t *) 0xc0101000 "“   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# kernel_pool-&gt;used_map </a:t>
            </a:r>
            <a:r>
              <a:rPr lang="ko-KR" altLang="en-US" sz="1500">
                <a:solidFill>
                  <a:srgbClr val="FF0000"/>
                </a:solidFill>
                <a:latin typeface="Consolas" panose="020B0609020204030204" pitchFamily="49" charset="0"/>
              </a:rPr>
              <a:t>보다 훨씬 뒤</a:t>
            </a:r>
            <a:endParaRPr lang="en-US" altLang="ko-KR" sz="15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98463E-7C8B-FFC8-4182-1744D5BEBD02}"/>
              </a:ext>
            </a:extLst>
          </p:cNvPr>
          <p:cNvSpPr/>
          <p:nvPr/>
        </p:nvSpPr>
        <p:spPr>
          <a:xfrm>
            <a:off x="1998345" y="4114102"/>
            <a:ext cx="1264920" cy="2253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DD04CD-0E8B-9856-3808-F125CAD9AAF4}"/>
              </a:ext>
            </a:extLst>
          </p:cNvPr>
          <p:cNvSpPr/>
          <p:nvPr/>
        </p:nvSpPr>
        <p:spPr>
          <a:xfrm>
            <a:off x="3598545" y="4114102"/>
            <a:ext cx="1264920" cy="2253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051D2-8D6E-8C81-1D99-760F4D5C4994}"/>
              </a:ext>
            </a:extLst>
          </p:cNvPr>
          <p:cNvSpPr txBox="1"/>
          <p:nvPr/>
        </p:nvSpPr>
        <p:spPr>
          <a:xfrm>
            <a:off x="4663092" y="5068968"/>
            <a:ext cx="3066865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</a:rPr>
              <a:t>367bit</a:t>
            </a:r>
            <a:r>
              <a:rPr lang="ko-KR" altLang="en-US" sz="1400">
                <a:solidFill>
                  <a:srgbClr val="FF0000"/>
                </a:solidFill>
              </a:rPr>
              <a:t>의 비트맵 </a:t>
            </a:r>
            <a:r>
              <a:rPr lang="en-US" altLang="ko-KR" sz="1400">
                <a:solidFill>
                  <a:srgbClr val="FF0000"/>
                </a:solidFill>
              </a:rPr>
              <a:t>(</a:t>
            </a:r>
            <a:r>
              <a:rPr lang="ko-KR" altLang="en-US" sz="1400">
                <a:solidFill>
                  <a:srgbClr val="FF0000"/>
                </a:solidFill>
              </a:rPr>
              <a:t>페이지가 </a:t>
            </a:r>
            <a:r>
              <a:rPr lang="en-US" altLang="ko-KR" sz="1400">
                <a:solidFill>
                  <a:srgbClr val="FF0000"/>
                </a:solidFill>
              </a:rPr>
              <a:t>367</a:t>
            </a:r>
            <a:r>
              <a:rPr lang="ko-KR" altLang="en-US" sz="1400">
                <a:solidFill>
                  <a:srgbClr val="FF0000"/>
                </a:solidFill>
              </a:rPr>
              <a:t>개</a:t>
            </a:r>
            <a:r>
              <a:rPr lang="en-US" altLang="ko-KR" sz="1400">
                <a:solidFill>
                  <a:srgbClr val="FF0000"/>
                </a:solidFill>
              </a:rPr>
              <a:t>)</a:t>
            </a:r>
            <a:endParaRPr lang="ko-KR" altLang="en-US" sz="1400" dirty="0" err="1">
              <a:solidFill>
                <a:srgbClr val="FF0000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67B005D-6E68-DA0F-D774-2379CABBB080}"/>
              </a:ext>
            </a:extLst>
          </p:cNvPr>
          <p:cNvCxnSpPr>
            <a:cxnSpLocks/>
          </p:cNvCxnSpPr>
          <p:nvPr/>
        </p:nvCxnSpPr>
        <p:spPr>
          <a:xfrm>
            <a:off x="4863465" y="4224759"/>
            <a:ext cx="453391" cy="0"/>
          </a:xfrm>
          <a:prstGeom prst="line">
            <a:avLst/>
          </a:prstGeom>
          <a:ln w="19050">
            <a:solidFill>
              <a:srgbClr val="FF0000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63AB3FF6-6D4E-F892-398E-9D7A575F8D5C}"/>
              </a:ext>
            </a:extLst>
          </p:cNvPr>
          <p:cNvCxnSpPr>
            <a:cxnSpLocks/>
          </p:cNvCxnSpPr>
          <p:nvPr/>
        </p:nvCxnSpPr>
        <p:spPr>
          <a:xfrm>
            <a:off x="3263265" y="4226770"/>
            <a:ext cx="1399827" cy="988697"/>
          </a:xfrm>
          <a:prstGeom prst="bentConnector3">
            <a:avLst>
              <a:gd name="adj1" fmla="val 15272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내용 개체 틀 13">
            <a:extLst>
              <a:ext uri="{FF2B5EF4-FFF2-40B4-BE49-F238E27FC236}">
                <a16:creationId xmlns:a16="http://schemas.microsoft.com/office/drawing/2014/main" id="{7372D5FC-E2E3-C4AE-D0BF-44464BD59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62" y="1921483"/>
            <a:ext cx="7886700" cy="3263504"/>
          </a:xfrm>
        </p:spPr>
        <p:txBody>
          <a:bodyPr rtlCol="0"/>
          <a:lstStyle/>
          <a:p>
            <a:pPr lvl="0" rtl="0"/>
            <a:r>
              <a:rPr lang="en-US" altLang="ko-KR" sz="2400"/>
              <a:t>kernel_pool</a:t>
            </a:r>
            <a:r>
              <a:rPr lang="ko-KR" altLang="en-US" sz="2400"/>
              <a:t>의 상세구조 확인</a:t>
            </a:r>
            <a:r>
              <a:rPr lang="en-US" altLang="ko-KR" sz="2400"/>
              <a:t>(</a:t>
            </a:r>
            <a:r>
              <a:rPr lang="ko-KR" altLang="en-US" sz="2400"/>
              <a:t>이어서</a:t>
            </a:r>
            <a:r>
              <a:rPr lang="en-US" altLang="ko-KR" sz="2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92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2645C-A98F-F991-D835-7537D3DD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메모리 할당 </a:t>
            </a:r>
            <a:r>
              <a:rPr lang="en-US" altLang="ko-KR"/>
              <a:t>(palloc_get_multiple)</a:t>
            </a:r>
            <a:r>
              <a:rPr lang="ko-KR" altLang="en-US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D4A847-A2CE-C81F-27A8-43D2A2772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0" y="2133600"/>
            <a:ext cx="7886700" cy="3263504"/>
          </a:xfrm>
        </p:spPr>
        <p:txBody>
          <a:bodyPr/>
          <a:lstStyle/>
          <a:p>
            <a:r>
              <a:rPr lang="ko-KR" altLang="en-US" sz="2000"/>
              <a:t>연속된 페이지 할당 </a:t>
            </a:r>
            <a:r>
              <a:rPr lang="en-US" altLang="ko-KR" sz="2000"/>
              <a:t>/ first-fit </a:t>
            </a:r>
            <a:r>
              <a:rPr lang="ko-KR" altLang="en-US" sz="2000"/>
              <a:t>정책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5065E-A29F-2684-98C3-E51D4B7B28C7}"/>
              </a:ext>
            </a:extLst>
          </p:cNvPr>
          <p:cNvSpPr/>
          <p:nvPr/>
        </p:nvSpPr>
        <p:spPr>
          <a:xfrm>
            <a:off x="282892" y="3519372"/>
            <a:ext cx="8578215" cy="31075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70      void *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71      palloc_get_multiple (enum palloc_flags flags, size_t page_cnt)</a:t>
            </a:r>
          </a:p>
          <a:p>
            <a:pPr marL="342900" indent="-342900">
              <a:buAutoNum type="arabicPlain" startAt="72"/>
            </a:pP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  [</a:t>
            </a:r>
            <a:r>
              <a:rPr lang="ko-KR" altLang="en-US" sz="1500">
                <a:solidFill>
                  <a:schemeClr val="tx1"/>
                </a:solidFill>
                <a:latin typeface="Consolas" panose="020B0609020204030204" pitchFamily="49" charset="0"/>
              </a:rPr>
              <a:t>중략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80        lock_acquire (&amp;pool-&gt;lock);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81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page_idx = bitmap_scan_and_flip (pool-&gt;used_map, 0, page_cnt, false);</a:t>
            </a:r>
          </a:p>
          <a:p>
            <a:pPr marL="342900" indent="-342900">
              <a:buAutoNum type="arabicPlain" startAt="82"/>
            </a:pP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lock_release (&amp;pool-&gt;lock);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84        if (page_idx != BITMAP_ERROR)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85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pages = pool-&gt;base + PGSIZE * page_idx;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86        else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                         [</a:t>
            </a:r>
            <a:r>
              <a:rPr lang="ko-KR" altLang="en-US" sz="1500">
                <a:solidFill>
                  <a:schemeClr val="tx1"/>
                </a:solidFill>
                <a:latin typeface="Consolas" panose="020B0609020204030204" pitchFamily="49" charset="0"/>
              </a:rPr>
              <a:t>중략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100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return pages;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101     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A61400-5448-A22A-2AFE-30A8DBC6BCA3}"/>
              </a:ext>
            </a:extLst>
          </p:cNvPr>
          <p:cNvSpPr/>
          <p:nvPr/>
        </p:nvSpPr>
        <p:spPr>
          <a:xfrm>
            <a:off x="282892" y="1994297"/>
            <a:ext cx="3591878" cy="8548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b palloc_get_multiple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c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8F28B-6EE2-BBD9-5289-765D587EC076}"/>
              </a:ext>
            </a:extLst>
          </p:cNvPr>
          <p:cNvSpPr txBox="1"/>
          <p:nvPr/>
        </p:nvSpPr>
        <p:spPr>
          <a:xfrm>
            <a:off x="1567123" y="3059668"/>
            <a:ext cx="729398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Breakpoint 5, palloc_get_multiple at </a:t>
            </a:r>
            <a:r>
              <a:rPr lang="en-US" altLang="ko-KR">
                <a:solidFill>
                  <a:srgbClr val="0070C0"/>
                </a:solidFill>
              </a:rPr>
              <a:t>../../threads/palloc.c:72</a:t>
            </a:r>
            <a:endParaRPr lang="ko-KR" altLang="en-US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269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CCF0A-6A8C-2864-14B7-7240F11CE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09DBE-6272-5943-0350-B66060AB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메모리 할당 </a:t>
            </a:r>
            <a:r>
              <a:rPr lang="en-US" altLang="ko-KR"/>
              <a:t>(palloc_get_multiple)</a:t>
            </a:r>
            <a:r>
              <a:rPr lang="ko-KR" altLang="en-US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D226D2-22F1-56B0-3F7F-FFCBE0923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0" y="2222897"/>
            <a:ext cx="7886700" cy="3263504"/>
          </a:xfrm>
        </p:spPr>
        <p:txBody>
          <a:bodyPr/>
          <a:lstStyle/>
          <a:p>
            <a:r>
              <a:rPr lang="ko-KR" altLang="en-US" sz="2000"/>
              <a:t>연속된 페이지 할당 </a:t>
            </a:r>
            <a:r>
              <a:rPr lang="en-US" altLang="ko-KR" sz="2000"/>
              <a:t>/ first-fit </a:t>
            </a:r>
            <a:r>
              <a:rPr lang="ko-KR" altLang="en-US" sz="2000"/>
              <a:t>정책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  (</a:t>
            </a:r>
            <a:r>
              <a:rPr lang="ko-KR" altLang="en-US" sz="2000"/>
              <a:t>이어서</a:t>
            </a:r>
            <a:r>
              <a:rPr lang="en-US" altLang="ko-KR" sz="2000"/>
              <a:t>)</a:t>
            </a:r>
            <a:endParaRPr lang="ko-KR" altLang="en-US" sz="20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F6DF4C-CD40-AC3E-676E-54BC457718A9}"/>
              </a:ext>
            </a:extLst>
          </p:cNvPr>
          <p:cNvSpPr/>
          <p:nvPr/>
        </p:nvSpPr>
        <p:spPr>
          <a:xfrm>
            <a:off x="282893" y="3816787"/>
            <a:ext cx="8578215" cy="23716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295     size_t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296     bitmap_scan (const struct bitmap *b, size_t start, size_t cnt, bool value) 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297     {                             [</a:t>
            </a:r>
            <a:r>
              <a:rPr lang="ko-KR" altLang="en-US" sz="1500">
                <a:solidFill>
                  <a:schemeClr val="tx1"/>
                </a:solidFill>
                <a:latin typeface="Consolas" panose="020B0609020204030204" pitchFamily="49" charset="0"/>
              </a:rPr>
              <a:t>중략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303           size_t last = b-&gt;bit_cnt - cnt;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304           size_t i;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305 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for (i = start; i &lt;= last; i++)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306             if (!bitmap_contains (b, i, cnt, !value))</a:t>
            </a:r>
          </a:p>
          <a:p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307               return i;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   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500">
                <a:solidFill>
                  <a:srgbClr val="FF0000"/>
                </a:solidFill>
                <a:latin typeface="Consolas" panose="020B0609020204030204" pitchFamily="49" charset="0"/>
              </a:rPr>
              <a:t>발견 즉시 리턴함에 주목 </a:t>
            </a:r>
            <a:r>
              <a:rPr lang="en-US" altLang="ko-KR" sz="1500">
                <a:solidFill>
                  <a:srgbClr val="FF0000"/>
                </a:solidFill>
                <a:latin typeface="Consolas" panose="020B0609020204030204" pitchFamily="49" charset="0"/>
              </a:rPr>
              <a:t>-&gt; First-fit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0D1C0D-AA62-C1DB-30C3-E21D5878E6C2}"/>
              </a:ext>
            </a:extLst>
          </p:cNvPr>
          <p:cNvSpPr/>
          <p:nvPr/>
        </p:nvSpPr>
        <p:spPr>
          <a:xfrm>
            <a:off x="282892" y="1994296"/>
            <a:ext cx="3591878" cy="17090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500">
                <a:solidFill>
                  <a:schemeClr val="tx1"/>
                </a:solidFill>
                <a:latin typeface="Consolas" panose="020B0609020204030204" pitchFamily="49" charset="0"/>
              </a:rPr>
              <a:t>적당히 함수 깊숙히 들어간다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bt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#0 bitmap_scan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#1 bitmap_scan_and_flip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#2 palloc_get_multiple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              [</a:t>
            </a:r>
            <a:r>
              <a:rPr lang="ko-KR" altLang="en-US" sz="1500">
                <a:solidFill>
                  <a:schemeClr val="tx1"/>
                </a:solidFill>
                <a:latin typeface="Consolas" panose="020B0609020204030204" pitchFamily="49" charset="0"/>
              </a:rPr>
              <a:t>후략</a:t>
            </a:r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500">
                <a:solidFill>
                  <a:schemeClr val="tx1"/>
                </a:solidFill>
                <a:latin typeface="Consolas" panose="020B0609020204030204" pitchFamily="49" charset="0"/>
              </a:rPr>
              <a:t>(gdb) 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24444-C9F7-EAE2-434C-9625183E01A2}"/>
              </a:ext>
            </a:extLst>
          </p:cNvPr>
          <p:cNvSpPr txBox="1"/>
          <p:nvPr/>
        </p:nvSpPr>
        <p:spPr>
          <a:xfrm>
            <a:off x="5734930" y="3470077"/>
            <a:ext cx="312617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../../threads/palloc.c:297</a:t>
            </a:r>
            <a:endParaRPr lang="ko-KR" altLang="en-US" dirty="0" err="1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717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B77D-10EA-169E-8520-D1293668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7545DCDB-5AFB-18B0-997E-DEE76F03E222}"/>
              </a:ext>
            </a:extLst>
          </p:cNvPr>
          <p:cNvSpPr/>
          <p:nvPr/>
        </p:nvSpPr>
        <p:spPr bwMode="auto">
          <a:xfrm>
            <a:off x="819150" y="1761904"/>
            <a:ext cx="3352800" cy="3997944"/>
          </a:xfrm>
          <a:prstGeom prst="downArrow">
            <a:avLst>
              <a:gd name="adj1" fmla="val 50000"/>
              <a:gd name="adj2" fmla="val 15766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6" name="Rectangle 2">
            <a:extLst>
              <a:ext uri="{FF2B5EF4-FFF2-40B4-BE49-F238E27FC236}">
                <a16:creationId xmlns:a16="http://schemas.microsoft.com/office/drawing/2014/main" id="{76807CA3-3924-7AEA-4007-FF7DFC381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(+) Load Kernel</a:t>
            </a:r>
            <a:endParaRPr lang="en-US" altLang="ko-KR" sz="32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7E7E722-2E0B-0587-4330-32781827B130}"/>
              </a:ext>
            </a:extLst>
          </p:cNvPr>
          <p:cNvSpPr/>
          <p:nvPr/>
        </p:nvSpPr>
        <p:spPr bwMode="auto">
          <a:xfrm>
            <a:off x="742951" y="2286001"/>
            <a:ext cx="3543300" cy="4540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>
                <a:solidFill>
                  <a:schemeClr val="tx1"/>
                </a:solidFill>
                <a:latin typeface="Verdana" pitchFamily="34" charset="0"/>
                <a:cs typeface="Arial" charset="0"/>
              </a:rPr>
              <a:t>Execute BIOS in ROM</a:t>
            </a: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DE80DB6-84E2-FE07-F625-92B463496388}"/>
              </a:ext>
            </a:extLst>
          </p:cNvPr>
          <p:cNvSpPr/>
          <p:nvPr/>
        </p:nvSpPr>
        <p:spPr bwMode="auto">
          <a:xfrm>
            <a:off x="742951" y="3009901"/>
            <a:ext cx="3543300" cy="4540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>
                <a:solidFill>
                  <a:schemeClr val="tx1"/>
                </a:solidFill>
                <a:latin typeface="Verdana" pitchFamily="34" charset="0"/>
                <a:cs typeface="Arial" charset="0"/>
              </a:rPr>
              <a:t>BIOS POST</a:t>
            </a: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D3D938C-7CE2-B1B9-9D82-7746B673E96A}"/>
              </a:ext>
            </a:extLst>
          </p:cNvPr>
          <p:cNvSpPr/>
          <p:nvPr/>
        </p:nvSpPr>
        <p:spPr bwMode="auto">
          <a:xfrm>
            <a:off x="742951" y="3770314"/>
            <a:ext cx="3543300" cy="4540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>
                <a:solidFill>
                  <a:schemeClr val="tx1"/>
                </a:solidFill>
                <a:latin typeface="Verdana" pitchFamily="34" charset="0"/>
                <a:cs typeface="Arial" charset="0"/>
              </a:rPr>
              <a:t>load loader.bin from MBR</a:t>
            </a: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5F0283-4563-5091-DC9A-D6B74F235516}"/>
              </a:ext>
            </a:extLst>
          </p:cNvPr>
          <p:cNvSpPr/>
          <p:nvPr/>
        </p:nvSpPr>
        <p:spPr bwMode="auto">
          <a:xfrm>
            <a:off x="742951" y="4591845"/>
            <a:ext cx="3543300" cy="4540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>
                <a:solidFill>
                  <a:schemeClr val="tx1"/>
                </a:solidFill>
                <a:latin typeface="Verdana" pitchFamily="34" charset="0"/>
                <a:cs typeface="Arial" charset="0"/>
              </a:rPr>
              <a:t>load kernel.bin from disk</a:t>
            </a: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77868EC-070F-E305-0429-EB293D2C7CB7}"/>
              </a:ext>
            </a:extLst>
          </p:cNvPr>
          <p:cNvGrpSpPr/>
          <p:nvPr/>
        </p:nvGrpSpPr>
        <p:grpSpPr>
          <a:xfrm>
            <a:off x="6324600" y="2946092"/>
            <a:ext cx="1600200" cy="3149908"/>
            <a:chOff x="6705600" y="2587625"/>
            <a:chExt cx="1219200" cy="16033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48F0B1-D425-BB19-C0DC-7729F74952CD}"/>
                </a:ext>
              </a:extLst>
            </p:cNvPr>
            <p:cNvSpPr/>
            <p:nvPr/>
          </p:nvSpPr>
          <p:spPr bwMode="auto">
            <a:xfrm>
              <a:off x="6705600" y="2587625"/>
              <a:ext cx="1219200" cy="16033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A84ABD5-74F8-8350-5DF1-FF8D142217C1}"/>
                </a:ext>
              </a:extLst>
            </p:cNvPr>
            <p:cNvSpPr/>
            <p:nvPr/>
          </p:nvSpPr>
          <p:spPr bwMode="auto">
            <a:xfrm>
              <a:off x="6743700" y="2606332"/>
              <a:ext cx="1143000" cy="33294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charset="0"/>
                </a:rPr>
                <a:t>loader.bin</a:t>
              </a: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A0C3ACF-9FA7-6307-1C22-9EF12D8C7885}"/>
                </a:ext>
              </a:extLst>
            </p:cNvPr>
            <p:cNvSpPr/>
            <p:nvPr/>
          </p:nvSpPr>
          <p:spPr bwMode="auto">
            <a:xfrm>
              <a:off x="6743700" y="3108409"/>
              <a:ext cx="1143000" cy="90542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/>
                <a:t>kernel</a:t>
              </a:r>
              <a:r>
                <a:rPr kumimoji="0" lang="en-US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  <a:cs typeface="Arial" charset="0"/>
                </a:rPr>
                <a:t>.bin</a:t>
              </a: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cs typeface="Arial" charset="0"/>
              </a:endParaRPr>
            </a:p>
          </p:txBody>
        </p:sp>
      </p:grpSp>
      <p:sp>
        <p:nvSpPr>
          <p:cNvPr id="23" name="오른쪽 중괄호 22">
            <a:extLst>
              <a:ext uri="{FF2B5EF4-FFF2-40B4-BE49-F238E27FC236}">
                <a16:creationId xmlns:a16="http://schemas.microsoft.com/office/drawing/2014/main" id="{EC2817FF-BCA3-417E-9687-AF77D2AD80C0}"/>
              </a:ext>
            </a:extLst>
          </p:cNvPr>
          <p:cNvSpPr/>
          <p:nvPr/>
        </p:nvSpPr>
        <p:spPr bwMode="auto">
          <a:xfrm>
            <a:off x="8001000" y="2946092"/>
            <a:ext cx="152400" cy="652463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92E43-C29E-6E30-FB79-8B21A0FBE815}"/>
              </a:ext>
            </a:extLst>
          </p:cNvPr>
          <p:cNvSpPr txBox="1"/>
          <p:nvPr/>
        </p:nvSpPr>
        <p:spPr>
          <a:xfrm rot="5400000">
            <a:off x="8046158" y="309585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MBR</a:t>
            </a:r>
            <a:endParaRPr lang="ko-KR" altLang="en-US" sz="1400"/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526D9E50-9B31-310C-5DE5-00BC8296830B}"/>
              </a:ext>
            </a:extLst>
          </p:cNvPr>
          <p:cNvSpPr/>
          <p:nvPr/>
        </p:nvSpPr>
        <p:spPr bwMode="auto">
          <a:xfrm>
            <a:off x="6512444" y="2400950"/>
            <a:ext cx="1224511" cy="422925"/>
          </a:xfrm>
          <a:prstGeom prst="downArrow">
            <a:avLst>
              <a:gd name="adj1" fmla="val 50000"/>
              <a:gd name="adj2" fmla="val 50955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B34E034-BBF6-32DB-871F-14FC81D7F3F0}"/>
              </a:ext>
            </a:extLst>
          </p:cNvPr>
          <p:cNvSpPr/>
          <p:nvPr/>
        </p:nvSpPr>
        <p:spPr bwMode="auto">
          <a:xfrm>
            <a:off x="6324600" y="1828800"/>
            <a:ext cx="1600200" cy="42292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/>
              <a:t>pintos.pl</a:t>
            </a: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E1FF1C7-FCBD-E50A-0297-7A43CCF87586}"/>
              </a:ext>
            </a:extLst>
          </p:cNvPr>
          <p:cNvSpPr/>
          <p:nvPr/>
        </p:nvSpPr>
        <p:spPr bwMode="auto">
          <a:xfrm>
            <a:off x="1358504" y="5568615"/>
            <a:ext cx="2312194" cy="900906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/>
              <a:t>kernel takes control</a:t>
            </a: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13F7D929-0157-8E4F-AD41-6C3E4B0F86B0}"/>
              </a:ext>
            </a:extLst>
          </p:cNvPr>
          <p:cNvSpPr/>
          <p:nvPr/>
        </p:nvSpPr>
        <p:spPr bwMode="auto">
          <a:xfrm>
            <a:off x="6477000" y="2376162"/>
            <a:ext cx="1224511" cy="422925"/>
          </a:xfrm>
          <a:prstGeom prst="downArrow">
            <a:avLst>
              <a:gd name="adj1" fmla="val 50000"/>
              <a:gd name="adj2" fmla="val 50955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C28DE8C-59BA-B6FA-8A83-4317D1D38BEA}"/>
              </a:ext>
            </a:extLst>
          </p:cNvPr>
          <p:cNvSpPr/>
          <p:nvPr/>
        </p:nvSpPr>
        <p:spPr bwMode="auto">
          <a:xfrm rot="5400000">
            <a:off x="4693170" y="3633514"/>
            <a:ext cx="1224511" cy="1600201"/>
          </a:xfrm>
          <a:prstGeom prst="downArrow">
            <a:avLst>
              <a:gd name="adj1" fmla="val 50000"/>
              <a:gd name="adj2" fmla="val 50955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cs typeface="Arial" charset="0"/>
            </a:endParaRPr>
          </a:p>
        </p:txBody>
      </p:sp>
      <p:sp>
        <p:nvSpPr>
          <p:cNvPr id="241664" name="TextBox 241663">
            <a:extLst>
              <a:ext uri="{FF2B5EF4-FFF2-40B4-BE49-F238E27FC236}">
                <a16:creationId xmlns:a16="http://schemas.microsoft.com/office/drawing/2014/main" id="{4E99990E-4C88-BABD-8082-869BC423FBAB}"/>
              </a:ext>
            </a:extLst>
          </p:cNvPr>
          <p:cNvSpPr txBox="1"/>
          <p:nvPr/>
        </p:nvSpPr>
        <p:spPr>
          <a:xfrm>
            <a:off x="1253490" y="1816779"/>
            <a:ext cx="248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QEMU VM</a:t>
            </a:r>
            <a:endParaRPr lang="ko-KR" altLang="en-US"/>
          </a:p>
        </p:txBody>
      </p:sp>
      <p:sp>
        <p:nvSpPr>
          <p:cNvPr id="241665" name="TextBox 241664">
            <a:extLst>
              <a:ext uri="{FF2B5EF4-FFF2-40B4-BE49-F238E27FC236}">
                <a16:creationId xmlns:a16="http://schemas.microsoft.com/office/drawing/2014/main" id="{841BC97B-686F-83B1-D654-8133333493A5}"/>
              </a:ext>
            </a:extLst>
          </p:cNvPr>
          <p:cNvSpPr txBox="1"/>
          <p:nvPr/>
        </p:nvSpPr>
        <p:spPr>
          <a:xfrm>
            <a:off x="6207058" y="6134241"/>
            <a:ext cx="176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temporal disk</a:t>
            </a:r>
            <a:endParaRPr lang="ko-KR" altLang="en-US"/>
          </a:p>
        </p:txBody>
      </p:sp>
      <p:sp>
        <p:nvSpPr>
          <p:cNvPr id="241668" name="TextBox 241667">
            <a:extLst>
              <a:ext uri="{FF2B5EF4-FFF2-40B4-BE49-F238E27FC236}">
                <a16:creationId xmlns:a16="http://schemas.microsoft.com/office/drawing/2014/main" id="{FBE8A82C-4547-4D3F-C29B-DFC475301DC4}"/>
              </a:ext>
            </a:extLst>
          </p:cNvPr>
          <p:cNvSpPr txBox="1"/>
          <p:nvPr/>
        </p:nvSpPr>
        <p:spPr>
          <a:xfrm>
            <a:off x="4992957" y="4222513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Apply</a:t>
            </a:r>
            <a:endParaRPr lang="ko-KR" altLang="en-US"/>
          </a:p>
        </p:txBody>
      </p:sp>
      <p:sp>
        <p:nvSpPr>
          <p:cNvPr id="241671" name="TextBox 241670">
            <a:extLst>
              <a:ext uri="{FF2B5EF4-FFF2-40B4-BE49-F238E27FC236}">
                <a16:creationId xmlns:a16="http://schemas.microsoft.com/office/drawing/2014/main" id="{E7E5F1D6-056E-16F4-8336-0B2C62C999F3}"/>
              </a:ext>
            </a:extLst>
          </p:cNvPr>
          <p:cNvSpPr txBox="1"/>
          <p:nvPr/>
        </p:nvSpPr>
        <p:spPr>
          <a:xfrm>
            <a:off x="6650049" y="2382190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Create</a:t>
            </a:r>
            <a:endParaRPr lang="ko-KR" altLang="en-US"/>
          </a:p>
        </p:txBody>
      </p:sp>
      <p:sp>
        <p:nvSpPr>
          <p:cNvPr id="241674" name="TextBox 241673">
            <a:extLst>
              <a:ext uri="{FF2B5EF4-FFF2-40B4-BE49-F238E27FC236}">
                <a16:creationId xmlns:a16="http://schemas.microsoft.com/office/drawing/2014/main" id="{3F7CD143-413E-BCE7-1693-55EB38924348}"/>
              </a:ext>
            </a:extLst>
          </p:cNvPr>
          <p:cNvSpPr txBox="1"/>
          <p:nvPr/>
        </p:nvSpPr>
        <p:spPr>
          <a:xfrm>
            <a:off x="5707436" y="3403149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0x1FF</a:t>
            </a:r>
            <a:endParaRPr lang="ko-KR" altLang="en-US" sz="1200"/>
          </a:p>
        </p:txBody>
      </p:sp>
      <p:sp>
        <p:nvSpPr>
          <p:cNvPr id="241675" name="TextBox 241674">
            <a:extLst>
              <a:ext uri="{FF2B5EF4-FFF2-40B4-BE49-F238E27FC236}">
                <a16:creationId xmlns:a16="http://schemas.microsoft.com/office/drawing/2014/main" id="{7280EA29-3257-8D0D-80F2-D4B576ABDA36}"/>
              </a:ext>
            </a:extLst>
          </p:cNvPr>
          <p:cNvSpPr txBox="1"/>
          <p:nvPr/>
        </p:nvSpPr>
        <p:spPr>
          <a:xfrm>
            <a:off x="5707436" y="3621751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0x200</a:t>
            </a:r>
            <a:endParaRPr lang="ko-KR" altLang="en-US" sz="1200"/>
          </a:p>
        </p:txBody>
      </p:sp>
      <p:sp>
        <p:nvSpPr>
          <p:cNvPr id="241676" name="TextBox 241675">
            <a:extLst>
              <a:ext uri="{FF2B5EF4-FFF2-40B4-BE49-F238E27FC236}">
                <a16:creationId xmlns:a16="http://schemas.microsoft.com/office/drawing/2014/main" id="{2EF4195C-0DA9-CC55-736F-428AF3AC5218}"/>
              </a:ext>
            </a:extLst>
          </p:cNvPr>
          <p:cNvSpPr txBox="1"/>
          <p:nvPr/>
        </p:nvSpPr>
        <p:spPr>
          <a:xfrm>
            <a:off x="5707436" y="2945196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0x000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597699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6862-B2A6-17C6-AB00-3B65E12C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80FB109A-2CB3-5461-85B5-D886E5C2E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/>
              <a:t>(+) Load Kernel</a:t>
            </a:r>
            <a:endParaRPr lang="en-US" altLang="ko-KR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FBF5ED-F8F4-C76B-23F2-C8D57F57B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683" y="1981200"/>
            <a:ext cx="5111340" cy="38862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F8FE5FA-4543-231B-563E-290815324C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99" y="2514600"/>
            <a:ext cx="3497883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678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77E10-72BD-8167-B6E5-890C9A20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영상자료</a:t>
            </a:r>
            <a:r>
              <a:rPr lang="en-US" altLang="ko-KR"/>
              <a:t> 1. </a:t>
            </a:r>
            <a:r>
              <a:rPr lang="ko-KR" altLang="en-US"/>
              <a:t>쓰레드 및 메모리 관리</a:t>
            </a:r>
          </a:p>
        </p:txBody>
      </p:sp>
      <p:sp>
        <p:nvSpPr>
          <p:cNvPr id="3" name="내용 개체 틀 13">
            <a:extLst>
              <a:ext uri="{FF2B5EF4-FFF2-40B4-BE49-F238E27FC236}">
                <a16:creationId xmlns:a16="http://schemas.microsoft.com/office/drawing/2014/main" id="{1F46C3BF-B0BC-4EAD-FBE8-966F3D533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342900" lvl="1" indent="0">
              <a:buNone/>
            </a:pPr>
            <a:r>
              <a:rPr lang="en-US" altLang="ko-KR" sz="2000"/>
              <a:t>(</a:t>
            </a:r>
            <a:r>
              <a:rPr lang="ko-KR" altLang="en-US" sz="2000"/>
              <a:t>압축파일</a:t>
            </a:r>
            <a:r>
              <a:rPr lang="en-US" altLang="ko-KR" sz="2000"/>
              <a:t>) </a:t>
            </a:r>
            <a:r>
              <a:rPr lang="en-US" altLang="ko-KR" sz="2000">
                <a:hlinkClick r:id="rId2"/>
              </a:rPr>
              <a:t>https://drive.google.com/file/d/1wYzKqqjt-nlV78I8kweU3nsxHooNpuqt/view?usp=sharing</a:t>
            </a:r>
            <a:endParaRPr lang="en-US" altLang="ko-KR" sz="2000"/>
          </a:p>
          <a:p>
            <a:pPr marL="342900" lvl="1" indent="0">
              <a:buNone/>
            </a:pPr>
            <a:endParaRPr lang="en-US" altLang="ko-KR" sz="2000"/>
          </a:p>
          <a:p>
            <a:pPr marL="342900" lvl="1" indent="0">
              <a:buNone/>
            </a:pPr>
            <a:r>
              <a:rPr lang="en-US" altLang="ko-KR" sz="2000"/>
              <a:t>(</a:t>
            </a:r>
            <a:r>
              <a:rPr lang="ko-KR" altLang="en-US" sz="2000"/>
              <a:t>원본영상</a:t>
            </a:r>
            <a:r>
              <a:rPr lang="en-US" altLang="ko-KR" sz="2000"/>
              <a:t>) </a:t>
            </a:r>
            <a:r>
              <a:rPr lang="en-US" altLang="ko-KR" sz="2000">
                <a:hlinkClick r:id="rId3"/>
              </a:rPr>
              <a:t>https://drive.google.com/file/d/1ozc2kBd0f--09oayeAolr6Z2NFWAa95z/view?usp=sharing</a:t>
            </a:r>
            <a:endParaRPr lang="en-US" altLang="ko-KR" sz="2000"/>
          </a:p>
          <a:p>
            <a:pPr marL="342900" lvl="1" indent="0">
              <a:buNone/>
            </a:pPr>
            <a:endParaRPr lang="en-US" altLang="ko-KR" sz="2000"/>
          </a:p>
          <a:p>
            <a:pPr marL="342900" lvl="1" indent="0">
              <a:buNone/>
            </a:pPr>
            <a:r>
              <a:rPr lang="ko-KR" altLang="en-US" sz="2000"/>
              <a:t>둘 모두 동일한 영상입니다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96882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E793-1381-A850-1EF6-2A34A0F1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1F6FE-124B-A828-34B0-6476DE49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영상자료 </a:t>
            </a:r>
            <a:r>
              <a:rPr lang="en-US" altLang="ko-KR"/>
              <a:t>2. </a:t>
            </a:r>
            <a:r>
              <a:rPr lang="ko-KR" altLang="en-US"/>
              <a:t>타이머</a:t>
            </a:r>
            <a:r>
              <a:rPr lang="en-US" altLang="ko-KR"/>
              <a:t>, </a:t>
            </a:r>
            <a:r>
              <a:rPr lang="ko-KR" altLang="en-US"/>
              <a:t>인터럽트 관리</a:t>
            </a:r>
          </a:p>
        </p:txBody>
      </p:sp>
      <p:sp>
        <p:nvSpPr>
          <p:cNvPr id="3" name="내용 개체 틀 13">
            <a:extLst>
              <a:ext uri="{FF2B5EF4-FFF2-40B4-BE49-F238E27FC236}">
                <a16:creationId xmlns:a16="http://schemas.microsoft.com/office/drawing/2014/main" id="{520BFC46-EE85-9843-1AF2-50E0E5D44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62187"/>
            <a:ext cx="7886700" cy="3263504"/>
          </a:xfrm>
        </p:spPr>
        <p:txBody>
          <a:bodyPr rtlCol="0"/>
          <a:lstStyle/>
          <a:p>
            <a:pPr marL="342900" lvl="1" indent="0">
              <a:buNone/>
            </a:pPr>
            <a:r>
              <a:rPr lang="en-US" altLang="ko-KR" sz="2000">
                <a:hlinkClick r:id="rId2"/>
              </a:rPr>
              <a:t>https://drive.google.com/file/d/1l9a3UcSzz2m2YDH8YR5jd5BzHmdOz577/view?usp=drive_link</a:t>
            </a:r>
            <a:endParaRPr lang="en-US" altLang="ko-KR" sz="2000"/>
          </a:p>
          <a:p>
            <a:pPr marL="342900" lvl="1" indent="0">
              <a:buNone/>
            </a:pPr>
            <a:endParaRPr lang="en-US" altLang="ko-KR" sz="2000"/>
          </a:p>
          <a:p>
            <a:pPr marL="342900" lvl="1" indent="0">
              <a:buNone/>
            </a:pPr>
            <a:endParaRPr lang="en-US" altLang="ko-KR" sz="2000"/>
          </a:p>
          <a:p>
            <a:pPr marL="342900" lvl="1" indent="0">
              <a:buNone/>
            </a:pP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11819542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AC97-51C3-36FC-C016-D301E427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A4BE4-8C66-7573-06BD-8C704E18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  <a:r>
              <a:rPr lang="en-US" altLang="ko-KR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567973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37791</TotalTime>
  <Words>5263</Words>
  <Application>Microsoft Office PowerPoint</Application>
  <PresentationFormat>화면 슬라이드 쇼(4:3)</PresentationFormat>
  <Paragraphs>1027</Paragraphs>
  <Slides>53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3" baseType="lpstr">
      <vt:lpstr>굴림</vt:lpstr>
      <vt:lpstr>맑은 고딕</vt:lpstr>
      <vt:lpstr>Arial</vt:lpstr>
      <vt:lpstr>Century Gothic</vt:lpstr>
      <vt:lpstr>Consolas</vt:lpstr>
      <vt:lpstr>Times</vt:lpstr>
      <vt:lpstr>Times New Roman</vt:lpstr>
      <vt:lpstr>Verdana</vt:lpstr>
      <vt:lpstr>Wingdings</vt:lpstr>
      <vt:lpstr>Profile</vt:lpstr>
      <vt:lpstr> Pintos Tour</vt:lpstr>
      <vt:lpstr>WSL에 Pintos 설치</vt:lpstr>
      <vt:lpstr>WSL에 Pintos 설치</vt:lpstr>
      <vt:lpstr>WSL에 Pintos 설치</vt:lpstr>
      <vt:lpstr>WSL에 Pintos 설치</vt:lpstr>
      <vt:lpstr>WSL에 Pintos 설치</vt:lpstr>
      <vt:lpstr>WSL에 Pintos 설치</vt:lpstr>
      <vt:lpstr>타이머 관리와 인터럽트 처리</vt:lpstr>
      <vt:lpstr>timer_sleep</vt:lpstr>
      <vt:lpstr>thread_yield</vt:lpstr>
      <vt:lpstr>Interrupt Handling</vt:lpstr>
      <vt:lpstr>Timer Interrupt Handling</vt:lpstr>
      <vt:lpstr>Timer Interrupt Handling</vt:lpstr>
      <vt:lpstr>Timer Interrupt Handling</vt:lpstr>
      <vt:lpstr>Timer Interrupt Handling</vt:lpstr>
      <vt:lpstr>Timer Interrupt Handling</vt:lpstr>
      <vt:lpstr>Timer Interrupt Handling</vt:lpstr>
      <vt:lpstr>쓰레드 관리 시스템</vt:lpstr>
      <vt:lpstr>쓰레드 구조</vt:lpstr>
      <vt:lpstr>(struct thread).magic 필드</vt:lpstr>
      <vt:lpstr>%esp (stack top 레지스터)</vt:lpstr>
      <vt:lpstr>쓰레드 스위칭(1)</vt:lpstr>
      <vt:lpstr>쓰레드 스위칭(2)</vt:lpstr>
      <vt:lpstr>쓰레드 스위칭(3)</vt:lpstr>
      <vt:lpstr>쓰레드 스위칭(4)</vt:lpstr>
      <vt:lpstr>쓰레드 스위칭(5)</vt:lpstr>
      <vt:lpstr>쓰레드 스위칭(6)</vt:lpstr>
      <vt:lpstr>쓰레드 생성</vt:lpstr>
      <vt:lpstr>쓰레드 생성(1)</vt:lpstr>
      <vt:lpstr>쓰레드 생성(2)</vt:lpstr>
      <vt:lpstr>all_list와 ready_list</vt:lpstr>
      <vt:lpstr>all_list와 ready_list</vt:lpstr>
      <vt:lpstr>5 states model vs Pintos thread states</vt:lpstr>
      <vt:lpstr>PowerPoint 프레젠테이션</vt:lpstr>
      <vt:lpstr>5 states model vs Pintos thread states</vt:lpstr>
      <vt:lpstr>Schedule()</vt:lpstr>
      <vt:lpstr>Schedule()</vt:lpstr>
      <vt:lpstr>메모리 관리 시스템</vt:lpstr>
      <vt:lpstr>Memory Pool 구조 (kernel_pool)</vt:lpstr>
      <vt:lpstr>Memory Pool 구조</vt:lpstr>
      <vt:lpstr>80x86 Protect Mode에서 가상주소공간</vt:lpstr>
      <vt:lpstr>80x86 Protect Mode에서 물리주소 접근</vt:lpstr>
      <vt:lpstr>메모리 관리 시스템 구조 확인 (gdb)</vt:lpstr>
      <vt:lpstr>메모리 관리 시스템 구조 확인 (gdb)</vt:lpstr>
      <vt:lpstr>메모리 관리 시스템 구조 확인 (gdb)</vt:lpstr>
      <vt:lpstr>메모리 관리 시스템 구조 확인 (gdb)</vt:lpstr>
      <vt:lpstr>메모리 할당 (palloc_get_multiple) </vt:lpstr>
      <vt:lpstr>메모리 할당 (palloc_get_multiple) </vt:lpstr>
      <vt:lpstr>(+) Load Kernel</vt:lpstr>
      <vt:lpstr>(+) Load Kernel</vt:lpstr>
      <vt:lpstr>영상자료 1. 쓰레드 및 메모리 관리</vt:lpstr>
      <vt:lpstr>영상자료 2. 타이머, 인터럽트 관리</vt:lpstr>
      <vt:lpstr>감사합니다!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지반함몰 및 액상화에 관한 지하안전 위험도 평가 고도화 기술</dc:title>
  <dc:creator>Jinman Jung</dc:creator>
  <cp:lastModifiedBy>이태우</cp:lastModifiedBy>
  <cp:revision>471</cp:revision>
  <dcterms:created xsi:type="dcterms:W3CDTF">2007-01-20T18:57:48Z</dcterms:created>
  <dcterms:modified xsi:type="dcterms:W3CDTF">2025-08-22T13:29:26Z</dcterms:modified>
</cp:coreProperties>
</file>