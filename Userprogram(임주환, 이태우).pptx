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38"/>
  </p:notesMasterIdLst>
  <p:handoutMasterIdLst>
    <p:handoutMasterId r:id="rId39"/>
  </p:handoutMasterIdLst>
  <p:sldIdLst>
    <p:sldId id="2354" r:id="rId2"/>
    <p:sldId id="2445" r:id="rId3"/>
    <p:sldId id="2458" r:id="rId4"/>
    <p:sldId id="2424" r:id="rId5"/>
    <p:sldId id="2425" r:id="rId6"/>
    <p:sldId id="2437" r:id="rId7"/>
    <p:sldId id="2441" r:id="rId8"/>
    <p:sldId id="2443" r:id="rId9"/>
    <p:sldId id="2459" r:id="rId10"/>
    <p:sldId id="2444" r:id="rId11"/>
    <p:sldId id="2460" r:id="rId12"/>
    <p:sldId id="2446" r:id="rId13"/>
    <p:sldId id="2447" r:id="rId14"/>
    <p:sldId id="2451" r:id="rId15"/>
    <p:sldId id="2452" r:id="rId16"/>
    <p:sldId id="2455" r:id="rId17"/>
    <p:sldId id="2454" r:id="rId18"/>
    <p:sldId id="2449" r:id="rId19"/>
    <p:sldId id="2453" r:id="rId20"/>
    <p:sldId id="2450" r:id="rId21"/>
    <p:sldId id="2456" r:id="rId22"/>
    <p:sldId id="2416" r:id="rId23"/>
    <p:sldId id="2462" r:id="rId24"/>
    <p:sldId id="2418" r:id="rId25"/>
    <p:sldId id="2461" r:id="rId26"/>
    <p:sldId id="2423" r:id="rId27"/>
    <p:sldId id="2421" r:id="rId28"/>
    <p:sldId id="2420" r:id="rId29"/>
    <p:sldId id="2426" r:id="rId30"/>
    <p:sldId id="2427" r:id="rId31"/>
    <p:sldId id="2428" r:id="rId32"/>
    <p:sldId id="2429" r:id="rId33"/>
    <p:sldId id="2430" r:id="rId34"/>
    <p:sldId id="2431" r:id="rId35"/>
    <p:sldId id="2432" r:id="rId36"/>
    <p:sldId id="2457" r:id="rId37"/>
  </p:sldIdLst>
  <p:sldSz cx="9144000" cy="6858000" type="screen4x3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주환 임" initials="주임" lastIdx="2" clrIdx="0">
    <p:extLst>
      <p:ext uri="{19B8F6BF-5375-455C-9EA6-DF929625EA0E}">
        <p15:presenceInfo xmlns:p15="http://schemas.microsoft.com/office/powerpoint/2012/main" userId="36d51e01bbdb166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0D2"/>
    <a:srgbClr val="0000FF"/>
    <a:srgbClr val="CCFFFF"/>
    <a:srgbClr val="9CB1D4"/>
    <a:srgbClr val="E6E6E6"/>
    <a:srgbClr val="96BBDA"/>
    <a:srgbClr val="91B4DF"/>
    <a:srgbClr val="75DBFF"/>
    <a:srgbClr val="1F1F1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21E3F5-4B5B-4FDF-92E2-5F07CC8506F7}" v="2" dt="2025-08-08T02:31:28.3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3" autoAdjust="0"/>
    <p:restoredTop sz="94368" autoAdjust="0"/>
  </p:normalViewPr>
  <p:slideViewPr>
    <p:cSldViewPr>
      <p:cViewPr varScale="1">
        <p:scale>
          <a:sx n="91" d="100"/>
          <a:sy n="91" d="100"/>
        </p:scale>
        <p:origin x="749" y="62"/>
      </p:cViewPr>
      <p:guideLst>
        <p:guide orient="horz" pos="216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66" d="100"/>
        <a:sy n="66" d="100"/>
      </p:scale>
      <p:origin x="0" y="1824"/>
    </p:cViewPr>
  </p:sorterViewPr>
  <p:notesViewPr>
    <p:cSldViewPr>
      <p:cViewPr varScale="1">
        <p:scale>
          <a:sx n="72" d="100"/>
          <a:sy n="72" d="100"/>
        </p:scale>
        <p:origin x="-3378" y="-108"/>
      </p:cViewPr>
      <p:guideLst>
        <p:guide orient="horz" pos="3110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태우" userId="ffcfcfb1-8cc9-487a-a28d-695e70824722" providerId="ADAL" clId="{2521E3F5-4B5B-4FDF-92E2-5F07CC8506F7}"/>
    <pc:docChg chg="undo redo custSel modSld">
      <pc:chgData name="이태우" userId="ffcfcfb1-8cc9-487a-a28d-695e70824722" providerId="ADAL" clId="{2521E3F5-4B5B-4FDF-92E2-5F07CC8506F7}" dt="2025-08-08T02:31:30.037" v="36" actId="20577"/>
      <pc:docMkLst>
        <pc:docMk/>
      </pc:docMkLst>
      <pc:sldChg chg="modSp mod">
        <pc:chgData name="이태우" userId="ffcfcfb1-8cc9-487a-a28d-695e70824722" providerId="ADAL" clId="{2521E3F5-4B5B-4FDF-92E2-5F07CC8506F7}" dt="2025-08-08T02:31:30.037" v="36" actId="20577"/>
        <pc:sldMkLst>
          <pc:docMk/>
          <pc:sldMk cId="2734076484" sldId="2432"/>
        </pc:sldMkLst>
        <pc:spChg chg="mod">
          <ac:chgData name="이태우" userId="ffcfcfb1-8cc9-487a-a28d-695e70824722" providerId="ADAL" clId="{2521E3F5-4B5B-4FDF-92E2-5F07CC8506F7}" dt="2025-08-08T02:31:30.037" v="36" actId="20577"/>
          <ac:spMkLst>
            <pc:docMk/>
            <pc:sldMk cId="2734076484" sldId="2432"/>
            <ac:spMk id="3" creationId="{8FBED4B1-0A48-0052-D023-E762F9A9530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cs typeface="Arial" pitchFamily="34" charset="0"/>
              </a:defRPr>
            </a:lvl1pPr>
          </a:lstStyle>
          <a:p>
            <a:pPr>
              <a:defRPr/>
            </a:pPr>
            <a:fld id="{211E80FD-51A1-4138-B9E7-C62E4F374115}" type="datetimeFigureOut">
              <a:rPr lang="ko-KR" altLang="en-US"/>
              <a:pPr>
                <a:defRPr/>
              </a:pPr>
              <a:t>2025-08-16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cs typeface="Arial" pitchFamily="34" charset="0"/>
              </a:defRPr>
            </a:lvl1pPr>
          </a:lstStyle>
          <a:p>
            <a:pPr>
              <a:defRPr/>
            </a:pPr>
            <a:fld id="{F21F901A-645F-4CDB-97C3-785B6AEAA97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4985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0275" y="739775"/>
            <a:ext cx="493712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691063"/>
            <a:ext cx="5435600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3034C4DD-B5F0-4D19-90EF-C93D91509D9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22757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버츄얼박스와 우분투를 설치 데모영상입니다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67785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01450-5834-05C1-87DC-EAFE9B6E0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0A5771-1773-8EB9-FACB-26984CBE9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193A9A-4CF8-B740-E91D-7E16E4A16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761CC3-10B0-F61A-296D-9AF98A9AA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98123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3B334-00D6-0977-F66F-0AB070C63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88510-97A6-4FA5-41BA-B03BFCB23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307776-3A79-B6F8-9A3A-1E554918F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361EDB-EE47-2F0B-E8D5-EB2479F7E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4183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04A6D-EBE5-A80C-612E-C7EB1A91F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A851E3-B03A-C562-DEB6-ACC1F6C2D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454DA9-7A3A-F7FE-25C5-4607FD13B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3A2E8-3903-9669-64B7-E06AB6290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68833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E5797-A987-0D65-9813-FC7E259F6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AD9936-6B0F-B1E2-255E-346BA313E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E3514B-B5C5-F3D7-980F-21EE766F2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F77279-BEE3-6F87-059B-36D427D08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1672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66567-02BB-8053-DD5B-BAFC5A9AE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57C35F-1BE3-712C-7F3A-0BC503B58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C717DC-807C-69FA-5C4E-91CE70B9D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A62D95-6D23-60BE-4247-BDD1E415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02343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2DBAE-06F9-CB63-F94F-2685B8049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AF2A78-B5D3-AD75-94A9-E2B1BA6AF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3F3D33-0DC5-9560-E662-33E9EA76E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101E77-EAD9-2197-A64A-6F4C037FA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9215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3EB8B-3583-4EC6-2F65-DA281EC8C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FB4C9F-7A82-EE4E-6E34-9A7B9C798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11811C-492F-D438-6A85-F523DAACE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3676BC-0986-6009-425B-33C18BA34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8834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DAEF6-C6A6-8165-7631-B331AE434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3331F2-2885-F693-8887-8CA3A793A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4BCE19-862E-C517-460B-8F934FD97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3036C0-9AEC-1ED6-2249-6286174965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68562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EC6EC-DE84-30F0-984F-EA6F181C9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FE1842-E178-88DD-249A-48AA3F91C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DF09B0-EF86-07BF-F933-C2C84243A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DB2E6C-1484-132E-FD3B-CFFEDE3313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100675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35EA6-FDD5-04CE-8255-C23ACFABE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0A04E0-3EA0-4AD6-7162-A228BF1D4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830E41-67EB-A56D-22E4-8437B7247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3A968F-7193-D6FF-657E-78A7E061C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40863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E89C9-0D3D-6C6D-B24D-0871B9EDA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F12E28-21CA-2C5A-A558-11C4A514D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B4F4C-E676-A242-3E5F-D2CC4A28A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4E9105-642E-88BC-F579-E7CAE3C9B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033658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FADEA-DC5B-3DD8-3C22-280985C1B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79E9F7-7DED-FF77-1FFE-81D8CBEE1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081F6F-0637-BCC6-87EB-78894E23C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5BA19D-2D8D-BFEB-4991-3981F04C39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275613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19B2E-A990-A963-85BE-3DC57610A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8C9089-7836-9811-3240-26EE762D8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D44615-621F-F1F5-2B67-F8002205E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8040AE-A085-B4AD-F1ED-719F9A8B8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234139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C7899-70D1-DBEA-BAF4-1600DA9C1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B500BA-BD8F-4AEC-35F9-D8E310CB4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37166C-A2DA-424F-94A1-062DA3D81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26419C-584A-2D5E-711E-6D30BBB8B8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009311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85BC7-BCCD-0759-BDED-44A6DBEB1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B87D75-7867-B96F-401E-A0111602F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0650DC-7109-DCE1-2A58-82DEC0C4F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8B3709-F645-27F8-A8A6-DC10C6DCD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414501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CBE63-B138-984D-C21B-69991CF22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C1660A-5509-A9C5-C9AA-3C5EAE2B6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96B93C-0C8E-248B-80DC-972EE5C62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038719-DA4C-81EF-8CBF-0747B8908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39774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E7D03-474F-CC92-AAC7-B83F6194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E5AAEF-0B47-5F66-16CC-4AE849DD1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A5D7B2-68AF-D596-1C87-1206FEA0B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4AF2A6-65D9-8E65-F7E2-4CE2F99F3A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6253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E536D-82B7-8BEF-BA92-21C1F0185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910D40-7382-4201-486D-2809DFBC0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FEB804-71C4-4035-74DB-AB0A666CB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CC19E9-70AA-890F-2572-685708337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28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74887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95F93-A4C9-A0F2-4913-53AB57869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F6453F-2C57-7754-7427-668AECA1A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8DA21B-36AC-CAB0-4E38-C5A72172A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39057D-4A32-C101-048C-6458E0B23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68562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F4D83-9082-FA46-76FE-EA95B39A4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1DAF4E-F6A6-B6B7-8F09-C3B82A028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4E4390-76FC-2F84-87AF-2EFDB66D3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A58F55-A94D-78CC-9F2D-1319853AE2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30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637212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AEBF2-E79B-485F-18B8-259BF4EA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F0CE8E-219F-79D8-74DA-D50FF6A65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504803-7A37-3D79-5663-4C29DF58E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49569B-0A60-A433-B552-443F9BDFE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834050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3D1B9-ADEC-0FD6-9B35-2B694D52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495E4D-32F6-C21F-3F85-8A06F865C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0BB74E-F174-9014-7C99-7DAC0C2CE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1F442A-5CB9-2897-7FA4-EE8175329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255108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E1DA8-1DFD-B758-E947-2347120CE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CE2037-754F-B74B-4751-0EC557656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72FFB9-D0DE-F501-77D5-BA16E013F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44E1FB-3224-3447-048C-1FFBDCC3E4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26779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C6E37-0735-19C8-781C-58DC3216F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483DB7-0A29-EC70-C291-EE959493D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B13FA6-40B0-A87B-5A76-E52D81E25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22ACAA-F184-91EA-F98D-45E5115EFF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428221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4AB56-A08E-B50A-3524-9A31BE124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460D22-A135-C855-8241-855195D2E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4E2C7C-E330-5C1B-A13A-DD42261D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B0F02C-CB99-93F9-94CC-75B679BD4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8749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3167063"/>
            <a:ext cx="7772400" cy="109537"/>
          </a:xfrm>
          <a:custGeom>
            <a:avLst/>
            <a:gdLst>
              <a:gd name="T0" fmla="*/ 0 w 1000"/>
              <a:gd name="T1" fmla="*/ 0 h 1000"/>
              <a:gd name="T2" fmla="*/ 4803343 w 1000"/>
              <a:gd name="T3" fmla="*/ 0 h 1000"/>
              <a:gd name="T4" fmla="*/ 4803343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7724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20574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ko-KR" dirty="0"/>
              <a:t>Click to edit Master title style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11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B3FB860D-F394-48CF-92D0-A8FAD68E8B2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65845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B3FB860D-F394-48CF-92D0-A8FAD68E8B2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7968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B3FB860D-F394-48CF-92D0-A8FAD68E8B2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67597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B3FB860D-F394-48CF-92D0-A8FAD68E8B2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29098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C4F442-0702-4871-9EAF-8F0C083906A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7874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77BF6-BA3E-4748-B245-534E2C51AF96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25324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77BF6-BA3E-4748-B245-534E2C51AF96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40306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77BF6-BA3E-4748-B245-534E2C51AF96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29269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74D9A6-73D7-4A68-816A-D2C18F85EA6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44944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ECF23F-13E4-46CA-AA3A-B4A7B1C0ECB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94489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5ABB9B-3F09-4AA4-9D80-FA51D0ADB24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0992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15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57972A-6669-4AFE-901C-0750805E26F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773378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B860D-F394-48CF-92D0-A8FAD68E8B2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8492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AutoShape 7"/>
          <p:cNvSpPr>
            <a:spLocks noChangeArrowheads="1"/>
          </p:cNvSpPr>
          <p:nvPr userDrawn="1"/>
        </p:nvSpPr>
        <p:spPr bwMode="auto">
          <a:xfrm>
            <a:off x="600456" y="1563624"/>
            <a:ext cx="7772400" cy="109537"/>
          </a:xfrm>
          <a:custGeom>
            <a:avLst/>
            <a:gdLst>
              <a:gd name="T0" fmla="*/ 0 w 1000"/>
              <a:gd name="T1" fmla="*/ 0 h 1000"/>
              <a:gd name="T2" fmla="*/ 4803343 w 1000"/>
              <a:gd name="T3" fmla="*/ 0 h 1000"/>
              <a:gd name="T4" fmla="*/ 4803343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7724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내용 개체 틀 1"/>
          <p:cNvSpPr>
            <a:spLocks noGrp="1"/>
          </p:cNvSpPr>
          <p:nvPr>
            <p:ph idx="10"/>
          </p:nvPr>
        </p:nvSpPr>
        <p:spPr>
          <a:xfrm>
            <a:off x="566738" y="1752600"/>
            <a:ext cx="8008937" cy="4267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B860D-F394-48CF-92D0-A8FAD68E8B2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75603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7 h 1000"/>
              <a:gd name="T6" fmla="*/ 0 w 1000"/>
              <a:gd name="T7" fmla="*/ 109537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83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B3FB860D-F394-48CF-92D0-A8FAD68E8B2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3" r:id="rId1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cs typeface="+mn-cs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  <a:cs typeface="+mn-cs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rgbClr val="0000FF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3581400"/>
            <a:ext cx="7467600" cy="2895600"/>
          </a:xfrm>
        </p:spPr>
        <p:txBody>
          <a:bodyPr/>
          <a:lstStyle/>
          <a:p>
            <a:pPr algn="ctr" eaLnBrk="1" hangingPunct="1"/>
            <a:r>
              <a:rPr lang="en-US" altLang="ko-KR" sz="2000" b="1">
                <a:ea typeface="굴림" pitchFamily="50" charset="-127"/>
              </a:rPr>
              <a:t>Team 1</a:t>
            </a:r>
          </a:p>
          <a:p>
            <a:pPr algn="ctr" eaLnBrk="1" hangingPunct="1"/>
            <a:r>
              <a:rPr lang="en-US" altLang="ko-KR" sz="2000" b="1">
                <a:ea typeface="굴림" pitchFamily="50" charset="-127"/>
              </a:rPr>
              <a:t>21 </a:t>
            </a:r>
            <a:r>
              <a:rPr lang="ko-KR" altLang="en-US" sz="2000" b="1">
                <a:ea typeface="굴림" pitchFamily="50" charset="-127"/>
              </a:rPr>
              <a:t>이태우</a:t>
            </a:r>
            <a:endParaRPr lang="en-US" altLang="ko-KR" sz="2000" b="1">
              <a:ea typeface="굴림" pitchFamily="50" charset="-127"/>
            </a:endParaRPr>
          </a:p>
          <a:p>
            <a:pPr algn="ctr" eaLnBrk="1" hangingPunct="1"/>
            <a:r>
              <a:rPr lang="en-US" altLang="ko-KR" sz="2000" b="1">
                <a:ea typeface="굴림" pitchFamily="50" charset="-127"/>
              </a:rPr>
              <a:t>21 </a:t>
            </a:r>
            <a:r>
              <a:rPr lang="ko-KR" altLang="en-US" sz="2000" b="1">
                <a:ea typeface="굴림" pitchFamily="50" charset="-127"/>
              </a:rPr>
              <a:t>임주환</a:t>
            </a:r>
            <a:endParaRPr lang="en-US" altLang="ko-KR" sz="2000" b="1" dirty="0">
              <a:ea typeface="굴림" pitchFamily="50" charset="-127"/>
            </a:endParaRPr>
          </a:p>
        </p:txBody>
      </p:sp>
      <p:pic>
        <p:nvPicPr>
          <p:cNvPr id="4" name="Picture 2" descr="인하대학교 - 위키백과, 우리 모두의 백과사전">
            <a:extLst>
              <a:ext uri="{FF2B5EF4-FFF2-40B4-BE49-F238E27FC236}">
                <a16:creationId xmlns:a16="http://schemas.microsoft.com/office/drawing/2014/main" id="{A5F3B9C5-6384-42D3-ABB0-138DFCFF6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76" y="1250749"/>
            <a:ext cx="1629251" cy="1754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14400"/>
            <a:ext cx="8001000" cy="2057400"/>
          </a:xfrm>
        </p:spPr>
        <p:txBody>
          <a:bodyPr/>
          <a:lstStyle/>
          <a:p>
            <a:pPr algn="ctr" eaLnBrk="1" hangingPunct="1"/>
            <a:br>
              <a:rPr lang="en-US" altLang="ko-KR" sz="2400" b="1">
                <a:ea typeface="굴림" pitchFamily="50" charset="-127"/>
              </a:rPr>
            </a:br>
            <a:r>
              <a:rPr lang="en-US" altLang="ko-KR" sz="2800" b="1">
                <a:ea typeface="굴림" pitchFamily="50" charset="-127"/>
              </a:rPr>
              <a:t>System Calls for</a:t>
            </a:r>
            <a:br>
              <a:rPr lang="en-US" altLang="ko-KR" sz="2800" b="1">
                <a:ea typeface="굴림" pitchFamily="50" charset="-127"/>
              </a:rPr>
            </a:br>
            <a:r>
              <a:rPr lang="en-US" altLang="ko-KR" sz="2800" b="1">
                <a:ea typeface="굴림" pitchFamily="50" charset="-127"/>
              </a:rPr>
              <a:t>File and Process Management</a:t>
            </a:r>
            <a:endParaRPr lang="en-US" altLang="ko-KR" sz="2800" b="1" dirty="0"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597154-18A2-E0C5-A72D-FAC2909C4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Contents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DD3A90-9BF6-9137-4C22-55B0B5157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752600"/>
            <a:ext cx="8001000" cy="44958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altLang="ko-KR" sz="1800" b="1"/>
              <a:t>Virtual Address Space and Protection</a:t>
            </a:r>
          </a:p>
          <a:p>
            <a:pPr lvl="1">
              <a:buFont typeface="+mj-lt"/>
              <a:buAutoNum type="arabicPeriod"/>
            </a:pPr>
            <a:r>
              <a:rPr lang="en-US" altLang="ko-KR" sz="1800"/>
              <a:t>Kernel &amp; User Virtual Address Space</a:t>
            </a:r>
          </a:p>
          <a:p>
            <a:pPr lvl="1">
              <a:buFont typeface="+mj-lt"/>
              <a:buAutoNum type="arabicPeriod"/>
            </a:pPr>
            <a:r>
              <a:rPr lang="en-US" altLang="ko-KR" sz="1800"/>
              <a:t>Load ELF</a:t>
            </a:r>
          </a:p>
          <a:p>
            <a:pPr lvl="1">
              <a:buFont typeface="+mj-lt"/>
              <a:buAutoNum type="arabicPeriod"/>
            </a:pPr>
            <a:r>
              <a:rPr lang="en-US" altLang="ko-KR" sz="1800"/>
              <a:t>x86 (IA-32) Memory Protection</a:t>
            </a:r>
          </a:p>
          <a:p>
            <a:pPr>
              <a:buFont typeface="+mj-lt"/>
              <a:buAutoNum type="arabicPeriod"/>
            </a:pPr>
            <a:r>
              <a:rPr lang="en-US" altLang="ko-KR" sz="1800" b="1"/>
              <a:t>Mode Switch</a:t>
            </a:r>
          </a:p>
          <a:p>
            <a:pPr lvl="1">
              <a:buFont typeface="+mj-lt"/>
              <a:buAutoNum type="arabicPeriod"/>
            </a:pPr>
            <a:r>
              <a:rPr lang="en-US" altLang="ko-KR" sz="1800"/>
              <a:t>x86 (IA-32) mode switch</a:t>
            </a:r>
          </a:p>
          <a:p>
            <a:pPr lvl="1">
              <a:buFont typeface="+mj-lt"/>
              <a:buAutoNum type="arabicPeriod"/>
            </a:pPr>
            <a:r>
              <a:rPr lang="en-US" altLang="ko-KR" sz="1800"/>
              <a:t>Validation of pointers passed from user</a:t>
            </a:r>
          </a:p>
          <a:p>
            <a:pPr>
              <a:buFont typeface="+mj-lt"/>
              <a:buAutoNum type="arabicPeriod"/>
            </a:pPr>
            <a:r>
              <a:rPr lang="en-US" altLang="ko-KR" sz="1800" b="1"/>
              <a:t>Process Syscall and Synchronization</a:t>
            </a:r>
          </a:p>
          <a:p>
            <a:pPr lvl="1">
              <a:buFont typeface="+mj-lt"/>
              <a:buAutoNum type="arabicPeriod"/>
            </a:pPr>
            <a:r>
              <a:rPr lang="en-US" altLang="ko-KR" sz="1800"/>
              <a:t>EXEC</a:t>
            </a:r>
          </a:p>
          <a:p>
            <a:pPr lvl="2">
              <a:buFont typeface="+mj-lt"/>
              <a:buAutoNum type="arabicPeriod"/>
            </a:pPr>
            <a:r>
              <a:rPr lang="en-US" altLang="ko-KR" sz="1500"/>
              <a:t>Producer Consumer Problem</a:t>
            </a:r>
          </a:p>
          <a:p>
            <a:pPr lvl="2">
              <a:buFont typeface="+mj-lt"/>
              <a:buAutoNum type="arabicPeriod"/>
            </a:pPr>
            <a:r>
              <a:rPr lang="en-US" altLang="ko-KR" sz="1500"/>
              <a:t>Implementation</a:t>
            </a:r>
          </a:p>
          <a:p>
            <a:pPr lvl="1">
              <a:buFont typeface="+mj-lt"/>
              <a:buAutoNum type="arabicPeriod"/>
            </a:pPr>
            <a:r>
              <a:rPr lang="en-US" altLang="ko-KR" sz="1800"/>
              <a:t>WAIT &amp; EXIT</a:t>
            </a:r>
          </a:p>
          <a:p>
            <a:pPr lvl="2">
              <a:buFont typeface="+mj-lt"/>
              <a:buAutoNum type="arabicPeriod"/>
            </a:pPr>
            <a:r>
              <a:rPr lang="en-US" altLang="ko-KR" sz="1500"/>
              <a:t>Producer Consumer Problem</a:t>
            </a:r>
          </a:p>
          <a:p>
            <a:pPr lvl="2">
              <a:buFont typeface="+mj-lt"/>
              <a:buAutoNum type="arabicPeriod"/>
            </a:pPr>
            <a:r>
              <a:rPr lang="en-US" altLang="ko-KR" sz="1500"/>
              <a:t>Implementation</a:t>
            </a:r>
          </a:p>
          <a:p>
            <a:pPr lvl="2">
              <a:buFont typeface="+mj-lt"/>
              <a:buAutoNum type="arabicPeriod"/>
            </a:pPr>
            <a:endParaRPr lang="en-US" altLang="ko-KR" sz="1500"/>
          </a:p>
          <a:p>
            <a:pPr lvl="2">
              <a:buFont typeface="+mj-lt"/>
              <a:buAutoNum type="arabicPeriod"/>
            </a:pPr>
            <a:endParaRPr lang="en-US" altLang="ko-KR" sz="1500"/>
          </a:p>
          <a:p>
            <a:pPr lvl="1">
              <a:buFont typeface="+mj-lt"/>
              <a:buAutoNum type="arabicPeriod"/>
            </a:pPr>
            <a:endParaRPr lang="en-US" altLang="ko-KR" sz="1800"/>
          </a:p>
          <a:p>
            <a:pPr lvl="1">
              <a:buFont typeface="+mj-lt"/>
              <a:buAutoNum type="arabicPeriod"/>
            </a:pPr>
            <a:endParaRPr lang="en-US" altLang="ko-KR" sz="1800"/>
          </a:p>
          <a:p>
            <a:pPr lvl="1">
              <a:buFont typeface="+mj-lt"/>
              <a:buAutoNum type="arabicPeriod"/>
            </a:pPr>
            <a:endParaRPr lang="en-US" altLang="ko-KR" sz="1800"/>
          </a:p>
        </p:txBody>
      </p:sp>
    </p:spTree>
    <p:extLst>
      <p:ext uri="{BB962C8B-B14F-4D97-AF65-F5344CB8AC3E}">
        <p14:creationId xmlns:p14="http://schemas.microsoft.com/office/powerpoint/2010/main" val="3833891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8DB55-2256-B183-8885-1EADDFF23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2761537-6ECF-5576-864D-4D9B36D4DDA7}"/>
              </a:ext>
            </a:extLst>
          </p:cNvPr>
          <p:cNvSpPr txBox="1">
            <a:spLocks/>
          </p:cNvSpPr>
          <p:nvPr/>
        </p:nvSpPr>
        <p:spPr bwMode="auto">
          <a:xfrm>
            <a:off x="571500" y="444660"/>
            <a:ext cx="8001000" cy="4051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r>
              <a:rPr lang="en-US" altLang="ko-KR" sz="1800" b="1" kern="0"/>
              <a:t>Virtual Address Space and Protection</a:t>
            </a:r>
          </a:p>
          <a:p>
            <a:pPr>
              <a:buFont typeface="+mj-lt"/>
              <a:buAutoNum type="arabicPeriod"/>
            </a:pPr>
            <a:r>
              <a:rPr lang="en-US" altLang="ko-KR" sz="1800" b="1" kern="0"/>
              <a:t>Mode Switch</a:t>
            </a:r>
          </a:p>
          <a:p>
            <a:pPr>
              <a:buFont typeface="+mj-lt"/>
              <a:buAutoNum type="arabicPeriod"/>
            </a:pPr>
            <a:r>
              <a:rPr lang="en-US" altLang="ko-KR" sz="1800" b="1" kern="0"/>
              <a:t>Process Syscall and Synchronization</a:t>
            </a:r>
          </a:p>
          <a:p>
            <a:pPr>
              <a:buFont typeface="+mj-lt"/>
              <a:buAutoNum type="arabicPeriod"/>
            </a:pPr>
            <a:endParaRPr lang="en-US" altLang="ko-KR" sz="1800" b="1" kern="0"/>
          </a:p>
          <a:p>
            <a:pPr>
              <a:buFont typeface="+mj-lt"/>
              <a:buAutoNum type="arabicPeriod"/>
            </a:pPr>
            <a:r>
              <a:rPr lang="en-US" altLang="ko-KR" sz="1800" b="1" kern="0"/>
              <a:t>File Syscall and Synchronization</a:t>
            </a:r>
          </a:p>
          <a:p>
            <a:pPr lvl="1">
              <a:buFont typeface="+mj-lt"/>
              <a:buAutoNum type="arabicPeriod"/>
            </a:pPr>
            <a:r>
              <a:rPr lang="en-US" altLang="ko-KR" sz="1800" kern="0"/>
              <a:t>File System overview: FDT, File Object and Inode</a:t>
            </a:r>
            <a:endParaRPr lang="en-US" altLang="ko-KR" sz="1500" kern="0"/>
          </a:p>
          <a:p>
            <a:pPr lvl="1">
              <a:buFont typeface="+mj-lt"/>
              <a:buAutoNum type="arabicPeriod"/>
            </a:pPr>
            <a:r>
              <a:rPr lang="en-US" altLang="ko-KR" sz="1800" kern="0"/>
              <a:t>Synchronizaion</a:t>
            </a:r>
          </a:p>
          <a:p>
            <a:pPr lvl="2">
              <a:buFont typeface="+mj-lt"/>
              <a:buAutoNum type="arabicPeriod"/>
            </a:pPr>
            <a:r>
              <a:rPr lang="en-US" altLang="ko-KR" sz="1500" kern="0"/>
              <a:t>Global Lock Strategy</a:t>
            </a:r>
          </a:p>
          <a:p>
            <a:pPr lvl="2">
              <a:buFont typeface="+mj-lt"/>
              <a:buAutoNum type="arabicPeriod"/>
            </a:pPr>
            <a:r>
              <a:rPr lang="en-US" altLang="ko-KR" sz="1500" kern="0"/>
              <a:t>Future Improvements</a:t>
            </a:r>
          </a:p>
          <a:p>
            <a:pPr lvl="1">
              <a:buFont typeface="+mj-lt"/>
              <a:buAutoNum type="arabicPeriod"/>
            </a:pPr>
            <a:r>
              <a:rPr lang="en-US" altLang="ko-KR" sz="1800" kern="0"/>
              <a:t>Implementation</a:t>
            </a:r>
          </a:p>
          <a:p>
            <a:pPr lvl="1">
              <a:buFont typeface="+mj-lt"/>
              <a:buAutoNum type="arabicPeriod"/>
            </a:pPr>
            <a:endParaRPr lang="en-US" altLang="ko-KR" sz="1800" kern="0"/>
          </a:p>
          <a:p>
            <a:pPr>
              <a:buFont typeface="+mj-lt"/>
              <a:buAutoNum type="arabicPeriod"/>
            </a:pPr>
            <a:r>
              <a:rPr lang="en-US" altLang="ko-KR" sz="1800" b="1" kern="0"/>
              <a:t>Project Test</a:t>
            </a:r>
          </a:p>
          <a:p>
            <a:pPr marL="471487" lvl="1" indent="0">
              <a:buNone/>
            </a:pPr>
            <a:endParaRPr lang="en-US" altLang="ko-KR" sz="1500" kern="0"/>
          </a:p>
          <a:p>
            <a:pPr lvl="2">
              <a:buFont typeface="+mj-lt"/>
              <a:buAutoNum type="arabicPeriod"/>
            </a:pPr>
            <a:endParaRPr lang="en-US" altLang="ko-KR" sz="1500" kern="0"/>
          </a:p>
          <a:p>
            <a:pPr lvl="2">
              <a:buFont typeface="+mj-lt"/>
              <a:buAutoNum type="arabicPeriod"/>
            </a:pPr>
            <a:endParaRPr lang="en-US" altLang="ko-KR" sz="1500" kern="0"/>
          </a:p>
          <a:p>
            <a:pPr lvl="2">
              <a:buFont typeface="+mj-lt"/>
              <a:buAutoNum type="arabicPeriod"/>
            </a:pPr>
            <a:endParaRPr lang="en-US" altLang="ko-KR" sz="1500" kern="0"/>
          </a:p>
          <a:p>
            <a:pPr lvl="1">
              <a:buFont typeface="+mj-lt"/>
              <a:buAutoNum type="arabicPeriod"/>
            </a:pPr>
            <a:endParaRPr lang="en-US" altLang="ko-KR" sz="1800" kern="0"/>
          </a:p>
          <a:p>
            <a:pPr lvl="1">
              <a:buFont typeface="+mj-lt"/>
              <a:buAutoNum type="arabicPeriod"/>
            </a:pPr>
            <a:endParaRPr lang="en-US" altLang="ko-KR" sz="1800" kern="0"/>
          </a:p>
          <a:p>
            <a:pPr lvl="1">
              <a:buFont typeface="+mj-lt"/>
              <a:buAutoNum type="arabicPeriod"/>
            </a:pPr>
            <a:endParaRPr lang="en-US" altLang="ko-KR" sz="1800" kern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E85AE7-2970-5D9F-0F09-B6553C3E1980}"/>
              </a:ext>
            </a:extLst>
          </p:cNvPr>
          <p:cNvSpPr/>
          <p:nvPr/>
        </p:nvSpPr>
        <p:spPr bwMode="auto">
          <a:xfrm>
            <a:off x="342900" y="457200"/>
            <a:ext cx="8458200" cy="1063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6F0E353-A8C0-0BA5-8EF6-65C8911C5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80" y="304800"/>
            <a:ext cx="8001000" cy="1216025"/>
          </a:xfrm>
        </p:spPr>
        <p:txBody>
          <a:bodyPr/>
          <a:lstStyle/>
          <a:p>
            <a:r>
              <a:rPr lang="en-US" altLang="ko-KR"/>
              <a:t>Contents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26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14944-E42E-413E-3358-21DC99B99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AAEE93A-D5EB-4792-26EC-E4EB33196D4D}"/>
              </a:ext>
            </a:extLst>
          </p:cNvPr>
          <p:cNvSpPr/>
          <p:nvPr/>
        </p:nvSpPr>
        <p:spPr bwMode="auto">
          <a:xfrm>
            <a:off x="0" y="2065806"/>
            <a:ext cx="9144000" cy="195973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2510550D-5400-3AF2-1811-E2B6F60233D7}"/>
              </a:ext>
            </a:extLst>
          </p:cNvPr>
          <p:cNvSpPr/>
          <p:nvPr/>
        </p:nvSpPr>
        <p:spPr bwMode="auto">
          <a:xfrm rot="2796604">
            <a:off x="687854" y="3731606"/>
            <a:ext cx="3864052" cy="1059776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9CA22844-D8F5-1F07-19BF-D3049B87EA9E}"/>
              </a:ext>
            </a:extLst>
          </p:cNvPr>
          <p:cNvSpPr/>
          <p:nvPr/>
        </p:nvSpPr>
        <p:spPr bwMode="auto">
          <a:xfrm rot="2796604">
            <a:off x="720012" y="3737355"/>
            <a:ext cx="3864052" cy="967881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292E181D-D584-0253-7C4B-BE5658E034E2}"/>
              </a:ext>
            </a:extLst>
          </p:cNvPr>
          <p:cNvSpPr/>
          <p:nvPr/>
        </p:nvSpPr>
        <p:spPr bwMode="auto">
          <a:xfrm rot="2796604">
            <a:off x="888595" y="3808861"/>
            <a:ext cx="3864052" cy="485879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BD7541E-2CB9-F661-4F73-A6893B1F4772}"/>
              </a:ext>
            </a:extLst>
          </p:cNvPr>
          <p:cNvSpPr/>
          <p:nvPr/>
        </p:nvSpPr>
        <p:spPr bwMode="auto">
          <a:xfrm>
            <a:off x="3560305" y="2057400"/>
            <a:ext cx="914400" cy="3962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669E6DB-1D91-76F4-C3D5-CAA2F9B24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/>
              <a:t>Default Virtual Address Space Layout</a:t>
            </a:r>
            <a:endParaRPr lang="ko-KR" altLang="en-US" sz="32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B1FFEC-1BBB-5367-7495-0677C563E06B}"/>
              </a:ext>
            </a:extLst>
          </p:cNvPr>
          <p:cNvSpPr/>
          <p:nvPr/>
        </p:nvSpPr>
        <p:spPr bwMode="auto">
          <a:xfrm>
            <a:off x="757932" y="2057400"/>
            <a:ext cx="914400" cy="3962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E62D815-E8DC-A6F9-88F2-7B757FDD9D55}"/>
              </a:ext>
            </a:extLst>
          </p:cNvPr>
          <p:cNvSpPr/>
          <p:nvPr/>
        </p:nvSpPr>
        <p:spPr bwMode="auto">
          <a:xfrm>
            <a:off x="3559544" y="4483188"/>
            <a:ext cx="914400" cy="15366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14B3FA-B838-9746-0209-1F1501D7DFE6}"/>
              </a:ext>
            </a:extLst>
          </p:cNvPr>
          <p:cNvSpPr txBox="1"/>
          <p:nvPr/>
        </p:nvSpPr>
        <p:spPr>
          <a:xfrm>
            <a:off x="337208" y="1774292"/>
            <a:ext cx="17395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>
                <a:solidFill>
                  <a:srgbClr val="0000FF"/>
                </a:solidFill>
              </a:rPr>
              <a:t>Virtual Addr </a:t>
            </a:r>
            <a:r>
              <a:rPr lang="en-US" altLang="ko-KR" sz="1100"/>
              <a:t>Space</a:t>
            </a:r>
            <a:endParaRPr lang="ko-KR" altLang="en-US" sz="11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736057-4FAB-2290-C636-EF39D87B2DA9}"/>
              </a:ext>
            </a:extLst>
          </p:cNvPr>
          <p:cNvSpPr txBox="1"/>
          <p:nvPr/>
        </p:nvSpPr>
        <p:spPr>
          <a:xfrm>
            <a:off x="4432661" y="3905477"/>
            <a:ext cx="4267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/>
              <a:t>3GB</a:t>
            </a:r>
            <a:endParaRPr lang="ko-KR" altLang="en-US" sz="90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571F455-CB36-3263-6ED3-74103E01E2D7}"/>
              </a:ext>
            </a:extLst>
          </p:cNvPr>
          <p:cNvGrpSpPr/>
          <p:nvPr/>
        </p:nvGrpSpPr>
        <p:grpSpPr>
          <a:xfrm>
            <a:off x="4315244" y="4068504"/>
            <a:ext cx="311304" cy="325565"/>
            <a:chOff x="7612939" y="4068504"/>
            <a:chExt cx="311304" cy="32556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81CB1F5-E32C-9393-AC72-D34A4FB053F2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EF8331A-EA94-D024-4A37-059EA68B9683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47AF3A8-85B4-A6CB-AFA1-24D014050C4B}"/>
              </a:ext>
            </a:extLst>
          </p:cNvPr>
          <p:cNvGrpSpPr/>
          <p:nvPr/>
        </p:nvGrpSpPr>
        <p:grpSpPr>
          <a:xfrm>
            <a:off x="1512871" y="4068504"/>
            <a:ext cx="311304" cy="325565"/>
            <a:chOff x="7612939" y="4068504"/>
            <a:chExt cx="311304" cy="32556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7410310-995F-A09F-0461-7500319BBF74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EBFA977-6E00-1EA9-4102-C85342B88239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AC83432-A2F8-288D-27D2-37BBFB76C4A3}"/>
              </a:ext>
            </a:extLst>
          </p:cNvPr>
          <p:cNvGrpSpPr/>
          <p:nvPr/>
        </p:nvGrpSpPr>
        <p:grpSpPr>
          <a:xfrm>
            <a:off x="598471" y="4068504"/>
            <a:ext cx="311304" cy="325565"/>
            <a:chOff x="7612939" y="4068504"/>
            <a:chExt cx="311304" cy="32556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B462BA8-5290-9A7D-EA0D-4A8496C17B63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3F3A84A-C5E8-33B3-28D7-93F079D4B623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8E0EC40-22F9-0FB0-D9D7-4909E96ACF9A}"/>
              </a:ext>
            </a:extLst>
          </p:cNvPr>
          <p:cNvGrpSpPr/>
          <p:nvPr/>
        </p:nvGrpSpPr>
        <p:grpSpPr>
          <a:xfrm>
            <a:off x="1512871" y="2046753"/>
            <a:ext cx="311304" cy="325565"/>
            <a:chOff x="7612939" y="4068504"/>
            <a:chExt cx="311304" cy="325565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C3CDBB0-25E4-89F9-E95D-CC1EA17502C4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EFA6802-62F2-0A14-16D1-AEF5BAA74AC4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DFCC23B-5731-64DA-12D5-6581EA3C47B8}"/>
              </a:ext>
            </a:extLst>
          </p:cNvPr>
          <p:cNvGrpSpPr/>
          <p:nvPr/>
        </p:nvGrpSpPr>
        <p:grpSpPr>
          <a:xfrm>
            <a:off x="598471" y="2046753"/>
            <a:ext cx="311304" cy="325565"/>
            <a:chOff x="7612939" y="4068504"/>
            <a:chExt cx="311304" cy="325565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A2E6EDB-B7C1-3A91-B39B-EA02C3CE4AC1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2E5D071-2B35-91A3-0666-B43D80707C67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54A97AF1-A5AB-3408-2102-C38C65D3C17C}"/>
              </a:ext>
            </a:extLst>
          </p:cNvPr>
          <p:cNvGrpSpPr/>
          <p:nvPr/>
        </p:nvGrpSpPr>
        <p:grpSpPr>
          <a:xfrm>
            <a:off x="4324388" y="2046753"/>
            <a:ext cx="311304" cy="325565"/>
            <a:chOff x="7612939" y="4068504"/>
            <a:chExt cx="311304" cy="325565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6B76067-BC2C-4AB8-A0FE-AFA31BC34CD5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50D3099-9398-8E24-470D-2784892B1F94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7A1FBDCE-5B14-36D2-6AFF-3B956B43C78B}"/>
              </a:ext>
            </a:extLst>
          </p:cNvPr>
          <p:cNvGrpSpPr/>
          <p:nvPr/>
        </p:nvGrpSpPr>
        <p:grpSpPr>
          <a:xfrm>
            <a:off x="3409988" y="2046753"/>
            <a:ext cx="311304" cy="325565"/>
            <a:chOff x="7612939" y="4068504"/>
            <a:chExt cx="311304" cy="325565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0EEFD83-A865-1330-74D3-D24C571EE239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F941D9D-EFED-E872-8ED1-B73605B5F3B6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203B24EE-891F-15D1-3216-328C84E450FB}"/>
              </a:ext>
            </a:extLst>
          </p:cNvPr>
          <p:cNvSpPr txBox="1"/>
          <p:nvPr/>
        </p:nvSpPr>
        <p:spPr>
          <a:xfrm>
            <a:off x="4429478" y="5873602"/>
            <a:ext cx="26962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0</a:t>
            </a:r>
            <a:endParaRPr lang="ko-KR" altLang="en-US" sz="105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902E360-C7F4-88A3-8D83-6BE1A32B6D99}"/>
              </a:ext>
            </a:extLst>
          </p:cNvPr>
          <p:cNvSpPr txBox="1"/>
          <p:nvPr/>
        </p:nvSpPr>
        <p:spPr>
          <a:xfrm>
            <a:off x="1621371" y="5873602"/>
            <a:ext cx="43473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0x0</a:t>
            </a:r>
            <a:endParaRPr lang="ko-KR" altLang="en-US" sz="105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457228F-C0F8-60E8-E7DE-5AD445F7787A}"/>
              </a:ext>
            </a:extLst>
          </p:cNvPr>
          <p:cNvSpPr txBox="1"/>
          <p:nvPr/>
        </p:nvSpPr>
        <p:spPr>
          <a:xfrm>
            <a:off x="1629134" y="2364517"/>
            <a:ext cx="904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/>
              <a:t>0xc4000000</a:t>
            </a:r>
            <a:endParaRPr lang="ko-KR" altLang="en-US" sz="90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8C5E575-387F-4AFB-838C-B9078A66E7E6}"/>
              </a:ext>
            </a:extLst>
          </p:cNvPr>
          <p:cNvSpPr txBox="1"/>
          <p:nvPr/>
        </p:nvSpPr>
        <p:spPr>
          <a:xfrm>
            <a:off x="3053151" y="1774292"/>
            <a:ext cx="194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>
                <a:solidFill>
                  <a:srgbClr val="FF0000"/>
                </a:solidFill>
              </a:rPr>
              <a:t>Physical Addr </a:t>
            </a:r>
            <a:r>
              <a:rPr lang="en-US" altLang="ko-KR" sz="1100"/>
              <a:t>Space</a:t>
            </a:r>
            <a:endParaRPr lang="ko-KR" altLang="en-US" sz="1100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A173664B-05AE-D7BD-5B17-AF3DE3950588}"/>
              </a:ext>
            </a:extLst>
          </p:cNvPr>
          <p:cNvSpPr/>
          <p:nvPr/>
        </p:nvSpPr>
        <p:spPr bwMode="auto">
          <a:xfrm>
            <a:off x="758491" y="2492999"/>
            <a:ext cx="914400" cy="15366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662143C-275E-999C-D427-5EF05574C61E}"/>
              </a:ext>
            </a:extLst>
          </p:cNvPr>
          <p:cNvSpPr txBox="1"/>
          <p:nvPr/>
        </p:nvSpPr>
        <p:spPr>
          <a:xfrm>
            <a:off x="1624580" y="3911932"/>
            <a:ext cx="904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/>
              <a:t>0xc0000000</a:t>
            </a:r>
            <a:endParaRPr lang="ko-KR" altLang="en-US" sz="900"/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422902A5-C72F-BF19-4881-F4AB93D2E7E2}"/>
              </a:ext>
            </a:extLst>
          </p:cNvPr>
          <p:cNvSpPr/>
          <p:nvPr/>
        </p:nvSpPr>
        <p:spPr bwMode="auto">
          <a:xfrm>
            <a:off x="3563015" y="5172332"/>
            <a:ext cx="910591" cy="7008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81A438DC-6E76-BA1C-472D-A2D43569917A}"/>
              </a:ext>
            </a:extLst>
          </p:cNvPr>
          <p:cNvSpPr/>
          <p:nvPr/>
        </p:nvSpPr>
        <p:spPr bwMode="auto">
          <a:xfrm>
            <a:off x="3563015" y="4480735"/>
            <a:ext cx="910591" cy="70086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3B33509-B7AE-FD12-C0C0-FCEAB64E3A5F}"/>
              </a:ext>
            </a:extLst>
          </p:cNvPr>
          <p:cNvSpPr txBox="1"/>
          <p:nvPr/>
        </p:nvSpPr>
        <p:spPr>
          <a:xfrm>
            <a:off x="4519252" y="5728416"/>
            <a:ext cx="434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/>
              <a:t>1MB</a:t>
            </a:r>
            <a:endParaRPr lang="ko-KR" altLang="en-US" sz="90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41716EB-4EF8-94C1-DC96-3FC4D1030717}"/>
              </a:ext>
            </a:extLst>
          </p:cNvPr>
          <p:cNvSpPr txBox="1"/>
          <p:nvPr/>
        </p:nvSpPr>
        <p:spPr>
          <a:xfrm>
            <a:off x="1629134" y="3755436"/>
            <a:ext cx="904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/>
              <a:t>0xc0100000</a:t>
            </a:r>
            <a:endParaRPr lang="ko-KR" altLang="en-US" sz="900"/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1805188E-4D7A-14F5-7D6B-279D5383931D}"/>
              </a:ext>
            </a:extLst>
          </p:cNvPr>
          <p:cNvSpPr/>
          <p:nvPr/>
        </p:nvSpPr>
        <p:spPr bwMode="auto">
          <a:xfrm>
            <a:off x="757932" y="3185651"/>
            <a:ext cx="910591" cy="7008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CC8FC2A5-17A4-1D36-6E36-8080A504BFB0}"/>
              </a:ext>
            </a:extLst>
          </p:cNvPr>
          <p:cNvSpPr/>
          <p:nvPr/>
        </p:nvSpPr>
        <p:spPr bwMode="auto">
          <a:xfrm>
            <a:off x="757932" y="2494054"/>
            <a:ext cx="910591" cy="70086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0CF8A75C-78FD-9132-68CD-019D4D483519}"/>
              </a:ext>
            </a:extLst>
          </p:cNvPr>
          <p:cNvCxnSpPr>
            <a:cxnSpLocks/>
            <a:endCxn id="17" idx="3"/>
          </p:cNvCxnSpPr>
          <p:nvPr/>
        </p:nvCxnSpPr>
        <p:spPr bwMode="auto">
          <a:xfrm>
            <a:off x="754123" y="4031612"/>
            <a:ext cx="3720582" cy="69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4" name="Rectangle 3">
            <a:extLst>
              <a:ext uri="{FF2B5EF4-FFF2-40B4-BE49-F238E27FC236}">
                <a16:creationId xmlns:a16="http://schemas.microsoft.com/office/drawing/2014/main" id="{EA90628B-EDB0-B341-8065-917A3C798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700" y="1752601"/>
            <a:ext cx="342395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600" kern="0"/>
              <a:t>A Virtual address space separated into two subspaces. When a page is installed to the page directory, PintOS set privilege of the page following the table below.</a:t>
            </a:r>
          </a:p>
          <a:p>
            <a:pPr latinLnBrk="1"/>
            <a:endParaRPr lang="en-US" altLang="ko-KR" sz="1600" kern="0"/>
          </a:p>
          <a:p>
            <a:pPr latinLnBrk="1"/>
            <a:endParaRPr lang="en-US" altLang="ko-KR" sz="1600" kern="0"/>
          </a:p>
          <a:p>
            <a:pPr latinLnBrk="1"/>
            <a:endParaRPr lang="en-US" altLang="ko-KR" sz="1600" kern="0"/>
          </a:p>
          <a:p>
            <a:pPr latinLnBrk="1"/>
            <a:endParaRPr lang="en-US" altLang="ko-KR" sz="1600" kern="0"/>
          </a:p>
          <a:p>
            <a:pPr latinLnBrk="1"/>
            <a:endParaRPr lang="en-US" altLang="ko-KR" sz="1600" kern="0"/>
          </a:p>
          <a:p>
            <a:pPr latinLnBrk="1"/>
            <a:r>
              <a:rPr lang="en-US" altLang="ko-KR" sz="1600" kern="0"/>
              <a:t>Default Page Directory only maps 64MB of </a:t>
            </a:r>
            <a:r>
              <a:rPr lang="en-US" altLang="ko-KR" sz="1600" kern="0">
                <a:solidFill>
                  <a:srgbClr val="00B050"/>
                </a:solidFill>
              </a:rPr>
              <a:t>Kernel Virtual Address</a:t>
            </a:r>
            <a:r>
              <a:rPr lang="en-US" altLang="ko-KR" sz="1600" kern="0"/>
              <a:t> Space to </a:t>
            </a:r>
            <a:r>
              <a:rPr lang="en-US" altLang="ko-KR" sz="1600" kern="0">
                <a:solidFill>
                  <a:srgbClr val="FF0000"/>
                </a:solidFill>
              </a:rPr>
              <a:t>Physical Address </a:t>
            </a:r>
            <a:r>
              <a:rPr lang="en-US" altLang="ko-KR" sz="1600" kern="0"/>
              <a:t>Space.</a:t>
            </a:r>
            <a:endParaRPr lang="en-US" altLang="ko-KR" sz="1800" kern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en-US" altLang="ko-KR" sz="1600" kern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en-US" altLang="ko-KR" sz="1600" kern="0"/>
          </a:p>
          <a:p>
            <a:pPr latinLnBrk="1"/>
            <a:endParaRPr lang="en-US" altLang="ko-KR" sz="1600" kern="0"/>
          </a:p>
        </p:txBody>
      </p:sp>
      <p:sp>
        <p:nvSpPr>
          <p:cNvPr id="257" name="오른쪽 중괄호 256">
            <a:extLst>
              <a:ext uri="{FF2B5EF4-FFF2-40B4-BE49-F238E27FC236}">
                <a16:creationId xmlns:a16="http://schemas.microsoft.com/office/drawing/2014/main" id="{20FBAB0B-56C6-25D0-BFAA-75C44098A497}"/>
              </a:ext>
            </a:extLst>
          </p:cNvPr>
          <p:cNvSpPr/>
          <p:nvPr/>
        </p:nvSpPr>
        <p:spPr bwMode="auto">
          <a:xfrm>
            <a:off x="4519252" y="4490916"/>
            <a:ext cx="113523" cy="691595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58" name="오른쪽 중괄호 257">
            <a:extLst>
              <a:ext uri="{FF2B5EF4-FFF2-40B4-BE49-F238E27FC236}">
                <a16:creationId xmlns:a16="http://schemas.microsoft.com/office/drawing/2014/main" id="{20C3BBC3-B761-AEC2-954D-CF71534CA5AE}"/>
              </a:ext>
            </a:extLst>
          </p:cNvPr>
          <p:cNvSpPr/>
          <p:nvPr/>
        </p:nvSpPr>
        <p:spPr bwMode="auto">
          <a:xfrm>
            <a:off x="4519252" y="5187974"/>
            <a:ext cx="113523" cy="691595"/>
          </a:xfrm>
          <a:prstGeom prst="rightBrac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8498A4-0A1F-50F2-3895-1173E2EE3C61}"/>
              </a:ext>
            </a:extLst>
          </p:cNvPr>
          <p:cNvSpPr txBox="1"/>
          <p:nvPr/>
        </p:nvSpPr>
        <p:spPr>
          <a:xfrm>
            <a:off x="4519252" y="4356064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/>
              <a:t>64MB</a:t>
            </a:r>
            <a:endParaRPr lang="ko-KR" altLang="en-US" sz="900"/>
          </a:p>
        </p:txBody>
      </p: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E74C4EC1-82F2-1322-A98B-51618B37E985}"/>
              </a:ext>
            </a:extLst>
          </p:cNvPr>
          <p:cNvGrpSpPr/>
          <p:nvPr/>
        </p:nvGrpSpPr>
        <p:grpSpPr>
          <a:xfrm>
            <a:off x="3409988" y="4068504"/>
            <a:ext cx="311304" cy="325565"/>
            <a:chOff x="7612939" y="4068504"/>
            <a:chExt cx="311304" cy="325565"/>
          </a:xfrm>
        </p:grpSpPr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1CE3578F-365C-AFB9-4C05-522262B7E0E7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2FF7815-3953-8638-F341-4E08859D7090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sp>
        <p:nvSpPr>
          <p:cNvPr id="262" name="TextBox 261">
            <a:extLst>
              <a:ext uri="{FF2B5EF4-FFF2-40B4-BE49-F238E27FC236}">
                <a16:creationId xmlns:a16="http://schemas.microsoft.com/office/drawing/2014/main" id="{5F06529A-8CC6-A1AF-686F-2D5709DE8C2A}"/>
              </a:ext>
            </a:extLst>
          </p:cNvPr>
          <p:cNvSpPr txBox="1"/>
          <p:nvPr/>
        </p:nvSpPr>
        <p:spPr>
          <a:xfrm>
            <a:off x="4585783" y="4718063"/>
            <a:ext cx="8210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User Pool</a:t>
            </a:r>
            <a:endParaRPr lang="ko-KR" altLang="en-US" sz="105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B942EC20-C828-0D9F-011B-09EB23D0016B}"/>
              </a:ext>
            </a:extLst>
          </p:cNvPr>
          <p:cNvSpPr txBox="1"/>
          <p:nvPr/>
        </p:nvSpPr>
        <p:spPr>
          <a:xfrm>
            <a:off x="4585783" y="5414287"/>
            <a:ext cx="94769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Kernel Pool</a:t>
            </a:r>
            <a:endParaRPr lang="ko-KR" altLang="en-US" sz="105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3B5AD9A4-A382-E68F-3864-D008B39464E7}"/>
              </a:ext>
            </a:extLst>
          </p:cNvPr>
          <p:cNvSpPr txBox="1"/>
          <p:nvPr/>
        </p:nvSpPr>
        <p:spPr>
          <a:xfrm rot="16200000">
            <a:off x="-393093" y="2859480"/>
            <a:ext cx="15872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>
                <a:solidFill>
                  <a:srgbClr val="00B050"/>
                </a:solidFill>
              </a:rPr>
              <a:t>Kernel</a:t>
            </a:r>
            <a:r>
              <a:rPr lang="en-US" altLang="ko-KR" sz="1050"/>
              <a:t> </a:t>
            </a:r>
            <a:r>
              <a:rPr lang="en-US" altLang="ko-KR" sz="1050">
                <a:solidFill>
                  <a:srgbClr val="00B050"/>
                </a:solidFill>
              </a:rPr>
              <a:t>V-Addr</a:t>
            </a:r>
            <a:r>
              <a:rPr lang="en-US" altLang="ko-KR" sz="1050"/>
              <a:t> Space</a:t>
            </a:r>
            <a:endParaRPr lang="ko-KR" altLang="en-US" sz="1050"/>
          </a:p>
        </p:txBody>
      </p:sp>
      <p:sp>
        <p:nvSpPr>
          <p:cNvPr id="273" name="오른쪽 중괄호 272">
            <a:extLst>
              <a:ext uri="{FF2B5EF4-FFF2-40B4-BE49-F238E27FC236}">
                <a16:creationId xmlns:a16="http://schemas.microsoft.com/office/drawing/2014/main" id="{925F409F-AA10-D04E-3F5A-B169DF060AA1}"/>
              </a:ext>
            </a:extLst>
          </p:cNvPr>
          <p:cNvSpPr/>
          <p:nvPr/>
        </p:nvSpPr>
        <p:spPr bwMode="auto">
          <a:xfrm rot="10800000">
            <a:off x="499228" y="2054154"/>
            <a:ext cx="119789" cy="1965783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CBD96CB5-9AA3-2834-A16F-ABE335C46E04}"/>
              </a:ext>
            </a:extLst>
          </p:cNvPr>
          <p:cNvSpPr txBox="1"/>
          <p:nvPr/>
        </p:nvSpPr>
        <p:spPr>
          <a:xfrm rot="16200000">
            <a:off x="-329774" y="4894437"/>
            <a:ext cx="14606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>
                <a:solidFill>
                  <a:srgbClr val="9966FF"/>
                </a:solidFill>
              </a:rPr>
              <a:t>User</a:t>
            </a:r>
            <a:r>
              <a:rPr lang="en-US" altLang="ko-KR" sz="1050"/>
              <a:t> </a:t>
            </a:r>
            <a:r>
              <a:rPr lang="en-US" altLang="ko-KR" sz="1050">
                <a:solidFill>
                  <a:srgbClr val="9966FF"/>
                </a:solidFill>
              </a:rPr>
              <a:t>V-Addr</a:t>
            </a:r>
            <a:r>
              <a:rPr lang="en-US" altLang="ko-KR" sz="1050"/>
              <a:t> Space</a:t>
            </a:r>
            <a:endParaRPr lang="ko-KR" altLang="en-US" sz="1050"/>
          </a:p>
        </p:txBody>
      </p:sp>
      <p:sp>
        <p:nvSpPr>
          <p:cNvPr id="279" name="오른쪽 중괄호 278">
            <a:extLst>
              <a:ext uri="{FF2B5EF4-FFF2-40B4-BE49-F238E27FC236}">
                <a16:creationId xmlns:a16="http://schemas.microsoft.com/office/drawing/2014/main" id="{BD4A844D-B964-C99B-F508-5C3927122FFC}"/>
              </a:ext>
            </a:extLst>
          </p:cNvPr>
          <p:cNvSpPr/>
          <p:nvPr/>
        </p:nvSpPr>
        <p:spPr bwMode="auto">
          <a:xfrm rot="10800000">
            <a:off x="499228" y="4041543"/>
            <a:ext cx="119789" cy="1965783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297" name="직선 화살표 연결선 296">
            <a:extLst>
              <a:ext uri="{FF2B5EF4-FFF2-40B4-BE49-F238E27FC236}">
                <a16:creationId xmlns:a16="http://schemas.microsoft.com/office/drawing/2014/main" id="{8CDFEC73-DDF5-16EA-B790-34CE94054A59}"/>
              </a:ext>
            </a:extLst>
          </p:cNvPr>
          <p:cNvCxnSpPr>
            <a:cxnSpLocks/>
          </p:cNvCxnSpPr>
          <p:nvPr/>
        </p:nvCxnSpPr>
        <p:spPr bwMode="auto">
          <a:xfrm>
            <a:off x="1986280" y="1964514"/>
            <a:ext cx="1219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8" name="TextBox 297">
            <a:extLst>
              <a:ext uri="{FF2B5EF4-FFF2-40B4-BE49-F238E27FC236}">
                <a16:creationId xmlns:a16="http://schemas.microsoft.com/office/drawing/2014/main" id="{3F435CF3-1778-9392-2F19-B1CCCF002484}"/>
              </a:ext>
            </a:extLst>
          </p:cNvPr>
          <p:cNvSpPr txBox="1"/>
          <p:nvPr/>
        </p:nvSpPr>
        <p:spPr>
          <a:xfrm>
            <a:off x="2196930" y="1718635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page dir</a:t>
            </a:r>
            <a:endParaRPr lang="ko-KR" altLang="en-US" sz="110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4272135-AE9E-4EDA-49B7-12775AD07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641902"/>
              </p:ext>
            </p:extLst>
          </p:nvPr>
        </p:nvGraphicFramePr>
        <p:xfrm>
          <a:off x="5402995" y="3682062"/>
          <a:ext cx="3512319" cy="944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71908">
                  <a:extLst>
                    <a:ext uri="{9D8B030D-6E8A-4147-A177-3AD203B41FA5}">
                      <a16:colId xmlns:a16="http://schemas.microsoft.com/office/drawing/2014/main" val="195309691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282821273"/>
                    </a:ext>
                  </a:extLst>
                </a:gridCol>
                <a:gridCol w="945011">
                  <a:extLst>
                    <a:ext uri="{9D8B030D-6E8A-4147-A177-3AD203B41FA5}">
                      <a16:colId xmlns:a16="http://schemas.microsoft.com/office/drawing/2014/main" val="636865130"/>
                    </a:ext>
                  </a:extLst>
                </a:gridCol>
              </a:tblGrid>
              <a:tr h="2541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Vaddr Space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Kernel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User</a:t>
                      </a:r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05879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Address Range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0xc0000000</a:t>
                      </a:r>
                    </a:p>
                    <a:p>
                      <a:pPr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- 0xc4000000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0x0</a:t>
                      </a:r>
                    </a:p>
                    <a:p>
                      <a:pPr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- 0xbfffffff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2723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chemeClr val="tx1"/>
                          </a:solidFill>
                        </a:rPr>
                        <a:t>Privilege</a:t>
                      </a:r>
                      <a:endParaRPr lang="ko-KR" altLang="en-US" sz="11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chemeClr val="tx1"/>
                          </a:solidFill>
                        </a:rPr>
                        <a:t>0(super)</a:t>
                      </a:r>
                      <a:endParaRPr lang="ko-KR" altLang="en-US" sz="11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chemeClr val="tx1"/>
                          </a:solidFill>
                        </a:rPr>
                        <a:t>3(user)</a:t>
                      </a:r>
                      <a:endParaRPr lang="ko-KR" altLang="en-US" sz="11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794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4145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EB8E5-0A29-9EE2-DB46-A91C20AE2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AEC995D9-9636-F7B8-0D57-86E7249543AB}"/>
              </a:ext>
            </a:extLst>
          </p:cNvPr>
          <p:cNvSpPr/>
          <p:nvPr/>
        </p:nvSpPr>
        <p:spPr bwMode="auto">
          <a:xfrm>
            <a:off x="-520" y="2069008"/>
            <a:ext cx="9144000" cy="195973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3E62D16B-C325-94A4-DAFF-D093B58B8688}"/>
              </a:ext>
            </a:extLst>
          </p:cNvPr>
          <p:cNvSpPr/>
          <p:nvPr/>
        </p:nvSpPr>
        <p:spPr bwMode="auto">
          <a:xfrm rot="2796604">
            <a:off x="687854" y="3731606"/>
            <a:ext cx="3864052" cy="1059776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D8700BC5-337E-EE33-9AAF-58552F0490E7}"/>
              </a:ext>
            </a:extLst>
          </p:cNvPr>
          <p:cNvSpPr/>
          <p:nvPr/>
        </p:nvSpPr>
        <p:spPr bwMode="auto">
          <a:xfrm rot="2796604">
            <a:off x="720012" y="3737355"/>
            <a:ext cx="3864052" cy="967881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2F4A6159-B2EE-D07E-99A3-75DF66514B4D}"/>
              </a:ext>
            </a:extLst>
          </p:cNvPr>
          <p:cNvSpPr/>
          <p:nvPr/>
        </p:nvSpPr>
        <p:spPr bwMode="auto">
          <a:xfrm rot="2796604">
            <a:off x="888595" y="3808861"/>
            <a:ext cx="3864052" cy="485879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1A325E-CA6E-CE72-A48C-91127D29DE48}"/>
              </a:ext>
            </a:extLst>
          </p:cNvPr>
          <p:cNvSpPr/>
          <p:nvPr/>
        </p:nvSpPr>
        <p:spPr bwMode="auto">
          <a:xfrm rot="20790460">
            <a:off x="1556005" y="5156973"/>
            <a:ext cx="2282689" cy="237458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8DBFDFA-420F-1E69-F0CC-A048F7002CD8}"/>
              </a:ext>
            </a:extLst>
          </p:cNvPr>
          <p:cNvSpPr/>
          <p:nvPr/>
        </p:nvSpPr>
        <p:spPr bwMode="auto">
          <a:xfrm>
            <a:off x="3560305" y="2057400"/>
            <a:ext cx="914400" cy="3962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CE471A9-ABC7-8DDB-E3F4-6C91A63D3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/>
              <a:t>Process Execution - Load ELF </a:t>
            </a:r>
            <a:endParaRPr lang="ko-KR" altLang="en-US" sz="32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6B6712C-458B-4137-F77E-9CAAE9A0A08A}"/>
              </a:ext>
            </a:extLst>
          </p:cNvPr>
          <p:cNvSpPr/>
          <p:nvPr/>
        </p:nvSpPr>
        <p:spPr bwMode="auto">
          <a:xfrm>
            <a:off x="752130" y="2066034"/>
            <a:ext cx="914400" cy="3962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94FCDA4-9753-560E-C0BB-B7894E9D1C9A}"/>
              </a:ext>
            </a:extLst>
          </p:cNvPr>
          <p:cNvSpPr/>
          <p:nvPr/>
        </p:nvSpPr>
        <p:spPr bwMode="auto">
          <a:xfrm>
            <a:off x="3559544" y="4483188"/>
            <a:ext cx="914400" cy="15366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BC30C3-ABE5-59B8-D3ED-4667DE583917}"/>
              </a:ext>
            </a:extLst>
          </p:cNvPr>
          <p:cNvSpPr txBox="1"/>
          <p:nvPr/>
        </p:nvSpPr>
        <p:spPr>
          <a:xfrm>
            <a:off x="337208" y="1774292"/>
            <a:ext cx="17395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Virtual Addr Space</a:t>
            </a:r>
            <a:endParaRPr lang="ko-KR" altLang="en-US" sz="11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D75AA2-7B33-1F24-A4E0-0871A2E85C5C}"/>
              </a:ext>
            </a:extLst>
          </p:cNvPr>
          <p:cNvSpPr txBox="1"/>
          <p:nvPr/>
        </p:nvSpPr>
        <p:spPr>
          <a:xfrm>
            <a:off x="4432661" y="3905477"/>
            <a:ext cx="4267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/>
              <a:t>3GB</a:t>
            </a:r>
            <a:endParaRPr lang="ko-KR" altLang="en-US" sz="90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28F3EBB-0F71-7043-B847-03C83E54A4F7}"/>
              </a:ext>
            </a:extLst>
          </p:cNvPr>
          <p:cNvGrpSpPr/>
          <p:nvPr/>
        </p:nvGrpSpPr>
        <p:grpSpPr>
          <a:xfrm>
            <a:off x="4315244" y="4068504"/>
            <a:ext cx="311304" cy="325565"/>
            <a:chOff x="7612939" y="4068504"/>
            <a:chExt cx="311304" cy="32556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ADE317A-E049-1161-6247-F09DCA91FCB7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346E0BD-33FB-52CF-A36A-96AB56806B14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CD176663-E93A-42F3-355C-E64492EA0CBF}"/>
              </a:ext>
            </a:extLst>
          </p:cNvPr>
          <p:cNvGrpSpPr/>
          <p:nvPr/>
        </p:nvGrpSpPr>
        <p:grpSpPr>
          <a:xfrm>
            <a:off x="1522225" y="4068504"/>
            <a:ext cx="311304" cy="325565"/>
            <a:chOff x="7612939" y="4068504"/>
            <a:chExt cx="311304" cy="32556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76FD555-C20E-E7B8-A2EA-7E5226BF2FB0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1584322-89B9-9FA9-B08A-C4B03F60E2C4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5AF5A5E2-1041-048A-37A8-6045AC927D18}"/>
              </a:ext>
            </a:extLst>
          </p:cNvPr>
          <p:cNvGrpSpPr/>
          <p:nvPr/>
        </p:nvGrpSpPr>
        <p:grpSpPr>
          <a:xfrm>
            <a:off x="598471" y="4068504"/>
            <a:ext cx="311304" cy="325565"/>
            <a:chOff x="7612939" y="4068504"/>
            <a:chExt cx="311304" cy="32556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083DA7E-498B-2A30-93FE-E46B27C91BB5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6EFAF1-9CB1-2C68-DD65-AFF93E00A9B2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90CCFED-9C6E-BDBA-F9C7-8ED10BFDC798}"/>
              </a:ext>
            </a:extLst>
          </p:cNvPr>
          <p:cNvGrpSpPr/>
          <p:nvPr/>
        </p:nvGrpSpPr>
        <p:grpSpPr>
          <a:xfrm>
            <a:off x="1512871" y="2046753"/>
            <a:ext cx="311304" cy="325565"/>
            <a:chOff x="7612939" y="4068504"/>
            <a:chExt cx="311304" cy="325565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EB6E2C4-DD33-9502-F9AE-AD24E89FE72C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D18D257-A45F-76C4-2C27-90BC53001372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9A110B2E-588A-BA51-D871-8AC0FC1D7391}"/>
              </a:ext>
            </a:extLst>
          </p:cNvPr>
          <p:cNvGrpSpPr/>
          <p:nvPr/>
        </p:nvGrpSpPr>
        <p:grpSpPr>
          <a:xfrm>
            <a:off x="598471" y="2046753"/>
            <a:ext cx="311304" cy="325565"/>
            <a:chOff x="7612939" y="4068504"/>
            <a:chExt cx="311304" cy="325565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D8071D8-BCAC-6440-7095-A1B6798CA207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17545AE-EC3B-A4EA-0702-0E0BF80868B1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0FEB466C-A39B-EC8B-0015-4F27E69C051E}"/>
              </a:ext>
            </a:extLst>
          </p:cNvPr>
          <p:cNvGrpSpPr/>
          <p:nvPr/>
        </p:nvGrpSpPr>
        <p:grpSpPr>
          <a:xfrm>
            <a:off x="4324388" y="2046753"/>
            <a:ext cx="311304" cy="325565"/>
            <a:chOff x="7612939" y="4068504"/>
            <a:chExt cx="311304" cy="325565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C54F1AA-6AE0-F77C-3509-D8C77261AB77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0BB0C0D-0E5F-9095-B5EA-AD9FEBBDA13B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CFDBC7A5-400A-B3DC-CD8C-1C34B0EFE5E8}"/>
              </a:ext>
            </a:extLst>
          </p:cNvPr>
          <p:cNvGrpSpPr/>
          <p:nvPr/>
        </p:nvGrpSpPr>
        <p:grpSpPr>
          <a:xfrm>
            <a:off x="3409988" y="2046753"/>
            <a:ext cx="311304" cy="325565"/>
            <a:chOff x="7612939" y="4068504"/>
            <a:chExt cx="311304" cy="325565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844E655-F62D-1550-6B84-FED36CFF4F40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84C351D-A5CA-E11C-7BB6-20DC553DEB8B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B0D416D4-0446-AE31-3143-4B90045A143E}"/>
              </a:ext>
            </a:extLst>
          </p:cNvPr>
          <p:cNvSpPr txBox="1"/>
          <p:nvPr/>
        </p:nvSpPr>
        <p:spPr>
          <a:xfrm>
            <a:off x="4429478" y="5873602"/>
            <a:ext cx="26962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0</a:t>
            </a:r>
            <a:endParaRPr lang="ko-KR" altLang="en-US" sz="105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187A82E-6C6E-0F26-0452-2106D096EBAD}"/>
              </a:ext>
            </a:extLst>
          </p:cNvPr>
          <p:cNvSpPr txBox="1"/>
          <p:nvPr/>
        </p:nvSpPr>
        <p:spPr>
          <a:xfrm>
            <a:off x="1621371" y="5873602"/>
            <a:ext cx="43473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0x0</a:t>
            </a:r>
            <a:endParaRPr lang="ko-KR" altLang="en-US" sz="105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18A2AE5-C467-0EEB-E0BB-5C80849B1775}"/>
              </a:ext>
            </a:extLst>
          </p:cNvPr>
          <p:cNvSpPr txBox="1"/>
          <p:nvPr/>
        </p:nvSpPr>
        <p:spPr>
          <a:xfrm>
            <a:off x="1629134" y="2364517"/>
            <a:ext cx="904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/>
              <a:t>0xc4000000</a:t>
            </a:r>
            <a:endParaRPr lang="ko-KR" altLang="en-US" sz="90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9C87EBB-D336-679D-0885-C148400F35BB}"/>
              </a:ext>
            </a:extLst>
          </p:cNvPr>
          <p:cNvSpPr txBox="1"/>
          <p:nvPr/>
        </p:nvSpPr>
        <p:spPr>
          <a:xfrm>
            <a:off x="3053151" y="1774292"/>
            <a:ext cx="194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Physical Addr Space</a:t>
            </a:r>
            <a:endParaRPr lang="ko-KR" altLang="en-US" sz="1100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CFC13AC4-A492-5A30-A44C-CD1F8A25BF4B}"/>
              </a:ext>
            </a:extLst>
          </p:cNvPr>
          <p:cNvSpPr/>
          <p:nvPr/>
        </p:nvSpPr>
        <p:spPr bwMode="auto">
          <a:xfrm>
            <a:off x="758491" y="2492999"/>
            <a:ext cx="914400" cy="15366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3ED14D83-2A8F-46A1-9E19-01E1E1028972}"/>
              </a:ext>
            </a:extLst>
          </p:cNvPr>
          <p:cNvSpPr/>
          <p:nvPr/>
        </p:nvSpPr>
        <p:spPr bwMode="auto">
          <a:xfrm>
            <a:off x="3563015" y="5172332"/>
            <a:ext cx="910591" cy="7008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93C1185-FFC7-AF76-7113-0B61447F59F7}"/>
              </a:ext>
            </a:extLst>
          </p:cNvPr>
          <p:cNvSpPr txBox="1"/>
          <p:nvPr/>
        </p:nvSpPr>
        <p:spPr>
          <a:xfrm>
            <a:off x="4519252" y="5728416"/>
            <a:ext cx="434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/>
              <a:t>1MB</a:t>
            </a:r>
            <a:endParaRPr lang="ko-KR" altLang="en-US" sz="900"/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DC825367-263A-0F31-64A6-AA3EA6AC3E6E}"/>
              </a:ext>
            </a:extLst>
          </p:cNvPr>
          <p:cNvSpPr/>
          <p:nvPr/>
        </p:nvSpPr>
        <p:spPr bwMode="auto">
          <a:xfrm>
            <a:off x="757932" y="3185651"/>
            <a:ext cx="910591" cy="7008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FCDE9823-CDD8-A9BD-A066-D48620A2245C}"/>
              </a:ext>
            </a:extLst>
          </p:cNvPr>
          <p:cNvSpPr/>
          <p:nvPr/>
        </p:nvSpPr>
        <p:spPr bwMode="auto">
          <a:xfrm>
            <a:off x="757932" y="2494054"/>
            <a:ext cx="910591" cy="70086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05570399-68D3-0F39-B08C-816C98F7B490}"/>
              </a:ext>
            </a:extLst>
          </p:cNvPr>
          <p:cNvCxnSpPr>
            <a:cxnSpLocks/>
            <a:endCxn id="17" idx="3"/>
          </p:cNvCxnSpPr>
          <p:nvPr/>
        </p:nvCxnSpPr>
        <p:spPr bwMode="auto">
          <a:xfrm>
            <a:off x="754123" y="4031612"/>
            <a:ext cx="3720582" cy="69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4" name="Rectangle 3">
            <a:extLst>
              <a:ext uri="{FF2B5EF4-FFF2-40B4-BE49-F238E27FC236}">
                <a16:creationId xmlns:a16="http://schemas.microsoft.com/office/drawing/2014/main" id="{3413CC5E-F2FB-D536-BEEB-353B643C9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700" y="1752602"/>
            <a:ext cx="3423950" cy="63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600" kern="0"/>
              <a:t>process_execute() does the following tasks :</a:t>
            </a:r>
            <a:endParaRPr lang="en-US" altLang="ko-KR" sz="1800" kern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en-US" altLang="ko-KR" sz="1600" kern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en-US" altLang="ko-KR" sz="1600" kern="0"/>
          </a:p>
          <a:p>
            <a:pPr latinLnBrk="1"/>
            <a:endParaRPr lang="en-US" altLang="ko-KR" sz="1600" kern="0"/>
          </a:p>
        </p:txBody>
      </p:sp>
      <p:sp>
        <p:nvSpPr>
          <p:cNvPr id="257" name="오른쪽 중괄호 256">
            <a:extLst>
              <a:ext uri="{FF2B5EF4-FFF2-40B4-BE49-F238E27FC236}">
                <a16:creationId xmlns:a16="http://schemas.microsoft.com/office/drawing/2014/main" id="{13B2A6A3-F0B3-6152-F2FE-91FC3B08A0AA}"/>
              </a:ext>
            </a:extLst>
          </p:cNvPr>
          <p:cNvSpPr/>
          <p:nvPr/>
        </p:nvSpPr>
        <p:spPr bwMode="auto">
          <a:xfrm>
            <a:off x="4519252" y="4490916"/>
            <a:ext cx="113523" cy="691595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58" name="오른쪽 중괄호 257">
            <a:extLst>
              <a:ext uri="{FF2B5EF4-FFF2-40B4-BE49-F238E27FC236}">
                <a16:creationId xmlns:a16="http://schemas.microsoft.com/office/drawing/2014/main" id="{CFE6835A-E3CF-A978-2E50-A9936E47F94E}"/>
              </a:ext>
            </a:extLst>
          </p:cNvPr>
          <p:cNvSpPr/>
          <p:nvPr/>
        </p:nvSpPr>
        <p:spPr bwMode="auto">
          <a:xfrm>
            <a:off x="4519252" y="5187974"/>
            <a:ext cx="113523" cy="691595"/>
          </a:xfrm>
          <a:prstGeom prst="rightBrac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CD1312-4A93-098B-7B04-409E32AE9CD5}"/>
              </a:ext>
            </a:extLst>
          </p:cNvPr>
          <p:cNvSpPr txBox="1"/>
          <p:nvPr/>
        </p:nvSpPr>
        <p:spPr>
          <a:xfrm>
            <a:off x="4519252" y="4356064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/>
              <a:t>64MB</a:t>
            </a:r>
            <a:endParaRPr lang="ko-KR" altLang="en-US" sz="900"/>
          </a:p>
        </p:txBody>
      </p: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A8EB76C3-8BDB-6F7D-3996-1D0C46995F44}"/>
              </a:ext>
            </a:extLst>
          </p:cNvPr>
          <p:cNvGrpSpPr/>
          <p:nvPr/>
        </p:nvGrpSpPr>
        <p:grpSpPr>
          <a:xfrm>
            <a:off x="3409988" y="4068504"/>
            <a:ext cx="311304" cy="325565"/>
            <a:chOff x="7612939" y="4068504"/>
            <a:chExt cx="311304" cy="325565"/>
          </a:xfrm>
        </p:grpSpPr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95A2FA2E-6CE3-FD77-F085-4CBCCA6143D7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6690050C-A868-ABF9-573E-CE48671596C2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sp>
        <p:nvSpPr>
          <p:cNvPr id="262" name="TextBox 261">
            <a:extLst>
              <a:ext uri="{FF2B5EF4-FFF2-40B4-BE49-F238E27FC236}">
                <a16:creationId xmlns:a16="http://schemas.microsoft.com/office/drawing/2014/main" id="{F56113AE-0B62-38B4-79BA-7E111CFAC870}"/>
              </a:ext>
            </a:extLst>
          </p:cNvPr>
          <p:cNvSpPr txBox="1"/>
          <p:nvPr/>
        </p:nvSpPr>
        <p:spPr>
          <a:xfrm>
            <a:off x="4585783" y="4718063"/>
            <a:ext cx="8210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User Pool</a:t>
            </a:r>
            <a:endParaRPr lang="ko-KR" altLang="en-US" sz="105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84342C75-9029-CB3D-DBA1-40DCC5CD651F}"/>
              </a:ext>
            </a:extLst>
          </p:cNvPr>
          <p:cNvSpPr txBox="1"/>
          <p:nvPr/>
        </p:nvSpPr>
        <p:spPr>
          <a:xfrm>
            <a:off x="4585783" y="5414287"/>
            <a:ext cx="94769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Kernel Pool</a:t>
            </a:r>
            <a:endParaRPr lang="ko-KR" altLang="en-US" sz="105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FF8BBB11-EBC9-BE5E-B014-B57AB0C43A8F}"/>
              </a:ext>
            </a:extLst>
          </p:cNvPr>
          <p:cNvSpPr txBox="1"/>
          <p:nvPr/>
        </p:nvSpPr>
        <p:spPr>
          <a:xfrm rot="16200000">
            <a:off x="-393093" y="2859480"/>
            <a:ext cx="15872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/>
              <a:t>Kernel V-Addr Space</a:t>
            </a:r>
            <a:endParaRPr lang="ko-KR" altLang="en-US" sz="1050"/>
          </a:p>
        </p:txBody>
      </p:sp>
      <p:sp>
        <p:nvSpPr>
          <p:cNvPr id="273" name="오른쪽 중괄호 272">
            <a:extLst>
              <a:ext uri="{FF2B5EF4-FFF2-40B4-BE49-F238E27FC236}">
                <a16:creationId xmlns:a16="http://schemas.microsoft.com/office/drawing/2014/main" id="{C5C293EF-3A22-89DF-CB62-2235AB88B1B0}"/>
              </a:ext>
            </a:extLst>
          </p:cNvPr>
          <p:cNvSpPr/>
          <p:nvPr/>
        </p:nvSpPr>
        <p:spPr bwMode="auto">
          <a:xfrm rot="10800000">
            <a:off x="499228" y="2054154"/>
            <a:ext cx="119789" cy="1965783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B2ED558D-CDEF-052A-45B4-F6797F2CCB90}"/>
              </a:ext>
            </a:extLst>
          </p:cNvPr>
          <p:cNvSpPr txBox="1"/>
          <p:nvPr/>
        </p:nvSpPr>
        <p:spPr>
          <a:xfrm rot="16200000">
            <a:off x="-329774" y="4894437"/>
            <a:ext cx="14606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/>
              <a:t>User V-Addr Space</a:t>
            </a:r>
            <a:endParaRPr lang="ko-KR" altLang="en-US" sz="1050"/>
          </a:p>
        </p:txBody>
      </p:sp>
      <p:sp>
        <p:nvSpPr>
          <p:cNvPr id="279" name="오른쪽 중괄호 278">
            <a:extLst>
              <a:ext uri="{FF2B5EF4-FFF2-40B4-BE49-F238E27FC236}">
                <a16:creationId xmlns:a16="http://schemas.microsoft.com/office/drawing/2014/main" id="{49908883-5B79-A4B4-BFC2-D8B3529FF72D}"/>
              </a:ext>
            </a:extLst>
          </p:cNvPr>
          <p:cNvSpPr/>
          <p:nvPr/>
        </p:nvSpPr>
        <p:spPr bwMode="auto">
          <a:xfrm rot="10800000">
            <a:off x="499228" y="4041543"/>
            <a:ext cx="119789" cy="1965783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297" name="직선 화살표 연결선 296">
            <a:extLst>
              <a:ext uri="{FF2B5EF4-FFF2-40B4-BE49-F238E27FC236}">
                <a16:creationId xmlns:a16="http://schemas.microsoft.com/office/drawing/2014/main" id="{FA99394A-45D3-FB87-B730-523EBC654776}"/>
              </a:ext>
            </a:extLst>
          </p:cNvPr>
          <p:cNvCxnSpPr>
            <a:cxnSpLocks/>
          </p:cNvCxnSpPr>
          <p:nvPr/>
        </p:nvCxnSpPr>
        <p:spPr bwMode="auto">
          <a:xfrm>
            <a:off x="1986280" y="1964514"/>
            <a:ext cx="1219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8" name="TextBox 297">
            <a:extLst>
              <a:ext uri="{FF2B5EF4-FFF2-40B4-BE49-F238E27FC236}">
                <a16:creationId xmlns:a16="http://schemas.microsoft.com/office/drawing/2014/main" id="{575B3376-AF17-6DFF-AA6B-B8719098B9D0}"/>
              </a:ext>
            </a:extLst>
          </p:cNvPr>
          <p:cNvSpPr txBox="1"/>
          <p:nvPr/>
        </p:nvSpPr>
        <p:spPr>
          <a:xfrm>
            <a:off x="2196930" y="1718635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solidFill>
                  <a:srgbClr val="FF0000"/>
                </a:solidFill>
              </a:rPr>
              <a:t>page dir</a:t>
            </a:r>
            <a:endParaRPr lang="ko-KR" altLang="en-US" sz="1100">
              <a:solidFill>
                <a:srgbClr val="FF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3BC78C-3922-AEA7-0137-5411D876FA69}"/>
              </a:ext>
            </a:extLst>
          </p:cNvPr>
          <p:cNvSpPr/>
          <p:nvPr/>
        </p:nvSpPr>
        <p:spPr bwMode="auto">
          <a:xfrm>
            <a:off x="757931" y="5552572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D5091A2-1CE3-4559-71E9-1CDDEA332F8F}"/>
              </a:ext>
            </a:extLst>
          </p:cNvPr>
          <p:cNvSpPr/>
          <p:nvPr/>
        </p:nvSpPr>
        <p:spPr bwMode="auto">
          <a:xfrm>
            <a:off x="757931" y="5473398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4878C6-C541-A7A5-A921-9605C7E2F5D1}"/>
              </a:ext>
            </a:extLst>
          </p:cNvPr>
          <p:cNvSpPr/>
          <p:nvPr/>
        </p:nvSpPr>
        <p:spPr bwMode="auto">
          <a:xfrm>
            <a:off x="757931" y="5393144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474FC2E-CA0F-A09D-E950-25B2CE2A345C}"/>
              </a:ext>
            </a:extLst>
          </p:cNvPr>
          <p:cNvSpPr/>
          <p:nvPr/>
        </p:nvSpPr>
        <p:spPr bwMode="auto">
          <a:xfrm>
            <a:off x="757931" y="3118807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EF6E7D7-A090-E4CA-5522-2C5891AAD3F6}"/>
              </a:ext>
            </a:extLst>
          </p:cNvPr>
          <p:cNvSpPr/>
          <p:nvPr/>
        </p:nvSpPr>
        <p:spPr bwMode="auto">
          <a:xfrm>
            <a:off x="757931" y="3039633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047A458C-D600-6932-A4C3-F57D4CCC6947}"/>
              </a:ext>
            </a:extLst>
          </p:cNvPr>
          <p:cNvSpPr/>
          <p:nvPr/>
        </p:nvSpPr>
        <p:spPr bwMode="auto">
          <a:xfrm>
            <a:off x="757931" y="2959379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82BF1D0B-8657-450B-CA83-8BB98E3B4997}"/>
              </a:ext>
            </a:extLst>
          </p:cNvPr>
          <p:cNvSpPr/>
          <p:nvPr/>
        </p:nvSpPr>
        <p:spPr bwMode="auto">
          <a:xfrm>
            <a:off x="757930" y="2880511"/>
            <a:ext cx="910591" cy="829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1E03AF70-B30D-8737-DAD5-55EE32E96660}"/>
              </a:ext>
            </a:extLst>
          </p:cNvPr>
          <p:cNvSpPr txBox="1"/>
          <p:nvPr/>
        </p:nvSpPr>
        <p:spPr>
          <a:xfrm>
            <a:off x="662622" y="5601345"/>
            <a:ext cx="10887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.bss .code .data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253441E4-49CF-B2BD-866D-1B3173C9E246}"/>
              </a:ext>
            </a:extLst>
          </p:cNvPr>
          <p:cNvSpPr txBox="1"/>
          <p:nvPr/>
        </p:nvSpPr>
        <p:spPr>
          <a:xfrm>
            <a:off x="947343" y="3611228"/>
            <a:ext cx="5661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thread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024EE6EF-9162-27F4-6361-19FCAD7F8C6F}"/>
              </a:ext>
            </a:extLst>
          </p:cNvPr>
          <p:cNvSpPr/>
          <p:nvPr/>
        </p:nvSpPr>
        <p:spPr bwMode="auto">
          <a:xfrm>
            <a:off x="751875" y="3569986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D16C5201-93BA-4D4B-A231-2A58315CCE2C}"/>
              </a:ext>
            </a:extLst>
          </p:cNvPr>
          <p:cNvSpPr/>
          <p:nvPr/>
        </p:nvSpPr>
        <p:spPr bwMode="auto">
          <a:xfrm>
            <a:off x="3565640" y="5575631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B7C0B85-1E20-3332-FDD1-8456289F8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700" y="3214473"/>
            <a:ext cx="3423950" cy="82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endParaRPr lang="en-US" altLang="ko-KR" sz="1200" kern="0"/>
          </a:p>
          <a:p>
            <a:pPr latinLnBrk="1"/>
            <a:r>
              <a:rPr lang="en-US" altLang="ko-KR" sz="1800" kern="0"/>
              <a:t> The </a:t>
            </a:r>
            <a:r>
              <a:rPr lang="en-US" altLang="ko-KR" sz="1600" kern="0"/>
              <a:t>new thread performs start_process() procedure.</a:t>
            </a:r>
          </a:p>
          <a:p>
            <a:pPr marL="0" indent="0" latinLnBrk="1">
              <a:buNone/>
            </a:pPr>
            <a:endParaRPr lang="en-US" altLang="ko-KR" sz="1800" kern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en-US" altLang="ko-KR" sz="1600" kern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en-US" altLang="ko-KR" sz="1600" kern="0"/>
          </a:p>
          <a:p>
            <a:pPr latinLnBrk="1"/>
            <a:endParaRPr lang="en-US" altLang="ko-KR" sz="1600" kern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3DF6629-C68A-E5F1-3455-6F1672E37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700" y="4267201"/>
            <a:ext cx="34239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endParaRPr lang="en-US" altLang="ko-KR" sz="1200" kern="0"/>
          </a:p>
          <a:p>
            <a:pPr lvl="1" latinLnBrk="1"/>
            <a:r>
              <a:rPr lang="en-US" altLang="ko-KR" sz="1400" b="1">
                <a:solidFill>
                  <a:srgbClr val="FF0000"/>
                </a:solidFill>
              </a:rPr>
              <a:t>Install a mapping </a:t>
            </a:r>
            <a:r>
              <a:rPr lang="en-US" altLang="ko-KR" sz="1400"/>
              <a:t>from the user virtual page to Fetched segments in User Pool</a:t>
            </a:r>
            <a:endParaRPr lang="en-US" altLang="ko-KR" sz="1600" kern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3BD312B-5852-1B52-3E72-A62949713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4326" y="3759163"/>
            <a:ext cx="3423950" cy="81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endParaRPr lang="en-US" altLang="ko-KR" sz="1600" kern="0"/>
          </a:p>
          <a:p>
            <a:pPr lvl="1" latinLnBrk="1"/>
            <a:r>
              <a:rPr lang="en-US" altLang="ko-KR" sz="1400" b="1" kern="0">
                <a:solidFill>
                  <a:srgbClr val="FF0000"/>
                </a:solidFill>
              </a:rPr>
              <a:t>Load</a:t>
            </a:r>
            <a:r>
              <a:rPr lang="en-US" altLang="ko-KR" sz="1400" kern="0"/>
              <a:t> segments from ELF to pages in User pool</a:t>
            </a:r>
            <a:endParaRPr lang="en-US" altLang="ko-KR" sz="1800" kern="0">
              <a:latin typeface="Consolas" panose="020B0609020204030204" pitchFamily="49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CFEDC204-EDEB-B701-4D22-5B8860CB7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2334" y="2265429"/>
            <a:ext cx="3423950" cy="1205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 latinLnBrk="1"/>
            <a:r>
              <a:rPr lang="en-US" altLang="ko-KR" sz="1400" b="1" kern="0">
                <a:solidFill>
                  <a:srgbClr val="0000FF"/>
                </a:solidFill>
              </a:rPr>
              <a:t>Create a thread</a:t>
            </a:r>
            <a:r>
              <a:rPr lang="en-US" altLang="ko-KR" sz="1400" kern="0"/>
              <a:t>. </a:t>
            </a:r>
          </a:p>
          <a:p>
            <a:pPr lvl="1" latinLnBrk="1"/>
            <a:r>
              <a:rPr lang="en-US" altLang="ko-KR" sz="1400"/>
              <a:t>This thread serves as both the </a:t>
            </a:r>
            <a:r>
              <a:rPr lang="en-US" altLang="ko-KR" sz="1400" b="1">
                <a:solidFill>
                  <a:srgbClr val="0000FF"/>
                </a:solidFill>
              </a:rPr>
              <a:t>PCB</a:t>
            </a:r>
            <a:r>
              <a:rPr lang="en-US" altLang="ko-KR" sz="1400"/>
              <a:t> and the </a:t>
            </a:r>
            <a:r>
              <a:rPr lang="en-US" altLang="ko-KR" sz="1400" b="1">
                <a:solidFill>
                  <a:srgbClr val="0000FF"/>
                </a:solidFill>
              </a:rPr>
              <a:t>kernel stack </a:t>
            </a:r>
            <a:r>
              <a:rPr lang="en-US" altLang="ko-KR" sz="1400"/>
              <a:t>for the process.</a:t>
            </a:r>
            <a:endParaRPr lang="en-US" altLang="ko-KR" sz="1600" kern="0"/>
          </a:p>
          <a:p>
            <a:pPr latinLnBrk="1"/>
            <a:endParaRPr lang="en-US" altLang="ko-KR" sz="1600" kern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F53847D-97B5-8EF9-228F-C8364F712474}"/>
              </a:ext>
            </a:extLst>
          </p:cNvPr>
          <p:cNvSpPr/>
          <p:nvPr/>
        </p:nvSpPr>
        <p:spPr bwMode="auto">
          <a:xfrm rot="1423795">
            <a:off x="1542295" y="4453057"/>
            <a:ext cx="2144179" cy="73149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92D5175-1764-66C2-E215-8D0A9AB8DCD2}"/>
              </a:ext>
            </a:extLst>
          </p:cNvPr>
          <p:cNvSpPr/>
          <p:nvPr/>
        </p:nvSpPr>
        <p:spPr bwMode="auto">
          <a:xfrm>
            <a:off x="757931" y="4028360"/>
            <a:ext cx="910591" cy="829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8EC4B3-C1E5-6DE5-F299-5B565C6DB34F}"/>
              </a:ext>
            </a:extLst>
          </p:cNvPr>
          <p:cNvSpPr txBox="1"/>
          <p:nvPr/>
        </p:nvSpPr>
        <p:spPr>
          <a:xfrm>
            <a:off x="985014" y="4068522"/>
            <a:ext cx="4908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FCCD53DB-8488-672B-3AAF-70C64755010F}"/>
              </a:ext>
            </a:extLst>
          </p:cNvPr>
          <p:cNvSpPr/>
          <p:nvPr/>
        </p:nvSpPr>
        <p:spPr bwMode="auto">
          <a:xfrm>
            <a:off x="3563015" y="4480735"/>
            <a:ext cx="910591" cy="70086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882B755-A0CE-EEDA-46A2-299FEBBEFD39}"/>
              </a:ext>
            </a:extLst>
          </p:cNvPr>
          <p:cNvSpPr/>
          <p:nvPr/>
        </p:nvSpPr>
        <p:spPr bwMode="auto">
          <a:xfrm>
            <a:off x="3561448" y="5100569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65672C-EAF6-AE0A-AE0E-3C62C1A4A218}"/>
              </a:ext>
            </a:extLst>
          </p:cNvPr>
          <p:cNvSpPr/>
          <p:nvPr/>
        </p:nvSpPr>
        <p:spPr bwMode="auto">
          <a:xfrm>
            <a:off x="3561448" y="5021395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C460EA9-BD80-CA0B-A755-C30AA85C8625}"/>
              </a:ext>
            </a:extLst>
          </p:cNvPr>
          <p:cNvSpPr/>
          <p:nvPr/>
        </p:nvSpPr>
        <p:spPr bwMode="auto">
          <a:xfrm>
            <a:off x="3561448" y="4941141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C135554-AA02-AA13-94C8-5409F0C9C180}"/>
              </a:ext>
            </a:extLst>
          </p:cNvPr>
          <p:cNvSpPr/>
          <p:nvPr/>
        </p:nvSpPr>
        <p:spPr bwMode="auto">
          <a:xfrm>
            <a:off x="3561447" y="4862273"/>
            <a:ext cx="910591" cy="829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A41593BD-316E-86F2-0141-89A15F935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700" y="5160915"/>
            <a:ext cx="34239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endParaRPr lang="en-US" altLang="ko-KR" sz="1200" kern="0"/>
          </a:p>
          <a:p>
            <a:pPr lvl="1" latinLnBrk="1"/>
            <a:r>
              <a:rPr lang="en-US" altLang="ko-KR" sz="1400"/>
              <a:t>Allocate a page for </a:t>
            </a:r>
            <a:r>
              <a:rPr lang="en-US" altLang="ko-KR" sz="1400" b="1">
                <a:solidFill>
                  <a:srgbClr val="FF0000"/>
                </a:solidFill>
              </a:rPr>
              <a:t>user stack</a:t>
            </a:r>
            <a:r>
              <a:rPr lang="en-US" altLang="ko-KR" sz="1400"/>
              <a:t> and paging it.</a:t>
            </a:r>
            <a:endParaRPr lang="en-US" altLang="ko-KR" sz="1600" kern="0"/>
          </a:p>
        </p:txBody>
      </p:sp>
    </p:spTree>
    <p:extLst>
      <p:ext uri="{BB962C8B-B14F-4D97-AF65-F5344CB8AC3E}">
        <p14:creationId xmlns:p14="http://schemas.microsoft.com/office/powerpoint/2010/main" val="273237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30" grpId="0" animBg="1"/>
      <p:bldP spid="31" grpId="0" animBg="1"/>
      <p:bldP spid="224" grpId="0" animBg="1"/>
      <p:bldP spid="225" grpId="0" animBg="1"/>
      <p:bldP spid="227" grpId="0"/>
      <p:bldP spid="234" grpId="0"/>
      <p:bldP spid="230" grpId="0" animBg="1"/>
      <p:bldP spid="237" grpId="0" animBg="1"/>
      <p:bldP spid="6" grpId="0"/>
      <p:bldP spid="7" grpId="0"/>
      <p:bldP spid="16" grpId="0"/>
      <p:bldP spid="19" grpId="0"/>
      <p:bldP spid="20" grpId="0" animBg="1"/>
      <p:bldP spid="21" grpId="0" animBg="1"/>
      <p:bldP spid="23" grpId="0"/>
      <p:bldP spid="4" grpId="0" animBg="1"/>
      <p:bldP spid="10" grpId="0" animBg="1"/>
      <p:bldP spid="11" grpId="0" animBg="1"/>
      <p:bldP spid="27" grpId="0" animBg="1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4148D-0319-3F0D-A517-9F0C0D379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0BB88DAB-3E37-2833-6516-46C6E94B7459}"/>
              </a:ext>
            </a:extLst>
          </p:cNvPr>
          <p:cNvSpPr/>
          <p:nvPr/>
        </p:nvSpPr>
        <p:spPr bwMode="auto">
          <a:xfrm>
            <a:off x="-520" y="2069008"/>
            <a:ext cx="9144000" cy="195973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3D9E157-1936-BF73-B101-CDA800820057}"/>
              </a:ext>
            </a:extLst>
          </p:cNvPr>
          <p:cNvSpPr txBox="1"/>
          <p:nvPr/>
        </p:nvSpPr>
        <p:spPr>
          <a:xfrm>
            <a:off x="1629134" y="2364517"/>
            <a:ext cx="904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/>
              <a:t>0xc4000000</a:t>
            </a:r>
            <a:endParaRPr lang="ko-KR" altLang="en-US" sz="9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66DD77-D67E-3842-48EC-5BF610B9C896}"/>
              </a:ext>
            </a:extLst>
          </p:cNvPr>
          <p:cNvSpPr txBox="1"/>
          <p:nvPr/>
        </p:nvSpPr>
        <p:spPr>
          <a:xfrm>
            <a:off x="2196930" y="1718635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solidFill>
                  <a:srgbClr val="FF0000"/>
                </a:solidFill>
              </a:rPr>
              <a:t>page dir</a:t>
            </a:r>
            <a:endParaRPr lang="ko-KR" altLang="en-US" sz="1100">
              <a:solidFill>
                <a:srgbClr val="FF0000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56A6CE31-7ED7-6B1E-0C1A-641AA0D1D041}"/>
              </a:ext>
            </a:extLst>
          </p:cNvPr>
          <p:cNvCxnSpPr>
            <a:cxnSpLocks/>
          </p:cNvCxnSpPr>
          <p:nvPr/>
        </p:nvCxnSpPr>
        <p:spPr bwMode="auto">
          <a:xfrm>
            <a:off x="1986280" y="1964514"/>
            <a:ext cx="1219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5E8CF9C7-57CC-2676-6992-C44E5E06DC2F}"/>
              </a:ext>
            </a:extLst>
          </p:cNvPr>
          <p:cNvSpPr/>
          <p:nvPr/>
        </p:nvSpPr>
        <p:spPr bwMode="auto">
          <a:xfrm rot="2796604">
            <a:off x="687854" y="3731606"/>
            <a:ext cx="3864052" cy="1059776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FCC4A0D8-1E93-1BF4-0803-B5B2402AFBF9}"/>
              </a:ext>
            </a:extLst>
          </p:cNvPr>
          <p:cNvSpPr/>
          <p:nvPr/>
        </p:nvSpPr>
        <p:spPr bwMode="auto">
          <a:xfrm rot="2796604">
            <a:off x="720012" y="3737355"/>
            <a:ext cx="3864052" cy="967881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FD2809E8-018A-1A83-1F33-C4F080A4C401}"/>
              </a:ext>
            </a:extLst>
          </p:cNvPr>
          <p:cNvSpPr/>
          <p:nvPr/>
        </p:nvSpPr>
        <p:spPr bwMode="auto">
          <a:xfrm rot="2796604">
            <a:off x="888595" y="3808861"/>
            <a:ext cx="3864052" cy="485879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399B12EB-DC04-8514-7D56-31C7A9FEB4BD}"/>
              </a:ext>
            </a:extLst>
          </p:cNvPr>
          <p:cNvSpPr/>
          <p:nvPr/>
        </p:nvSpPr>
        <p:spPr bwMode="auto">
          <a:xfrm rot="20790460">
            <a:off x="1556005" y="5156973"/>
            <a:ext cx="2282689" cy="237458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836597F8-CD4F-D7F5-F5AE-67817B67910A}"/>
              </a:ext>
            </a:extLst>
          </p:cNvPr>
          <p:cNvSpPr/>
          <p:nvPr/>
        </p:nvSpPr>
        <p:spPr bwMode="auto">
          <a:xfrm rot="1423795">
            <a:off x="1542295" y="4453057"/>
            <a:ext cx="2144179" cy="73149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50" name="직사각형 249">
            <a:extLst>
              <a:ext uri="{FF2B5EF4-FFF2-40B4-BE49-F238E27FC236}">
                <a16:creationId xmlns:a16="http://schemas.microsoft.com/office/drawing/2014/main" id="{605F8D90-02EC-C74B-9D1D-66F2BEB9A88A}"/>
              </a:ext>
            </a:extLst>
          </p:cNvPr>
          <p:cNvSpPr/>
          <p:nvPr/>
        </p:nvSpPr>
        <p:spPr bwMode="auto">
          <a:xfrm rot="5400000">
            <a:off x="3229734" y="217451"/>
            <a:ext cx="4356903" cy="7470590"/>
          </a:xfrm>
          <a:prstGeom prst="rect">
            <a:avLst/>
          </a:prstGeom>
          <a:gradFill>
            <a:gsLst>
              <a:gs pos="9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4D8131B-A2D8-B98C-52FB-D349B2F97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/>
              <a:t>x86 (IA-32) Memory Protection</a:t>
            </a:r>
            <a:endParaRPr lang="ko-KR" altLang="en-US" sz="32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92ED7F-3F58-CE1D-9887-5F4D97B2CCF2}"/>
              </a:ext>
            </a:extLst>
          </p:cNvPr>
          <p:cNvSpPr/>
          <p:nvPr/>
        </p:nvSpPr>
        <p:spPr bwMode="auto">
          <a:xfrm>
            <a:off x="752130" y="2066034"/>
            <a:ext cx="914400" cy="3962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EB7103-6E1B-685C-6E8A-8278B9867B8B}"/>
              </a:ext>
            </a:extLst>
          </p:cNvPr>
          <p:cNvSpPr txBox="1"/>
          <p:nvPr/>
        </p:nvSpPr>
        <p:spPr>
          <a:xfrm>
            <a:off x="337208" y="1774292"/>
            <a:ext cx="17395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Virtual Addr Space</a:t>
            </a:r>
            <a:endParaRPr lang="ko-KR" altLang="en-US" sz="110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D7A2BC9-73BF-0F35-4563-D5C85195B29B}"/>
              </a:ext>
            </a:extLst>
          </p:cNvPr>
          <p:cNvGrpSpPr/>
          <p:nvPr/>
        </p:nvGrpSpPr>
        <p:grpSpPr>
          <a:xfrm>
            <a:off x="1522225" y="4068504"/>
            <a:ext cx="311304" cy="325565"/>
            <a:chOff x="7612939" y="4068504"/>
            <a:chExt cx="311304" cy="32556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6BBAC7D-8436-98B0-0FC7-14557299F7F5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DB49729-6441-664D-032F-A10BB10B949B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0F596507-48E4-47B0-535C-FAC316DA9A77}"/>
              </a:ext>
            </a:extLst>
          </p:cNvPr>
          <p:cNvGrpSpPr/>
          <p:nvPr/>
        </p:nvGrpSpPr>
        <p:grpSpPr>
          <a:xfrm>
            <a:off x="598471" y="4068504"/>
            <a:ext cx="311304" cy="325565"/>
            <a:chOff x="7612939" y="4068504"/>
            <a:chExt cx="311304" cy="32556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E177213-AE0C-BE46-AA2A-C25BDECC3204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12F048-6F2F-4E9B-E9CF-9A470D8D79D2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E50651C3-2F71-1FD8-65D0-A4E8C047C6B3}"/>
              </a:ext>
            </a:extLst>
          </p:cNvPr>
          <p:cNvGrpSpPr/>
          <p:nvPr/>
        </p:nvGrpSpPr>
        <p:grpSpPr>
          <a:xfrm>
            <a:off x="1512871" y="2046753"/>
            <a:ext cx="311304" cy="325565"/>
            <a:chOff x="7612939" y="4068504"/>
            <a:chExt cx="311304" cy="325565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72D9DD1-15B6-052E-F9A2-B999B3DD8AE5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E2FCE64-5D72-232E-4306-52E0E82F37AC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4AFBE5A8-A4C4-64A9-D0C8-F11EE042AB10}"/>
              </a:ext>
            </a:extLst>
          </p:cNvPr>
          <p:cNvGrpSpPr/>
          <p:nvPr/>
        </p:nvGrpSpPr>
        <p:grpSpPr>
          <a:xfrm>
            <a:off x="598471" y="2046753"/>
            <a:ext cx="311304" cy="325565"/>
            <a:chOff x="7612939" y="4068504"/>
            <a:chExt cx="311304" cy="325565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EE29BF7-F897-5E82-BF51-F26DC2358A6A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9D24B4C-B972-34E2-4D4E-87F7C275B490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B69B310C-D5D8-DA49-8609-80C16852A14F}"/>
              </a:ext>
            </a:extLst>
          </p:cNvPr>
          <p:cNvSpPr/>
          <p:nvPr/>
        </p:nvSpPr>
        <p:spPr bwMode="auto">
          <a:xfrm>
            <a:off x="758491" y="2492999"/>
            <a:ext cx="914400" cy="15366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6D2382FA-2113-05AB-5939-16F1CADC4A48}"/>
              </a:ext>
            </a:extLst>
          </p:cNvPr>
          <p:cNvSpPr/>
          <p:nvPr/>
        </p:nvSpPr>
        <p:spPr bwMode="auto">
          <a:xfrm>
            <a:off x="757932" y="3185651"/>
            <a:ext cx="910591" cy="7008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491D73BA-2C51-360D-4050-2D181F2D01D0}"/>
              </a:ext>
            </a:extLst>
          </p:cNvPr>
          <p:cNvSpPr/>
          <p:nvPr/>
        </p:nvSpPr>
        <p:spPr bwMode="auto">
          <a:xfrm>
            <a:off x="757932" y="2494054"/>
            <a:ext cx="910591" cy="70086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04" name="Rectangle 3">
            <a:extLst>
              <a:ext uri="{FF2B5EF4-FFF2-40B4-BE49-F238E27FC236}">
                <a16:creationId xmlns:a16="http://schemas.microsoft.com/office/drawing/2014/main" id="{EAF416B4-9858-67B5-4BEE-D622D8A16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700" y="1752602"/>
            <a:ext cx="3423950" cy="4374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600"/>
              <a:t>The kernel and the architecture </a:t>
            </a:r>
            <a:r>
              <a:rPr lang="en-US" altLang="ko-KR" sz="1600">
                <a:solidFill>
                  <a:srgbClr val="0000FF"/>
                </a:solidFill>
              </a:rPr>
              <a:t>must protect all virtual </a:t>
            </a:r>
            <a:r>
              <a:rPr lang="en-US" altLang="ko-KR" sz="1600"/>
              <a:t>address space except for the segments explicitly allocated to the user.</a:t>
            </a:r>
          </a:p>
          <a:p>
            <a:pPr latinLnBrk="1"/>
            <a:r>
              <a:rPr lang="en-US" altLang="ko-KR" sz="1600" b="1" u="sng"/>
              <a:t>There are two types of illegal access attempts</a:t>
            </a:r>
            <a:r>
              <a:rPr lang="en-US" altLang="ko-KR" sz="1600"/>
              <a:t>:</a:t>
            </a:r>
          </a:p>
          <a:p>
            <a:pPr lvl="1" latinLnBrk="1"/>
            <a:r>
              <a:rPr lang="en-US" altLang="ko-KR" sz="1200" b="1"/>
              <a:t>Accessing a page that was never provided by the kernel to the user</a:t>
            </a:r>
          </a:p>
          <a:p>
            <a:pPr lvl="1" latinLnBrk="1"/>
            <a:r>
              <a:rPr lang="en-US" altLang="ko-KR" sz="1200" b="1"/>
              <a:t>Accessing the kernel address space</a:t>
            </a:r>
          </a:p>
          <a:p>
            <a:pPr latinLnBrk="1"/>
            <a:r>
              <a:rPr lang="en-US" altLang="ko-KR" sz="1600">
                <a:solidFill>
                  <a:srgbClr val="0000FF"/>
                </a:solidFill>
              </a:rPr>
              <a:t>The x86 architecture automatically enforces protection </a:t>
            </a:r>
            <a:r>
              <a:rPr lang="en-US" altLang="ko-KR" sz="1600"/>
              <a:t>against both of these types of violations by PAGE FAULT exception!</a:t>
            </a:r>
          </a:p>
          <a:p>
            <a:pPr latinLnBrk="1"/>
            <a:endParaRPr lang="en-US" altLang="ko-KR" sz="1600" b="1" i="1">
              <a:solidFill>
                <a:srgbClr val="0000FF"/>
              </a:solidFill>
            </a:endParaRPr>
          </a:p>
          <a:p>
            <a:pPr marL="471487" lvl="1" indent="0" latinLnBrk="1">
              <a:buNone/>
            </a:pPr>
            <a:endParaRPr lang="en-US" altLang="ko-KR" sz="1200"/>
          </a:p>
          <a:p>
            <a:pPr marL="471487" lvl="1" indent="0" latinLnBrk="1">
              <a:buNone/>
            </a:pPr>
            <a:endParaRPr lang="en-US" altLang="ko-KR" sz="12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latinLnBrk="1"/>
            <a:endParaRPr lang="en-US" altLang="ko-KR" sz="1600" kern="0">
              <a:latin typeface="+mj-lt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5871F69A-4844-3B08-3FF5-CBBFD4FFD494}"/>
              </a:ext>
            </a:extLst>
          </p:cNvPr>
          <p:cNvSpPr txBox="1"/>
          <p:nvPr/>
        </p:nvSpPr>
        <p:spPr>
          <a:xfrm rot="16200000">
            <a:off x="-393093" y="2859480"/>
            <a:ext cx="15872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/>
              <a:t>Kernel V-Addr Space</a:t>
            </a:r>
            <a:endParaRPr lang="ko-KR" altLang="en-US" sz="1050"/>
          </a:p>
        </p:txBody>
      </p:sp>
      <p:sp>
        <p:nvSpPr>
          <p:cNvPr id="273" name="오른쪽 중괄호 272">
            <a:extLst>
              <a:ext uri="{FF2B5EF4-FFF2-40B4-BE49-F238E27FC236}">
                <a16:creationId xmlns:a16="http://schemas.microsoft.com/office/drawing/2014/main" id="{6E06C30E-0B58-524D-39E0-F01F2A8C4A30}"/>
              </a:ext>
            </a:extLst>
          </p:cNvPr>
          <p:cNvSpPr/>
          <p:nvPr/>
        </p:nvSpPr>
        <p:spPr bwMode="auto">
          <a:xfrm rot="10800000">
            <a:off x="499228" y="2054154"/>
            <a:ext cx="119789" cy="1965783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87A01AC1-4638-A2CD-E9EE-9BADAA9410FB}"/>
              </a:ext>
            </a:extLst>
          </p:cNvPr>
          <p:cNvSpPr txBox="1"/>
          <p:nvPr/>
        </p:nvSpPr>
        <p:spPr>
          <a:xfrm rot="16200000">
            <a:off x="-329774" y="4894437"/>
            <a:ext cx="14606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/>
              <a:t>User V-Addr Space</a:t>
            </a:r>
            <a:endParaRPr lang="ko-KR" altLang="en-US" sz="1050"/>
          </a:p>
        </p:txBody>
      </p:sp>
      <p:sp>
        <p:nvSpPr>
          <p:cNvPr id="279" name="오른쪽 중괄호 278">
            <a:extLst>
              <a:ext uri="{FF2B5EF4-FFF2-40B4-BE49-F238E27FC236}">
                <a16:creationId xmlns:a16="http://schemas.microsoft.com/office/drawing/2014/main" id="{BCC9FAC8-0822-039D-6330-43138EEFD142}"/>
              </a:ext>
            </a:extLst>
          </p:cNvPr>
          <p:cNvSpPr/>
          <p:nvPr/>
        </p:nvSpPr>
        <p:spPr bwMode="auto">
          <a:xfrm rot="10800000">
            <a:off x="499228" y="4041543"/>
            <a:ext cx="119789" cy="1965783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7F34314-BB78-9F86-FAD4-329EAD385143}"/>
              </a:ext>
            </a:extLst>
          </p:cNvPr>
          <p:cNvSpPr/>
          <p:nvPr/>
        </p:nvSpPr>
        <p:spPr bwMode="auto">
          <a:xfrm>
            <a:off x="757931" y="4028360"/>
            <a:ext cx="910591" cy="829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D6C5B12-03EA-2BDB-D829-1EBB6EB7E57E}"/>
              </a:ext>
            </a:extLst>
          </p:cNvPr>
          <p:cNvSpPr/>
          <p:nvPr/>
        </p:nvSpPr>
        <p:spPr bwMode="auto">
          <a:xfrm>
            <a:off x="757931" y="3118807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6B72C94-8EAD-A883-AD6F-7A6E1F839295}"/>
              </a:ext>
            </a:extLst>
          </p:cNvPr>
          <p:cNvSpPr/>
          <p:nvPr/>
        </p:nvSpPr>
        <p:spPr bwMode="auto">
          <a:xfrm>
            <a:off x="757931" y="3039633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D8AF478F-C7B6-76D5-B5A5-CA94CBA14EA9}"/>
              </a:ext>
            </a:extLst>
          </p:cNvPr>
          <p:cNvSpPr/>
          <p:nvPr/>
        </p:nvSpPr>
        <p:spPr bwMode="auto">
          <a:xfrm>
            <a:off x="757931" y="2959379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731E31DC-2DB9-D11C-DCD9-67908C1E1605}"/>
              </a:ext>
            </a:extLst>
          </p:cNvPr>
          <p:cNvSpPr/>
          <p:nvPr/>
        </p:nvSpPr>
        <p:spPr bwMode="auto">
          <a:xfrm>
            <a:off x="757930" y="2880511"/>
            <a:ext cx="910591" cy="829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9807877B-DE02-8F8A-430E-7E58F38D6B9D}"/>
              </a:ext>
            </a:extLst>
          </p:cNvPr>
          <p:cNvSpPr txBox="1"/>
          <p:nvPr/>
        </p:nvSpPr>
        <p:spPr>
          <a:xfrm>
            <a:off x="985014" y="4068522"/>
            <a:ext cx="4908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883849CE-7BF3-289F-81ED-794826835778}"/>
              </a:ext>
            </a:extLst>
          </p:cNvPr>
          <p:cNvSpPr txBox="1"/>
          <p:nvPr/>
        </p:nvSpPr>
        <p:spPr>
          <a:xfrm>
            <a:off x="947343" y="3611228"/>
            <a:ext cx="5661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thread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650D8CF7-A003-DFBB-7E07-1E4994BD2F1E}"/>
              </a:ext>
            </a:extLst>
          </p:cNvPr>
          <p:cNvSpPr/>
          <p:nvPr/>
        </p:nvSpPr>
        <p:spPr bwMode="auto">
          <a:xfrm>
            <a:off x="751875" y="3569986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5F4CB0E-9419-1F48-B71C-40DE90EA1519}"/>
              </a:ext>
            </a:extLst>
          </p:cNvPr>
          <p:cNvCxnSpPr>
            <a:cxnSpLocks/>
            <a:stCxn id="232" idx="1"/>
          </p:cNvCxnSpPr>
          <p:nvPr/>
        </p:nvCxnSpPr>
        <p:spPr bwMode="auto">
          <a:xfrm flipH="1">
            <a:off x="1662466" y="4678245"/>
            <a:ext cx="1664658" cy="2729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B9058D6B-5B2C-DC95-114A-FA7548159ED6}"/>
              </a:ext>
            </a:extLst>
          </p:cNvPr>
          <p:cNvCxnSpPr>
            <a:cxnSpLocks/>
          </p:cNvCxnSpPr>
          <p:nvPr/>
        </p:nvCxnSpPr>
        <p:spPr bwMode="auto">
          <a:xfrm>
            <a:off x="1672891" y="4951156"/>
            <a:ext cx="1022666" cy="1243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9" name="직선 연결선 228">
            <a:extLst>
              <a:ext uri="{FF2B5EF4-FFF2-40B4-BE49-F238E27FC236}">
                <a16:creationId xmlns:a16="http://schemas.microsoft.com/office/drawing/2014/main" id="{6867CDE3-FF7D-4FBA-8574-FB5ABAC9D267}"/>
              </a:ext>
            </a:extLst>
          </p:cNvPr>
          <p:cNvCxnSpPr>
            <a:cxnSpLocks/>
            <a:stCxn id="233" idx="1"/>
          </p:cNvCxnSpPr>
          <p:nvPr/>
        </p:nvCxnSpPr>
        <p:spPr bwMode="auto">
          <a:xfrm flipH="1" flipV="1">
            <a:off x="1672890" y="3635973"/>
            <a:ext cx="1682370" cy="19725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1" name="직선 화살표 연결선 230">
            <a:extLst>
              <a:ext uri="{FF2B5EF4-FFF2-40B4-BE49-F238E27FC236}">
                <a16:creationId xmlns:a16="http://schemas.microsoft.com/office/drawing/2014/main" id="{6584AD5C-E5A3-231C-B31B-4F591172527A}"/>
              </a:ext>
            </a:extLst>
          </p:cNvPr>
          <p:cNvCxnSpPr>
            <a:cxnSpLocks/>
          </p:cNvCxnSpPr>
          <p:nvPr/>
        </p:nvCxnSpPr>
        <p:spPr bwMode="auto">
          <a:xfrm flipV="1">
            <a:off x="1668268" y="3418082"/>
            <a:ext cx="1088752" cy="2178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EDA4513C-006F-B726-D502-75725D3C8F31}"/>
              </a:ext>
            </a:extLst>
          </p:cNvPr>
          <p:cNvSpPr txBox="1"/>
          <p:nvPr/>
        </p:nvSpPr>
        <p:spPr>
          <a:xfrm>
            <a:off x="3327124" y="4547440"/>
            <a:ext cx="21387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access trial in user context </a:t>
            </a:r>
            <a:endParaRPr lang="ko-KR" altLang="en-US" sz="110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222A4F3D-98DA-0E83-CD3D-987FCFDF2CC5}"/>
              </a:ext>
            </a:extLst>
          </p:cNvPr>
          <p:cNvSpPr txBox="1"/>
          <p:nvPr/>
        </p:nvSpPr>
        <p:spPr>
          <a:xfrm>
            <a:off x="3355260" y="3702421"/>
            <a:ext cx="21387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access trial in user context </a:t>
            </a:r>
            <a:endParaRPr lang="ko-KR" altLang="en-US" sz="110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AA9E1149-4BD1-B57D-6903-53DA2D5640D9}"/>
              </a:ext>
            </a:extLst>
          </p:cNvPr>
          <p:cNvSpPr txBox="1"/>
          <p:nvPr/>
        </p:nvSpPr>
        <p:spPr>
          <a:xfrm>
            <a:off x="2665104" y="4869526"/>
            <a:ext cx="20585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Page Fault at 0x20000000</a:t>
            </a:r>
          </a:p>
          <a:p>
            <a:r>
              <a:rPr lang="en-US" altLang="ko-KR" sz="1100" b="1">
                <a:solidFill>
                  <a:srgbClr val="FF0000"/>
                </a:solidFill>
              </a:rPr>
              <a:t>not existing page </a:t>
            </a:r>
            <a:r>
              <a:rPr lang="en-US" altLang="ko-KR" sz="1100" b="1"/>
              <a:t>error</a:t>
            </a:r>
            <a:r>
              <a:rPr lang="en-US" altLang="ko-KR" sz="1100"/>
              <a:t> </a:t>
            </a:r>
            <a:endParaRPr lang="ko-KR" altLang="en-US" sz="110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C235A830-B5B2-919D-1DF2-7A640A838104}"/>
              </a:ext>
            </a:extLst>
          </p:cNvPr>
          <p:cNvSpPr txBox="1"/>
          <p:nvPr/>
        </p:nvSpPr>
        <p:spPr>
          <a:xfrm>
            <a:off x="2739741" y="3197103"/>
            <a:ext cx="21242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Page fault at 0xc0103000: </a:t>
            </a:r>
          </a:p>
          <a:p>
            <a:r>
              <a:rPr lang="en-US" altLang="ko-KR" sz="1100" b="1">
                <a:solidFill>
                  <a:srgbClr val="FF0000"/>
                </a:solidFill>
              </a:rPr>
              <a:t>rights violation </a:t>
            </a:r>
            <a:r>
              <a:rPr lang="en-US" altLang="ko-KR" sz="1100" b="1"/>
              <a:t>error</a:t>
            </a:r>
            <a:endParaRPr lang="ko-KR" altLang="en-US" sz="1100" b="1"/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B01179B5-7A7C-4575-40CD-CE661F860D9A}"/>
              </a:ext>
            </a:extLst>
          </p:cNvPr>
          <p:cNvSpPr/>
          <p:nvPr/>
        </p:nvSpPr>
        <p:spPr bwMode="auto">
          <a:xfrm>
            <a:off x="757931" y="5552572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2509AD9-A9B7-F4E3-D373-8219306F386A}"/>
              </a:ext>
            </a:extLst>
          </p:cNvPr>
          <p:cNvSpPr/>
          <p:nvPr/>
        </p:nvSpPr>
        <p:spPr bwMode="auto">
          <a:xfrm>
            <a:off x="757931" y="5473398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9F23A275-2B75-4FDA-D4B7-8B20A4E05226}"/>
              </a:ext>
            </a:extLst>
          </p:cNvPr>
          <p:cNvSpPr/>
          <p:nvPr/>
        </p:nvSpPr>
        <p:spPr bwMode="auto">
          <a:xfrm>
            <a:off x="757931" y="5393144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7545363D-A554-BDF1-F3AB-3EC2689EFFDA}"/>
              </a:ext>
            </a:extLst>
          </p:cNvPr>
          <p:cNvSpPr txBox="1"/>
          <p:nvPr/>
        </p:nvSpPr>
        <p:spPr>
          <a:xfrm>
            <a:off x="662622" y="5601345"/>
            <a:ext cx="10887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.bss .code .data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96A831-98B4-34BD-1030-22A0CE692DF5}"/>
              </a:ext>
            </a:extLst>
          </p:cNvPr>
          <p:cNvSpPr txBox="1"/>
          <p:nvPr/>
        </p:nvSpPr>
        <p:spPr>
          <a:xfrm>
            <a:off x="1621371" y="5873602"/>
            <a:ext cx="43473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0x0</a:t>
            </a:r>
            <a:endParaRPr lang="ko-KR" altLang="en-US" sz="1050"/>
          </a:p>
        </p:txBody>
      </p:sp>
      <p:grpSp>
        <p:nvGrpSpPr>
          <p:cNvPr id="274" name="그룹 273">
            <a:extLst>
              <a:ext uri="{FF2B5EF4-FFF2-40B4-BE49-F238E27FC236}">
                <a16:creationId xmlns:a16="http://schemas.microsoft.com/office/drawing/2014/main" id="{4695B5E9-4810-5E4B-084B-A3FA38D04A22}"/>
              </a:ext>
            </a:extLst>
          </p:cNvPr>
          <p:cNvGrpSpPr/>
          <p:nvPr/>
        </p:nvGrpSpPr>
        <p:grpSpPr>
          <a:xfrm>
            <a:off x="2668819" y="5537916"/>
            <a:ext cx="2759089" cy="451787"/>
            <a:chOff x="2668819" y="5537916"/>
            <a:chExt cx="2759089" cy="451787"/>
          </a:xfrm>
        </p:grpSpPr>
        <p:sp>
          <p:nvSpPr>
            <p:cNvPr id="264" name="말풍선: 사각형 263">
              <a:extLst>
                <a:ext uri="{FF2B5EF4-FFF2-40B4-BE49-F238E27FC236}">
                  <a16:creationId xmlns:a16="http://schemas.microsoft.com/office/drawing/2014/main" id="{AB0A9309-45A0-CE48-B648-58D3972AD1EC}"/>
                </a:ext>
              </a:extLst>
            </p:cNvPr>
            <p:cNvSpPr/>
            <p:nvPr/>
          </p:nvSpPr>
          <p:spPr bwMode="auto">
            <a:xfrm rot="10800000" flipH="1">
              <a:off x="2674570" y="5537916"/>
              <a:ext cx="2685438" cy="451787"/>
            </a:xfrm>
            <a:prstGeom prst="wedgeRectCallout">
              <a:avLst>
                <a:gd name="adj1" fmla="val -3533"/>
                <a:gd name="adj2" fmla="val 101201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A517793E-6C04-1C71-9CB0-29352AFC7266}"/>
                </a:ext>
              </a:extLst>
            </p:cNvPr>
            <p:cNvSpPr txBox="1"/>
            <p:nvPr/>
          </p:nvSpPr>
          <p:spPr>
            <a:xfrm>
              <a:off x="2668819" y="5545437"/>
              <a:ext cx="275908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i="1"/>
                <a:t>Deny access to pages not managed </a:t>
              </a:r>
            </a:p>
            <a:p>
              <a:r>
                <a:rPr lang="en-US" altLang="ko-KR" sz="1100" i="1"/>
                <a:t>by the page management system.</a:t>
              </a:r>
              <a:endParaRPr lang="ko-KR" altLang="en-US" sz="1100" i="1"/>
            </a:p>
          </p:txBody>
        </p:sp>
      </p:grpSp>
      <p:sp>
        <p:nvSpPr>
          <p:cNvPr id="275" name="말풍선: 사각형 274">
            <a:extLst>
              <a:ext uri="{FF2B5EF4-FFF2-40B4-BE49-F238E27FC236}">
                <a16:creationId xmlns:a16="http://schemas.microsoft.com/office/drawing/2014/main" id="{ED2180C6-BBE0-84C6-0983-94C0309E687B}"/>
              </a:ext>
            </a:extLst>
          </p:cNvPr>
          <p:cNvSpPr/>
          <p:nvPr/>
        </p:nvSpPr>
        <p:spPr bwMode="auto">
          <a:xfrm flipH="1">
            <a:off x="2674570" y="2475758"/>
            <a:ext cx="2685438" cy="451787"/>
          </a:xfrm>
          <a:prstGeom prst="wedgeRectCallout">
            <a:avLst>
              <a:gd name="adj1" fmla="val -1206"/>
              <a:gd name="adj2" fmla="val 102549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97D1B8D5-0B8D-41AA-DE34-F15ED4BA984B}"/>
              </a:ext>
            </a:extLst>
          </p:cNvPr>
          <p:cNvSpPr txBox="1"/>
          <p:nvPr/>
        </p:nvSpPr>
        <p:spPr>
          <a:xfrm>
            <a:off x="2757020" y="2485688"/>
            <a:ext cx="26629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i="1"/>
              <a:t>Protect kernel code and data from </a:t>
            </a:r>
          </a:p>
          <a:p>
            <a:r>
              <a:rPr lang="en-US" altLang="ko-KR" sz="1100" i="1"/>
              <a:t>malicious or ignorant users.</a:t>
            </a:r>
            <a:endParaRPr lang="ko-KR" altLang="en-US" sz="1100" i="1"/>
          </a:p>
        </p:txBody>
      </p:sp>
    </p:spTree>
    <p:extLst>
      <p:ext uri="{BB962C8B-B14F-4D97-AF65-F5344CB8AC3E}">
        <p14:creationId xmlns:p14="http://schemas.microsoft.com/office/powerpoint/2010/main" val="4070491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31DB8-8148-0A3E-F621-033E3CB96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직사각형 295">
            <a:extLst>
              <a:ext uri="{FF2B5EF4-FFF2-40B4-BE49-F238E27FC236}">
                <a16:creationId xmlns:a16="http://schemas.microsoft.com/office/drawing/2014/main" id="{E943C106-5AEA-BC9F-AB43-4FD5DB1BE765}"/>
              </a:ext>
            </a:extLst>
          </p:cNvPr>
          <p:cNvSpPr/>
          <p:nvPr/>
        </p:nvSpPr>
        <p:spPr bwMode="auto">
          <a:xfrm>
            <a:off x="-520" y="2069008"/>
            <a:ext cx="9144000" cy="195973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85" name="자유형: 도형 484">
            <a:extLst>
              <a:ext uri="{FF2B5EF4-FFF2-40B4-BE49-F238E27FC236}">
                <a16:creationId xmlns:a16="http://schemas.microsoft.com/office/drawing/2014/main" id="{0BBED1AC-714D-DDB8-7739-13DDE3856700}"/>
              </a:ext>
            </a:extLst>
          </p:cNvPr>
          <p:cNvSpPr/>
          <p:nvPr/>
        </p:nvSpPr>
        <p:spPr bwMode="auto">
          <a:xfrm>
            <a:off x="3431540" y="2194560"/>
            <a:ext cx="375920" cy="1374140"/>
          </a:xfrm>
          <a:custGeom>
            <a:avLst/>
            <a:gdLst>
              <a:gd name="connsiteX0" fmla="*/ 0 w 375920"/>
              <a:gd name="connsiteY0" fmla="*/ 1374140 h 1374140"/>
              <a:gd name="connsiteX1" fmla="*/ 375920 w 375920"/>
              <a:gd name="connsiteY1" fmla="*/ 0 h 1374140"/>
              <a:gd name="connsiteX2" fmla="*/ 373380 w 375920"/>
              <a:gd name="connsiteY2" fmla="*/ 584200 h 1374140"/>
              <a:gd name="connsiteX3" fmla="*/ 0 w 375920"/>
              <a:gd name="connsiteY3" fmla="*/ 1374140 h 1374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920" h="1374140">
                <a:moveTo>
                  <a:pt x="0" y="1374140"/>
                </a:moveTo>
                <a:lnTo>
                  <a:pt x="375920" y="0"/>
                </a:lnTo>
                <a:cubicBezTo>
                  <a:pt x="375073" y="194733"/>
                  <a:pt x="374227" y="389467"/>
                  <a:pt x="373380" y="584200"/>
                </a:cubicBezTo>
                <a:lnTo>
                  <a:pt x="0" y="137414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86" name="직사각형 485">
            <a:extLst>
              <a:ext uri="{FF2B5EF4-FFF2-40B4-BE49-F238E27FC236}">
                <a16:creationId xmlns:a16="http://schemas.microsoft.com/office/drawing/2014/main" id="{25DF3D45-CFE5-3E90-6DB2-79ED81EDF765}"/>
              </a:ext>
            </a:extLst>
          </p:cNvPr>
          <p:cNvSpPr/>
          <p:nvPr/>
        </p:nvSpPr>
        <p:spPr bwMode="auto">
          <a:xfrm>
            <a:off x="3794089" y="2194864"/>
            <a:ext cx="908040" cy="6062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47" name="사각형: 둥근 모서리 446">
            <a:extLst>
              <a:ext uri="{FF2B5EF4-FFF2-40B4-BE49-F238E27FC236}">
                <a16:creationId xmlns:a16="http://schemas.microsoft.com/office/drawing/2014/main" id="{B0CE5F80-18D0-9396-B8E0-D0EB65A76CDC}"/>
              </a:ext>
            </a:extLst>
          </p:cNvPr>
          <p:cNvSpPr/>
          <p:nvPr/>
        </p:nvSpPr>
        <p:spPr bwMode="auto">
          <a:xfrm>
            <a:off x="1222759" y="4301109"/>
            <a:ext cx="3423948" cy="5573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86" name="자유형: 도형 385">
            <a:extLst>
              <a:ext uri="{FF2B5EF4-FFF2-40B4-BE49-F238E27FC236}">
                <a16:creationId xmlns:a16="http://schemas.microsoft.com/office/drawing/2014/main" id="{2064D7BD-D3C1-2152-81AB-6E3C08B1808A}"/>
              </a:ext>
            </a:extLst>
          </p:cNvPr>
          <p:cNvSpPr/>
          <p:nvPr/>
        </p:nvSpPr>
        <p:spPr bwMode="auto">
          <a:xfrm>
            <a:off x="3413760" y="4034789"/>
            <a:ext cx="392430" cy="1812131"/>
          </a:xfrm>
          <a:custGeom>
            <a:avLst/>
            <a:gdLst>
              <a:gd name="connsiteX0" fmla="*/ 0 w 392430"/>
              <a:gd name="connsiteY0" fmla="*/ 72390 h 1771650"/>
              <a:gd name="connsiteX1" fmla="*/ 392430 w 392430"/>
              <a:gd name="connsiteY1" fmla="*/ 1771650 h 1771650"/>
              <a:gd name="connsiteX2" fmla="*/ 392430 w 392430"/>
              <a:gd name="connsiteY2" fmla="*/ 1196340 h 1771650"/>
              <a:gd name="connsiteX3" fmla="*/ 15240 w 392430"/>
              <a:gd name="connsiteY3" fmla="*/ 0 h 1771650"/>
              <a:gd name="connsiteX4" fmla="*/ 0 w 392430"/>
              <a:gd name="connsiteY4" fmla="*/ 7239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2430" h="1771650">
                <a:moveTo>
                  <a:pt x="0" y="72390"/>
                </a:moveTo>
                <a:lnTo>
                  <a:pt x="392430" y="1771650"/>
                </a:lnTo>
                <a:lnTo>
                  <a:pt x="392430" y="1196340"/>
                </a:lnTo>
                <a:lnTo>
                  <a:pt x="15240" y="0"/>
                </a:lnTo>
                <a:lnTo>
                  <a:pt x="0" y="7239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3DC477C-4DD1-F091-8BE9-6239F1E85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/>
              <a:t>Mode Switch for System Call (1/5)</a:t>
            </a:r>
            <a:endParaRPr lang="ko-KR" altLang="en-US" sz="2800"/>
          </a:p>
        </p:txBody>
      </p:sp>
      <p:sp>
        <p:nvSpPr>
          <p:cNvPr id="311" name="직사각형 310">
            <a:extLst>
              <a:ext uri="{FF2B5EF4-FFF2-40B4-BE49-F238E27FC236}">
                <a16:creationId xmlns:a16="http://schemas.microsoft.com/office/drawing/2014/main" id="{7C9F8828-F4B5-B9DF-226C-DD5D5947660B}"/>
              </a:ext>
            </a:extLst>
          </p:cNvPr>
          <p:cNvSpPr/>
          <p:nvPr/>
        </p:nvSpPr>
        <p:spPr bwMode="auto">
          <a:xfrm>
            <a:off x="2508798" y="2066034"/>
            <a:ext cx="914400" cy="3962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1D690173-ED95-9F90-E05F-F4E18CC93A98}"/>
              </a:ext>
            </a:extLst>
          </p:cNvPr>
          <p:cNvSpPr txBox="1"/>
          <p:nvPr/>
        </p:nvSpPr>
        <p:spPr>
          <a:xfrm>
            <a:off x="2093876" y="1774292"/>
            <a:ext cx="17395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Virtual Addr Space</a:t>
            </a:r>
            <a:endParaRPr lang="ko-KR" altLang="en-US" sz="1100"/>
          </a:p>
        </p:txBody>
      </p:sp>
      <p:grpSp>
        <p:nvGrpSpPr>
          <p:cNvPr id="313" name="그룹 312">
            <a:extLst>
              <a:ext uri="{FF2B5EF4-FFF2-40B4-BE49-F238E27FC236}">
                <a16:creationId xmlns:a16="http://schemas.microsoft.com/office/drawing/2014/main" id="{674CCF14-DB02-928E-D880-AEBAF797135A}"/>
              </a:ext>
            </a:extLst>
          </p:cNvPr>
          <p:cNvGrpSpPr/>
          <p:nvPr/>
        </p:nvGrpSpPr>
        <p:grpSpPr>
          <a:xfrm>
            <a:off x="3278893" y="4068504"/>
            <a:ext cx="311304" cy="325565"/>
            <a:chOff x="7612939" y="4068504"/>
            <a:chExt cx="311304" cy="325565"/>
          </a:xfrm>
        </p:grpSpPr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7131A6D7-28BD-6FBA-72E6-C467394C2034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F17B78D9-DED0-B68E-5A44-A2D46130FB79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316" name="그룹 315">
            <a:extLst>
              <a:ext uri="{FF2B5EF4-FFF2-40B4-BE49-F238E27FC236}">
                <a16:creationId xmlns:a16="http://schemas.microsoft.com/office/drawing/2014/main" id="{B4838B72-3A9B-6EBB-9A78-7D977CBCEF38}"/>
              </a:ext>
            </a:extLst>
          </p:cNvPr>
          <p:cNvGrpSpPr/>
          <p:nvPr/>
        </p:nvGrpSpPr>
        <p:grpSpPr>
          <a:xfrm>
            <a:off x="2355139" y="4068504"/>
            <a:ext cx="311304" cy="325565"/>
            <a:chOff x="7612939" y="4068504"/>
            <a:chExt cx="311304" cy="325565"/>
          </a:xfrm>
        </p:grpSpPr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B3A18AA2-F409-0680-FC21-F6B98D70500D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B8171B3A-9FD3-F6C7-727D-9DEB7C54FB7A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319" name="그룹 318">
            <a:extLst>
              <a:ext uri="{FF2B5EF4-FFF2-40B4-BE49-F238E27FC236}">
                <a16:creationId xmlns:a16="http://schemas.microsoft.com/office/drawing/2014/main" id="{506DBF0D-1A80-1BAF-0C58-FF8227A01AAA}"/>
              </a:ext>
            </a:extLst>
          </p:cNvPr>
          <p:cNvGrpSpPr/>
          <p:nvPr/>
        </p:nvGrpSpPr>
        <p:grpSpPr>
          <a:xfrm>
            <a:off x="3269539" y="2046753"/>
            <a:ext cx="311304" cy="325565"/>
            <a:chOff x="7612939" y="4068504"/>
            <a:chExt cx="311304" cy="325565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EE8458D-8D67-1633-CDDC-0FA4C575B043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DD3DC36-B823-6B4C-3BC5-05FB9CCBFAB4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BCD537AC-E44D-043B-16E0-39D50A35C03C}"/>
              </a:ext>
            </a:extLst>
          </p:cNvPr>
          <p:cNvGrpSpPr/>
          <p:nvPr/>
        </p:nvGrpSpPr>
        <p:grpSpPr>
          <a:xfrm>
            <a:off x="2355139" y="2046753"/>
            <a:ext cx="311304" cy="325565"/>
            <a:chOff x="7612939" y="4068504"/>
            <a:chExt cx="311304" cy="325565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9109C7F-80BE-425D-B461-B6FDAEC4E527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E103A230-1A53-3C04-57B2-B95543AF5418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6DD1E836-A445-9F69-AF4B-77CB9FCDEFCB}"/>
              </a:ext>
            </a:extLst>
          </p:cNvPr>
          <p:cNvSpPr/>
          <p:nvPr/>
        </p:nvSpPr>
        <p:spPr bwMode="auto">
          <a:xfrm>
            <a:off x="2515159" y="2492999"/>
            <a:ext cx="914400" cy="15366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27162AE-5D40-8B42-F427-AB8B64DB790F}"/>
              </a:ext>
            </a:extLst>
          </p:cNvPr>
          <p:cNvSpPr/>
          <p:nvPr/>
        </p:nvSpPr>
        <p:spPr bwMode="auto">
          <a:xfrm>
            <a:off x="2514600" y="3185651"/>
            <a:ext cx="910591" cy="7008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E44995E2-F332-00D0-0C82-218C19A0EE65}"/>
              </a:ext>
            </a:extLst>
          </p:cNvPr>
          <p:cNvSpPr/>
          <p:nvPr/>
        </p:nvSpPr>
        <p:spPr bwMode="auto">
          <a:xfrm>
            <a:off x="2514600" y="2494054"/>
            <a:ext cx="910591" cy="70086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9" name="Rectangle 3">
            <a:extLst>
              <a:ext uri="{FF2B5EF4-FFF2-40B4-BE49-F238E27FC236}">
                <a16:creationId xmlns:a16="http://schemas.microsoft.com/office/drawing/2014/main" id="{FB0EDA62-C619-17DA-790C-FCBC74DA1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455" y="1774292"/>
            <a:ext cx="3423950" cy="1106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600"/>
              <a:t>In the user context, </a:t>
            </a:r>
            <a:r>
              <a:rPr lang="en-US" altLang="ko-KR" sz="1600">
                <a:solidFill>
                  <a:srgbClr val="0000FF"/>
                </a:solidFill>
              </a:rPr>
              <a:t>EIP</a:t>
            </a:r>
            <a:r>
              <a:rPr lang="en-US" altLang="ko-KR" sz="1600"/>
              <a:t> and </a:t>
            </a:r>
            <a:r>
              <a:rPr lang="en-US" altLang="ko-KR" sz="1600">
                <a:solidFill>
                  <a:srgbClr val="0000FF"/>
                </a:solidFill>
              </a:rPr>
              <a:t>ESP</a:t>
            </a:r>
            <a:r>
              <a:rPr lang="en-US" altLang="ko-KR" sz="1600"/>
              <a:t> point to the user code and user stack, respectively.</a:t>
            </a:r>
            <a:endParaRPr lang="en-US" altLang="ko-KR" sz="1200"/>
          </a:p>
          <a:p>
            <a:pPr marL="471487" lvl="1" indent="0" latinLnBrk="1">
              <a:buNone/>
            </a:pPr>
            <a:endParaRPr lang="en-US" altLang="ko-KR" sz="12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latinLnBrk="1"/>
            <a:endParaRPr lang="en-US" altLang="ko-KR" sz="1600" kern="0">
              <a:latin typeface="+mj-lt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9EF8D49-6063-7B73-5DB1-26B35F1DEED2}"/>
              </a:ext>
            </a:extLst>
          </p:cNvPr>
          <p:cNvSpPr txBox="1"/>
          <p:nvPr/>
        </p:nvSpPr>
        <p:spPr>
          <a:xfrm rot="16200000">
            <a:off x="-308675" y="2859480"/>
            <a:ext cx="15872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/>
              <a:t>Kernel V-Addr Space</a:t>
            </a:r>
            <a:endParaRPr lang="ko-KR" altLang="en-US" sz="1050"/>
          </a:p>
        </p:txBody>
      </p:sp>
      <p:sp>
        <p:nvSpPr>
          <p:cNvPr id="111" name="오른쪽 중괄호 110">
            <a:extLst>
              <a:ext uri="{FF2B5EF4-FFF2-40B4-BE49-F238E27FC236}">
                <a16:creationId xmlns:a16="http://schemas.microsoft.com/office/drawing/2014/main" id="{EA3CBD9D-F29B-9271-06FE-9671966D9E88}"/>
              </a:ext>
            </a:extLst>
          </p:cNvPr>
          <p:cNvSpPr/>
          <p:nvPr/>
        </p:nvSpPr>
        <p:spPr bwMode="auto">
          <a:xfrm rot="10800000">
            <a:off x="583646" y="2054154"/>
            <a:ext cx="119789" cy="1965783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D4AA4AB-C30F-72AD-F9E4-631E1D688A10}"/>
              </a:ext>
            </a:extLst>
          </p:cNvPr>
          <p:cNvSpPr txBox="1"/>
          <p:nvPr/>
        </p:nvSpPr>
        <p:spPr>
          <a:xfrm rot="16200000">
            <a:off x="-245356" y="4894437"/>
            <a:ext cx="14606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/>
              <a:t>User V-Addr Space</a:t>
            </a:r>
            <a:endParaRPr lang="ko-KR" altLang="en-US" sz="1050"/>
          </a:p>
        </p:txBody>
      </p:sp>
      <p:sp>
        <p:nvSpPr>
          <p:cNvPr id="113" name="오른쪽 중괄호 112">
            <a:extLst>
              <a:ext uri="{FF2B5EF4-FFF2-40B4-BE49-F238E27FC236}">
                <a16:creationId xmlns:a16="http://schemas.microsoft.com/office/drawing/2014/main" id="{58CCBD3F-FA5B-55BC-81BE-88038747DB68}"/>
              </a:ext>
            </a:extLst>
          </p:cNvPr>
          <p:cNvSpPr/>
          <p:nvPr/>
        </p:nvSpPr>
        <p:spPr bwMode="auto">
          <a:xfrm rot="10800000">
            <a:off x="583646" y="4041543"/>
            <a:ext cx="119789" cy="1965783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EB09BCF7-8C4C-9A30-566E-71C00EBEEB60}"/>
              </a:ext>
            </a:extLst>
          </p:cNvPr>
          <p:cNvSpPr/>
          <p:nvPr/>
        </p:nvSpPr>
        <p:spPr bwMode="auto">
          <a:xfrm>
            <a:off x="2514599" y="4028360"/>
            <a:ext cx="910591" cy="829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97D193EA-FBEF-CBCE-C9F4-5ECAB3F5D8D2}"/>
              </a:ext>
            </a:extLst>
          </p:cNvPr>
          <p:cNvSpPr/>
          <p:nvPr/>
        </p:nvSpPr>
        <p:spPr bwMode="auto">
          <a:xfrm>
            <a:off x="2514599" y="3118807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2FDC28E7-9AD1-B9B0-CD78-2B3C4E5F7176}"/>
              </a:ext>
            </a:extLst>
          </p:cNvPr>
          <p:cNvSpPr/>
          <p:nvPr/>
        </p:nvSpPr>
        <p:spPr bwMode="auto">
          <a:xfrm>
            <a:off x="2514599" y="3039633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22DAEBBA-2121-7B87-6269-80721B578F45}"/>
              </a:ext>
            </a:extLst>
          </p:cNvPr>
          <p:cNvSpPr/>
          <p:nvPr/>
        </p:nvSpPr>
        <p:spPr bwMode="auto">
          <a:xfrm>
            <a:off x="2514599" y="2959379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91900948-6F40-06D9-2793-FFE84202BB27}"/>
              </a:ext>
            </a:extLst>
          </p:cNvPr>
          <p:cNvSpPr/>
          <p:nvPr/>
        </p:nvSpPr>
        <p:spPr bwMode="auto">
          <a:xfrm>
            <a:off x="2514598" y="2880511"/>
            <a:ext cx="910591" cy="829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A7ABFAA3-F69C-2525-A137-EE356A7C485C}"/>
              </a:ext>
            </a:extLst>
          </p:cNvPr>
          <p:cNvSpPr txBox="1"/>
          <p:nvPr/>
        </p:nvSpPr>
        <p:spPr>
          <a:xfrm>
            <a:off x="2741682" y="4068522"/>
            <a:ext cx="4908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3E9D1F54-BB7F-0AF0-14F9-390EC973866D}"/>
              </a:ext>
            </a:extLst>
          </p:cNvPr>
          <p:cNvSpPr txBox="1"/>
          <p:nvPr/>
        </p:nvSpPr>
        <p:spPr>
          <a:xfrm>
            <a:off x="2704011" y="3611228"/>
            <a:ext cx="5661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thread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3" name="직사각형 322">
            <a:extLst>
              <a:ext uri="{FF2B5EF4-FFF2-40B4-BE49-F238E27FC236}">
                <a16:creationId xmlns:a16="http://schemas.microsoft.com/office/drawing/2014/main" id="{71DEBE60-AB46-EC83-3448-AE4A54313E05}"/>
              </a:ext>
            </a:extLst>
          </p:cNvPr>
          <p:cNvSpPr/>
          <p:nvPr/>
        </p:nvSpPr>
        <p:spPr bwMode="auto">
          <a:xfrm>
            <a:off x="2508543" y="3569986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5" name="직사각형 354">
            <a:extLst>
              <a:ext uri="{FF2B5EF4-FFF2-40B4-BE49-F238E27FC236}">
                <a16:creationId xmlns:a16="http://schemas.microsoft.com/office/drawing/2014/main" id="{F9DAD7C1-0DD1-2A9A-5842-1BD349043D0B}"/>
              </a:ext>
            </a:extLst>
          </p:cNvPr>
          <p:cNvSpPr/>
          <p:nvPr/>
        </p:nvSpPr>
        <p:spPr bwMode="auto">
          <a:xfrm>
            <a:off x="2514599" y="5552572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6" name="직사각형 355">
            <a:extLst>
              <a:ext uri="{FF2B5EF4-FFF2-40B4-BE49-F238E27FC236}">
                <a16:creationId xmlns:a16="http://schemas.microsoft.com/office/drawing/2014/main" id="{156FC8FC-7FDE-A112-31A7-2FC89BA0541D}"/>
              </a:ext>
            </a:extLst>
          </p:cNvPr>
          <p:cNvSpPr/>
          <p:nvPr/>
        </p:nvSpPr>
        <p:spPr bwMode="auto">
          <a:xfrm>
            <a:off x="2514599" y="5473398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7" name="직사각형 356">
            <a:extLst>
              <a:ext uri="{FF2B5EF4-FFF2-40B4-BE49-F238E27FC236}">
                <a16:creationId xmlns:a16="http://schemas.microsoft.com/office/drawing/2014/main" id="{AF49F218-1821-19EC-75CE-9DA007C6B1B0}"/>
              </a:ext>
            </a:extLst>
          </p:cNvPr>
          <p:cNvSpPr/>
          <p:nvPr/>
        </p:nvSpPr>
        <p:spPr bwMode="auto">
          <a:xfrm>
            <a:off x="2514599" y="5393144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643B3A80-8156-F9FF-6427-8BAA1D5C5242}"/>
              </a:ext>
            </a:extLst>
          </p:cNvPr>
          <p:cNvSpPr txBox="1"/>
          <p:nvPr/>
        </p:nvSpPr>
        <p:spPr>
          <a:xfrm>
            <a:off x="2419290" y="5601345"/>
            <a:ext cx="10887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.bss .code .data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7F642054-B598-31FB-363A-7E77B9DB4090}"/>
              </a:ext>
            </a:extLst>
          </p:cNvPr>
          <p:cNvSpPr txBox="1"/>
          <p:nvPr/>
        </p:nvSpPr>
        <p:spPr>
          <a:xfrm>
            <a:off x="3378039" y="5873602"/>
            <a:ext cx="43473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0x0</a:t>
            </a:r>
            <a:endParaRPr lang="ko-KR" altLang="en-US" sz="1050"/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FED5D78A-AE74-0E60-017E-3910532660ED}"/>
              </a:ext>
            </a:extLst>
          </p:cNvPr>
          <p:cNvSpPr/>
          <p:nvPr/>
        </p:nvSpPr>
        <p:spPr bwMode="auto">
          <a:xfrm>
            <a:off x="3794089" y="5222505"/>
            <a:ext cx="908040" cy="6062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264CBBFB-6052-F7D3-B8E7-52000BD06C7E}"/>
              </a:ext>
            </a:extLst>
          </p:cNvPr>
          <p:cNvCxnSpPr/>
          <p:nvPr/>
        </p:nvCxnSpPr>
        <p:spPr bwMode="auto">
          <a:xfrm>
            <a:off x="3798942" y="5222505"/>
            <a:ext cx="0" cy="58314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C747250F-4D55-4795-AF97-98C505A08006}"/>
              </a:ext>
            </a:extLst>
          </p:cNvPr>
          <p:cNvCxnSpPr>
            <a:cxnSpLocks/>
          </p:cNvCxnSpPr>
          <p:nvPr/>
        </p:nvCxnSpPr>
        <p:spPr bwMode="auto">
          <a:xfrm flipH="1">
            <a:off x="3794089" y="5222505"/>
            <a:ext cx="9147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FA0D9F36-4F80-BF47-64B7-A593C01129A4}"/>
              </a:ext>
            </a:extLst>
          </p:cNvPr>
          <p:cNvCxnSpPr>
            <a:cxnSpLocks/>
          </p:cNvCxnSpPr>
          <p:nvPr/>
        </p:nvCxnSpPr>
        <p:spPr bwMode="auto">
          <a:xfrm flipV="1">
            <a:off x="4708819" y="5220433"/>
            <a:ext cx="0" cy="5676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99B16417-FD35-D0B1-7A07-CA0D3DA240BF}"/>
              </a:ext>
            </a:extLst>
          </p:cNvPr>
          <p:cNvSpPr txBox="1"/>
          <p:nvPr/>
        </p:nvSpPr>
        <p:spPr>
          <a:xfrm>
            <a:off x="3784680" y="5000707"/>
            <a:ext cx="9268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User stack</a:t>
            </a:r>
            <a:endParaRPr lang="ko-KR" altLang="en-US" sz="1100"/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282727B7-2264-AAD9-0AE4-9B51DA0FE2DC}"/>
              </a:ext>
            </a:extLst>
          </p:cNvPr>
          <p:cNvSpPr/>
          <p:nvPr/>
        </p:nvSpPr>
        <p:spPr bwMode="auto">
          <a:xfrm>
            <a:off x="3991484" y="4351748"/>
            <a:ext cx="530606" cy="21032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32511D9C-5841-AEC7-BE0E-F9CC6361721E}"/>
              </a:ext>
            </a:extLst>
          </p:cNvPr>
          <p:cNvCxnSpPr/>
          <p:nvPr/>
        </p:nvCxnSpPr>
        <p:spPr bwMode="auto">
          <a:xfrm flipH="1">
            <a:off x="4708819" y="2227885"/>
            <a:ext cx="21068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202" name="TextBox 201">
            <a:extLst>
              <a:ext uri="{FF2B5EF4-FFF2-40B4-BE49-F238E27FC236}">
                <a16:creationId xmlns:a16="http://schemas.microsoft.com/office/drawing/2014/main" id="{A2C9534C-A87F-137F-0DDF-DB06E24572BA}"/>
              </a:ext>
            </a:extLst>
          </p:cNvPr>
          <p:cNvSpPr txBox="1"/>
          <p:nvPr/>
        </p:nvSpPr>
        <p:spPr>
          <a:xfrm>
            <a:off x="3998724" y="4302496"/>
            <a:ext cx="4299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esp</a:t>
            </a:r>
            <a:endParaRPr lang="ko-KR" altLang="en-US" sz="1100"/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3534E98E-6B1A-9B05-E2BE-6364FBE6A289}"/>
              </a:ext>
            </a:extLst>
          </p:cNvPr>
          <p:cNvCxnSpPr>
            <a:cxnSpLocks/>
          </p:cNvCxnSpPr>
          <p:nvPr/>
        </p:nvCxnSpPr>
        <p:spPr bwMode="auto">
          <a:xfrm>
            <a:off x="4461856" y="4454141"/>
            <a:ext cx="45765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C4E86FBC-0030-7F34-B909-9C08054A09A7}"/>
              </a:ext>
            </a:extLst>
          </p:cNvPr>
          <p:cNvCxnSpPr>
            <a:cxnSpLocks/>
          </p:cNvCxnSpPr>
          <p:nvPr/>
        </p:nvCxnSpPr>
        <p:spPr bwMode="auto">
          <a:xfrm flipV="1">
            <a:off x="4919508" y="4454141"/>
            <a:ext cx="0" cy="101925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9" name="직선 화살표 연결선 208">
            <a:extLst>
              <a:ext uri="{FF2B5EF4-FFF2-40B4-BE49-F238E27FC236}">
                <a16:creationId xmlns:a16="http://schemas.microsoft.com/office/drawing/2014/main" id="{1AF6FC43-DC48-23D4-F414-574CE63AC38A}"/>
              </a:ext>
            </a:extLst>
          </p:cNvPr>
          <p:cNvCxnSpPr/>
          <p:nvPr/>
        </p:nvCxnSpPr>
        <p:spPr bwMode="auto">
          <a:xfrm flipH="1">
            <a:off x="4708819" y="5473398"/>
            <a:ext cx="21068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4E407738-73E8-B6A4-7737-2BD82D518880}"/>
              </a:ext>
            </a:extLst>
          </p:cNvPr>
          <p:cNvCxnSpPr/>
          <p:nvPr/>
        </p:nvCxnSpPr>
        <p:spPr bwMode="auto">
          <a:xfrm>
            <a:off x="3798942" y="2194863"/>
            <a:ext cx="0" cy="58314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A646FD74-486F-896F-8087-4372DAD943AC}"/>
              </a:ext>
            </a:extLst>
          </p:cNvPr>
          <p:cNvCxnSpPr>
            <a:cxnSpLocks/>
          </p:cNvCxnSpPr>
          <p:nvPr/>
        </p:nvCxnSpPr>
        <p:spPr bwMode="auto">
          <a:xfrm flipH="1">
            <a:off x="3794089" y="2194863"/>
            <a:ext cx="9147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61EBDECD-D389-7200-C752-E7D1DF80292E}"/>
              </a:ext>
            </a:extLst>
          </p:cNvPr>
          <p:cNvCxnSpPr>
            <a:cxnSpLocks/>
          </p:cNvCxnSpPr>
          <p:nvPr/>
        </p:nvCxnSpPr>
        <p:spPr bwMode="auto">
          <a:xfrm flipV="1">
            <a:off x="4708819" y="2192791"/>
            <a:ext cx="0" cy="5676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1" name="사각형: 둥근 모서리 390">
            <a:extLst>
              <a:ext uri="{FF2B5EF4-FFF2-40B4-BE49-F238E27FC236}">
                <a16:creationId xmlns:a16="http://schemas.microsoft.com/office/drawing/2014/main" id="{A44FA909-316A-3E73-DE85-24582C568F00}"/>
              </a:ext>
            </a:extLst>
          </p:cNvPr>
          <p:cNvSpPr/>
          <p:nvPr/>
        </p:nvSpPr>
        <p:spPr bwMode="auto">
          <a:xfrm>
            <a:off x="1347556" y="4351748"/>
            <a:ext cx="530606" cy="21032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DE371BCE-98D0-5887-7509-30F7B30732A0}"/>
              </a:ext>
            </a:extLst>
          </p:cNvPr>
          <p:cNvSpPr txBox="1"/>
          <p:nvPr/>
        </p:nvSpPr>
        <p:spPr>
          <a:xfrm>
            <a:off x="1336133" y="4302496"/>
            <a:ext cx="3946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eip</a:t>
            </a:r>
            <a:endParaRPr lang="ko-KR" altLang="en-US" sz="1100"/>
          </a:p>
        </p:txBody>
      </p: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55704D7F-ACE0-8C83-053F-2A8FC956B97A}"/>
              </a:ext>
            </a:extLst>
          </p:cNvPr>
          <p:cNvCxnSpPr>
            <a:cxnSpLocks/>
          </p:cNvCxnSpPr>
          <p:nvPr/>
        </p:nvCxnSpPr>
        <p:spPr bwMode="auto">
          <a:xfrm>
            <a:off x="1793240" y="4454141"/>
            <a:ext cx="45765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6BD78413-7143-40B7-DFE9-21086D849F5D}"/>
              </a:ext>
            </a:extLst>
          </p:cNvPr>
          <p:cNvCxnSpPr>
            <a:cxnSpLocks/>
          </p:cNvCxnSpPr>
          <p:nvPr/>
        </p:nvCxnSpPr>
        <p:spPr bwMode="auto">
          <a:xfrm flipV="1">
            <a:off x="2257024" y="4454141"/>
            <a:ext cx="0" cy="11472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8" name="직선 화살표 연결선 397">
            <a:extLst>
              <a:ext uri="{FF2B5EF4-FFF2-40B4-BE49-F238E27FC236}">
                <a16:creationId xmlns:a16="http://schemas.microsoft.com/office/drawing/2014/main" id="{5DCB9287-DB9C-B671-A470-AE1600581010}"/>
              </a:ext>
            </a:extLst>
          </p:cNvPr>
          <p:cNvCxnSpPr>
            <a:cxnSpLocks/>
          </p:cNvCxnSpPr>
          <p:nvPr/>
        </p:nvCxnSpPr>
        <p:spPr bwMode="auto">
          <a:xfrm>
            <a:off x="2253896" y="5601345"/>
            <a:ext cx="26126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45" name="직선 화살표 연결선 444">
            <a:extLst>
              <a:ext uri="{FF2B5EF4-FFF2-40B4-BE49-F238E27FC236}">
                <a16:creationId xmlns:a16="http://schemas.microsoft.com/office/drawing/2014/main" id="{78BC8B8C-1D47-8C5B-3ADA-9E6FF82DE151}"/>
              </a:ext>
            </a:extLst>
          </p:cNvPr>
          <p:cNvCxnSpPr>
            <a:cxnSpLocks/>
          </p:cNvCxnSpPr>
          <p:nvPr/>
        </p:nvCxnSpPr>
        <p:spPr bwMode="auto">
          <a:xfrm>
            <a:off x="2253896" y="3962400"/>
            <a:ext cx="26126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453" name="자유형: 도형 452">
            <a:extLst>
              <a:ext uri="{FF2B5EF4-FFF2-40B4-BE49-F238E27FC236}">
                <a16:creationId xmlns:a16="http://schemas.microsoft.com/office/drawing/2014/main" id="{E1E9EDDF-5384-5818-3138-9ADC26D37B7D}"/>
              </a:ext>
            </a:extLst>
          </p:cNvPr>
          <p:cNvSpPr/>
          <p:nvPr/>
        </p:nvSpPr>
        <p:spPr bwMode="auto">
          <a:xfrm>
            <a:off x="3435920" y="3215639"/>
            <a:ext cx="343600" cy="715213"/>
          </a:xfrm>
          <a:custGeom>
            <a:avLst/>
            <a:gdLst>
              <a:gd name="connsiteX0" fmla="*/ 0 w 350520"/>
              <a:gd name="connsiteY0" fmla="*/ 712470 h 712470"/>
              <a:gd name="connsiteX1" fmla="*/ 350520 w 350520"/>
              <a:gd name="connsiteY1" fmla="*/ 0 h 712470"/>
              <a:gd name="connsiteX2" fmla="*/ 350520 w 350520"/>
              <a:gd name="connsiteY2" fmla="*/ 605790 h 712470"/>
              <a:gd name="connsiteX3" fmla="*/ 0 w 350520"/>
              <a:gd name="connsiteY3" fmla="*/ 712470 h 712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" h="712470">
                <a:moveTo>
                  <a:pt x="0" y="712470"/>
                </a:moveTo>
                <a:lnTo>
                  <a:pt x="350520" y="0"/>
                </a:lnTo>
                <a:lnTo>
                  <a:pt x="350520" y="605790"/>
                </a:lnTo>
                <a:lnTo>
                  <a:pt x="0" y="71247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45CBE75E-81AA-8A98-533F-CA6768A12501}"/>
              </a:ext>
            </a:extLst>
          </p:cNvPr>
          <p:cNvSpPr/>
          <p:nvPr/>
        </p:nvSpPr>
        <p:spPr bwMode="auto">
          <a:xfrm>
            <a:off x="3770955" y="3229637"/>
            <a:ext cx="809786" cy="5948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CDD4AC00-3D9C-8EAC-15DA-F1457D8951FC}"/>
              </a:ext>
            </a:extLst>
          </p:cNvPr>
          <p:cNvGrpSpPr/>
          <p:nvPr/>
        </p:nvGrpSpPr>
        <p:grpSpPr>
          <a:xfrm>
            <a:off x="3819467" y="3192115"/>
            <a:ext cx="713543" cy="261610"/>
            <a:chOff x="2817194" y="5105175"/>
            <a:chExt cx="512183" cy="261610"/>
          </a:xfrm>
        </p:grpSpPr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2A631EF4-8B70-F972-0AA0-99ECDE242104}"/>
                </a:ext>
              </a:extLst>
            </p:cNvPr>
            <p:cNvSpPr/>
            <p:nvPr/>
          </p:nvSpPr>
          <p:spPr bwMode="auto">
            <a:xfrm>
              <a:off x="2817194" y="5181053"/>
              <a:ext cx="512183" cy="1310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6594A4E3-B878-1947-7930-A4B0602C72D4}"/>
                </a:ext>
              </a:extLst>
            </p:cNvPr>
            <p:cNvSpPr txBox="1"/>
            <p:nvPr/>
          </p:nvSpPr>
          <p:spPr>
            <a:xfrm>
              <a:off x="2858322" y="5105175"/>
              <a:ext cx="4299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esp0</a:t>
              </a:r>
              <a:endParaRPr lang="ko-KR" altLang="en-US" sz="1100"/>
            </a:p>
          </p:txBody>
        </p: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DB816683-B6C5-54A7-24BA-8D7077301DCA}"/>
              </a:ext>
            </a:extLst>
          </p:cNvPr>
          <p:cNvGrpSpPr/>
          <p:nvPr/>
        </p:nvGrpSpPr>
        <p:grpSpPr>
          <a:xfrm>
            <a:off x="3819467" y="3365331"/>
            <a:ext cx="713543" cy="261610"/>
            <a:chOff x="2817194" y="5105175"/>
            <a:chExt cx="512183" cy="261610"/>
          </a:xfrm>
        </p:grpSpPr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5D83C49D-41C0-F2B2-79A8-72D5CD778D38}"/>
                </a:ext>
              </a:extLst>
            </p:cNvPr>
            <p:cNvSpPr/>
            <p:nvPr/>
          </p:nvSpPr>
          <p:spPr bwMode="auto">
            <a:xfrm>
              <a:off x="2817194" y="5181053"/>
              <a:ext cx="512183" cy="1310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576E9780-A82E-EBAA-62B0-0CD1E6E862D3}"/>
                </a:ext>
              </a:extLst>
            </p:cNvPr>
            <p:cNvSpPr txBox="1"/>
            <p:nvPr/>
          </p:nvSpPr>
          <p:spPr>
            <a:xfrm>
              <a:off x="2858322" y="5105175"/>
              <a:ext cx="4299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ss0</a:t>
              </a:r>
              <a:endParaRPr lang="ko-KR" altLang="en-US" sz="1100"/>
            </a:p>
          </p:txBody>
        </p:sp>
      </p:grpSp>
      <p:sp>
        <p:nvSpPr>
          <p:cNvPr id="423" name="TextBox 422">
            <a:extLst>
              <a:ext uri="{FF2B5EF4-FFF2-40B4-BE49-F238E27FC236}">
                <a16:creationId xmlns:a16="http://schemas.microsoft.com/office/drawing/2014/main" id="{BF13DDD7-40A7-4512-BD90-71001124734A}"/>
              </a:ext>
            </a:extLst>
          </p:cNvPr>
          <p:cNvSpPr txBox="1"/>
          <p:nvPr/>
        </p:nvSpPr>
        <p:spPr>
          <a:xfrm>
            <a:off x="3695398" y="3011932"/>
            <a:ext cx="4635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TSS</a:t>
            </a:r>
            <a:endParaRPr lang="ko-KR" altLang="en-US" sz="1100"/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C65F98E2-CD9A-04BF-946A-2868FB5DF71F}"/>
              </a:ext>
            </a:extLst>
          </p:cNvPr>
          <p:cNvGrpSpPr/>
          <p:nvPr/>
        </p:nvGrpSpPr>
        <p:grpSpPr>
          <a:xfrm>
            <a:off x="3819467" y="3546011"/>
            <a:ext cx="713543" cy="261610"/>
            <a:chOff x="2817194" y="5105175"/>
            <a:chExt cx="512183" cy="261610"/>
          </a:xfrm>
        </p:grpSpPr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660B0EB3-35DB-3AC4-99C2-F6DADEBCF32F}"/>
                </a:ext>
              </a:extLst>
            </p:cNvPr>
            <p:cNvSpPr/>
            <p:nvPr/>
          </p:nvSpPr>
          <p:spPr bwMode="auto">
            <a:xfrm>
              <a:off x="2817194" y="5181053"/>
              <a:ext cx="512183" cy="1310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EAA33245-FAEA-8D7F-1E37-3CFB5E63FDBB}"/>
                </a:ext>
              </a:extLst>
            </p:cNvPr>
            <p:cNvSpPr txBox="1"/>
            <p:nvPr/>
          </p:nvSpPr>
          <p:spPr>
            <a:xfrm>
              <a:off x="2858322" y="5105175"/>
              <a:ext cx="4299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...</a:t>
              </a:r>
              <a:endParaRPr lang="ko-KR" altLang="en-US" sz="1100"/>
            </a:p>
          </p:txBody>
        </p:sp>
      </p:grpSp>
      <p:sp>
        <p:nvSpPr>
          <p:cNvPr id="454" name="자유형: 도형 453">
            <a:extLst>
              <a:ext uri="{FF2B5EF4-FFF2-40B4-BE49-F238E27FC236}">
                <a16:creationId xmlns:a16="http://schemas.microsoft.com/office/drawing/2014/main" id="{B8EFEEE1-0849-79EB-E135-8204A1A97E6E}"/>
              </a:ext>
            </a:extLst>
          </p:cNvPr>
          <p:cNvSpPr/>
          <p:nvPr/>
        </p:nvSpPr>
        <p:spPr bwMode="auto">
          <a:xfrm flipH="1">
            <a:off x="2164943" y="3215639"/>
            <a:ext cx="343600" cy="715213"/>
          </a:xfrm>
          <a:custGeom>
            <a:avLst/>
            <a:gdLst>
              <a:gd name="connsiteX0" fmla="*/ 0 w 350520"/>
              <a:gd name="connsiteY0" fmla="*/ 712470 h 712470"/>
              <a:gd name="connsiteX1" fmla="*/ 350520 w 350520"/>
              <a:gd name="connsiteY1" fmla="*/ 0 h 712470"/>
              <a:gd name="connsiteX2" fmla="*/ 350520 w 350520"/>
              <a:gd name="connsiteY2" fmla="*/ 605790 h 712470"/>
              <a:gd name="connsiteX3" fmla="*/ 0 w 350520"/>
              <a:gd name="connsiteY3" fmla="*/ 712470 h 712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" h="712470">
                <a:moveTo>
                  <a:pt x="0" y="712470"/>
                </a:moveTo>
                <a:lnTo>
                  <a:pt x="350520" y="0"/>
                </a:lnTo>
                <a:lnTo>
                  <a:pt x="350520" y="605790"/>
                </a:lnTo>
                <a:lnTo>
                  <a:pt x="0" y="71247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A1B6A406-61B1-FDE0-B2F2-546E9B5EBF24}"/>
              </a:ext>
            </a:extLst>
          </p:cNvPr>
          <p:cNvSpPr txBox="1"/>
          <p:nvPr/>
        </p:nvSpPr>
        <p:spPr>
          <a:xfrm>
            <a:off x="3726834" y="1964489"/>
            <a:ext cx="10599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Kernel stack</a:t>
            </a:r>
            <a:endParaRPr lang="ko-KR" altLang="en-US" sz="1100"/>
          </a:p>
        </p:txBody>
      </p:sp>
      <p:sp>
        <p:nvSpPr>
          <p:cNvPr id="412" name="직사각형 411">
            <a:extLst>
              <a:ext uri="{FF2B5EF4-FFF2-40B4-BE49-F238E27FC236}">
                <a16:creationId xmlns:a16="http://schemas.microsoft.com/office/drawing/2014/main" id="{FB03C99B-69EC-EDBE-5AD3-02E7B2B3EACD}"/>
              </a:ext>
            </a:extLst>
          </p:cNvPr>
          <p:cNvSpPr/>
          <p:nvPr/>
        </p:nvSpPr>
        <p:spPr bwMode="auto">
          <a:xfrm>
            <a:off x="1354469" y="3231014"/>
            <a:ext cx="809786" cy="5948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9DAA6598-A3C8-3E40-C44E-BE8BBE7A74DB}"/>
              </a:ext>
            </a:extLst>
          </p:cNvPr>
          <p:cNvSpPr txBox="1"/>
          <p:nvPr/>
        </p:nvSpPr>
        <p:spPr>
          <a:xfrm>
            <a:off x="1302843" y="301330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IDT</a:t>
            </a:r>
            <a:endParaRPr lang="ko-KR" altLang="en-US" sz="1100"/>
          </a:p>
        </p:txBody>
      </p:sp>
      <p:sp>
        <p:nvSpPr>
          <p:cNvPr id="425" name="직사각형 424">
            <a:extLst>
              <a:ext uri="{FF2B5EF4-FFF2-40B4-BE49-F238E27FC236}">
                <a16:creationId xmlns:a16="http://schemas.microsoft.com/office/drawing/2014/main" id="{AECF5E1C-BFE4-0573-D192-EBD558CDA10E}"/>
              </a:ext>
            </a:extLst>
          </p:cNvPr>
          <p:cNvSpPr/>
          <p:nvPr/>
        </p:nvSpPr>
        <p:spPr bwMode="auto">
          <a:xfrm>
            <a:off x="1414764" y="3529246"/>
            <a:ext cx="698146" cy="236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427" name="직선 연결선 426">
            <a:extLst>
              <a:ext uri="{FF2B5EF4-FFF2-40B4-BE49-F238E27FC236}">
                <a16:creationId xmlns:a16="http://schemas.microsoft.com/office/drawing/2014/main" id="{73081664-2538-C5E6-F140-70B1BB4C9A38}"/>
              </a:ext>
            </a:extLst>
          </p:cNvPr>
          <p:cNvCxnSpPr>
            <a:cxnSpLocks/>
            <a:stCxn id="425" idx="1"/>
          </p:cNvCxnSpPr>
          <p:nvPr/>
        </p:nvCxnSpPr>
        <p:spPr bwMode="auto">
          <a:xfrm>
            <a:off x="1414764" y="3647526"/>
            <a:ext cx="31714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2" name="직선 연결선 431">
            <a:extLst>
              <a:ext uri="{FF2B5EF4-FFF2-40B4-BE49-F238E27FC236}">
                <a16:creationId xmlns:a16="http://schemas.microsoft.com/office/drawing/2014/main" id="{E93C2376-3E9E-2F39-696D-92516B0594B4}"/>
              </a:ext>
            </a:extLst>
          </p:cNvPr>
          <p:cNvCxnSpPr>
            <a:cxnSpLocks/>
          </p:cNvCxnSpPr>
          <p:nvPr/>
        </p:nvCxnSpPr>
        <p:spPr bwMode="auto">
          <a:xfrm>
            <a:off x="1795764" y="3647526"/>
            <a:ext cx="31714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3" name="직선 연결선 432">
            <a:extLst>
              <a:ext uri="{FF2B5EF4-FFF2-40B4-BE49-F238E27FC236}">
                <a16:creationId xmlns:a16="http://schemas.microsoft.com/office/drawing/2014/main" id="{10BAF4F7-2E5F-3051-C807-BEE2D3F44603}"/>
              </a:ext>
            </a:extLst>
          </p:cNvPr>
          <p:cNvCxnSpPr>
            <a:cxnSpLocks/>
          </p:cNvCxnSpPr>
          <p:nvPr/>
        </p:nvCxnSpPr>
        <p:spPr bwMode="auto">
          <a:xfrm flipV="1">
            <a:off x="1731910" y="3647526"/>
            <a:ext cx="0" cy="1182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9" name="직선 연결선 438">
            <a:extLst>
              <a:ext uri="{FF2B5EF4-FFF2-40B4-BE49-F238E27FC236}">
                <a16:creationId xmlns:a16="http://schemas.microsoft.com/office/drawing/2014/main" id="{8B1494BD-B52B-DABA-F0DA-ED0C0F1F2B99}"/>
              </a:ext>
            </a:extLst>
          </p:cNvPr>
          <p:cNvCxnSpPr>
            <a:cxnSpLocks/>
          </p:cNvCxnSpPr>
          <p:nvPr/>
        </p:nvCxnSpPr>
        <p:spPr bwMode="auto">
          <a:xfrm flipV="1">
            <a:off x="1799574" y="3531711"/>
            <a:ext cx="0" cy="1182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0" name="직선 연결선 439">
            <a:extLst>
              <a:ext uri="{FF2B5EF4-FFF2-40B4-BE49-F238E27FC236}">
                <a16:creationId xmlns:a16="http://schemas.microsoft.com/office/drawing/2014/main" id="{9A464FCA-A1D3-AEA9-62C5-724AF492AEDE}"/>
              </a:ext>
            </a:extLst>
          </p:cNvPr>
          <p:cNvCxnSpPr>
            <a:cxnSpLocks/>
          </p:cNvCxnSpPr>
          <p:nvPr/>
        </p:nvCxnSpPr>
        <p:spPr bwMode="auto">
          <a:xfrm>
            <a:off x="1878162" y="3704921"/>
            <a:ext cx="3727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oval" w="med" len="med"/>
            <a:tailEnd type="none" w="med" len="med"/>
          </a:ln>
          <a:effectLst/>
        </p:spPr>
      </p:cxnSp>
      <p:cxnSp>
        <p:nvCxnSpPr>
          <p:cNvPr id="460" name="직선 연결선 459">
            <a:extLst>
              <a:ext uri="{FF2B5EF4-FFF2-40B4-BE49-F238E27FC236}">
                <a16:creationId xmlns:a16="http://schemas.microsoft.com/office/drawing/2014/main" id="{A5B119F2-71C5-D81E-B64C-CCDF347FF188}"/>
              </a:ext>
            </a:extLst>
          </p:cNvPr>
          <p:cNvCxnSpPr>
            <a:cxnSpLocks/>
          </p:cNvCxnSpPr>
          <p:nvPr/>
        </p:nvCxnSpPr>
        <p:spPr bwMode="auto">
          <a:xfrm flipV="1">
            <a:off x="2257024" y="3704299"/>
            <a:ext cx="0" cy="2581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64" name="직사각형 463">
            <a:extLst>
              <a:ext uri="{FF2B5EF4-FFF2-40B4-BE49-F238E27FC236}">
                <a16:creationId xmlns:a16="http://schemas.microsoft.com/office/drawing/2014/main" id="{08F46372-6C82-FA3A-37E7-A9E06A874951}"/>
              </a:ext>
            </a:extLst>
          </p:cNvPr>
          <p:cNvSpPr/>
          <p:nvPr/>
        </p:nvSpPr>
        <p:spPr bwMode="auto">
          <a:xfrm>
            <a:off x="3803485" y="5222058"/>
            <a:ext cx="908040" cy="2616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F9FFBA7E-069A-0538-AD6B-6790CE55DC99}"/>
              </a:ext>
            </a:extLst>
          </p:cNvPr>
          <p:cNvCxnSpPr>
            <a:cxnSpLocks/>
          </p:cNvCxnSpPr>
          <p:nvPr/>
        </p:nvCxnSpPr>
        <p:spPr bwMode="auto">
          <a:xfrm>
            <a:off x="4475711" y="3331491"/>
            <a:ext cx="4417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oval" w="med" len="med"/>
            <a:tailEnd type="none" w="med" len="med"/>
          </a:ln>
          <a:effectLst/>
        </p:spPr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1BD1D7AE-9CF3-0112-F1C0-0BE322BE5CC2}"/>
              </a:ext>
            </a:extLst>
          </p:cNvPr>
          <p:cNvCxnSpPr>
            <a:cxnSpLocks/>
          </p:cNvCxnSpPr>
          <p:nvPr/>
        </p:nvCxnSpPr>
        <p:spPr bwMode="auto">
          <a:xfrm flipV="1">
            <a:off x="4918710" y="2227885"/>
            <a:ext cx="798" cy="10830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66" name="TextBox 465">
            <a:extLst>
              <a:ext uri="{FF2B5EF4-FFF2-40B4-BE49-F238E27FC236}">
                <a16:creationId xmlns:a16="http://schemas.microsoft.com/office/drawing/2014/main" id="{430FD3CA-3081-7441-230A-2CD45B4D2BFB}"/>
              </a:ext>
            </a:extLst>
          </p:cNvPr>
          <p:cNvSpPr txBox="1"/>
          <p:nvPr/>
        </p:nvSpPr>
        <p:spPr>
          <a:xfrm>
            <a:off x="1337198" y="3317608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0x30</a:t>
            </a:r>
            <a:endParaRPr lang="ko-KR" altLang="en-US" sz="1100"/>
          </a:p>
        </p:txBody>
      </p:sp>
      <p:sp>
        <p:nvSpPr>
          <p:cNvPr id="467" name="Rectangle 3">
            <a:extLst>
              <a:ext uri="{FF2B5EF4-FFF2-40B4-BE49-F238E27FC236}">
                <a16:creationId xmlns:a16="http://schemas.microsoft.com/office/drawing/2014/main" id="{C337EF6E-1718-EB03-9A59-3048D0322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455" y="4156098"/>
            <a:ext cx="3423950" cy="1106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600"/>
              <a:t>The 0x30 entry in the IDT points to kernel code, and the esp0 field in the TSS points to the kernel stack.</a:t>
            </a:r>
            <a:endParaRPr lang="en-US" altLang="ko-KR" sz="12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latinLnBrk="1"/>
            <a:endParaRPr lang="en-US" altLang="ko-KR" sz="1600" kern="0">
              <a:latin typeface="+mj-lt"/>
            </a:endParaRPr>
          </a:p>
        </p:txBody>
      </p:sp>
      <p:sp>
        <p:nvSpPr>
          <p:cNvPr id="478" name="사각형: 둥근 모서리 477">
            <a:extLst>
              <a:ext uri="{FF2B5EF4-FFF2-40B4-BE49-F238E27FC236}">
                <a16:creationId xmlns:a16="http://schemas.microsoft.com/office/drawing/2014/main" id="{260268BB-745D-AC05-2587-14DEE012A819}"/>
              </a:ext>
            </a:extLst>
          </p:cNvPr>
          <p:cNvSpPr/>
          <p:nvPr/>
        </p:nvSpPr>
        <p:spPr bwMode="auto">
          <a:xfrm>
            <a:off x="1355526" y="4590731"/>
            <a:ext cx="757384" cy="21032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54D418E3-FAC7-0811-E838-6E151E18578F}"/>
              </a:ext>
            </a:extLst>
          </p:cNvPr>
          <p:cNvSpPr txBox="1"/>
          <p:nvPr/>
        </p:nvSpPr>
        <p:spPr>
          <a:xfrm>
            <a:off x="1329555" y="4566786"/>
            <a:ext cx="8177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cs.dpl=3</a:t>
            </a:r>
            <a:endParaRPr lang="ko-KR" altLang="en-US" sz="1100"/>
          </a:p>
        </p:txBody>
      </p:sp>
      <p:sp>
        <p:nvSpPr>
          <p:cNvPr id="481" name="Rectangle 3">
            <a:extLst>
              <a:ext uri="{FF2B5EF4-FFF2-40B4-BE49-F238E27FC236}">
                <a16:creationId xmlns:a16="http://schemas.microsoft.com/office/drawing/2014/main" id="{6E763DC8-161F-C70B-7CB9-B74B8DC89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455" y="2931031"/>
            <a:ext cx="3423950" cy="1106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600"/>
              <a:t>DPL field of CS register represents </a:t>
            </a:r>
            <a:r>
              <a:rPr lang="en-US" altLang="ko-KR" sz="1600">
                <a:solidFill>
                  <a:srgbClr val="0000FF"/>
                </a:solidFill>
              </a:rPr>
              <a:t>current privilege leve (CPL) </a:t>
            </a:r>
            <a:r>
              <a:rPr lang="en-US" altLang="ko-KR" sz="1600"/>
              <a:t>and in the user context, CPL is 3</a:t>
            </a:r>
            <a:endParaRPr lang="en-US" altLang="ko-KR" sz="1200"/>
          </a:p>
          <a:p>
            <a:pPr marL="471487" lvl="1" indent="0" latinLnBrk="1">
              <a:buNone/>
            </a:pPr>
            <a:endParaRPr lang="en-US" altLang="ko-KR" sz="12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latinLnBrk="1"/>
            <a:endParaRPr lang="en-US" altLang="ko-KR" sz="1600" kern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3D170A-F71C-30C2-BD52-A615DA575855}"/>
              </a:ext>
            </a:extLst>
          </p:cNvPr>
          <p:cNvSpPr txBox="1"/>
          <p:nvPr/>
        </p:nvSpPr>
        <p:spPr>
          <a:xfrm rot="16200000">
            <a:off x="697149" y="4363096"/>
            <a:ext cx="8034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registers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0664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" grpId="0" animBg="1"/>
      <p:bldP spid="137" grpId="0" animBg="1"/>
      <p:bldP spid="423" grpId="0"/>
      <p:bldP spid="454" grpId="0" animBg="1"/>
      <p:bldP spid="412" grpId="0" animBg="1"/>
      <p:bldP spid="424" grpId="0"/>
      <p:bldP spid="425" grpId="0" animBg="1"/>
      <p:bldP spid="466" grpId="0"/>
      <p:bldP spid="467" grpId="0"/>
      <p:bldP spid="478" grpId="0" animBg="1"/>
      <p:bldP spid="480" grpId="0"/>
      <p:bldP spid="48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F7E1A-9D2F-2C81-F0E0-91314563E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직사각형 295">
            <a:extLst>
              <a:ext uri="{FF2B5EF4-FFF2-40B4-BE49-F238E27FC236}">
                <a16:creationId xmlns:a16="http://schemas.microsoft.com/office/drawing/2014/main" id="{9A2DA0CA-454E-16AF-1AB7-1553DF9C0257}"/>
              </a:ext>
            </a:extLst>
          </p:cNvPr>
          <p:cNvSpPr/>
          <p:nvPr/>
        </p:nvSpPr>
        <p:spPr bwMode="auto">
          <a:xfrm>
            <a:off x="-520" y="2069008"/>
            <a:ext cx="9144000" cy="195973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56876E5A-7091-E718-A8B2-E7B5DDB1C8EC}"/>
              </a:ext>
            </a:extLst>
          </p:cNvPr>
          <p:cNvSpPr/>
          <p:nvPr/>
        </p:nvSpPr>
        <p:spPr bwMode="auto">
          <a:xfrm>
            <a:off x="3431540" y="2194560"/>
            <a:ext cx="375920" cy="1374140"/>
          </a:xfrm>
          <a:custGeom>
            <a:avLst/>
            <a:gdLst>
              <a:gd name="connsiteX0" fmla="*/ 0 w 375920"/>
              <a:gd name="connsiteY0" fmla="*/ 1374140 h 1374140"/>
              <a:gd name="connsiteX1" fmla="*/ 375920 w 375920"/>
              <a:gd name="connsiteY1" fmla="*/ 0 h 1374140"/>
              <a:gd name="connsiteX2" fmla="*/ 373380 w 375920"/>
              <a:gd name="connsiteY2" fmla="*/ 584200 h 1374140"/>
              <a:gd name="connsiteX3" fmla="*/ 0 w 375920"/>
              <a:gd name="connsiteY3" fmla="*/ 1374140 h 1374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920" h="1374140">
                <a:moveTo>
                  <a:pt x="0" y="1374140"/>
                </a:moveTo>
                <a:lnTo>
                  <a:pt x="375920" y="0"/>
                </a:lnTo>
                <a:cubicBezTo>
                  <a:pt x="375073" y="194733"/>
                  <a:pt x="374227" y="389467"/>
                  <a:pt x="373380" y="584200"/>
                </a:cubicBezTo>
                <a:lnTo>
                  <a:pt x="0" y="137414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47" name="사각형: 둥근 모서리 446">
            <a:extLst>
              <a:ext uri="{FF2B5EF4-FFF2-40B4-BE49-F238E27FC236}">
                <a16:creationId xmlns:a16="http://schemas.microsoft.com/office/drawing/2014/main" id="{D11E3F8E-A63C-BCD0-1EA3-26BD769CF030}"/>
              </a:ext>
            </a:extLst>
          </p:cNvPr>
          <p:cNvSpPr/>
          <p:nvPr/>
        </p:nvSpPr>
        <p:spPr bwMode="auto">
          <a:xfrm>
            <a:off x="1222759" y="4301109"/>
            <a:ext cx="3423948" cy="55101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86" name="자유형: 도형 385">
            <a:extLst>
              <a:ext uri="{FF2B5EF4-FFF2-40B4-BE49-F238E27FC236}">
                <a16:creationId xmlns:a16="http://schemas.microsoft.com/office/drawing/2014/main" id="{E14509A0-B9D9-C327-C3D3-25745A9A4617}"/>
              </a:ext>
            </a:extLst>
          </p:cNvPr>
          <p:cNvSpPr/>
          <p:nvPr/>
        </p:nvSpPr>
        <p:spPr bwMode="auto">
          <a:xfrm>
            <a:off x="3413760" y="4034789"/>
            <a:ext cx="392430" cy="1812131"/>
          </a:xfrm>
          <a:custGeom>
            <a:avLst/>
            <a:gdLst>
              <a:gd name="connsiteX0" fmla="*/ 0 w 392430"/>
              <a:gd name="connsiteY0" fmla="*/ 72390 h 1771650"/>
              <a:gd name="connsiteX1" fmla="*/ 392430 w 392430"/>
              <a:gd name="connsiteY1" fmla="*/ 1771650 h 1771650"/>
              <a:gd name="connsiteX2" fmla="*/ 392430 w 392430"/>
              <a:gd name="connsiteY2" fmla="*/ 1196340 h 1771650"/>
              <a:gd name="connsiteX3" fmla="*/ 15240 w 392430"/>
              <a:gd name="connsiteY3" fmla="*/ 0 h 1771650"/>
              <a:gd name="connsiteX4" fmla="*/ 0 w 392430"/>
              <a:gd name="connsiteY4" fmla="*/ 7239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2430" h="1771650">
                <a:moveTo>
                  <a:pt x="0" y="72390"/>
                </a:moveTo>
                <a:lnTo>
                  <a:pt x="392430" y="1771650"/>
                </a:lnTo>
                <a:lnTo>
                  <a:pt x="392430" y="1196340"/>
                </a:lnTo>
                <a:lnTo>
                  <a:pt x="15240" y="0"/>
                </a:lnTo>
                <a:lnTo>
                  <a:pt x="0" y="7239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42C45F-B4A6-0816-642B-4299C9777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/>
              <a:t>Mode Switch for System Call (2/5)</a:t>
            </a:r>
            <a:endParaRPr lang="ko-KR" altLang="en-US" sz="2800"/>
          </a:p>
        </p:txBody>
      </p:sp>
      <p:sp>
        <p:nvSpPr>
          <p:cNvPr id="311" name="직사각형 310">
            <a:extLst>
              <a:ext uri="{FF2B5EF4-FFF2-40B4-BE49-F238E27FC236}">
                <a16:creationId xmlns:a16="http://schemas.microsoft.com/office/drawing/2014/main" id="{6FEBCEB5-1761-27ED-1190-6C62A1BA4B8A}"/>
              </a:ext>
            </a:extLst>
          </p:cNvPr>
          <p:cNvSpPr/>
          <p:nvPr/>
        </p:nvSpPr>
        <p:spPr bwMode="auto">
          <a:xfrm>
            <a:off x="2508798" y="2066034"/>
            <a:ext cx="914400" cy="3962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C3552959-B901-8BD7-CB39-8B01050D7B8B}"/>
              </a:ext>
            </a:extLst>
          </p:cNvPr>
          <p:cNvSpPr txBox="1"/>
          <p:nvPr/>
        </p:nvSpPr>
        <p:spPr>
          <a:xfrm>
            <a:off x="2093876" y="1774292"/>
            <a:ext cx="17395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Virtual Addr Space</a:t>
            </a:r>
            <a:endParaRPr lang="ko-KR" altLang="en-US" sz="1100"/>
          </a:p>
        </p:txBody>
      </p:sp>
      <p:grpSp>
        <p:nvGrpSpPr>
          <p:cNvPr id="313" name="그룹 312">
            <a:extLst>
              <a:ext uri="{FF2B5EF4-FFF2-40B4-BE49-F238E27FC236}">
                <a16:creationId xmlns:a16="http://schemas.microsoft.com/office/drawing/2014/main" id="{B5E18AA7-8088-CCB6-4051-4A3825A7BA82}"/>
              </a:ext>
            </a:extLst>
          </p:cNvPr>
          <p:cNvGrpSpPr/>
          <p:nvPr/>
        </p:nvGrpSpPr>
        <p:grpSpPr>
          <a:xfrm>
            <a:off x="3278893" y="4068504"/>
            <a:ext cx="311304" cy="325565"/>
            <a:chOff x="7612939" y="4068504"/>
            <a:chExt cx="311304" cy="325565"/>
          </a:xfrm>
        </p:grpSpPr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F775076F-69E6-092D-41FB-112380EF7E33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6345832B-9F1E-9CBE-8AE5-A27C30B7FDD1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316" name="그룹 315">
            <a:extLst>
              <a:ext uri="{FF2B5EF4-FFF2-40B4-BE49-F238E27FC236}">
                <a16:creationId xmlns:a16="http://schemas.microsoft.com/office/drawing/2014/main" id="{FD6C1D3F-F0B0-F080-39B9-3DC41033A861}"/>
              </a:ext>
            </a:extLst>
          </p:cNvPr>
          <p:cNvGrpSpPr/>
          <p:nvPr/>
        </p:nvGrpSpPr>
        <p:grpSpPr>
          <a:xfrm>
            <a:off x="2355139" y="4068504"/>
            <a:ext cx="311304" cy="325565"/>
            <a:chOff x="7612939" y="4068504"/>
            <a:chExt cx="311304" cy="325565"/>
          </a:xfrm>
        </p:grpSpPr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C8869274-2A98-C502-B561-E0377D1F5670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641F7379-953C-B920-5663-4F0A1EFD9517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319" name="그룹 318">
            <a:extLst>
              <a:ext uri="{FF2B5EF4-FFF2-40B4-BE49-F238E27FC236}">
                <a16:creationId xmlns:a16="http://schemas.microsoft.com/office/drawing/2014/main" id="{391EEDD5-1A27-37CA-B589-F5FD4A1B732E}"/>
              </a:ext>
            </a:extLst>
          </p:cNvPr>
          <p:cNvGrpSpPr/>
          <p:nvPr/>
        </p:nvGrpSpPr>
        <p:grpSpPr>
          <a:xfrm>
            <a:off x="3269539" y="2046753"/>
            <a:ext cx="311304" cy="325565"/>
            <a:chOff x="7612939" y="4068504"/>
            <a:chExt cx="311304" cy="325565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4420D09-F474-F6CA-54A1-7F5A51B4083F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8FB4F392-C651-2704-9988-F8E12825036E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7637AD61-9680-C623-9DAD-49A3DE4B7EFD}"/>
              </a:ext>
            </a:extLst>
          </p:cNvPr>
          <p:cNvGrpSpPr/>
          <p:nvPr/>
        </p:nvGrpSpPr>
        <p:grpSpPr>
          <a:xfrm>
            <a:off x="2355139" y="2046753"/>
            <a:ext cx="311304" cy="325565"/>
            <a:chOff x="7612939" y="4068504"/>
            <a:chExt cx="311304" cy="325565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3F96C47-8B2C-B093-9A89-EB931731F01C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D3AB010E-40EC-BCC5-F3D2-F7FC216732F7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65D67835-9768-E2D6-41B5-BDB08E845420}"/>
              </a:ext>
            </a:extLst>
          </p:cNvPr>
          <p:cNvSpPr/>
          <p:nvPr/>
        </p:nvSpPr>
        <p:spPr bwMode="auto">
          <a:xfrm>
            <a:off x="2515159" y="2492999"/>
            <a:ext cx="914400" cy="15366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F3D811AC-F474-E005-A330-909C652220FF}"/>
              </a:ext>
            </a:extLst>
          </p:cNvPr>
          <p:cNvSpPr/>
          <p:nvPr/>
        </p:nvSpPr>
        <p:spPr bwMode="auto">
          <a:xfrm>
            <a:off x="2514600" y="3185651"/>
            <a:ext cx="910591" cy="7008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1D79B279-54CC-AAA4-8851-B1BC9B659A6A}"/>
              </a:ext>
            </a:extLst>
          </p:cNvPr>
          <p:cNvSpPr/>
          <p:nvPr/>
        </p:nvSpPr>
        <p:spPr bwMode="auto">
          <a:xfrm>
            <a:off x="2514600" y="2494054"/>
            <a:ext cx="910591" cy="70086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9" name="Rectangle 3">
            <a:extLst>
              <a:ext uri="{FF2B5EF4-FFF2-40B4-BE49-F238E27FC236}">
                <a16:creationId xmlns:a16="http://schemas.microsoft.com/office/drawing/2014/main" id="{4725E5EC-9097-E8A0-CDD0-96FCACF30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455" y="1774292"/>
            <a:ext cx="3423950" cy="1106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600"/>
              <a:t>Arguments and the system call number are placed on the user stack.</a:t>
            </a:r>
          </a:p>
          <a:p>
            <a:pPr latinLnBrk="1"/>
            <a:r>
              <a:rPr lang="en-US" altLang="ko-KR" sz="1600"/>
              <a:t>And ‘int 0x30’ is invoked. </a:t>
            </a:r>
            <a:endParaRPr lang="en-US" altLang="ko-KR" sz="1200"/>
          </a:p>
          <a:p>
            <a:pPr marL="471487" lvl="1" indent="0" latinLnBrk="1">
              <a:buNone/>
            </a:pPr>
            <a:endParaRPr lang="en-US" altLang="ko-KR" sz="12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latinLnBrk="1"/>
            <a:endParaRPr lang="en-US" altLang="ko-KR" sz="1600" kern="0">
              <a:latin typeface="+mj-lt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1DFFBD2-4489-DD9E-0CF0-57577BD2AF8E}"/>
              </a:ext>
            </a:extLst>
          </p:cNvPr>
          <p:cNvSpPr txBox="1"/>
          <p:nvPr/>
        </p:nvSpPr>
        <p:spPr>
          <a:xfrm rot="16200000">
            <a:off x="-308675" y="2859480"/>
            <a:ext cx="15872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/>
              <a:t>Kernel V-Addr Space</a:t>
            </a:r>
            <a:endParaRPr lang="ko-KR" altLang="en-US" sz="1050"/>
          </a:p>
        </p:txBody>
      </p:sp>
      <p:sp>
        <p:nvSpPr>
          <p:cNvPr id="111" name="오른쪽 중괄호 110">
            <a:extLst>
              <a:ext uri="{FF2B5EF4-FFF2-40B4-BE49-F238E27FC236}">
                <a16:creationId xmlns:a16="http://schemas.microsoft.com/office/drawing/2014/main" id="{CC1AF276-E80C-880C-2FB0-B156591B29A1}"/>
              </a:ext>
            </a:extLst>
          </p:cNvPr>
          <p:cNvSpPr/>
          <p:nvPr/>
        </p:nvSpPr>
        <p:spPr bwMode="auto">
          <a:xfrm rot="10800000">
            <a:off x="583646" y="2054154"/>
            <a:ext cx="119789" cy="1965783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3BDF6A1-4E28-C465-07EC-0EB285EDB575}"/>
              </a:ext>
            </a:extLst>
          </p:cNvPr>
          <p:cNvSpPr txBox="1"/>
          <p:nvPr/>
        </p:nvSpPr>
        <p:spPr>
          <a:xfrm rot="16200000">
            <a:off x="-245356" y="4894437"/>
            <a:ext cx="14606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/>
              <a:t>User V-Addr Space</a:t>
            </a:r>
            <a:endParaRPr lang="ko-KR" altLang="en-US" sz="1050"/>
          </a:p>
        </p:txBody>
      </p:sp>
      <p:sp>
        <p:nvSpPr>
          <p:cNvPr id="113" name="오른쪽 중괄호 112">
            <a:extLst>
              <a:ext uri="{FF2B5EF4-FFF2-40B4-BE49-F238E27FC236}">
                <a16:creationId xmlns:a16="http://schemas.microsoft.com/office/drawing/2014/main" id="{91411388-E262-0DB2-05D8-1CAEF44D3357}"/>
              </a:ext>
            </a:extLst>
          </p:cNvPr>
          <p:cNvSpPr/>
          <p:nvPr/>
        </p:nvSpPr>
        <p:spPr bwMode="auto">
          <a:xfrm rot="10800000">
            <a:off x="583646" y="4041543"/>
            <a:ext cx="119789" cy="1965783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C0BECB75-18FE-1EE3-28D7-F04435ADF07E}"/>
              </a:ext>
            </a:extLst>
          </p:cNvPr>
          <p:cNvSpPr/>
          <p:nvPr/>
        </p:nvSpPr>
        <p:spPr bwMode="auto">
          <a:xfrm>
            <a:off x="2514599" y="4028360"/>
            <a:ext cx="910591" cy="829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6CBD35AA-E2FE-DA0A-4579-177C69AFF332}"/>
              </a:ext>
            </a:extLst>
          </p:cNvPr>
          <p:cNvSpPr/>
          <p:nvPr/>
        </p:nvSpPr>
        <p:spPr bwMode="auto">
          <a:xfrm>
            <a:off x="2514599" y="3118807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4006AECD-7071-FD08-482D-77EB5D6C5D0C}"/>
              </a:ext>
            </a:extLst>
          </p:cNvPr>
          <p:cNvSpPr/>
          <p:nvPr/>
        </p:nvSpPr>
        <p:spPr bwMode="auto">
          <a:xfrm>
            <a:off x="2514599" y="3039633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51983801-6A94-7536-6B5E-35E2EF14AB2C}"/>
              </a:ext>
            </a:extLst>
          </p:cNvPr>
          <p:cNvSpPr/>
          <p:nvPr/>
        </p:nvSpPr>
        <p:spPr bwMode="auto">
          <a:xfrm>
            <a:off x="2514599" y="2959379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753848D9-49A5-3460-9A6F-074CC2A2A705}"/>
              </a:ext>
            </a:extLst>
          </p:cNvPr>
          <p:cNvSpPr/>
          <p:nvPr/>
        </p:nvSpPr>
        <p:spPr bwMode="auto">
          <a:xfrm>
            <a:off x="2514598" y="2880511"/>
            <a:ext cx="910591" cy="829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5A605FEE-6A3F-2577-DD3D-309965202261}"/>
              </a:ext>
            </a:extLst>
          </p:cNvPr>
          <p:cNvSpPr txBox="1"/>
          <p:nvPr/>
        </p:nvSpPr>
        <p:spPr>
          <a:xfrm>
            <a:off x="2741682" y="4068522"/>
            <a:ext cx="4908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4E084711-68FC-2B24-CB63-6D60C10ED4FE}"/>
              </a:ext>
            </a:extLst>
          </p:cNvPr>
          <p:cNvSpPr txBox="1"/>
          <p:nvPr/>
        </p:nvSpPr>
        <p:spPr>
          <a:xfrm>
            <a:off x="2704011" y="3611228"/>
            <a:ext cx="5661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thread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3" name="직사각형 322">
            <a:extLst>
              <a:ext uri="{FF2B5EF4-FFF2-40B4-BE49-F238E27FC236}">
                <a16:creationId xmlns:a16="http://schemas.microsoft.com/office/drawing/2014/main" id="{5C6DBB7A-905E-A179-4A2F-92887EF20DB2}"/>
              </a:ext>
            </a:extLst>
          </p:cNvPr>
          <p:cNvSpPr/>
          <p:nvPr/>
        </p:nvSpPr>
        <p:spPr bwMode="auto">
          <a:xfrm>
            <a:off x="2508543" y="3569986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5" name="직사각형 354">
            <a:extLst>
              <a:ext uri="{FF2B5EF4-FFF2-40B4-BE49-F238E27FC236}">
                <a16:creationId xmlns:a16="http://schemas.microsoft.com/office/drawing/2014/main" id="{3D120938-F31C-40AA-C8D3-54B126E3D98C}"/>
              </a:ext>
            </a:extLst>
          </p:cNvPr>
          <p:cNvSpPr/>
          <p:nvPr/>
        </p:nvSpPr>
        <p:spPr bwMode="auto">
          <a:xfrm>
            <a:off x="2514599" y="5552572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6" name="직사각형 355">
            <a:extLst>
              <a:ext uri="{FF2B5EF4-FFF2-40B4-BE49-F238E27FC236}">
                <a16:creationId xmlns:a16="http://schemas.microsoft.com/office/drawing/2014/main" id="{4D4F6CA0-ACDE-A2CB-5F7B-FE8114A9C233}"/>
              </a:ext>
            </a:extLst>
          </p:cNvPr>
          <p:cNvSpPr/>
          <p:nvPr/>
        </p:nvSpPr>
        <p:spPr bwMode="auto">
          <a:xfrm>
            <a:off x="2514599" y="5473398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7" name="직사각형 356">
            <a:extLst>
              <a:ext uri="{FF2B5EF4-FFF2-40B4-BE49-F238E27FC236}">
                <a16:creationId xmlns:a16="http://schemas.microsoft.com/office/drawing/2014/main" id="{27C96B82-DAD6-DC0C-9216-C9F8A5B3F13E}"/>
              </a:ext>
            </a:extLst>
          </p:cNvPr>
          <p:cNvSpPr/>
          <p:nvPr/>
        </p:nvSpPr>
        <p:spPr bwMode="auto">
          <a:xfrm>
            <a:off x="2514599" y="5393144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1738F3A9-1028-EF36-C618-704791E239BB}"/>
              </a:ext>
            </a:extLst>
          </p:cNvPr>
          <p:cNvSpPr txBox="1"/>
          <p:nvPr/>
        </p:nvSpPr>
        <p:spPr>
          <a:xfrm>
            <a:off x="2419290" y="5601345"/>
            <a:ext cx="10887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.bss .code .data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75710EF2-5268-766B-9D82-A3D8CDF73584}"/>
              </a:ext>
            </a:extLst>
          </p:cNvPr>
          <p:cNvSpPr txBox="1"/>
          <p:nvPr/>
        </p:nvSpPr>
        <p:spPr>
          <a:xfrm>
            <a:off x="3378039" y="5873602"/>
            <a:ext cx="43473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0x0</a:t>
            </a:r>
            <a:endParaRPr lang="ko-KR" altLang="en-US" sz="1050"/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F059BA18-68C6-EABB-A0A9-72C5FCD65267}"/>
              </a:ext>
            </a:extLst>
          </p:cNvPr>
          <p:cNvSpPr/>
          <p:nvPr/>
        </p:nvSpPr>
        <p:spPr bwMode="auto">
          <a:xfrm>
            <a:off x="3794089" y="5222505"/>
            <a:ext cx="908040" cy="6062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08220334-6AF2-1100-F318-A997A3A8CCC1}"/>
              </a:ext>
            </a:extLst>
          </p:cNvPr>
          <p:cNvCxnSpPr/>
          <p:nvPr/>
        </p:nvCxnSpPr>
        <p:spPr bwMode="auto">
          <a:xfrm>
            <a:off x="3798942" y="5222505"/>
            <a:ext cx="0" cy="58314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DF5BF99A-45FE-E9C4-D43F-60AB61794DE0}"/>
              </a:ext>
            </a:extLst>
          </p:cNvPr>
          <p:cNvCxnSpPr>
            <a:cxnSpLocks/>
          </p:cNvCxnSpPr>
          <p:nvPr/>
        </p:nvCxnSpPr>
        <p:spPr bwMode="auto">
          <a:xfrm flipH="1">
            <a:off x="3794089" y="5222505"/>
            <a:ext cx="9147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FBBBE382-3138-6CB1-6C06-4372B248C575}"/>
              </a:ext>
            </a:extLst>
          </p:cNvPr>
          <p:cNvCxnSpPr>
            <a:cxnSpLocks/>
          </p:cNvCxnSpPr>
          <p:nvPr/>
        </p:nvCxnSpPr>
        <p:spPr bwMode="auto">
          <a:xfrm flipV="1">
            <a:off x="4708819" y="5220433"/>
            <a:ext cx="0" cy="5676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A502BEDC-B020-2337-982E-9EC5AEA1E73E}"/>
              </a:ext>
            </a:extLst>
          </p:cNvPr>
          <p:cNvSpPr txBox="1"/>
          <p:nvPr/>
        </p:nvSpPr>
        <p:spPr>
          <a:xfrm>
            <a:off x="3784680" y="5000707"/>
            <a:ext cx="9268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User stack</a:t>
            </a:r>
            <a:endParaRPr lang="ko-KR" altLang="en-US" sz="1100"/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5A2913D5-5A7E-FEE8-A106-4CFA9FF833FA}"/>
              </a:ext>
            </a:extLst>
          </p:cNvPr>
          <p:cNvSpPr/>
          <p:nvPr/>
        </p:nvSpPr>
        <p:spPr bwMode="auto">
          <a:xfrm>
            <a:off x="3991484" y="4351748"/>
            <a:ext cx="530606" cy="21032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61352963-E3FF-9A21-7071-4025E93AC593}"/>
              </a:ext>
            </a:extLst>
          </p:cNvPr>
          <p:cNvCxnSpPr/>
          <p:nvPr/>
        </p:nvCxnSpPr>
        <p:spPr bwMode="auto">
          <a:xfrm flipH="1">
            <a:off x="4708819" y="2227885"/>
            <a:ext cx="21068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202" name="TextBox 201">
            <a:extLst>
              <a:ext uri="{FF2B5EF4-FFF2-40B4-BE49-F238E27FC236}">
                <a16:creationId xmlns:a16="http://schemas.microsoft.com/office/drawing/2014/main" id="{BCDADAAB-6037-1AE7-C8E0-745B22E468AD}"/>
              </a:ext>
            </a:extLst>
          </p:cNvPr>
          <p:cNvSpPr txBox="1"/>
          <p:nvPr/>
        </p:nvSpPr>
        <p:spPr>
          <a:xfrm>
            <a:off x="3998724" y="4302496"/>
            <a:ext cx="4299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esp</a:t>
            </a:r>
            <a:endParaRPr lang="ko-KR" altLang="en-US" sz="1100"/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0A3EF00E-5B2E-E70A-DF02-F058051EB119}"/>
              </a:ext>
            </a:extLst>
          </p:cNvPr>
          <p:cNvCxnSpPr>
            <a:cxnSpLocks/>
          </p:cNvCxnSpPr>
          <p:nvPr/>
        </p:nvCxnSpPr>
        <p:spPr bwMode="auto">
          <a:xfrm>
            <a:off x="4461856" y="4454141"/>
            <a:ext cx="45765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A53EAE22-06B5-AF40-2047-69649861E829}"/>
              </a:ext>
            </a:extLst>
          </p:cNvPr>
          <p:cNvCxnSpPr>
            <a:cxnSpLocks/>
          </p:cNvCxnSpPr>
          <p:nvPr/>
        </p:nvCxnSpPr>
        <p:spPr bwMode="auto">
          <a:xfrm flipV="1">
            <a:off x="4919508" y="4454141"/>
            <a:ext cx="0" cy="129758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DBABB420-E9F9-FB00-FB0E-F9A15EC36FF2}"/>
              </a:ext>
            </a:extLst>
          </p:cNvPr>
          <p:cNvSpPr/>
          <p:nvPr/>
        </p:nvSpPr>
        <p:spPr bwMode="auto">
          <a:xfrm>
            <a:off x="3794089" y="2194864"/>
            <a:ext cx="908040" cy="6062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A0D27199-7765-D978-F4B2-A30EBB024140}"/>
              </a:ext>
            </a:extLst>
          </p:cNvPr>
          <p:cNvCxnSpPr/>
          <p:nvPr/>
        </p:nvCxnSpPr>
        <p:spPr bwMode="auto">
          <a:xfrm>
            <a:off x="3798942" y="2194863"/>
            <a:ext cx="0" cy="58314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C72BCCC0-2AC8-7149-9B4F-03577A557857}"/>
              </a:ext>
            </a:extLst>
          </p:cNvPr>
          <p:cNvCxnSpPr>
            <a:cxnSpLocks/>
          </p:cNvCxnSpPr>
          <p:nvPr/>
        </p:nvCxnSpPr>
        <p:spPr bwMode="auto">
          <a:xfrm flipH="1">
            <a:off x="3794089" y="2194863"/>
            <a:ext cx="9147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8176ED11-E25E-4887-DD85-A9C663F0075E}"/>
              </a:ext>
            </a:extLst>
          </p:cNvPr>
          <p:cNvCxnSpPr>
            <a:cxnSpLocks/>
          </p:cNvCxnSpPr>
          <p:nvPr/>
        </p:nvCxnSpPr>
        <p:spPr bwMode="auto">
          <a:xfrm flipV="1">
            <a:off x="4708819" y="2192791"/>
            <a:ext cx="0" cy="5676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1" name="사각형: 둥근 모서리 390">
            <a:extLst>
              <a:ext uri="{FF2B5EF4-FFF2-40B4-BE49-F238E27FC236}">
                <a16:creationId xmlns:a16="http://schemas.microsoft.com/office/drawing/2014/main" id="{D790EEA7-95B5-297E-70D8-FDA969046D5D}"/>
              </a:ext>
            </a:extLst>
          </p:cNvPr>
          <p:cNvSpPr/>
          <p:nvPr/>
        </p:nvSpPr>
        <p:spPr bwMode="auto">
          <a:xfrm>
            <a:off x="1347556" y="4351748"/>
            <a:ext cx="530606" cy="21032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C05C0F12-ECF6-E6A9-55DE-136A5689ACEF}"/>
              </a:ext>
            </a:extLst>
          </p:cNvPr>
          <p:cNvSpPr txBox="1"/>
          <p:nvPr/>
        </p:nvSpPr>
        <p:spPr>
          <a:xfrm>
            <a:off x="1336133" y="4302496"/>
            <a:ext cx="3946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eip</a:t>
            </a:r>
            <a:endParaRPr lang="ko-KR" altLang="en-US" sz="1100"/>
          </a:p>
        </p:txBody>
      </p: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102416E3-73DE-537F-CD60-AF5E3B7B6A4B}"/>
              </a:ext>
            </a:extLst>
          </p:cNvPr>
          <p:cNvCxnSpPr>
            <a:cxnSpLocks/>
          </p:cNvCxnSpPr>
          <p:nvPr/>
        </p:nvCxnSpPr>
        <p:spPr bwMode="auto">
          <a:xfrm>
            <a:off x="1793240" y="4454141"/>
            <a:ext cx="45765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A1EAE90C-53BE-FA3F-933C-8EF0A083884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57024" y="4454141"/>
            <a:ext cx="0" cy="11472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8" name="직선 화살표 연결선 397">
            <a:extLst>
              <a:ext uri="{FF2B5EF4-FFF2-40B4-BE49-F238E27FC236}">
                <a16:creationId xmlns:a16="http://schemas.microsoft.com/office/drawing/2014/main" id="{BC89AB13-F61A-B6C5-98A4-04D55A263327}"/>
              </a:ext>
            </a:extLst>
          </p:cNvPr>
          <p:cNvCxnSpPr>
            <a:cxnSpLocks/>
          </p:cNvCxnSpPr>
          <p:nvPr/>
        </p:nvCxnSpPr>
        <p:spPr bwMode="auto">
          <a:xfrm>
            <a:off x="2253896" y="5601345"/>
            <a:ext cx="26126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45" name="직선 화살표 연결선 444">
            <a:extLst>
              <a:ext uri="{FF2B5EF4-FFF2-40B4-BE49-F238E27FC236}">
                <a16:creationId xmlns:a16="http://schemas.microsoft.com/office/drawing/2014/main" id="{0C45B281-3C60-B1C3-BC4C-B7F9EC31E643}"/>
              </a:ext>
            </a:extLst>
          </p:cNvPr>
          <p:cNvCxnSpPr>
            <a:cxnSpLocks/>
          </p:cNvCxnSpPr>
          <p:nvPr/>
        </p:nvCxnSpPr>
        <p:spPr bwMode="auto">
          <a:xfrm>
            <a:off x="2253896" y="3962400"/>
            <a:ext cx="26126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448" name="TextBox 447">
            <a:extLst>
              <a:ext uri="{FF2B5EF4-FFF2-40B4-BE49-F238E27FC236}">
                <a16:creationId xmlns:a16="http://schemas.microsoft.com/office/drawing/2014/main" id="{BB9E93F0-11B4-043F-2756-C1DDCF8BB88B}"/>
              </a:ext>
            </a:extLst>
          </p:cNvPr>
          <p:cNvSpPr txBox="1"/>
          <p:nvPr/>
        </p:nvSpPr>
        <p:spPr>
          <a:xfrm rot="16200000">
            <a:off x="697149" y="4363096"/>
            <a:ext cx="8034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registers</a:t>
            </a:r>
            <a:endParaRPr lang="ko-KR" altLang="en-US" sz="1100"/>
          </a:p>
        </p:txBody>
      </p:sp>
      <p:sp>
        <p:nvSpPr>
          <p:cNvPr id="453" name="자유형: 도형 452">
            <a:extLst>
              <a:ext uri="{FF2B5EF4-FFF2-40B4-BE49-F238E27FC236}">
                <a16:creationId xmlns:a16="http://schemas.microsoft.com/office/drawing/2014/main" id="{181B57BB-D75C-2020-C13D-F1CE4D0AC8DA}"/>
              </a:ext>
            </a:extLst>
          </p:cNvPr>
          <p:cNvSpPr/>
          <p:nvPr/>
        </p:nvSpPr>
        <p:spPr bwMode="auto">
          <a:xfrm>
            <a:off x="3435920" y="3215639"/>
            <a:ext cx="343600" cy="715213"/>
          </a:xfrm>
          <a:custGeom>
            <a:avLst/>
            <a:gdLst>
              <a:gd name="connsiteX0" fmla="*/ 0 w 350520"/>
              <a:gd name="connsiteY0" fmla="*/ 712470 h 712470"/>
              <a:gd name="connsiteX1" fmla="*/ 350520 w 350520"/>
              <a:gd name="connsiteY1" fmla="*/ 0 h 712470"/>
              <a:gd name="connsiteX2" fmla="*/ 350520 w 350520"/>
              <a:gd name="connsiteY2" fmla="*/ 605790 h 712470"/>
              <a:gd name="connsiteX3" fmla="*/ 0 w 350520"/>
              <a:gd name="connsiteY3" fmla="*/ 712470 h 712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" h="712470">
                <a:moveTo>
                  <a:pt x="0" y="712470"/>
                </a:moveTo>
                <a:lnTo>
                  <a:pt x="350520" y="0"/>
                </a:lnTo>
                <a:lnTo>
                  <a:pt x="350520" y="605790"/>
                </a:lnTo>
                <a:lnTo>
                  <a:pt x="0" y="71247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9772419E-4D46-8CA1-C26C-E09026A14E44}"/>
              </a:ext>
            </a:extLst>
          </p:cNvPr>
          <p:cNvSpPr/>
          <p:nvPr/>
        </p:nvSpPr>
        <p:spPr bwMode="auto">
          <a:xfrm>
            <a:off x="3770955" y="3229637"/>
            <a:ext cx="809786" cy="5948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02604474-B503-3D35-3A5C-2F31F078B41A}"/>
              </a:ext>
            </a:extLst>
          </p:cNvPr>
          <p:cNvGrpSpPr/>
          <p:nvPr/>
        </p:nvGrpSpPr>
        <p:grpSpPr>
          <a:xfrm>
            <a:off x="3819467" y="3192115"/>
            <a:ext cx="713543" cy="261610"/>
            <a:chOff x="2817194" y="5105175"/>
            <a:chExt cx="512183" cy="261610"/>
          </a:xfrm>
        </p:grpSpPr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CDBBBA63-E8F9-6757-F4B4-0C6166355EB2}"/>
                </a:ext>
              </a:extLst>
            </p:cNvPr>
            <p:cNvSpPr/>
            <p:nvPr/>
          </p:nvSpPr>
          <p:spPr bwMode="auto">
            <a:xfrm>
              <a:off x="2817194" y="5181053"/>
              <a:ext cx="512183" cy="1310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348471C5-8A48-0DA6-CBD0-AC6A2F3DEEDF}"/>
                </a:ext>
              </a:extLst>
            </p:cNvPr>
            <p:cNvSpPr txBox="1"/>
            <p:nvPr/>
          </p:nvSpPr>
          <p:spPr>
            <a:xfrm>
              <a:off x="2858322" y="5105175"/>
              <a:ext cx="4299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esp0</a:t>
              </a:r>
              <a:endParaRPr lang="ko-KR" altLang="en-US" sz="1100"/>
            </a:p>
          </p:txBody>
        </p: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B52D3214-328D-6D26-FA72-7A8CC435512C}"/>
              </a:ext>
            </a:extLst>
          </p:cNvPr>
          <p:cNvGrpSpPr/>
          <p:nvPr/>
        </p:nvGrpSpPr>
        <p:grpSpPr>
          <a:xfrm>
            <a:off x="3819467" y="3365331"/>
            <a:ext cx="713543" cy="261610"/>
            <a:chOff x="2817194" y="5105175"/>
            <a:chExt cx="512183" cy="261610"/>
          </a:xfrm>
        </p:grpSpPr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00FA6AD4-04BF-D5D0-1E61-105663471AB7}"/>
                </a:ext>
              </a:extLst>
            </p:cNvPr>
            <p:cNvSpPr/>
            <p:nvPr/>
          </p:nvSpPr>
          <p:spPr bwMode="auto">
            <a:xfrm>
              <a:off x="2817194" y="5181053"/>
              <a:ext cx="512183" cy="1310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A125FCC9-4B18-C8E1-174F-4034C8973222}"/>
                </a:ext>
              </a:extLst>
            </p:cNvPr>
            <p:cNvSpPr txBox="1"/>
            <p:nvPr/>
          </p:nvSpPr>
          <p:spPr>
            <a:xfrm>
              <a:off x="2858322" y="5105175"/>
              <a:ext cx="4299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ss0</a:t>
              </a:r>
              <a:endParaRPr lang="ko-KR" altLang="en-US" sz="1100"/>
            </a:p>
          </p:txBody>
        </p:sp>
      </p:grpSp>
      <p:sp>
        <p:nvSpPr>
          <p:cNvPr id="423" name="TextBox 422">
            <a:extLst>
              <a:ext uri="{FF2B5EF4-FFF2-40B4-BE49-F238E27FC236}">
                <a16:creationId xmlns:a16="http://schemas.microsoft.com/office/drawing/2014/main" id="{9A0B7E38-DB3D-3EF6-4B95-BFE5613C8046}"/>
              </a:ext>
            </a:extLst>
          </p:cNvPr>
          <p:cNvSpPr txBox="1"/>
          <p:nvPr/>
        </p:nvSpPr>
        <p:spPr>
          <a:xfrm>
            <a:off x="3695398" y="3011932"/>
            <a:ext cx="4635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TSS</a:t>
            </a:r>
            <a:endParaRPr lang="ko-KR" altLang="en-US" sz="1100"/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280B864A-773A-9B7F-54B1-87E7E1461148}"/>
              </a:ext>
            </a:extLst>
          </p:cNvPr>
          <p:cNvGrpSpPr/>
          <p:nvPr/>
        </p:nvGrpSpPr>
        <p:grpSpPr>
          <a:xfrm>
            <a:off x="3819467" y="3546011"/>
            <a:ext cx="713543" cy="261610"/>
            <a:chOff x="2817194" y="5105175"/>
            <a:chExt cx="512183" cy="261610"/>
          </a:xfrm>
        </p:grpSpPr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CA220394-8B09-04DF-0525-8C11B89C9A51}"/>
                </a:ext>
              </a:extLst>
            </p:cNvPr>
            <p:cNvSpPr/>
            <p:nvPr/>
          </p:nvSpPr>
          <p:spPr bwMode="auto">
            <a:xfrm>
              <a:off x="2817194" y="5181053"/>
              <a:ext cx="512183" cy="1310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D06EC6AB-06E6-CF08-5F58-59842B21B51D}"/>
                </a:ext>
              </a:extLst>
            </p:cNvPr>
            <p:cNvSpPr txBox="1"/>
            <p:nvPr/>
          </p:nvSpPr>
          <p:spPr>
            <a:xfrm>
              <a:off x="2858322" y="5105175"/>
              <a:ext cx="4299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...</a:t>
              </a:r>
              <a:endParaRPr lang="ko-KR" altLang="en-US" sz="1100"/>
            </a:p>
          </p:txBody>
        </p:sp>
      </p:grpSp>
      <p:sp>
        <p:nvSpPr>
          <p:cNvPr id="454" name="자유형: 도형 453">
            <a:extLst>
              <a:ext uri="{FF2B5EF4-FFF2-40B4-BE49-F238E27FC236}">
                <a16:creationId xmlns:a16="http://schemas.microsoft.com/office/drawing/2014/main" id="{308FCD67-6752-1C9A-B996-4BC5B8D50280}"/>
              </a:ext>
            </a:extLst>
          </p:cNvPr>
          <p:cNvSpPr/>
          <p:nvPr/>
        </p:nvSpPr>
        <p:spPr bwMode="auto">
          <a:xfrm flipH="1">
            <a:off x="2164943" y="3215639"/>
            <a:ext cx="343600" cy="715213"/>
          </a:xfrm>
          <a:custGeom>
            <a:avLst/>
            <a:gdLst>
              <a:gd name="connsiteX0" fmla="*/ 0 w 350520"/>
              <a:gd name="connsiteY0" fmla="*/ 712470 h 712470"/>
              <a:gd name="connsiteX1" fmla="*/ 350520 w 350520"/>
              <a:gd name="connsiteY1" fmla="*/ 0 h 712470"/>
              <a:gd name="connsiteX2" fmla="*/ 350520 w 350520"/>
              <a:gd name="connsiteY2" fmla="*/ 605790 h 712470"/>
              <a:gd name="connsiteX3" fmla="*/ 0 w 350520"/>
              <a:gd name="connsiteY3" fmla="*/ 712470 h 712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" h="712470">
                <a:moveTo>
                  <a:pt x="0" y="712470"/>
                </a:moveTo>
                <a:lnTo>
                  <a:pt x="350520" y="0"/>
                </a:lnTo>
                <a:lnTo>
                  <a:pt x="350520" y="605790"/>
                </a:lnTo>
                <a:lnTo>
                  <a:pt x="0" y="71247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6ABCCFC7-B1FB-3375-E60D-F17F098E1157}"/>
              </a:ext>
            </a:extLst>
          </p:cNvPr>
          <p:cNvSpPr txBox="1"/>
          <p:nvPr/>
        </p:nvSpPr>
        <p:spPr>
          <a:xfrm>
            <a:off x="3726834" y="1964489"/>
            <a:ext cx="10599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Kernel stack</a:t>
            </a:r>
            <a:endParaRPr lang="ko-KR" altLang="en-US" sz="1100"/>
          </a:p>
        </p:txBody>
      </p:sp>
      <p:sp>
        <p:nvSpPr>
          <p:cNvPr id="412" name="직사각형 411">
            <a:extLst>
              <a:ext uri="{FF2B5EF4-FFF2-40B4-BE49-F238E27FC236}">
                <a16:creationId xmlns:a16="http://schemas.microsoft.com/office/drawing/2014/main" id="{9E1D341D-77A5-411F-85E0-B7EF006D74B5}"/>
              </a:ext>
            </a:extLst>
          </p:cNvPr>
          <p:cNvSpPr/>
          <p:nvPr/>
        </p:nvSpPr>
        <p:spPr bwMode="auto">
          <a:xfrm>
            <a:off x="1354469" y="3231014"/>
            <a:ext cx="809786" cy="5948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AB840771-A259-3025-15FB-57569A7CE874}"/>
              </a:ext>
            </a:extLst>
          </p:cNvPr>
          <p:cNvSpPr txBox="1"/>
          <p:nvPr/>
        </p:nvSpPr>
        <p:spPr>
          <a:xfrm>
            <a:off x="1302843" y="301330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IDT</a:t>
            </a:r>
            <a:endParaRPr lang="ko-KR" altLang="en-US" sz="1100"/>
          </a:p>
        </p:txBody>
      </p:sp>
      <p:sp>
        <p:nvSpPr>
          <p:cNvPr id="425" name="직사각형 424">
            <a:extLst>
              <a:ext uri="{FF2B5EF4-FFF2-40B4-BE49-F238E27FC236}">
                <a16:creationId xmlns:a16="http://schemas.microsoft.com/office/drawing/2014/main" id="{AA455608-49D2-AFAD-BE6D-DEC8592D47F6}"/>
              </a:ext>
            </a:extLst>
          </p:cNvPr>
          <p:cNvSpPr/>
          <p:nvPr/>
        </p:nvSpPr>
        <p:spPr bwMode="auto">
          <a:xfrm>
            <a:off x="1414764" y="3529246"/>
            <a:ext cx="698146" cy="236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427" name="직선 연결선 426">
            <a:extLst>
              <a:ext uri="{FF2B5EF4-FFF2-40B4-BE49-F238E27FC236}">
                <a16:creationId xmlns:a16="http://schemas.microsoft.com/office/drawing/2014/main" id="{231A580C-0425-8BF4-F044-2677DBF087AB}"/>
              </a:ext>
            </a:extLst>
          </p:cNvPr>
          <p:cNvCxnSpPr>
            <a:cxnSpLocks/>
            <a:stCxn id="425" idx="1"/>
          </p:cNvCxnSpPr>
          <p:nvPr/>
        </p:nvCxnSpPr>
        <p:spPr bwMode="auto">
          <a:xfrm>
            <a:off x="1414764" y="3647526"/>
            <a:ext cx="31714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2" name="직선 연결선 431">
            <a:extLst>
              <a:ext uri="{FF2B5EF4-FFF2-40B4-BE49-F238E27FC236}">
                <a16:creationId xmlns:a16="http://schemas.microsoft.com/office/drawing/2014/main" id="{1DA8C29E-01B2-CB48-3AC9-1C932EFE6193}"/>
              </a:ext>
            </a:extLst>
          </p:cNvPr>
          <p:cNvCxnSpPr>
            <a:cxnSpLocks/>
          </p:cNvCxnSpPr>
          <p:nvPr/>
        </p:nvCxnSpPr>
        <p:spPr bwMode="auto">
          <a:xfrm>
            <a:off x="1795764" y="3647526"/>
            <a:ext cx="31714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3" name="직선 연결선 432">
            <a:extLst>
              <a:ext uri="{FF2B5EF4-FFF2-40B4-BE49-F238E27FC236}">
                <a16:creationId xmlns:a16="http://schemas.microsoft.com/office/drawing/2014/main" id="{FBD40529-4AAA-0FE4-E391-4BDBCB296D8C}"/>
              </a:ext>
            </a:extLst>
          </p:cNvPr>
          <p:cNvCxnSpPr>
            <a:cxnSpLocks/>
          </p:cNvCxnSpPr>
          <p:nvPr/>
        </p:nvCxnSpPr>
        <p:spPr bwMode="auto">
          <a:xfrm flipV="1">
            <a:off x="1731910" y="3647526"/>
            <a:ext cx="0" cy="1182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9" name="직선 연결선 438">
            <a:extLst>
              <a:ext uri="{FF2B5EF4-FFF2-40B4-BE49-F238E27FC236}">
                <a16:creationId xmlns:a16="http://schemas.microsoft.com/office/drawing/2014/main" id="{6E92F7B2-B2B5-D4E2-602F-FE1BCD50A035}"/>
              </a:ext>
            </a:extLst>
          </p:cNvPr>
          <p:cNvCxnSpPr>
            <a:cxnSpLocks/>
          </p:cNvCxnSpPr>
          <p:nvPr/>
        </p:nvCxnSpPr>
        <p:spPr bwMode="auto">
          <a:xfrm flipV="1">
            <a:off x="1799574" y="3531711"/>
            <a:ext cx="0" cy="1182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0" name="직선 연결선 439">
            <a:extLst>
              <a:ext uri="{FF2B5EF4-FFF2-40B4-BE49-F238E27FC236}">
                <a16:creationId xmlns:a16="http://schemas.microsoft.com/office/drawing/2014/main" id="{34BB78F2-2368-64B2-34AB-6C014E58293B}"/>
              </a:ext>
            </a:extLst>
          </p:cNvPr>
          <p:cNvCxnSpPr>
            <a:cxnSpLocks/>
          </p:cNvCxnSpPr>
          <p:nvPr/>
        </p:nvCxnSpPr>
        <p:spPr bwMode="auto">
          <a:xfrm>
            <a:off x="1878162" y="3704921"/>
            <a:ext cx="3727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oval" w="med" len="med"/>
            <a:tailEnd type="none" w="med" len="med"/>
          </a:ln>
          <a:effectLst/>
        </p:spPr>
      </p:cxnSp>
      <p:cxnSp>
        <p:nvCxnSpPr>
          <p:cNvPr id="460" name="직선 연결선 459">
            <a:extLst>
              <a:ext uri="{FF2B5EF4-FFF2-40B4-BE49-F238E27FC236}">
                <a16:creationId xmlns:a16="http://schemas.microsoft.com/office/drawing/2014/main" id="{E61BAF99-7D32-C5D7-57A7-A0AC59952EF0}"/>
              </a:ext>
            </a:extLst>
          </p:cNvPr>
          <p:cNvCxnSpPr>
            <a:cxnSpLocks/>
          </p:cNvCxnSpPr>
          <p:nvPr/>
        </p:nvCxnSpPr>
        <p:spPr bwMode="auto">
          <a:xfrm flipV="1">
            <a:off x="2257024" y="3704299"/>
            <a:ext cx="0" cy="2581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64" name="직사각형 463">
            <a:extLst>
              <a:ext uri="{FF2B5EF4-FFF2-40B4-BE49-F238E27FC236}">
                <a16:creationId xmlns:a16="http://schemas.microsoft.com/office/drawing/2014/main" id="{4E01D60A-9380-1F12-8EA5-160D792A3FB6}"/>
              </a:ext>
            </a:extLst>
          </p:cNvPr>
          <p:cNvSpPr/>
          <p:nvPr/>
        </p:nvSpPr>
        <p:spPr bwMode="auto">
          <a:xfrm>
            <a:off x="3803485" y="5222058"/>
            <a:ext cx="908040" cy="2616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C4AA5F60-3B3E-DE8C-07D3-94AFFED24B1C}"/>
              </a:ext>
            </a:extLst>
          </p:cNvPr>
          <p:cNvCxnSpPr>
            <a:cxnSpLocks/>
          </p:cNvCxnSpPr>
          <p:nvPr/>
        </p:nvCxnSpPr>
        <p:spPr bwMode="auto">
          <a:xfrm>
            <a:off x="4475711" y="3331491"/>
            <a:ext cx="4417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oval" w="med" len="med"/>
            <a:tailEnd type="none" w="med" len="med"/>
          </a:ln>
          <a:effectLst/>
        </p:spPr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0AFD3072-E4F3-7FA8-FBF7-FAB99611C542}"/>
              </a:ext>
            </a:extLst>
          </p:cNvPr>
          <p:cNvCxnSpPr>
            <a:cxnSpLocks/>
          </p:cNvCxnSpPr>
          <p:nvPr/>
        </p:nvCxnSpPr>
        <p:spPr bwMode="auto">
          <a:xfrm flipV="1">
            <a:off x="4918710" y="2227885"/>
            <a:ext cx="798" cy="10830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66" name="TextBox 465">
            <a:extLst>
              <a:ext uri="{FF2B5EF4-FFF2-40B4-BE49-F238E27FC236}">
                <a16:creationId xmlns:a16="http://schemas.microsoft.com/office/drawing/2014/main" id="{C5C43F67-3367-FEE1-F253-20935ACBEF51}"/>
              </a:ext>
            </a:extLst>
          </p:cNvPr>
          <p:cNvSpPr txBox="1"/>
          <p:nvPr/>
        </p:nvSpPr>
        <p:spPr>
          <a:xfrm>
            <a:off x="1337198" y="3317608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0x30</a:t>
            </a:r>
            <a:endParaRPr lang="ko-KR" altLang="en-US" sz="1100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2320CB18-CAA0-7F1E-3974-8362B77CE1CE}"/>
              </a:ext>
            </a:extLst>
          </p:cNvPr>
          <p:cNvCxnSpPr/>
          <p:nvPr/>
        </p:nvCxnSpPr>
        <p:spPr bwMode="auto">
          <a:xfrm flipH="1">
            <a:off x="4708819" y="5751723"/>
            <a:ext cx="21068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ED2075-CD8F-904D-ED81-F5485D94AC77}"/>
              </a:ext>
            </a:extLst>
          </p:cNvPr>
          <p:cNvSpPr/>
          <p:nvPr/>
        </p:nvSpPr>
        <p:spPr bwMode="auto">
          <a:xfrm>
            <a:off x="3803473" y="5473398"/>
            <a:ext cx="908040" cy="14067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566B074-EA5D-3238-7764-608D7AC45582}"/>
              </a:ext>
            </a:extLst>
          </p:cNvPr>
          <p:cNvSpPr/>
          <p:nvPr/>
        </p:nvSpPr>
        <p:spPr bwMode="auto">
          <a:xfrm>
            <a:off x="3803473" y="5612796"/>
            <a:ext cx="908040" cy="14067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38DB62-9105-38AB-57A4-D4F91EA72430}"/>
              </a:ext>
            </a:extLst>
          </p:cNvPr>
          <p:cNvSpPr txBox="1"/>
          <p:nvPr/>
        </p:nvSpPr>
        <p:spPr>
          <a:xfrm>
            <a:off x="4010566" y="5391042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args</a:t>
            </a:r>
            <a:endParaRPr lang="ko-KR" altLang="en-US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26FD7E-547D-E56D-18C2-C5BD06F4ECCC}"/>
              </a:ext>
            </a:extLst>
          </p:cNvPr>
          <p:cNvSpPr txBox="1"/>
          <p:nvPr/>
        </p:nvSpPr>
        <p:spPr>
          <a:xfrm>
            <a:off x="3845456" y="5536158"/>
            <a:ext cx="8226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sys_num</a:t>
            </a:r>
            <a:endParaRPr lang="ko-KR" altLang="en-US" sz="11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39D711B-65EF-E532-5F46-52A3A3B2174A}"/>
              </a:ext>
            </a:extLst>
          </p:cNvPr>
          <p:cNvSpPr/>
          <p:nvPr/>
        </p:nvSpPr>
        <p:spPr bwMode="auto">
          <a:xfrm>
            <a:off x="1355526" y="4590731"/>
            <a:ext cx="757384" cy="21032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DD90E4-9AAE-4104-4DA6-8470F316F644}"/>
              </a:ext>
            </a:extLst>
          </p:cNvPr>
          <p:cNvSpPr txBox="1"/>
          <p:nvPr/>
        </p:nvSpPr>
        <p:spPr>
          <a:xfrm>
            <a:off x="1329555" y="4565269"/>
            <a:ext cx="8177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cs.dpl=3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334256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04064-6671-4119-1FF0-3906E6B64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직사각형 295">
            <a:extLst>
              <a:ext uri="{FF2B5EF4-FFF2-40B4-BE49-F238E27FC236}">
                <a16:creationId xmlns:a16="http://schemas.microsoft.com/office/drawing/2014/main" id="{29DC4711-15DC-1AF7-BA00-F98AEF0A4CA6}"/>
              </a:ext>
            </a:extLst>
          </p:cNvPr>
          <p:cNvSpPr/>
          <p:nvPr/>
        </p:nvSpPr>
        <p:spPr bwMode="auto">
          <a:xfrm>
            <a:off x="-520" y="2069008"/>
            <a:ext cx="9144000" cy="195973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75D34A4E-548E-E390-4B55-2BE0DF6A4FC4}"/>
              </a:ext>
            </a:extLst>
          </p:cNvPr>
          <p:cNvSpPr/>
          <p:nvPr/>
        </p:nvSpPr>
        <p:spPr bwMode="auto">
          <a:xfrm>
            <a:off x="3431540" y="2194560"/>
            <a:ext cx="375920" cy="1374140"/>
          </a:xfrm>
          <a:custGeom>
            <a:avLst/>
            <a:gdLst>
              <a:gd name="connsiteX0" fmla="*/ 0 w 375920"/>
              <a:gd name="connsiteY0" fmla="*/ 1374140 h 1374140"/>
              <a:gd name="connsiteX1" fmla="*/ 375920 w 375920"/>
              <a:gd name="connsiteY1" fmla="*/ 0 h 1374140"/>
              <a:gd name="connsiteX2" fmla="*/ 373380 w 375920"/>
              <a:gd name="connsiteY2" fmla="*/ 584200 h 1374140"/>
              <a:gd name="connsiteX3" fmla="*/ 0 w 375920"/>
              <a:gd name="connsiteY3" fmla="*/ 1374140 h 1374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920" h="1374140">
                <a:moveTo>
                  <a:pt x="0" y="1374140"/>
                </a:moveTo>
                <a:lnTo>
                  <a:pt x="375920" y="0"/>
                </a:lnTo>
                <a:cubicBezTo>
                  <a:pt x="375073" y="194733"/>
                  <a:pt x="374227" y="389467"/>
                  <a:pt x="373380" y="584200"/>
                </a:cubicBezTo>
                <a:lnTo>
                  <a:pt x="0" y="137414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47" name="사각형: 둥근 모서리 446">
            <a:extLst>
              <a:ext uri="{FF2B5EF4-FFF2-40B4-BE49-F238E27FC236}">
                <a16:creationId xmlns:a16="http://schemas.microsoft.com/office/drawing/2014/main" id="{7905CD69-652D-D48B-6483-82BA98B63A62}"/>
              </a:ext>
            </a:extLst>
          </p:cNvPr>
          <p:cNvSpPr/>
          <p:nvPr/>
        </p:nvSpPr>
        <p:spPr bwMode="auto">
          <a:xfrm>
            <a:off x="1222759" y="4301109"/>
            <a:ext cx="3423948" cy="55101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86" name="자유형: 도형 385">
            <a:extLst>
              <a:ext uri="{FF2B5EF4-FFF2-40B4-BE49-F238E27FC236}">
                <a16:creationId xmlns:a16="http://schemas.microsoft.com/office/drawing/2014/main" id="{DDBB58B6-0D41-DAA6-4282-BFA19C776C96}"/>
              </a:ext>
            </a:extLst>
          </p:cNvPr>
          <p:cNvSpPr/>
          <p:nvPr/>
        </p:nvSpPr>
        <p:spPr bwMode="auto">
          <a:xfrm>
            <a:off x="3413760" y="4034789"/>
            <a:ext cx="392430" cy="1812131"/>
          </a:xfrm>
          <a:custGeom>
            <a:avLst/>
            <a:gdLst>
              <a:gd name="connsiteX0" fmla="*/ 0 w 392430"/>
              <a:gd name="connsiteY0" fmla="*/ 72390 h 1771650"/>
              <a:gd name="connsiteX1" fmla="*/ 392430 w 392430"/>
              <a:gd name="connsiteY1" fmla="*/ 1771650 h 1771650"/>
              <a:gd name="connsiteX2" fmla="*/ 392430 w 392430"/>
              <a:gd name="connsiteY2" fmla="*/ 1196340 h 1771650"/>
              <a:gd name="connsiteX3" fmla="*/ 15240 w 392430"/>
              <a:gd name="connsiteY3" fmla="*/ 0 h 1771650"/>
              <a:gd name="connsiteX4" fmla="*/ 0 w 392430"/>
              <a:gd name="connsiteY4" fmla="*/ 7239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2430" h="1771650">
                <a:moveTo>
                  <a:pt x="0" y="72390"/>
                </a:moveTo>
                <a:lnTo>
                  <a:pt x="392430" y="1771650"/>
                </a:lnTo>
                <a:lnTo>
                  <a:pt x="392430" y="1196340"/>
                </a:lnTo>
                <a:lnTo>
                  <a:pt x="15240" y="0"/>
                </a:lnTo>
                <a:lnTo>
                  <a:pt x="0" y="7239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964D3E-62C8-03A4-7B62-8E9F871DA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/>
              <a:t>Mode Switch for System Call (3/5)</a:t>
            </a:r>
            <a:endParaRPr lang="ko-KR" altLang="en-US" sz="2800"/>
          </a:p>
        </p:txBody>
      </p:sp>
      <p:sp>
        <p:nvSpPr>
          <p:cNvPr id="311" name="직사각형 310">
            <a:extLst>
              <a:ext uri="{FF2B5EF4-FFF2-40B4-BE49-F238E27FC236}">
                <a16:creationId xmlns:a16="http://schemas.microsoft.com/office/drawing/2014/main" id="{95BFE1D2-C558-B49D-C20B-7F4E9964AEBC}"/>
              </a:ext>
            </a:extLst>
          </p:cNvPr>
          <p:cNvSpPr/>
          <p:nvPr/>
        </p:nvSpPr>
        <p:spPr bwMode="auto">
          <a:xfrm>
            <a:off x="2508798" y="2066034"/>
            <a:ext cx="914400" cy="3962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8990E224-ADCC-A18A-7ECC-571461BBC04B}"/>
              </a:ext>
            </a:extLst>
          </p:cNvPr>
          <p:cNvSpPr txBox="1"/>
          <p:nvPr/>
        </p:nvSpPr>
        <p:spPr>
          <a:xfrm>
            <a:off x="2093876" y="1774292"/>
            <a:ext cx="17395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Virtual Addr Space</a:t>
            </a:r>
            <a:endParaRPr lang="ko-KR" altLang="en-US" sz="1100"/>
          </a:p>
        </p:txBody>
      </p:sp>
      <p:grpSp>
        <p:nvGrpSpPr>
          <p:cNvPr id="313" name="그룹 312">
            <a:extLst>
              <a:ext uri="{FF2B5EF4-FFF2-40B4-BE49-F238E27FC236}">
                <a16:creationId xmlns:a16="http://schemas.microsoft.com/office/drawing/2014/main" id="{438CD6D1-6007-3A91-272A-8A5528C32ABA}"/>
              </a:ext>
            </a:extLst>
          </p:cNvPr>
          <p:cNvGrpSpPr/>
          <p:nvPr/>
        </p:nvGrpSpPr>
        <p:grpSpPr>
          <a:xfrm>
            <a:off x="3278893" y="4068504"/>
            <a:ext cx="311304" cy="325565"/>
            <a:chOff x="7612939" y="4068504"/>
            <a:chExt cx="311304" cy="325565"/>
          </a:xfrm>
        </p:grpSpPr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B3C2A8EF-14B8-F0FB-4698-C64B9A9824F7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422106E3-3157-DBD9-006D-D710E8AB9839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316" name="그룹 315">
            <a:extLst>
              <a:ext uri="{FF2B5EF4-FFF2-40B4-BE49-F238E27FC236}">
                <a16:creationId xmlns:a16="http://schemas.microsoft.com/office/drawing/2014/main" id="{153AFCF1-B484-024B-ED0A-642C84874791}"/>
              </a:ext>
            </a:extLst>
          </p:cNvPr>
          <p:cNvGrpSpPr/>
          <p:nvPr/>
        </p:nvGrpSpPr>
        <p:grpSpPr>
          <a:xfrm>
            <a:off x="2355139" y="4068504"/>
            <a:ext cx="311304" cy="325565"/>
            <a:chOff x="7612939" y="4068504"/>
            <a:chExt cx="311304" cy="325565"/>
          </a:xfrm>
        </p:grpSpPr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A5F75166-CE47-83AE-5B53-CBEFEC379628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E156C6A1-518D-AAE4-2BB3-FF7145B4F54B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319" name="그룹 318">
            <a:extLst>
              <a:ext uri="{FF2B5EF4-FFF2-40B4-BE49-F238E27FC236}">
                <a16:creationId xmlns:a16="http://schemas.microsoft.com/office/drawing/2014/main" id="{E4E5B4F7-78EC-8913-6E00-703F081657BE}"/>
              </a:ext>
            </a:extLst>
          </p:cNvPr>
          <p:cNvGrpSpPr/>
          <p:nvPr/>
        </p:nvGrpSpPr>
        <p:grpSpPr>
          <a:xfrm>
            <a:off x="3269539" y="2046753"/>
            <a:ext cx="311304" cy="325565"/>
            <a:chOff x="7612939" y="4068504"/>
            <a:chExt cx="311304" cy="325565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24F20BA-B8A5-85BA-827B-E8A0D9591137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F435C9A4-9F53-B0F7-F494-9F18EAA28043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6C2978AF-A75E-3AB5-9FF2-4AFE88CFA95A}"/>
              </a:ext>
            </a:extLst>
          </p:cNvPr>
          <p:cNvGrpSpPr/>
          <p:nvPr/>
        </p:nvGrpSpPr>
        <p:grpSpPr>
          <a:xfrm>
            <a:off x="2355139" y="2046753"/>
            <a:ext cx="311304" cy="325565"/>
            <a:chOff x="7612939" y="4068504"/>
            <a:chExt cx="311304" cy="325565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0F37574-A6AD-01CC-F054-48C41F227E3A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7CD417A-5F75-18C3-1FE2-0A3FE9F7C9E5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8FD79C36-0759-266A-3CD1-79FC09E09A14}"/>
              </a:ext>
            </a:extLst>
          </p:cNvPr>
          <p:cNvSpPr/>
          <p:nvPr/>
        </p:nvSpPr>
        <p:spPr bwMode="auto">
          <a:xfrm>
            <a:off x="2515159" y="2492999"/>
            <a:ext cx="914400" cy="15366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91195187-BC0B-9DCC-33E7-A8CC29778C7F}"/>
              </a:ext>
            </a:extLst>
          </p:cNvPr>
          <p:cNvSpPr/>
          <p:nvPr/>
        </p:nvSpPr>
        <p:spPr bwMode="auto">
          <a:xfrm>
            <a:off x="2514600" y="3185651"/>
            <a:ext cx="910591" cy="7008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C7A7C574-AEF6-E331-89D6-71A64170F3F6}"/>
              </a:ext>
            </a:extLst>
          </p:cNvPr>
          <p:cNvSpPr/>
          <p:nvPr/>
        </p:nvSpPr>
        <p:spPr bwMode="auto">
          <a:xfrm>
            <a:off x="2514600" y="2494054"/>
            <a:ext cx="910591" cy="70086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9" name="Rectangle 3">
            <a:extLst>
              <a:ext uri="{FF2B5EF4-FFF2-40B4-BE49-F238E27FC236}">
                <a16:creationId xmlns:a16="http://schemas.microsoft.com/office/drawing/2014/main" id="{285006B3-5388-09EB-17D6-D1D60E658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455" y="1774292"/>
            <a:ext cx="3423950" cy="1106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600"/>
              <a:t>Arguments and the system call number are placed on the user stack.</a:t>
            </a:r>
          </a:p>
          <a:p>
            <a:pPr latinLnBrk="1"/>
            <a:r>
              <a:rPr lang="en-US" altLang="ko-KR" sz="1600"/>
              <a:t>And ‘int 0x30’ is invoked. </a:t>
            </a:r>
            <a:endParaRPr lang="en-US" altLang="ko-KR" sz="1200"/>
          </a:p>
          <a:p>
            <a:pPr marL="471487" lvl="1" indent="0" latinLnBrk="1">
              <a:buNone/>
            </a:pPr>
            <a:endParaRPr lang="en-US" altLang="ko-KR" sz="12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latinLnBrk="1"/>
            <a:endParaRPr lang="en-US" altLang="ko-KR" sz="1600" kern="0">
              <a:latin typeface="+mj-lt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EEF8303-6117-CC6C-8CC0-2C1B8F7DC31B}"/>
              </a:ext>
            </a:extLst>
          </p:cNvPr>
          <p:cNvSpPr txBox="1"/>
          <p:nvPr/>
        </p:nvSpPr>
        <p:spPr>
          <a:xfrm rot="16200000">
            <a:off x="-308675" y="2859480"/>
            <a:ext cx="15872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/>
              <a:t>Kernel V-Addr Space</a:t>
            </a:r>
            <a:endParaRPr lang="ko-KR" altLang="en-US" sz="1050"/>
          </a:p>
        </p:txBody>
      </p:sp>
      <p:sp>
        <p:nvSpPr>
          <p:cNvPr id="111" name="오른쪽 중괄호 110">
            <a:extLst>
              <a:ext uri="{FF2B5EF4-FFF2-40B4-BE49-F238E27FC236}">
                <a16:creationId xmlns:a16="http://schemas.microsoft.com/office/drawing/2014/main" id="{6716C423-6F91-9FEE-CF5A-4A29D38A94AC}"/>
              </a:ext>
            </a:extLst>
          </p:cNvPr>
          <p:cNvSpPr/>
          <p:nvPr/>
        </p:nvSpPr>
        <p:spPr bwMode="auto">
          <a:xfrm rot="10800000">
            <a:off x="583646" y="2054154"/>
            <a:ext cx="119789" cy="1965783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B92FE4F-5C2A-BE53-6632-F9DA7FF97B0A}"/>
              </a:ext>
            </a:extLst>
          </p:cNvPr>
          <p:cNvSpPr txBox="1"/>
          <p:nvPr/>
        </p:nvSpPr>
        <p:spPr>
          <a:xfrm rot="16200000">
            <a:off x="-245356" y="4894437"/>
            <a:ext cx="14606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/>
              <a:t>User V-Addr Space</a:t>
            </a:r>
            <a:endParaRPr lang="ko-KR" altLang="en-US" sz="1050"/>
          </a:p>
        </p:txBody>
      </p:sp>
      <p:sp>
        <p:nvSpPr>
          <p:cNvPr id="113" name="오른쪽 중괄호 112">
            <a:extLst>
              <a:ext uri="{FF2B5EF4-FFF2-40B4-BE49-F238E27FC236}">
                <a16:creationId xmlns:a16="http://schemas.microsoft.com/office/drawing/2014/main" id="{6A975C76-1D32-04C0-772B-E281ABBA8D37}"/>
              </a:ext>
            </a:extLst>
          </p:cNvPr>
          <p:cNvSpPr/>
          <p:nvPr/>
        </p:nvSpPr>
        <p:spPr bwMode="auto">
          <a:xfrm rot="10800000">
            <a:off x="583646" y="4041543"/>
            <a:ext cx="119789" cy="1965783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77C13F50-B36E-39DD-D910-16D87EAC5684}"/>
              </a:ext>
            </a:extLst>
          </p:cNvPr>
          <p:cNvSpPr/>
          <p:nvPr/>
        </p:nvSpPr>
        <p:spPr bwMode="auto">
          <a:xfrm>
            <a:off x="2514599" y="4028360"/>
            <a:ext cx="910591" cy="829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B1FDD6C2-56E5-5161-2A7D-CEE4DCDC2446}"/>
              </a:ext>
            </a:extLst>
          </p:cNvPr>
          <p:cNvSpPr/>
          <p:nvPr/>
        </p:nvSpPr>
        <p:spPr bwMode="auto">
          <a:xfrm>
            <a:off x="2514599" y="3118807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F37DAFD6-69A9-7726-D4B9-E484FC55E0C5}"/>
              </a:ext>
            </a:extLst>
          </p:cNvPr>
          <p:cNvSpPr/>
          <p:nvPr/>
        </p:nvSpPr>
        <p:spPr bwMode="auto">
          <a:xfrm>
            <a:off x="2514599" y="3039633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4AD9C54B-BD3A-4955-0B34-BEEF17F34EBC}"/>
              </a:ext>
            </a:extLst>
          </p:cNvPr>
          <p:cNvSpPr/>
          <p:nvPr/>
        </p:nvSpPr>
        <p:spPr bwMode="auto">
          <a:xfrm>
            <a:off x="2514599" y="2959379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D70D580A-A331-36D0-D838-E5991E9E7A7E}"/>
              </a:ext>
            </a:extLst>
          </p:cNvPr>
          <p:cNvSpPr/>
          <p:nvPr/>
        </p:nvSpPr>
        <p:spPr bwMode="auto">
          <a:xfrm>
            <a:off x="2514598" y="2880511"/>
            <a:ext cx="910591" cy="829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1CDBBD31-3855-E7D7-5CDE-79ACFB0D8DCB}"/>
              </a:ext>
            </a:extLst>
          </p:cNvPr>
          <p:cNvSpPr txBox="1"/>
          <p:nvPr/>
        </p:nvSpPr>
        <p:spPr>
          <a:xfrm>
            <a:off x="2741682" y="4068522"/>
            <a:ext cx="4908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41A059A6-890E-86D8-1981-CD16F644C7EB}"/>
              </a:ext>
            </a:extLst>
          </p:cNvPr>
          <p:cNvSpPr txBox="1"/>
          <p:nvPr/>
        </p:nvSpPr>
        <p:spPr>
          <a:xfrm>
            <a:off x="2704011" y="3611228"/>
            <a:ext cx="5661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thread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3" name="직사각형 322">
            <a:extLst>
              <a:ext uri="{FF2B5EF4-FFF2-40B4-BE49-F238E27FC236}">
                <a16:creationId xmlns:a16="http://schemas.microsoft.com/office/drawing/2014/main" id="{038DAB27-E5D5-4AD8-7F2D-03A2FDE7DE30}"/>
              </a:ext>
            </a:extLst>
          </p:cNvPr>
          <p:cNvSpPr/>
          <p:nvPr/>
        </p:nvSpPr>
        <p:spPr bwMode="auto">
          <a:xfrm>
            <a:off x="2508543" y="3569986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5" name="직사각형 354">
            <a:extLst>
              <a:ext uri="{FF2B5EF4-FFF2-40B4-BE49-F238E27FC236}">
                <a16:creationId xmlns:a16="http://schemas.microsoft.com/office/drawing/2014/main" id="{F1858C36-868C-F34A-3CD5-26240D8AC0B8}"/>
              </a:ext>
            </a:extLst>
          </p:cNvPr>
          <p:cNvSpPr/>
          <p:nvPr/>
        </p:nvSpPr>
        <p:spPr bwMode="auto">
          <a:xfrm>
            <a:off x="2514599" y="5552572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6" name="직사각형 355">
            <a:extLst>
              <a:ext uri="{FF2B5EF4-FFF2-40B4-BE49-F238E27FC236}">
                <a16:creationId xmlns:a16="http://schemas.microsoft.com/office/drawing/2014/main" id="{99A1ECB9-3DD9-B837-4409-77310AFC1FB9}"/>
              </a:ext>
            </a:extLst>
          </p:cNvPr>
          <p:cNvSpPr/>
          <p:nvPr/>
        </p:nvSpPr>
        <p:spPr bwMode="auto">
          <a:xfrm>
            <a:off x="2514599" y="5473398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7" name="직사각형 356">
            <a:extLst>
              <a:ext uri="{FF2B5EF4-FFF2-40B4-BE49-F238E27FC236}">
                <a16:creationId xmlns:a16="http://schemas.microsoft.com/office/drawing/2014/main" id="{D63B32F4-D6E4-91C5-C280-69AD9AAD90D5}"/>
              </a:ext>
            </a:extLst>
          </p:cNvPr>
          <p:cNvSpPr/>
          <p:nvPr/>
        </p:nvSpPr>
        <p:spPr bwMode="auto">
          <a:xfrm>
            <a:off x="2514599" y="5393144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AB32359D-071E-17C9-FA62-79C91798FC70}"/>
              </a:ext>
            </a:extLst>
          </p:cNvPr>
          <p:cNvSpPr txBox="1"/>
          <p:nvPr/>
        </p:nvSpPr>
        <p:spPr>
          <a:xfrm>
            <a:off x="2419290" y="5601345"/>
            <a:ext cx="10887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.bss .code .data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1C03378C-699F-574A-F41C-E7119923314E}"/>
              </a:ext>
            </a:extLst>
          </p:cNvPr>
          <p:cNvSpPr txBox="1"/>
          <p:nvPr/>
        </p:nvSpPr>
        <p:spPr>
          <a:xfrm>
            <a:off x="3378039" y="5873602"/>
            <a:ext cx="43473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0x0</a:t>
            </a:r>
            <a:endParaRPr lang="ko-KR" altLang="en-US" sz="1050"/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747033B4-4E2B-C98E-DE04-4FF2AF4E2A26}"/>
              </a:ext>
            </a:extLst>
          </p:cNvPr>
          <p:cNvSpPr/>
          <p:nvPr/>
        </p:nvSpPr>
        <p:spPr bwMode="auto">
          <a:xfrm>
            <a:off x="3794089" y="5222505"/>
            <a:ext cx="908040" cy="6062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D04ECC02-C8F7-AEC1-7F6F-00459E13CFB2}"/>
              </a:ext>
            </a:extLst>
          </p:cNvPr>
          <p:cNvCxnSpPr/>
          <p:nvPr/>
        </p:nvCxnSpPr>
        <p:spPr bwMode="auto">
          <a:xfrm>
            <a:off x="3798942" y="5222505"/>
            <a:ext cx="0" cy="58314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3F386076-6CE0-FC6E-1392-A500705C6A6A}"/>
              </a:ext>
            </a:extLst>
          </p:cNvPr>
          <p:cNvCxnSpPr>
            <a:cxnSpLocks/>
          </p:cNvCxnSpPr>
          <p:nvPr/>
        </p:nvCxnSpPr>
        <p:spPr bwMode="auto">
          <a:xfrm flipH="1">
            <a:off x="3794089" y="5222505"/>
            <a:ext cx="9147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076D4074-56C1-422D-F576-BB124DCBC244}"/>
              </a:ext>
            </a:extLst>
          </p:cNvPr>
          <p:cNvCxnSpPr>
            <a:cxnSpLocks/>
          </p:cNvCxnSpPr>
          <p:nvPr/>
        </p:nvCxnSpPr>
        <p:spPr bwMode="auto">
          <a:xfrm flipV="1">
            <a:off x="4708819" y="5220433"/>
            <a:ext cx="0" cy="5676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58B503BA-EA33-DE1A-9952-ED46C89C898F}"/>
              </a:ext>
            </a:extLst>
          </p:cNvPr>
          <p:cNvSpPr txBox="1"/>
          <p:nvPr/>
        </p:nvSpPr>
        <p:spPr>
          <a:xfrm>
            <a:off x="3784680" y="5000707"/>
            <a:ext cx="9268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User stack</a:t>
            </a:r>
            <a:endParaRPr lang="ko-KR" altLang="en-US" sz="1100"/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D7A93A6D-F0F0-188D-F38D-42F8E11148F1}"/>
              </a:ext>
            </a:extLst>
          </p:cNvPr>
          <p:cNvSpPr/>
          <p:nvPr/>
        </p:nvSpPr>
        <p:spPr bwMode="auto">
          <a:xfrm>
            <a:off x="3991484" y="4351748"/>
            <a:ext cx="530606" cy="21032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C798C3B6-24B8-5BC2-A5AA-89F850D3B334}"/>
              </a:ext>
            </a:extLst>
          </p:cNvPr>
          <p:cNvCxnSpPr/>
          <p:nvPr/>
        </p:nvCxnSpPr>
        <p:spPr bwMode="auto">
          <a:xfrm flipH="1">
            <a:off x="4708819" y="2227885"/>
            <a:ext cx="21068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202" name="TextBox 201">
            <a:extLst>
              <a:ext uri="{FF2B5EF4-FFF2-40B4-BE49-F238E27FC236}">
                <a16:creationId xmlns:a16="http://schemas.microsoft.com/office/drawing/2014/main" id="{E6B7F15A-E7F6-8329-0171-C05467164CAE}"/>
              </a:ext>
            </a:extLst>
          </p:cNvPr>
          <p:cNvSpPr txBox="1"/>
          <p:nvPr/>
        </p:nvSpPr>
        <p:spPr>
          <a:xfrm>
            <a:off x="3998724" y="4302496"/>
            <a:ext cx="4299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esp</a:t>
            </a:r>
            <a:endParaRPr lang="ko-KR" altLang="en-US" sz="1100"/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1A0FE3B7-2620-2E7D-84C3-BDCC4E6EBF13}"/>
              </a:ext>
            </a:extLst>
          </p:cNvPr>
          <p:cNvCxnSpPr>
            <a:cxnSpLocks/>
          </p:cNvCxnSpPr>
          <p:nvPr/>
        </p:nvCxnSpPr>
        <p:spPr bwMode="auto">
          <a:xfrm>
            <a:off x="4461856" y="4454141"/>
            <a:ext cx="45765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4F727B45-9BC4-F232-AB2F-A01AD4FC90D8}"/>
              </a:ext>
            </a:extLst>
          </p:cNvPr>
          <p:cNvCxnSpPr>
            <a:cxnSpLocks/>
          </p:cNvCxnSpPr>
          <p:nvPr/>
        </p:nvCxnSpPr>
        <p:spPr bwMode="auto">
          <a:xfrm flipV="1">
            <a:off x="4919508" y="4454141"/>
            <a:ext cx="0" cy="129758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C7353A3D-94F9-7404-2920-1A3D42A9218D}"/>
              </a:ext>
            </a:extLst>
          </p:cNvPr>
          <p:cNvSpPr/>
          <p:nvPr/>
        </p:nvSpPr>
        <p:spPr bwMode="auto">
          <a:xfrm>
            <a:off x="3794089" y="2194864"/>
            <a:ext cx="908040" cy="6062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C1EB6DFA-7720-54C6-281E-6DC68C093D54}"/>
              </a:ext>
            </a:extLst>
          </p:cNvPr>
          <p:cNvCxnSpPr/>
          <p:nvPr/>
        </p:nvCxnSpPr>
        <p:spPr bwMode="auto">
          <a:xfrm>
            <a:off x="3798942" y="2194863"/>
            <a:ext cx="0" cy="58314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AB9247DE-B410-EF14-6877-C1B4295373B8}"/>
              </a:ext>
            </a:extLst>
          </p:cNvPr>
          <p:cNvCxnSpPr>
            <a:cxnSpLocks/>
          </p:cNvCxnSpPr>
          <p:nvPr/>
        </p:nvCxnSpPr>
        <p:spPr bwMode="auto">
          <a:xfrm flipH="1">
            <a:off x="3794089" y="2194863"/>
            <a:ext cx="9147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6809E1ED-4D77-4D35-B847-1DAFF8D802AE}"/>
              </a:ext>
            </a:extLst>
          </p:cNvPr>
          <p:cNvCxnSpPr>
            <a:cxnSpLocks/>
          </p:cNvCxnSpPr>
          <p:nvPr/>
        </p:nvCxnSpPr>
        <p:spPr bwMode="auto">
          <a:xfrm flipV="1">
            <a:off x="4708819" y="2192791"/>
            <a:ext cx="0" cy="5676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1" name="사각형: 둥근 모서리 390">
            <a:extLst>
              <a:ext uri="{FF2B5EF4-FFF2-40B4-BE49-F238E27FC236}">
                <a16:creationId xmlns:a16="http://schemas.microsoft.com/office/drawing/2014/main" id="{907D1815-FD6B-10D2-6752-EAA05D9251F1}"/>
              </a:ext>
            </a:extLst>
          </p:cNvPr>
          <p:cNvSpPr/>
          <p:nvPr/>
        </p:nvSpPr>
        <p:spPr bwMode="auto">
          <a:xfrm>
            <a:off x="1347556" y="4351748"/>
            <a:ext cx="530606" cy="210328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D33031E2-9143-5219-A8B3-01BF88E6CF59}"/>
              </a:ext>
            </a:extLst>
          </p:cNvPr>
          <p:cNvSpPr txBox="1"/>
          <p:nvPr/>
        </p:nvSpPr>
        <p:spPr>
          <a:xfrm>
            <a:off x="1336133" y="4302496"/>
            <a:ext cx="3946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eip</a:t>
            </a:r>
            <a:endParaRPr lang="ko-KR" altLang="en-US" sz="1100"/>
          </a:p>
        </p:txBody>
      </p: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22E3A96F-366F-DD43-534B-CAD16E0F86CD}"/>
              </a:ext>
            </a:extLst>
          </p:cNvPr>
          <p:cNvCxnSpPr>
            <a:cxnSpLocks/>
          </p:cNvCxnSpPr>
          <p:nvPr/>
        </p:nvCxnSpPr>
        <p:spPr bwMode="auto">
          <a:xfrm>
            <a:off x="1793240" y="4454141"/>
            <a:ext cx="45765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448" name="TextBox 447">
            <a:extLst>
              <a:ext uri="{FF2B5EF4-FFF2-40B4-BE49-F238E27FC236}">
                <a16:creationId xmlns:a16="http://schemas.microsoft.com/office/drawing/2014/main" id="{8C4848E2-301C-0CDB-237F-B4FEB73FC0E3}"/>
              </a:ext>
            </a:extLst>
          </p:cNvPr>
          <p:cNvSpPr txBox="1"/>
          <p:nvPr/>
        </p:nvSpPr>
        <p:spPr>
          <a:xfrm rot="16200000">
            <a:off x="697149" y="4363096"/>
            <a:ext cx="8034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registers</a:t>
            </a:r>
            <a:endParaRPr lang="ko-KR" altLang="en-US" sz="1100"/>
          </a:p>
        </p:txBody>
      </p:sp>
      <p:sp>
        <p:nvSpPr>
          <p:cNvPr id="453" name="자유형: 도형 452">
            <a:extLst>
              <a:ext uri="{FF2B5EF4-FFF2-40B4-BE49-F238E27FC236}">
                <a16:creationId xmlns:a16="http://schemas.microsoft.com/office/drawing/2014/main" id="{CBF10A1B-77FF-7E73-C35F-34D11735B59E}"/>
              </a:ext>
            </a:extLst>
          </p:cNvPr>
          <p:cNvSpPr/>
          <p:nvPr/>
        </p:nvSpPr>
        <p:spPr bwMode="auto">
          <a:xfrm>
            <a:off x="3435920" y="3215639"/>
            <a:ext cx="343600" cy="715213"/>
          </a:xfrm>
          <a:custGeom>
            <a:avLst/>
            <a:gdLst>
              <a:gd name="connsiteX0" fmla="*/ 0 w 350520"/>
              <a:gd name="connsiteY0" fmla="*/ 712470 h 712470"/>
              <a:gd name="connsiteX1" fmla="*/ 350520 w 350520"/>
              <a:gd name="connsiteY1" fmla="*/ 0 h 712470"/>
              <a:gd name="connsiteX2" fmla="*/ 350520 w 350520"/>
              <a:gd name="connsiteY2" fmla="*/ 605790 h 712470"/>
              <a:gd name="connsiteX3" fmla="*/ 0 w 350520"/>
              <a:gd name="connsiteY3" fmla="*/ 712470 h 712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" h="712470">
                <a:moveTo>
                  <a:pt x="0" y="712470"/>
                </a:moveTo>
                <a:lnTo>
                  <a:pt x="350520" y="0"/>
                </a:lnTo>
                <a:lnTo>
                  <a:pt x="350520" y="605790"/>
                </a:lnTo>
                <a:lnTo>
                  <a:pt x="0" y="71247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60E90261-951C-01C7-9AA8-9142EADE06D2}"/>
              </a:ext>
            </a:extLst>
          </p:cNvPr>
          <p:cNvSpPr/>
          <p:nvPr/>
        </p:nvSpPr>
        <p:spPr bwMode="auto">
          <a:xfrm>
            <a:off x="3770955" y="3229637"/>
            <a:ext cx="809786" cy="5948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8B7D6326-CE84-3AC8-566D-CD854D63A3C9}"/>
              </a:ext>
            </a:extLst>
          </p:cNvPr>
          <p:cNvGrpSpPr/>
          <p:nvPr/>
        </p:nvGrpSpPr>
        <p:grpSpPr>
          <a:xfrm>
            <a:off x="3819467" y="3192115"/>
            <a:ext cx="713543" cy="261610"/>
            <a:chOff x="2817194" y="5105175"/>
            <a:chExt cx="512183" cy="261610"/>
          </a:xfrm>
        </p:grpSpPr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13146F6A-12FA-9014-FBD4-DFEB27D04E0C}"/>
                </a:ext>
              </a:extLst>
            </p:cNvPr>
            <p:cNvSpPr/>
            <p:nvPr/>
          </p:nvSpPr>
          <p:spPr bwMode="auto">
            <a:xfrm>
              <a:off x="2817194" y="5181053"/>
              <a:ext cx="512183" cy="1310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A7FB1DB-E9D3-D994-5A22-E3D0840E3DCA}"/>
                </a:ext>
              </a:extLst>
            </p:cNvPr>
            <p:cNvSpPr txBox="1"/>
            <p:nvPr/>
          </p:nvSpPr>
          <p:spPr>
            <a:xfrm>
              <a:off x="2858322" y="5105175"/>
              <a:ext cx="4299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esp0</a:t>
              </a:r>
              <a:endParaRPr lang="ko-KR" altLang="en-US" sz="1100"/>
            </a:p>
          </p:txBody>
        </p: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FCD7FF5A-9411-3AFC-FF0F-0472DB401A4A}"/>
              </a:ext>
            </a:extLst>
          </p:cNvPr>
          <p:cNvGrpSpPr/>
          <p:nvPr/>
        </p:nvGrpSpPr>
        <p:grpSpPr>
          <a:xfrm>
            <a:off x="3819467" y="3365331"/>
            <a:ext cx="713543" cy="261610"/>
            <a:chOff x="2817194" y="5105175"/>
            <a:chExt cx="512183" cy="261610"/>
          </a:xfrm>
        </p:grpSpPr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D4713187-1EFC-DEF2-3624-1FF532A808E9}"/>
                </a:ext>
              </a:extLst>
            </p:cNvPr>
            <p:cNvSpPr/>
            <p:nvPr/>
          </p:nvSpPr>
          <p:spPr bwMode="auto">
            <a:xfrm>
              <a:off x="2817194" y="5181053"/>
              <a:ext cx="512183" cy="1310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D97ABA24-3E8C-C13A-CB2B-B45DAF347E57}"/>
                </a:ext>
              </a:extLst>
            </p:cNvPr>
            <p:cNvSpPr txBox="1"/>
            <p:nvPr/>
          </p:nvSpPr>
          <p:spPr>
            <a:xfrm>
              <a:off x="2858322" y="5105175"/>
              <a:ext cx="4299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ss0</a:t>
              </a:r>
              <a:endParaRPr lang="ko-KR" altLang="en-US" sz="1100"/>
            </a:p>
          </p:txBody>
        </p:sp>
      </p:grpSp>
      <p:sp>
        <p:nvSpPr>
          <p:cNvPr id="423" name="TextBox 422">
            <a:extLst>
              <a:ext uri="{FF2B5EF4-FFF2-40B4-BE49-F238E27FC236}">
                <a16:creationId xmlns:a16="http://schemas.microsoft.com/office/drawing/2014/main" id="{52BE383D-5FBF-AE20-AB54-5F1A9CFCF734}"/>
              </a:ext>
            </a:extLst>
          </p:cNvPr>
          <p:cNvSpPr txBox="1"/>
          <p:nvPr/>
        </p:nvSpPr>
        <p:spPr>
          <a:xfrm>
            <a:off x="3695398" y="3011932"/>
            <a:ext cx="4635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TSS</a:t>
            </a:r>
            <a:endParaRPr lang="ko-KR" altLang="en-US" sz="1100"/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7B93D147-5D5E-B03A-990D-39306EDBEB9A}"/>
              </a:ext>
            </a:extLst>
          </p:cNvPr>
          <p:cNvGrpSpPr/>
          <p:nvPr/>
        </p:nvGrpSpPr>
        <p:grpSpPr>
          <a:xfrm>
            <a:off x="3819467" y="3546011"/>
            <a:ext cx="713543" cy="261610"/>
            <a:chOff x="2817194" y="5105175"/>
            <a:chExt cx="512183" cy="261610"/>
          </a:xfrm>
        </p:grpSpPr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11DB02CA-A19D-B0DD-993A-5F5AB85A1E9B}"/>
                </a:ext>
              </a:extLst>
            </p:cNvPr>
            <p:cNvSpPr/>
            <p:nvPr/>
          </p:nvSpPr>
          <p:spPr bwMode="auto">
            <a:xfrm>
              <a:off x="2817194" y="5181053"/>
              <a:ext cx="512183" cy="1310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8834E014-FF90-9E1E-C4A6-35E9700E4B6F}"/>
                </a:ext>
              </a:extLst>
            </p:cNvPr>
            <p:cNvSpPr txBox="1"/>
            <p:nvPr/>
          </p:nvSpPr>
          <p:spPr>
            <a:xfrm>
              <a:off x="2858322" y="5105175"/>
              <a:ext cx="4299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...</a:t>
              </a:r>
              <a:endParaRPr lang="ko-KR" altLang="en-US" sz="1100"/>
            </a:p>
          </p:txBody>
        </p:sp>
      </p:grpSp>
      <p:sp>
        <p:nvSpPr>
          <p:cNvPr id="454" name="자유형: 도형 453">
            <a:extLst>
              <a:ext uri="{FF2B5EF4-FFF2-40B4-BE49-F238E27FC236}">
                <a16:creationId xmlns:a16="http://schemas.microsoft.com/office/drawing/2014/main" id="{475E0E6A-ED19-49E8-A118-9CDE42846070}"/>
              </a:ext>
            </a:extLst>
          </p:cNvPr>
          <p:cNvSpPr/>
          <p:nvPr/>
        </p:nvSpPr>
        <p:spPr bwMode="auto">
          <a:xfrm flipH="1">
            <a:off x="2164943" y="3215639"/>
            <a:ext cx="343600" cy="715213"/>
          </a:xfrm>
          <a:custGeom>
            <a:avLst/>
            <a:gdLst>
              <a:gd name="connsiteX0" fmla="*/ 0 w 350520"/>
              <a:gd name="connsiteY0" fmla="*/ 712470 h 712470"/>
              <a:gd name="connsiteX1" fmla="*/ 350520 w 350520"/>
              <a:gd name="connsiteY1" fmla="*/ 0 h 712470"/>
              <a:gd name="connsiteX2" fmla="*/ 350520 w 350520"/>
              <a:gd name="connsiteY2" fmla="*/ 605790 h 712470"/>
              <a:gd name="connsiteX3" fmla="*/ 0 w 350520"/>
              <a:gd name="connsiteY3" fmla="*/ 712470 h 712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" h="712470">
                <a:moveTo>
                  <a:pt x="0" y="712470"/>
                </a:moveTo>
                <a:lnTo>
                  <a:pt x="350520" y="0"/>
                </a:lnTo>
                <a:lnTo>
                  <a:pt x="350520" y="605790"/>
                </a:lnTo>
                <a:lnTo>
                  <a:pt x="0" y="71247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6DD64142-772B-40B9-5609-6A2F65B704B1}"/>
              </a:ext>
            </a:extLst>
          </p:cNvPr>
          <p:cNvSpPr txBox="1"/>
          <p:nvPr/>
        </p:nvSpPr>
        <p:spPr>
          <a:xfrm>
            <a:off x="3726834" y="1964489"/>
            <a:ext cx="10599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Kernel stack</a:t>
            </a:r>
            <a:endParaRPr lang="ko-KR" altLang="en-US" sz="1100"/>
          </a:p>
        </p:txBody>
      </p:sp>
      <p:sp>
        <p:nvSpPr>
          <p:cNvPr id="412" name="직사각형 411">
            <a:extLst>
              <a:ext uri="{FF2B5EF4-FFF2-40B4-BE49-F238E27FC236}">
                <a16:creationId xmlns:a16="http://schemas.microsoft.com/office/drawing/2014/main" id="{39BAF176-7DF4-88E3-D5CE-B6A0247487CD}"/>
              </a:ext>
            </a:extLst>
          </p:cNvPr>
          <p:cNvSpPr/>
          <p:nvPr/>
        </p:nvSpPr>
        <p:spPr bwMode="auto">
          <a:xfrm>
            <a:off x="1354469" y="3231014"/>
            <a:ext cx="809786" cy="5948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507D1D7B-10FE-7012-BF0C-BE62A391729E}"/>
              </a:ext>
            </a:extLst>
          </p:cNvPr>
          <p:cNvSpPr txBox="1"/>
          <p:nvPr/>
        </p:nvSpPr>
        <p:spPr>
          <a:xfrm>
            <a:off x="1302843" y="301330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IDT</a:t>
            </a:r>
            <a:endParaRPr lang="ko-KR" altLang="en-US" sz="1100"/>
          </a:p>
        </p:txBody>
      </p:sp>
      <p:sp>
        <p:nvSpPr>
          <p:cNvPr id="425" name="직사각형 424">
            <a:extLst>
              <a:ext uri="{FF2B5EF4-FFF2-40B4-BE49-F238E27FC236}">
                <a16:creationId xmlns:a16="http://schemas.microsoft.com/office/drawing/2014/main" id="{B979EA3C-E1F0-CA5E-7CFA-7273518C24FD}"/>
              </a:ext>
            </a:extLst>
          </p:cNvPr>
          <p:cNvSpPr/>
          <p:nvPr/>
        </p:nvSpPr>
        <p:spPr bwMode="auto">
          <a:xfrm>
            <a:off x="1414764" y="3529246"/>
            <a:ext cx="698146" cy="236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427" name="직선 연결선 426">
            <a:extLst>
              <a:ext uri="{FF2B5EF4-FFF2-40B4-BE49-F238E27FC236}">
                <a16:creationId xmlns:a16="http://schemas.microsoft.com/office/drawing/2014/main" id="{93F61594-9807-96E0-5F39-E5A56516BFF8}"/>
              </a:ext>
            </a:extLst>
          </p:cNvPr>
          <p:cNvCxnSpPr>
            <a:cxnSpLocks/>
            <a:stCxn id="425" idx="1"/>
          </p:cNvCxnSpPr>
          <p:nvPr/>
        </p:nvCxnSpPr>
        <p:spPr bwMode="auto">
          <a:xfrm>
            <a:off x="1414764" y="3647526"/>
            <a:ext cx="31714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2" name="직선 연결선 431">
            <a:extLst>
              <a:ext uri="{FF2B5EF4-FFF2-40B4-BE49-F238E27FC236}">
                <a16:creationId xmlns:a16="http://schemas.microsoft.com/office/drawing/2014/main" id="{3155162A-C769-9A3B-D8F3-713C59ED856A}"/>
              </a:ext>
            </a:extLst>
          </p:cNvPr>
          <p:cNvCxnSpPr>
            <a:cxnSpLocks/>
          </p:cNvCxnSpPr>
          <p:nvPr/>
        </p:nvCxnSpPr>
        <p:spPr bwMode="auto">
          <a:xfrm>
            <a:off x="1795764" y="3647526"/>
            <a:ext cx="31714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3" name="직선 연결선 432">
            <a:extLst>
              <a:ext uri="{FF2B5EF4-FFF2-40B4-BE49-F238E27FC236}">
                <a16:creationId xmlns:a16="http://schemas.microsoft.com/office/drawing/2014/main" id="{5802AB41-7B3F-EC90-80D1-4933950862FC}"/>
              </a:ext>
            </a:extLst>
          </p:cNvPr>
          <p:cNvCxnSpPr>
            <a:cxnSpLocks/>
          </p:cNvCxnSpPr>
          <p:nvPr/>
        </p:nvCxnSpPr>
        <p:spPr bwMode="auto">
          <a:xfrm flipV="1">
            <a:off x="1731910" y="3647526"/>
            <a:ext cx="0" cy="1182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9" name="직선 연결선 438">
            <a:extLst>
              <a:ext uri="{FF2B5EF4-FFF2-40B4-BE49-F238E27FC236}">
                <a16:creationId xmlns:a16="http://schemas.microsoft.com/office/drawing/2014/main" id="{30AA879C-A0D4-117F-2D01-2A22C7988D24}"/>
              </a:ext>
            </a:extLst>
          </p:cNvPr>
          <p:cNvCxnSpPr>
            <a:cxnSpLocks/>
          </p:cNvCxnSpPr>
          <p:nvPr/>
        </p:nvCxnSpPr>
        <p:spPr bwMode="auto">
          <a:xfrm flipV="1">
            <a:off x="1799574" y="3531711"/>
            <a:ext cx="0" cy="1182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64" name="직사각형 463">
            <a:extLst>
              <a:ext uri="{FF2B5EF4-FFF2-40B4-BE49-F238E27FC236}">
                <a16:creationId xmlns:a16="http://schemas.microsoft.com/office/drawing/2014/main" id="{5B91AD25-BF15-C739-8731-A19C3F4EC479}"/>
              </a:ext>
            </a:extLst>
          </p:cNvPr>
          <p:cNvSpPr/>
          <p:nvPr/>
        </p:nvSpPr>
        <p:spPr bwMode="auto">
          <a:xfrm>
            <a:off x="3803485" y="5222058"/>
            <a:ext cx="908040" cy="2616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6F9A65EE-9716-1560-9A67-EF9EDC65E42F}"/>
              </a:ext>
            </a:extLst>
          </p:cNvPr>
          <p:cNvCxnSpPr>
            <a:cxnSpLocks/>
          </p:cNvCxnSpPr>
          <p:nvPr/>
        </p:nvCxnSpPr>
        <p:spPr bwMode="auto">
          <a:xfrm>
            <a:off x="4475711" y="3331491"/>
            <a:ext cx="4417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oval" w="med" len="med"/>
            <a:tailEnd type="none" w="med" len="med"/>
          </a:ln>
          <a:effectLst/>
        </p:spPr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6FDE617D-FEE2-C1D1-04DE-0C778CEF3449}"/>
              </a:ext>
            </a:extLst>
          </p:cNvPr>
          <p:cNvCxnSpPr>
            <a:cxnSpLocks/>
          </p:cNvCxnSpPr>
          <p:nvPr/>
        </p:nvCxnSpPr>
        <p:spPr bwMode="auto">
          <a:xfrm flipV="1">
            <a:off x="4918710" y="2227885"/>
            <a:ext cx="798" cy="10830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66" name="TextBox 465">
            <a:extLst>
              <a:ext uri="{FF2B5EF4-FFF2-40B4-BE49-F238E27FC236}">
                <a16:creationId xmlns:a16="http://schemas.microsoft.com/office/drawing/2014/main" id="{EAD9D044-25D9-B3FA-5B54-D33D4B0D0FF0}"/>
              </a:ext>
            </a:extLst>
          </p:cNvPr>
          <p:cNvSpPr txBox="1"/>
          <p:nvPr/>
        </p:nvSpPr>
        <p:spPr>
          <a:xfrm>
            <a:off x="1337198" y="3317608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0x30</a:t>
            </a:r>
            <a:endParaRPr lang="ko-KR" altLang="en-US" sz="1100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6D524302-E847-59FD-F99C-DCCBF29DE42E}"/>
              </a:ext>
            </a:extLst>
          </p:cNvPr>
          <p:cNvCxnSpPr/>
          <p:nvPr/>
        </p:nvCxnSpPr>
        <p:spPr bwMode="auto">
          <a:xfrm flipH="1">
            <a:off x="4708819" y="5751723"/>
            <a:ext cx="21068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8C371B-C7F1-8DBE-ED70-0A0CF7A6E882}"/>
              </a:ext>
            </a:extLst>
          </p:cNvPr>
          <p:cNvSpPr/>
          <p:nvPr/>
        </p:nvSpPr>
        <p:spPr bwMode="auto">
          <a:xfrm>
            <a:off x="3803473" y="5473398"/>
            <a:ext cx="908040" cy="140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1D057A-6C73-506C-C041-2B8271A5DE76}"/>
              </a:ext>
            </a:extLst>
          </p:cNvPr>
          <p:cNvSpPr/>
          <p:nvPr/>
        </p:nvSpPr>
        <p:spPr bwMode="auto">
          <a:xfrm>
            <a:off x="3803473" y="5612796"/>
            <a:ext cx="908040" cy="140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C162F7-A1F3-2145-EA37-4BB63B0C7B8D}"/>
              </a:ext>
            </a:extLst>
          </p:cNvPr>
          <p:cNvSpPr txBox="1"/>
          <p:nvPr/>
        </p:nvSpPr>
        <p:spPr>
          <a:xfrm>
            <a:off x="4010566" y="5391042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args</a:t>
            </a:r>
            <a:endParaRPr lang="ko-KR" altLang="en-US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2CBF93-E178-4090-962D-852ACD7B27AE}"/>
              </a:ext>
            </a:extLst>
          </p:cNvPr>
          <p:cNvSpPr txBox="1"/>
          <p:nvPr/>
        </p:nvSpPr>
        <p:spPr>
          <a:xfrm>
            <a:off x="3845456" y="5536158"/>
            <a:ext cx="8226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sys_num</a:t>
            </a:r>
            <a:endParaRPr lang="ko-KR" altLang="en-US" sz="11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99A1D8A-A685-6B22-1326-0538107E6644}"/>
              </a:ext>
            </a:extLst>
          </p:cNvPr>
          <p:cNvSpPr/>
          <p:nvPr/>
        </p:nvSpPr>
        <p:spPr bwMode="auto">
          <a:xfrm>
            <a:off x="1355526" y="4590731"/>
            <a:ext cx="757384" cy="210328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AB5831-CCF6-192B-5229-9B878484B553}"/>
              </a:ext>
            </a:extLst>
          </p:cNvPr>
          <p:cNvSpPr txBox="1"/>
          <p:nvPr/>
        </p:nvSpPr>
        <p:spPr>
          <a:xfrm>
            <a:off x="1329555" y="4565269"/>
            <a:ext cx="8177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cs.dpl=0</a:t>
            </a:r>
            <a:endParaRPr lang="ko-KR" altLang="en-US" sz="11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E4EC905-C173-493B-593D-215FD99A1FC6}"/>
              </a:ext>
            </a:extLst>
          </p:cNvPr>
          <p:cNvCxnSpPr>
            <a:cxnSpLocks/>
          </p:cNvCxnSpPr>
          <p:nvPr/>
        </p:nvCxnSpPr>
        <p:spPr bwMode="auto">
          <a:xfrm>
            <a:off x="1793240" y="4454141"/>
            <a:ext cx="45765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9FB32AA-EA12-196A-A587-000691A910B2}"/>
              </a:ext>
            </a:extLst>
          </p:cNvPr>
          <p:cNvCxnSpPr>
            <a:cxnSpLocks/>
          </p:cNvCxnSpPr>
          <p:nvPr/>
        </p:nvCxnSpPr>
        <p:spPr bwMode="auto">
          <a:xfrm>
            <a:off x="2257024" y="3962400"/>
            <a:ext cx="0" cy="49174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2B0E41A-6965-AC14-8CC3-0A6F1CAE51D9}"/>
              </a:ext>
            </a:extLst>
          </p:cNvPr>
          <p:cNvCxnSpPr>
            <a:cxnSpLocks/>
          </p:cNvCxnSpPr>
          <p:nvPr/>
        </p:nvCxnSpPr>
        <p:spPr bwMode="auto">
          <a:xfrm>
            <a:off x="1878162" y="3704921"/>
            <a:ext cx="0" cy="406375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48DE0D-2A86-ECE3-A263-4694FF2CDB12}"/>
              </a:ext>
            </a:extLst>
          </p:cNvPr>
          <p:cNvCxnSpPr>
            <a:cxnSpLocks/>
          </p:cNvCxnSpPr>
          <p:nvPr/>
        </p:nvCxnSpPr>
        <p:spPr bwMode="auto">
          <a:xfrm flipV="1">
            <a:off x="1600200" y="4089109"/>
            <a:ext cx="0" cy="258101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98285B2-E90A-E47A-70CB-8DB94E20A83F}"/>
              </a:ext>
            </a:extLst>
          </p:cNvPr>
          <p:cNvCxnSpPr>
            <a:cxnSpLocks/>
          </p:cNvCxnSpPr>
          <p:nvPr/>
        </p:nvCxnSpPr>
        <p:spPr bwMode="auto">
          <a:xfrm>
            <a:off x="1600200" y="4092188"/>
            <a:ext cx="284437" cy="0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89573F6-998B-F6B3-16DF-984B4ECE0EAC}"/>
              </a:ext>
            </a:extLst>
          </p:cNvPr>
          <p:cNvCxnSpPr>
            <a:cxnSpLocks/>
          </p:cNvCxnSpPr>
          <p:nvPr/>
        </p:nvCxnSpPr>
        <p:spPr bwMode="auto">
          <a:xfrm flipH="1">
            <a:off x="914400" y="3704921"/>
            <a:ext cx="609600" cy="0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3387396-2A31-5C6D-1E5F-C68A42D9A7ED}"/>
              </a:ext>
            </a:extLst>
          </p:cNvPr>
          <p:cNvCxnSpPr>
            <a:cxnSpLocks/>
          </p:cNvCxnSpPr>
          <p:nvPr/>
        </p:nvCxnSpPr>
        <p:spPr bwMode="auto">
          <a:xfrm flipV="1">
            <a:off x="914400" y="3704921"/>
            <a:ext cx="0" cy="1295786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B2B6183-032B-043E-6E8E-AAA60A19507B}"/>
              </a:ext>
            </a:extLst>
          </p:cNvPr>
          <p:cNvCxnSpPr>
            <a:cxnSpLocks/>
          </p:cNvCxnSpPr>
          <p:nvPr/>
        </p:nvCxnSpPr>
        <p:spPr bwMode="auto">
          <a:xfrm>
            <a:off x="914400" y="5000707"/>
            <a:ext cx="685800" cy="0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6B4591C-E37B-2C63-1939-D5D805045754}"/>
              </a:ext>
            </a:extLst>
          </p:cNvPr>
          <p:cNvCxnSpPr>
            <a:cxnSpLocks/>
          </p:cNvCxnSpPr>
          <p:nvPr/>
        </p:nvCxnSpPr>
        <p:spPr bwMode="auto">
          <a:xfrm flipV="1">
            <a:off x="1600200" y="4793723"/>
            <a:ext cx="0" cy="206984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B1DEAC1-0994-5B37-6C51-E50E9538B710}"/>
              </a:ext>
            </a:extLst>
          </p:cNvPr>
          <p:cNvCxnSpPr>
            <a:cxnSpLocks/>
          </p:cNvCxnSpPr>
          <p:nvPr/>
        </p:nvCxnSpPr>
        <p:spPr bwMode="auto">
          <a:xfrm>
            <a:off x="2253896" y="3962400"/>
            <a:ext cx="26126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Rectangle 3">
            <a:extLst>
              <a:ext uri="{FF2B5EF4-FFF2-40B4-BE49-F238E27FC236}">
                <a16:creationId xmlns:a16="http://schemas.microsoft.com/office/drawing/2014/main" id="{2F11D2C8-2B0F-BA36-8F5C-BB5B68346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455" y="2959379"/>
            <a:ext cx="3423950" cy="84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600">
                <a:solidFill>
                  <a:srgbClr val="0000FF"/>
                </a:solidFill>
              </a:rPr>
              <a:t>EIP </a:t>
            </a:r>
            <a:r>
              <a:rPr lang="en-US" altLang="ko-KR" sz="1600"/>
              <a:t>is set to the interrupt handler address, and </a:t>
            </a:r>
            <a:r>
              <a:rPr lang="en-US" altLang="ko-KR" sz="1600">
                <a:solidFill>
                  <a:srgbClr val="0000FF"/>
                </a:solidFill>
              </a:rPr>
              <a:t>CPL</a:t>
            </a:r>
            <a:r>
              <a:rPr lang="en-US" altLang="ko-KR" sz="1600"/>
              <a:t> is promoted to 0.</a:t>
            </a:r>
            <a:endParaRPr lang="en-US" altLang="ko-KR" sz="12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latinLnBrk="1"/>
            <a:endParaRPr lang="en-US" altLang="ko-KR" sz="1600" ker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10088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F8829-E977-10E7-058D-0E8D73EE3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직사각형 450">
            <a:extLst>
              <a:ext uri="{FF2B5EF4-FFF2-40B4-BE49-F238E27FC236}">
                <a16:creationId xmlns:a16="http://schemas.microsoft.com/office/drawing/2014/main" id="{A648E981-B778-1B4C-92C5-4F5E6EC3E0F0}"/>
              </a:ext>
            </a:extLst>
          </p:cNvPr>
          <p:cNvSpPr/>
          <p:nvPr/>
        </p:nvSpPr>
        <p:spPr bwMode="auto">
          <a:xfrm>
            <a:off x="-520" y="2069008"/>
            <a:ext cx="9144000" cy="195973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47" name="사각형: 둥근 모서리 446">
            <a:extLst>
              <a:ext uri="{FF2B5EF4-FFF2-40B4-BE49-F238E27FC236}">
                <a16:creationId xmlns:a16="http://schemas.microsoft.com/office/drawing/2014/main" id="{2204261F-C8FF-E453-ADF2-F8BC60C8B077}"/>
              </a:ext>
            </a:extLst>
          </p:cNvPr>
          <p:cNvSpPr/>
          <p:nvPr/>
        </p:nvSpPr>
        <p:spPr bwMode="auto">
          <a:xfrm>
            <a:off x="1222759" y="4301109"/>
            <a:ext cx="3423948" cy="54554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86" name="자유형: 도형 385">
            <a:extLst>
              <a:ext uri="{FF2B5EF4-FFF2-40B4-BE49-F238E27FC236}">
                <a16:creationId xmlns:a16="http://schemas.microsoft.com/office/drawing/2014/main" id="{C8C2EB64-1735-3249-DA1A-61A8C3367CC2}"/>
              </a:ext>
            </a:extLst>
          </p:cNvPr>
          <p:cNvSpPr/>
          <p:nvPr/>
        </p:nvSpPr>
        <p:spPr bwMode="auto">
          <a:xfrm>
            <a:off x="3413760" y="4034789"/>
            <a:ext cx="392430" cy="1812131"/>
          </a:xfrm>
          <a:custGeom>
            <a:avLst/>
            <a:gdLst>
              <a:gd name="connsiteX0" fmla="*/ 0 w 392430"/>
              <a:gd name="connsiteY0" fmla="*/ 72390 h 1771650"/>
              <a:gd name="connsiteX1" fmla="*/ 392430 w 392430"/>
              <a:gd name="connsiteY1" fmla="*/ 1771650 h 1771650"/>
              <a:gd name="connsiteX2" fmla="*/ 392430 w 392430"/>
              <a:gd name="connsiteY2" fmla="*/ 1196340 h 1771650"/>
              <a:gd name="connsiteX3" fmla="*/ 15240 w 392430"/>
              <a:gd name="connsiteY3" fmla="*/ 0 h 1771650"/>
              <a:gd name="connsiteX4" fmla="*/ 0 w 392430"/>
              <a:gd name="connsiteY4" fmla="*/ 7239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2430" h="1771650">
                <a:moveTo>
                  <a:pt x="0" y="72390"/>
                </a:moveTo>
                <a:lnTo>
                  <a:pt x="392430" y="1771650"/>
                </a:lnTo>
                <a:lnTo>
                  <a:pt x="392430" y="1196340"/>
                </a:lnTo>
                <a:lnTo>
                  <a:pt x="15240" y="0"/>
                </a:lnTo>
                <a:lnTo>
                  <a:pt x="0" y="7239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AF7B5F-D3E2-5EEB-8075-8912C5972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/>
              <a:t>Mode Switch for System Call (4/5)</a:t>
            </a:r>
            <a:endParaRPr lang="ko-KR" altLang="en-US" sz="2800"/>
          </a:p>
        </p:txBody>
      </p:sp>
      <p:sp>
        <p:nvSpPr>
          <p:cNvPr id="311" name="직사각형 310">
            <a:extLst>
              <a:ext uri="{FF2B5EF4-FFF2-40B4-BE49-F238E27FC236}">
                <a16:creationId xmlns:a16="http://schemas.microsoft.com/office/drawing/2014/main" id="{51606EB1-F4C0-9C40-8592-F811E4877E36}"/>
              </a:ext>
            </a:extLst>
          </p:cNvPr>
          <p:cNvSpPr/>
          <p:nvPr/>
        </p:nvSpPr>
        <p:spPr bwMode="auto">
          <a:xfrm>
            <a:off x="2508798" y="2066034"/>
            <a:ext cx="914400" cy="3962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DF1E5007-FCE5-1A7A-51C2-9D1E9F36A9C5}"/>
              </a:ext>
            </a:extLst>
          </p:cNvPr>
          <p:cNvSpPr txBox="1"/>
          <p:nvPr/>
        </p:nvSpPr>
        <p:spPr>
          <a:xfrm>
            <a:off x="2093876" y="1774292"/>
            <a:ext cx="17395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Virtual Addr Space</a:t>
            </a:r>
            <a:endParaRPr lang="ko-KR" altLang="en-US" sz="1100"/>
          </a:p>
        </p:txBody>
      </p:sp>
      <p:grpSp>
        <p:nvGrpSpPr>
          <p:cNvPr id="313" name="그룹 312">
            <a:extLst>
              <a:ext uri="{FF2B5EF4-FFF2-40B4-BE49-F238E27FC236}">
                <a16:creationId xmlns:a16="http://schemas.microsoft.com/office/drawing/2014/main" id="{E657CD64-F7BC-FEA6-0931-0531EEA36217}"/>
              </a:ext>
            </a:extLst>
          </p:cNvPr>
          <p:cNvGrpSpPr/>
          <p:nvPr/>
        </p:nvGrpSpPr>
        <p:grpSpPr>
          <a:xfrm>
            <a:off x="3278893" y="4068504"/>
            <a:ext cx="311304" cy="325565"/>
            <a:chOff x="7612939" y="4068504"/>
            <a:chExt cx="311304" cy="325565"/>
          </a:xfrm>
        </p:grpSpPr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A06F8B03-19BD-CFC8-B404-AD31EC1A1B08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EA0BB046-E07F-A606-101E-9ECAC1541E08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316" name="그룹 315">
            <a:extLst>
              <a:ext uri="{FF2B5EF4-FFF2-40B4-BE49-F238E27FC236}">
                <a16:creationId xmlns:a16="http://schemas.microsoft.com/office/drawing/2014/main" id="{E5BF29A0-64B7-69F9-493F-816804F9E906}"/>
              </a:ext>
            </a:extLst>
          </p:cNvPr>
          <p:cNvGrpSpPr/>
          <p:nvPr/>
        </p:nvGrpSpPr>
        <p:grpSpPr>
          <a:xfrm>
            <a:off x="2355139" y="4068504"/>
            <a:ext cx="311304" cy="325565"/>
            <a:chOff x="7612939" y="4068504"/>
            <a:chExt cx="311304" cy="325565"/>
          </a:xfrm>
        </p:grpSpPr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B49D3B18-B1B7-0E5B-62CC-2213868745A7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D81DC455-2421-70E2-5891-06CECA39BEE8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319" name="그룹 318">
            <a:extLst>
              <a:ext uri="{FF2B5EF4-FFF2-40B4-BE49-F238E27FC236}">
                <a16:creationId xmlns:a16="http://schemas.microsoft.com/office/drawing/2014/main" id="{51796563-DB29-C28D-1894-8C248986855D}"/>
              </a:ext>
            </a:extLst>
          </p:cNvPr>
          <p:cNvGrpSpPr/>
          <p:nvPr/>
        </p:nvGrpSpPr>
        <p:grpSpPr>
          <a:xfrm>
            <a:off x="3269539" y="2046753"/>
            <a:ext cx="311304" cy="325565"/>
            <a:chOff x="7612939" y="4068504"/>
            <a:chExt cx="311304" cy="325565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0202499-0E86-484C-EFC1-E6BA25E5F2CA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F4BE5737-C0AF-3BCC-F91C-311F6E47ED6F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C00F328F-A32E-96F6-9431-6759A0F09C5C}"/>
              </a:ext>
            </a:extLst>
          </p:cNvPr>
          <p:cNvGrpSpPr/>
          <p:nvPr/>
        </p:nvGrpSpPr>
        <p:grpSpPr>
          <a:xfrm>
            <a:off x="2355139" y="2046753"/>
            <a:ext cx="311304" cy="325565"/>
            <a:chOff x="7612939" y="4068504"/>
            <a:chExt cx="311304" cy="325565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1C01BF03-8575-FC7C-E32F-5011C320FF44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41429CB-71A6-8AF7-FAE7-179ED3C78676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F9863A8E-188D-78C9-158C-C343EF5326B8}"/>
              </a:ext>
            </a:extLst>
          </p:cNvPr>
          <p:cNvSpPr/>
          <p:nvPr/>
        </p:nvSpPr>
        <p:spPr bwMode="auto">
          <a:xfrm>
            <a:off x="2515159" y="2492999"/>
            <a:ext cx="914400" cy="15366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24F02A5F-E7BD-8D10-9716-6F035F7C2834}"/>
              </a:ext>
            </a:extLst>
          </p:cNvPr>
          <p:cNvSpPr/>
          <p:nvPr/>
        </p:nvSpPr>
        <p:spPr bwMode="auto">
          <a:xfrm>
            <a:off x="2514600" y="3185651"/>
            <a:ext cx="910591" cy="7008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BC860417-ECB6-613F-4B44-E95B12F9D65C}"/>
              </a:ext>
            </a:extLst>
          </p:cNvPr>
          <p:cNvSpPr/>
          <p:nvPr/>
        </p:nvSpPr>
        <p:spPr bwMode="auto">
          <a:xfrm>
            <a:off x="2514600" y="2494054"/>
            <a:ext cx="910591" cy="70086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9" name="Rectangle 3">
            <a:extLst>
              <a:ext uri="{FF2B5EF4-FFF2-40B4-BE49-F238E27FC236}">
                <a16:creationId xmlns:a16="http://schemas.microsoft.com/office/drawing/2014/main" id="{C585F874-2693-9908-B55B-D9E4AAB7F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455" y="1774292"/>
            <a:ext cx="3423950" cy="1754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600"/>
              <a:t>Arguments and the system call number are placed on the user stack.</a:t>
            </a:r>
          </a:p>
          <a:p>
            <a:pPr latinLnBrk="1"/>
            <a:r>
              <a:rPr lang="en-US" altLang="ko-KR" sz="1600"/>
              <a:t>And ‘int 0x30’ is invoked. </a:t>
            </a:r>
            <a:endParaRPr lang="en-US" altLang="ko-KR" sz="1200"/>
          </a:p>
          <a:p>
            <a:pPr marL="471487" lvl="1" indent="0" latinLnBrk="1">
              <a:buNone/>
            </a:pPr>
            <a:endParaRPr lang="en-US" altLang="ko-KR" sz="12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latinLnBrk="1"/>
            <a:endParaRPr lang="en-US" altLang="ko-KR" sz="1600" kern="0">
              <a:latin typeface="+mj-lt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6020312-808F-2E90-902A-B88D4B8EB1E2}"/>
              </a:ext>
            </a:extLst>
          </p:cNvPr>
          <p:cNvSpPr txBox="1"/>
          <p:nvPr/>
        </p:nvSpPr>
        <p:spPr>
          <a:xfrm rot="16200000">
            <a:off x="-308675" y="2859480"/>
            <a:ext cx="15872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/>
              <a:t>Kernel V-Addr Space</a:t>
            </a:r>
            <a:endParaRPr lang="ko-KR" altLang="en-US" sz="1050"/>
          </a:p>
        </p:txBody>
      </p:sp>
      <p:sp>
        <p:nvSpPr>
          <p:cNvPr id="111" name="오른쪽 중괄호 110">
            <a:extLst>
              <a:ext uri="{FF2B5EF4-FFF2-40B4-BE49-F238E27FC236}">
                <a16:creationId xmlns:a16="http://schemas.microsoft.com/office/drawing/2014/main" id="{2395F6EF-6A1E-F5E5-83D1-A28C424CC908}"/>
              </a:ext>
            </a:extLst>
          </p:cNvPr>
          <p:cNvSpPr/>
          <p:nvPr/>
        </p:nvSpPr>
        <p:spPr bwMode="auto">
          <a:xfrm rot="10800000">
            <a:off x="583646" y="2054154"/>
            <a:ext cx="119789" cy="1965783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8C6B43F-C0D5-5C72-3DFA-4507BBF96441}"/>
              </a:ext>
            </a:extLst>
          </p:cNvPr>
          <p:cNvSpPr txBox="1"/>
          <p:nvPr/>
        </p:nvSpPr>
        <p:spPr>
          <a:xfrm rot="16200000">
            <a:off x="-245356" y="4894437"/>
            <a:ext cx="14606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/>
              <a:t>User V-Addr Space</a:t>
            </a:r>
            <a:endParaRPr lang="ko-KR" altLang="en-US" sz="1050"/>
          </a:p>
        </p:txBody>
      </p:sp>
      <p:sp>
        <p:nvSpPr>
          <p:cNvPr id="113" name="오른쪽 중괄호 112">
            <a:extLst>
              <a:ext uri="{FF2B5EF4-FFF2-40B4-BE49-F238E27FC236}">
                <a16:creationId xmlns:a16="http://schemas.microsoft.com/office/drawing/2014/main" id="{DEEC4646-2A87-BD89-76B0-E7600B4C2F2C}"/>
              </a:ext>
            </a:extLst>
          </p:cNvPr>
          <p:cNvSpPr/>
          <p:nvPr/>
        </p:nvSpPr>
        <p:spPr bwMode="auto">
          <a:xfrm rot="10800000">
            <a:off x="583646" y="4041543"/>
            <a:ext cx="119789" cy="1965783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1167C854-AD2A-75AF-1ABA-FA38FE911A8B}"/>
              </a:ext>
            </a:extLst>
          </p:cNvPr>
          <p:cNvSpPr/>
          <p:nvPr/>
        </p:nvSpPr>
        <p:spPr bwMode="auto">
          <a:xfrm>
            <a:off x="2514599" y="4028360"/>
            <a:ext cx="910591" cy="829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D6D3C0EF-5A37-CAA0-C8EE-FCBB3E6EB9E4}"/>
              </a:ext>
            </a:extLst>
          </p:cNvPr>
          <p:cNvSpPr/>
          <p:nvPr/>
        </p:nvSpPr>
        <p:spPr bwMode="auto">
          <a:xfrm>
            <a:off x="2514599" y="3118807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89FFFE90-A5CE-C4F7-EDAF-4A2ECAC89830}"/>
              </a:ext>
            </a:extLst>
          </p:cNvPr>
          <p:cNvSpPr/>
          <p:nvPr/>
        </p:nvSpPr>
        <p:spPr bwMode="auto">
          <a:xfrm>
            <a:off x="2514599" y="3039633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A63FC8E4-DA11-5FEC-532F-0E6A61AAC24D}"/>
              </a:ext>
            </a:extLst>
          </p:cNvPr>
          <p:cNvSpPr/>
          <p:nvPr/>
        </p:nvSpPr>
        <p:spPr bwMode="auto">
          <a:xfrm>
            <a:off x="2514599" y="2959379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0839D87A-7F9F-2092-7E82-561A47924236}"/>
              </a:ext>
            </a:extLst>
          </p:cNvPr>
          <p:cNvSpPr/>
          <p:nvPr/>
        </p:nvSpPr>
        <p:spPr bwMode="auto">
          <a:xfrm>
            <a:off x="2514598" y="2880511"/>
            <a:ext cx="910591" cy="829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48EE00FA-4C57-E9B8-A4A7-6602389BEEB5}"/>
              </a:ext>
            </a:extLst>
          </p:cNvPr>
          <p:cNvSpPr txBox="1"/>
          <p:nvPr/>
        </p:nvSpPr>
        <p:spPr>
          <a:xfrm>
            <a:off x="2741682" y="4068522"/>
            <a:ext cx="4908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FE5DEAEB-C50E-D17F-8A26-E865CB8229CF}"/>
              </a:ext>
            </a:extLst>
          </p:cNvPr>
          <p:cNvSpPr txBox="1"/>
          <p:nvPr/>
        </p:nvSpPr>
        <p:spPr>
          <a:xfrm>
            <a:off x="2704011" y="3611228"/>
            <a:ext cx="5661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thread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3" name="직사각형 322">
            <a:extLst>
              <a:ext uri="{FF2B5EF4-FFF2-40B4-BE49-F238E27FC236}">
                <a16:creationId xmlns:a16="http://schemas.microsoft.com/office/drawing/2014/main" id="{4B239E40-9683-4A2B-124F-BE00E4D0070C}"/>
              </a:ext>
            </a:extLst>
          </p:cNvPr>
          <p:cNvSpPr/>
          <p:nvPr/>
        </p:nvSpPr>
        <p:spPr bwMode="auto">
          <a:xfrm>
            <a:off x="2508543" y="3569986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5" name="직사각형 354">
            <a:extLst>
              <a:ext uri="{FF2B5EF4-FFF2-40B4-BE49-F238E27FC236}">
                <a16:creationId xmlns:a16="http://schemas.microsoft.com/office/drawing/2014/main" id="{13AD48CA-CF88-47C4-70BD-E786755477F8}"/>
              </a:ext>
            </a:extLst>
          </p:cNvPr>
          <p:cNvSpPr/>
          <p:nvPr/>
        </p:nvSpPr>
        <p:spPr bwMode="auto">
          <a:xfrm>
            <a:off x="2514599" y="5552572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6" name="직사각형 355">
            <a:extLst>
              <a:ext uri="{FF2B5EF4-FFF2-40B4-BE49-F238E27FC236}">
                <a16:creationId xmlns:a16="http://schemas.microsoft.com/office/drawing/2014/main" id="{0E9467C4-1FDB-6F26-6641-38D8934958A3}"/>
              </a:ext>
            </a:extLst>
          </p:cNvPr>
          <p:cNvSpPr/>
          <p:nvPr/>
        </p:nvSpPr>
        <p:spPr bwMode="auto">
          <a:xfrm>
            <a:off x="2514599" y="5473398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7" name="직사각형 356">
            <a:extLst>
              <a:ext uri="{FF2B5EF4-FFF2-40B4-BE49-F238E27FC236}">
                <a16:creationId xmlns:a16="http://schemas.microsoft.com/office/drawing/2014/main" id="{6DDEA681-4D78-B380-DCE3-5933131B96EE}"/>
              </a:ext>
            </a:extLst>
          </p:cNvPr>
          <p:cNvSpPr/>
          <p:nvPr/>
        </p:nvSpPr>
        <p:spPr bwMode="auto">
          <a:xfrm>
            <a:off x="2514599" y="5393144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8EE3904E-A8EA-9CBE-3146-F1EC28266B12}"/>
              </a:ext>
            </a:extLst>
          </p:cNvPr>
          <p:cNvSpPr txBox="1"/>
          <p:nvPr/>
        </p:nvSpPr>
        <p:spPr>
          <a:xfrm>
            <a:off x="2419290" y="5601345"/>
            <a:ext cx="10887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.bss .code .data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F0A49149-8AA4-E374-58E7-B978B389A35C}"/>
              </a:ext>
            </a:extLst>
          </p:cNvPr>
          <p:cNvSpPr txBox="1"/>
          <p:nvPr/>
        </p:nvSpPr>
        <p:spPr>
          <a:xfrm>
            <a:off x="3378039" y="5873602"/>
            <a:ext cx="43473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0x0</a:t>
            </a:r>
            <a:endParaRPr lang="ko-KR" altLang="en-US" sz="1050"/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4C3A4868-4DEE-3EC1-F011-830435043300}"/>
              </a:ext>
            </a:extLst>
          </p:cNvPr>
          <p:cNvSpPr/>
          <p:nvPr/>
        </p:nvSpPr>
        <p:spPr bwMode="auto">
          <a:xfrm>
            <a:off x="3794089" y="5222505"/>
            <a:ext cx="908040" cy="6062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4E9BE52D-BC4C-63B3-84D1-53B7860FB524}"/>
              </a:ext>
            </a:extLst>
          </p:cNvPr>
          <p:cNvCxnSpPr/>
          <p:nvPr/>
        </p:nvCxnSpPr>
        <p:spPr bwMode="auto">
          <a:xfrm>
            <a:off x="3798942" y="5222505"/>
            <a:ext cx="0" cy="58314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7CC6F147-CD6D-37B3-9D80-43908907A3C7}"/>
              </a:ext>
            </a:extLst>
          </p:cNvPr>
          <p:cNvCxnSpPr>
            <a:cxnSpLocks/>
          </p:cNvCxnSpPr>
          <p:nvPr/>
        </p:nvCxnSpPr>
        <p:spPr bwMode="auto">
          <a:xfrm flipH="1">
            <a:off x="3794089" y="5222505"/>
            <a:ext cx="9147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784FEE88-9910-6CA5-AD26-BF685F9C1200}"/>
              </a:ext>
            </a:extLst>
          </p:cNvPr>
          <p:cNvCxnSpPr>
            <a:cxnSpLocks/>
          </p:cNvCxnSpPr>
          <p:nvPr/>
        </p:nvCxnSpPr>
        <p:spPr bwMode="auto">
          <a:xfrm flipV="1">
            <a:off x="4708819" y="5220433"/>
            <a:ext cx="0" cy="5676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BD467C87-8E3B-1782-70C9-3FBC00B82C89}"/>
              </a:ext>
            </a:extLst>
          </p:cNvPr>
          <p:cNvSpPr txBox="1"/>
          <p:nvPr/>
        </p:nvSpPr>
        <p:spPr>
          <a:xfrm>
            <a:off x="3784680" y="5000707"/>
            <a:ext cx="9268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User stack</a:t>
            </a:r>
            <a:endParaRPr lang="ko-KR" altLang="en-US" sz="1100"/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B461D154-CFDE-95B8-A4BD-A17DCA53232A}"/>
              </a:ext>
            </a:extLst>
          </p:cNvPr>
          <p:cNvSpPr/>
          <p:nvPr/>
        </p:nvSpPr>
        <p:spPr bwMode="auto">
          <a:xfrm>
            <a:off x="3991484" y="4351748"/>
            <a:ext cx="530606" cy="210328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C39025F9-C76D-50FD-B873-9D3F5FCAF522}"/>
              </a:ext>
            </a:extLst>
          </p:cNvPr>
          <p:cNvSpPr txBox="1"/>
          <p:nvPr/>
        </p:nvSpPr>
        <p:spPr>
          <a:xfrm>
            <a:off x="3998724" y="4302496"/>
            <a:ext cx="4299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esp</a:t>
            </a:r>
            <a:endParaRPr lang="ko-KR" altLang="en-US" sz="1100"/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4CBC720C-9F17-FC79-282D-3E031492D1D4}"/>
              </a:ext>
            </a:extLst>
          </p:cNvPr>
          <p:cNvCxnSpPr>
            <a:cxnSpLocks/>
          </p:cNvCxnSpPr>
          <p:nvPr/>
        </p:nvCxnSpPr>
        <p:spPr bwMode="auto">
          <a:xfrm>
            <a:off x="4461856" y="4454141"/>
            <a:ext cx="45765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F29AC45B-0F77-A44E-FAA9-88958D7721C1}"/>
              </a:ext>
            </a:extLst>
          </p:cNvPr>
          <p:cNvCxnSpPr>
            <a:cxnSpLocks/>
          </p:cNvCxnSpPr>
          <p:nvPr/>
        </p:nvCxnSpPr>
        <p:spPr bwMode="auto">
          <a:xfrm>
            <a:off x="4919508" y="2760481"/>
            <a:ext cx="0" cy="16936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C2FB756E-EBA9-47D8-4264-CD7553A90F9C}"/>
              </a:ext>
            </a:extLst>
          </p:cNvPr>
          <p:cNvSpPr/>
          <p:nvPr/>
        </p:nvSpPr>
        <p:spPr bwMode="auto">
          <a:xfrm>
            <a:off x="3794089" y="2217199"/>
            <a:ext cx="908040" cy="60620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D9069E73-8907-93ED-7F7B-BCF1C609CE91}"/>
              </a:ext>
            </a:extLst>
          </p:cNvPr>
          <p:cNvCxnSpPr/>
          <p:nvPr/>
        </p:nvCxnSpPr>
        <p:spPr bwMode="auto">
          <a:xfrm>
            <a:off x="3798942" y="2194863"/>
            <a:ext cx="0" cy="58314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574F4EFF-EFDC-0C21-C450-ABB3FAEEC3DB}"/>
              </a:ext>
            </a:extLst>
          </p:cNvPr>
          <p:cNvCxnSpPr>
            <a:cxnSpLocks/>
          </p:cNvCxnSpPr>
          <p:nvPr/>
        </p:nvCxnSpPr>
        <p:spPr bwMode="auto">
          <a:xfrm flipH="1">
            <a:off x="3794089" y="2194863"/>
            <a:ext cx="9147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D844CCAA-F9F8-9900-44B8-5DFDA30EA58A}"/>
              </a:ext>
            </a:extLst>
          </p:cNvPr>
          <p:cNvCxnSpPr>
            <a:cxnSpLocks/>
          </p:cNvCxnSpPr>
          <p:nvPr/>
        </p:nvCxnSpPr>
        <p:spPr bwMode="auto">
          <a:xfrm flipV="1">
            <a:off x="4708819" y="2192791"/>
            <a:ext cx="0" cy="5676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1" name="사각형: 둥근 모서리 390">
            <a:extLst>
              <a:ext uri="{FF2B5EF4-FFF2-40B4-BE49-F238E27FC236}">
                <a16:creationId xmlns:a16="http://schemas.microsoft.com/office/drawing/2014/main" id="{7F071C63-7006-CE48-651C-03722DDCFE75}"/>
              </a:ext>
            </a:extLst>
          </p:cNvPr>
          <p:cNvSpPr/>
          <p:nvPr/>
        </p:nvSpPr>
        <p:spPr bwMode="auto">
          <a:xfrm>
            <a:off x="1347556" y="4351748"/>
            <a:ext cx="530606" cy="21032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3F69C58A-AE22-0A6C-98CE-83F6F8CF4C1A}"/>
              </a:ext>
            </a:extLst>
          </p:cNvPr>
          <p:cNvSpPr txBox="1"/>
          <p:nvPr/>
        </p:nvSpPr>
        <p:spPr>
          <a:xfrm>
            <a:off x="1336133" y="4302496"/>
            <a:ext cx="3946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eip</a:t>
            </a:r>
            <a:endParaRPr lang="ko-KR" altLang="en-US" sz="1100"/>
          </a:p>
        </p:txBody>
      </p: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B7006E95-E6DE-5B47-1187-31C6FCD01522}"/>
              </a:ext>
            </a:extLst>
          </p:cNvPr>
          <p:cNvCxnSpPr>
            <a:cxnSpLocks/>
          </p:cNvCxnSpPr>
          <p:nvPr/>
        </p:nvCxnSpPr>
        <p:spPr bwMode="auto">
          <a:xfrm>
            <a:off x="1793240" y="4454141"/>
            <a:ext cx="45765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E9EFB55B-9D01-2951-B148-6BCB690B4759}"/>
              </a:ext>
            </a:extLst>
          </p:cNvPr>
          <p:cNvCxnSpPr>
            <a:cxnSpLocks/>
          </p:cNvCxnSpPr>
          <p:nvPr/>
        </p:nvCxnSpPr>
        <p:spPr bwMode="auto">
          <a:xfrm>
            <a:off x="2257024" y="3962400"/>
            <a:ext cx="0" cy="49174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8" name="직선 화살표 연결선 397">
            <a:extLst>
              <a:ext uri="{FF2B5EF4-FFF2-40B4-BE49-F238E27FC236}">
                <a16:creationId xmlns:a16="http://schemas.microsoft.com/office/drawing/2014/main" id="{70DFA266-D152-C2AF-360D-B6F6505448BF}"/>
              </a:ext>
            </a:extLst>
          </p:cNvPr>
          <p:cNvCxnSpPr>
            <a:cxnSpLocks/>
          </p:cNvCxnSpPr>
          <p:nvPr/>
        </p:nvCxnSpPr>
        <p:spPr bwMode="auto">
          <a:xfrm>
            <a:off x="2253896" y="3962400"/>
            <a:ext cx="26126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8" name="TextBox 447">
            <a:extLst>
              <a:ext uri="{FF2B5EF4-FFF2-40B4-BE49-F238E27FC236}">
                <a16:creationId xmlns:a16="http://schemas.microsoft.com/office/drawing/2014/main" id="{16D36E40-121D-76E6-3577-7E9DF8EA4E19}"/>
              </a:ext>
            </a:extLst>
          </p:cNvPr>
          <p:cNvSpPr txBox="1"/>
          <p:nvPr/>
        </p:nvSpPr>
        <p:spPr>
          <a:xfrm rot="16200000">
            <a:off x="697149" y="4363096"/>
            <a:ext cx="8034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registers</a:t>
            </a:r>
            <a:endParaRPr lang="ko-KR" altLang="en-US" sz="1100"/>
          </a:p>
        </p:txBody>
      </p:sp>
      <p:sp>
        <p:nvSpPr>
          <p:cNvPr id="453" name="자유형: 도형 452">
            <a:extLst>
              <a:ext uri="{FF2B5EF4-FFF2-40B4-BE49-F238E27FC236}">
                <a16:creationId xmlns:a16="http://schemas.microsoft.com/office/drawing/2014/main" id="{2BD23CF6-C703-EC80-A889-9CF926380AB2}"/>
              </a:ext>
            </a:extLst>
          </p:cNvPr>
          <p:cNvSpPr/>
          <p:nvPr/>
        </p:nvSpPr>
        <p:spPr bwMode="auto">
          <a:xfrm>
            <a:off x="3435920" y="3215639"/>
            <a:ext cx="343600" cy="715213"/>
          </a:xfrm>
          <a:custGeom>
            <a:avLst/>
            <a:gdLst>
              <a:gd name="connsiteX0" fmla="*/ 0 w 350520"/>
              <a:gd name="connsiteY0" fmla="*/ 712470 h 712470"/>
              <a:gd name="connsiteX1" fmla="*/ 350520 w 350520"/>
              <a:gd name="connsiteY1" fmla="*/ 0 h 712470"/>
              <a:gd name="connsiteX2" fmla="*/ 350520 w 350520"/>
              <a:gd name="connsiteY2" fmla="*/ 605790 h 712470"/>
              <a:gd name="connsiteX3" fmla="*/ 0 w 350520"/>
              <a:gd name="connsiteY3" fmla="*/ 712470 h 712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" h="712470">
                <a:moveTo>
                  <a:pt x="0" y="712470"/>
                </a:moveTo>
                <a:lnTo>
                  <a:pt x="350520" y="0"/>
                </a:lnTo>
                <a:lnTo>
                  <a:pt x="350520" y="605790"/>
                </a:lnTo>
                <a:lnTo>
                  <a:pt x="0" y="71247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EF35B397-C680-D3F0-FC26-4A382DADBDD6}"/>
              </a:ext>
            </a:extLst>
          </p:cNvPr>
          <p:cNvSpPr/>
          <p:nvPr/>
        </p:nvSpPr>
        <p:spPr bwMode="auto">
          <a:xfrm>
            <a:off x="3770955" y="3229637"/>
            <a:ext cx="809786" cy="5948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D4776F6E-8DBF-F953-8753-111C96254ADF}"/>
              </a:ext>
            </a:extLst>
          </p:cNvPr>
          <p:cNvGrpSpPr/>
          <p:nvPr/>
        </p:nvGrpSpPr>
        <p:grpSpPr>
          <a:xfrm>
            <a:off x="3819467" y="3192115"/>
            <a:ext cx="713543" cy="261610"/>
            <a:chOff x="2817194" y="5105175"/>
            <a:chExt cx="512183" cy="261610"/>
          </a:xfrm>
        </p:grpSpPr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172ACE5B-7A9F-7F9F-EC12-8DCADC462426}"/>
                </a:ext>
              </a:extLst>
            </p:cNvPr>
            <p:cNvSpPr/>
            <p:nvPr/>
          </p:nvSpPr>
          <p:spPr bwMode="auto">
            <a:xfrm>
              <a:off x="2817194" y="5181053"/>
              <a:ext cx="512183" cy="1310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79B6044F-554B-5094-530F-9950CDCE70B5}"/>
                </a:ext>
              </a:extLst>
            </p:cNvPr>
            <p:cNvSpPr txBox="1"/>
            <p:nvPr/>
          </p:nvSpPr>
          <p:spPr>
            <a:xfrm>
              <a:off x="2858322" y="5105175"/>
              <a:ext cx="4299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esp0</a:t>
              </a:r>
              <a:endParaRPr lang="ko-KR" altLang="en-US" sz="1100"/>
            </a:p>
          </p:txBody>
        </p: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F9EC2E3D-2184-DF0C-3585-070A82D569E9}"/>
              </a:ext>
            </a:extLst>
          </p:cNvPr>
          <p:cNvGrpSpPr/>
          <p:nvPr/>
        </p:nvGrpSpPr>
        <p:grpSpPr>
          <a:xfrm>
            <a:off x="3819467" y="3365331"/>
            <a:ext cx="713543" cy="261610"/>
            <a:chOff x="2817194" y="5105175"/>
            <a:chExt cx="512183" cy="261610"/>
          </a:xfrm>
        </p:grpSpPr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FAD8F6ED-CA23-05B7-1285-BC02101E8C41}"/>
                </a:ext>
              </a:extLst>
            </p:cNvPr>
            <p:cNvSpPr/>
            <p:nvPr/>
          </p:nvSpPr>
          <p:spPr bwMode="auto">
            <a:xfrm>
              <a:off x="2817194" y="5181053"/>
              <a:ext cx="512183" cy="1310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E0524A31-D859-9599-2B6C-F3259AE14597}"/>
                </a:ext>
              </a:extLst>
            </p:cNvPr>
            <p:cNvSpPr txBox="1"/>
            <p:nvPr/>
          </p:nvSpPr>
          <p:spPr>
            <a:xfrm>
              <a:off x="2858322" y="5105175"/>
              <a:ext cx="4299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ss0</a:t>
              </a:r>
              <a:endParaRPr lang="ko-KR" altLang="en-US" sz="1100"/>
            </a:p>
          </p:txBody>
        </p:sp>
      </p:grpSp>
      <p:sp>
        <p:nvSpPr>
          <p:cNvPr id="423" name="TextBox 422">
            <a:extLst>
              <a:ext uri="{FF2B5EF4-FFF2-40B4-BE49-F238E27FC236}">
                <a16:creationId xmlns:a16="http://schemas.microsoft.com/office/drawing/2014/main" id="{919D5546-5E18-EDC9-8CC8-4FB4AC67715E}"/>
              </a:ext>
            </a:extLst>
          </p:cNvPr>
          <p:cNvSpPr txBox="1"/>
          <p:nvPr/>
        </p:nvSpPr>
        <p:spPr>
          <a:xfrm>
            <a:off x="3695398" y="3011932"/>
            <a:ext cx="4635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TSS</a:t>
            </a:r>
            <a:endParaRPr lang="ko-KR" altLang="en-US" sz="1100"/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4D83EDF8-17D9-C8E5-E4AA-F823003A859A}"/>
              </a:ext>
            </a:extLst>
          </p:cNvPr>
          <p:cNvGrpSpPr/>
          <p:nvPr/>
        </p:nvGrpSpPr>
        <p:grpSpPr>
          <a:xfrm>
            <a:off x="3819467" y="3546011"/>
            <a:ext cx="713543" cy="261610"/>
            <a:chOff x="2817194" y="5105175"/>
            <a:chExt cx="512183" cy="261610"/>
          </a:xfrm>
        </p:grpSpPr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08093E73-BB53-2AB8-D74A-4EC77217C1B8}"/>
                </a:ext>
              </a:extLst>
            </p:cNvPr>
            <p:cNvSpPr/>
            <p:nvPr/>
          </p:nvSpPr>
          <p:spPr bwMode="auto">
            <a:xfrm>
              <a:off x="2817194" y="5181053"/>
              <a:ext cx="512183" cy="1310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286B5403-95C3-AFC2-F854-C5FDEA5E6765}"/>
                </a:ext>
              </a:extLst>
            </p:cNvPr>
            <p:cNvSpPr txBox="1"/>
            <p:nvPr/>
          </p:nvSpPr>
          <p:spPr>
            <a:xfrm>
              <a:off x="2858322" y="5105175"/>
              <a:ext cx="4299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...</a:t>
              </a:r>
              <a:endParaRPr lang="ko-KR" altLang="en-US" sz="1100"/>
            </a:p>
          </p:txBody>
        </p:sp>
      </p:grpSp>
      <p:sp>
        <p:nvSpPr>
          <p:cNvPr id="454" name="자유형: 도형 453">
            <a:extLst>
              <a:ext uri="{FF2B5EF4-FFF2-40B4-BE49-F238E27FC236}">
                <a16:creationId xmlns:a16="http://schemas.microsoft.com/office/drawing/2014/main" id="{037B8235-1A8F-4B9D-B9DB-90D8884587A2}"/>
              </a:ext>
            </a:extLst>
          </p:cNvPr>
          <p:cNvSpPr/>
          <p:nvPr/>
        </p:nvSpPr>
        <p:spPr bwMode="auto">
          <a:xfrm flipH="1">
            <a:off x="2164943" y="3215639"/>
            <a:ext cx="343600" cy="715213"/>
          </a:xfrm>
          <a:custGeom>
            <a:avLst/>
            <a:gdLst>
              <a:gd name="connsiteX0" fmla="*/ 0 w 350520"/>
              <a:gd name="connsiteY0" fmla="*/ 712470 h 712470"/>
              <a:gd name="connsiteX1" fmla="*/ 350520 w 350520"/>
              <a:gd name="connsiteY1" fmla="*/ 0 h 712470"/>
              <a:gd name="connsiteX2" fmla="*/ 350520 w 350520"/>
              <a:gd name="connsiteY2" fmla="*/ 605790 h 712470"/>
              <a:gd name="connsiteX3" fmla="*/ 0 w 350520"/>
              <a:gd name="connsiteY3" fmla="*/ 712470 h 712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" h="712470">
                <a:moveTo>
                  <a:pt x="0" y="712470"/>
                </a:moveTo>
                <a:lnTo>
                  <a:pt x="350520" y="0"/>
                </a:lnTo>
                <a:lnTo>
                  <a:pt x="350520" y="605790"/>
                </a:lnTo>
                <a:lnTo>
                  <a:pt x="0" y="71247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781BCF43-2EFC-0C33-3103-ABD501F6361F}"/>
              </a:ext>
            </a:extLst>
          </p:cNvPr>
          <p:cNvSpPr txBox="1"/>
          <p:nvPr/>
        </p:nvSpPr>
        <p:spPr>
          <a:xfrm>
            <a:off x="3726834" y="1964489"/>
            <a:ext cx="10599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Kernel stack</a:t>
            </a:r>
            <a:endParaRPr lang="ko-KR" altLang="en-US" sz="1100"/>
          </a:p>
        </p:txBody>
      </p:sp>
      <p:sp>
        <p:nvSpPr>
          <p:cNvPr id="412" name="직사각형 411">
            <a:extLst>
              <a:ext uri="{FF2B5EF4-FFF2-40B4-BE49-F238E27FC236}">
                <a16:creationId xmlns:a16="http://schemas.microsoft.com/office/drawing/2014/main" id="{963D7E23-9BE3-904D-B6F6-7A88994FA07D}"/>
              </a:ext>
            </a:extLst>
          </p:cNvPr>
          <p:cNvSpPr/>
          <p:nvPr/>
        </p:nvSpPr>
        <p:spPr bwMode="auto">
          <a:xfrm>
            <a:off x="1354469" y="3231014"/>
            <a:ext cx="809786" cy="5948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28125D8E-14F2-BF97-E8D3-56176C7C80F5}"/>
              </a:ext>
            </a:extLst>
          </p:cNvPr>
          <p:cNvSpPr txBox="1"/>
          <p:nvPr/>
        </p:nvSpPr>
        <p:spPr>
          <a:xfrm>
            <a:off x="1302843" y="301330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IDT</a:t>
            </a:r>
            <a:endParaRPr lang="ko-KR" altLang="en-US" sz="1100"/>
          </a:p>
        </p:txBody>
      </p:sp>
      <p:sp>
        <p:nvSpPr>
          <p:cNvPr id="425" name="직사각형 424">
            <a:extLst>
              <a:ext uri="{FF2B5EF4-FFF2-40B4-BE49-F238E27FC236}">
                <a16:creationId xmlns:a16="http://schemas.microsoft.com/office/drawing/2014/main" id="{E0120485-8974-04AD-E829-B573E39A8559}"/>
              </a:ext>
            </a:extLst>
          </p:cNvPr>
          <p:cNvSpPr/>
          <p:nvPr/>
        </p:nvSpPr>
        <p:spPr bwMode="auto">
          <a:xfrm>
            <a:off x="1414764" y="3529246"/>
            <a:ext cx="698146" cy="236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427" name="직선 연결선 426">
            <a:extLst>
              <a:ext uri="{FF2B5EF4-FFF2-40B4-BE49-F238E27FC236}">
                <a16:creationId xmlns:a16="http://schemas.microsoft.com/office/drawing/2014/main" id="{845FCD35-71DA-0764-6608-AA06934444FB}"/>
              </a:ext>
            </a:extLst>
          </p:cNvPr>
          <p:cNvCxnSpPr>
            <a:cxnSpLocks/>
            <a:stCxn id="425" idx="1"/>
          </p:cNvCxnSpPr>
          <p:nvPr/>
        </p:nvCxnSpPr>
        <p:spPr bwMode="auto">
          <a:xfrm>
            <a:off x="1414764" y="3647526"/>
            <a:ext cx="31714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2" name="직선 연결선 431">
            <a:extLst>
              <a:ext uri="{FF2B5EF4-FFF2-40B4-BE49-F238E27FC236}">
                <a16:creationId xmlns:a16="http://schemas.microsoft.com/office/drawing/2014/main" id="{1BBB5C1F-2D2C-A376-3CAA-136C69ACDAF2}"/>
              </a:ext>
            </a:extLst>
          </p:cNvPr>
          <p:cNvCxnSpPr>
            <a:cxnSpLocks/>
          </p:cNvCxnSpPr>
          <p:nvPr/>
        </p:nvCxnSpPr>
        <p:spPr bwMode="auto">
          <a:xfrm>
            <a:off x="1795764" y="3647526"/>
            <a:ext cx="31714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3" name="직선 연결선 432">
            <a:extLst>
              <a:ext uri="{FF2B5EF4-FFF2-40B4-BE49-F238E27FC236}">
                <a16:creationId xmlns:a16="http://schemas.microsoft.com/office/drawing/2014/main" id="{4278CE2B-D3CB-ED5A-5880-D2254A0B806C}"/>
              </a:ext>
            </a:extLst>
          </p:cNvPr>
          <p:cNvCxnSpPr>
            <a:cxnSpLocks/>
          </p:cNvCxnSpPr>
          <p:nvPr/>
        </p:nvCxnSpPr>
        <p:spPr bwMode="auto">
          <a:xfrm flipV="1">
            <a:off x="1731910" y="3647526"/>
            <a:ext cx="0" cy="1182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9" name="직선 연결선 438">
            <a:extLst>
              <a:ext uri="{FF2B5EF4-FFF2-40B4-BE49-F238E27FC236}">
                <a16:creationId xmlns:a16="http://schemas.microsoft.com/office/drawing/2014/main" id="{4C9B447B-8720-7845-B277-584AE1483E5E}"/>
              </a:ext>
            </a:extLst>
          </p:cNvPr>
          <p:cNvCxnSpPr>
            <a:cxnSpLocks/>
          </p:cNvCxnSpPr>
          <p:nvPr/>
        </p:nvCxnSpPr>
        <p:spPr bwMode="auto">
          <a:xfrm flipV="1">
            <a:off x="1799574" y="3531711"/>
            <a:ext cx="0" cy="1182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0" name="직선 연결선 439">
            <a:extLst>
              <a:ext uri="{FF2B5EF4-FFF2-40B4-BE49-F238E27FC236}">
                <a16:creationId xmlns:a16="http://schemas.microsoft.com/office/drawing/2014/main" id="{14F73002-35C0-B264-88FE-5E5A8D491E26}"/>
              </a:ext>
            </a:extLst>
          </p:cNvPr>
          <p:cNvCxnSpPr>
            <a:cxnSpLocks/>
          </p:cNvCxnSpPr>
          <p:nvPr/>
        </p:nvCxnSpPr>
        <p:spPr bwMode="auto">
          <a:xfrm>
            <a:off x="1878162" y="3704921"/>
            <a:ext cx="0" cy="406375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460" name="직선 연결선 459">
            <a:extLst>
              <a:ext uri="{FF2B5EF4-FFF2-40B4-BE49-F238E27FC236}">
                <a16:creationId xmlns:a16="http://schemas.microsoft.com/office/drawing/2014/main" id="{39C2230E-BD24-F735-CAC4-2898F794E349}"/>
              </a:ext>
            </a:extLst>
          </p:cNvPr>
          <p:cNvCxnSpPr>
            <a:cxnSpLocks/>
          </p:cNvCxnSpPr>
          <p:nvPr/>
        </p:nvCxnSpPr>
        <p:spPr bwMode="auto">
          <a:xfrm flipV="1">
            <a:off x="1600200" y="4089109"/>
            <a:ext cx="0" cy="258101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64" name="직사각형 463">
            <a:extLst>
              <a:ext uri="{FF2B5EF4-FFF2-40B4-BE49-F238E27FC236}">
                <a16:creationId xmlns:a16="http://schemas.microsoft.com/office/drawing/2014/main" id="{F8B24948-FF95-29C0-2883-44734DC0BC32}"/>
              </a:ext>
            </a:extLst>
          </p:cNvPr>
          <p:cNvSpPr/>
          <p:nvPr/>
        </p:nvSpPr>
        <p:spPr bwMode="auto">
          <a:xfrm>
            <a:off x="3803485" y="5222058"/>
            <a:ext cx="908040" cy="2616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2E8E039B-5E22-7505-375B-DA8526C78FD1}"/>
              </a:ext>
            </a:extLst>
          </p:cNvPr>
          <p:cNvCxnSpPr>
            <a:cxnSpLocks/>
          </p:cNvCxnSpPr>
          <p:nvPr/>
        </p:nvCxnSpPr>
        <p:spPr bwMode="auto">
          <a:xfrm>
            <a:off x="4449994" y="3331491"/>
            <a:ext cx="0" cy="760697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466" name="TextBox 465">
            <a:extLst>
              <a:ext uri="{FF2B5EF4-FFF2-40B4-BE49-F238E27FC236}">
                <a16:creationId xmlns:a16="http://schemas.microsoft.com/office/drawing/2014/main" id="{3014A0DC-F3E2-B127-6135-DB43A885269E}"/>
              </a:ext>
            </a:extLst>
          </p:cNvPr>
          <p:cNvSpPr txBox="1"/>
          <p:nvPr/>
        </p:nvSpPr>
        <p:spPr>
          <a:xfrm>
            <a:off x="1337198" y="3317608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0x30</a:t>
            </a:r>
            <a:endParaRPr lang="ko-KR" altLang="en-US" sz="1100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83B1746C-5D99-37EE-A964-89EA5C82FB95}"/>
              </a:ext>
            </a:extLst>
          </p:cNvPr>
          <p:cNvCxnSpPr/>
          <p:nvPr/>
        </p:nvCxnSpPr>
        <p:spPr bwMode="auto">
          <a:xfrm flipH="1">
            <a:off x="4708819" y="2760481"/>
            <a:ext cx="21068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DB428B8A-4FED-9360-1A3D-5435B97A3A99}"/>
              </a:ext>
            </a:extLst>
          </p:cNvPr>
          <p:cNvSpPr/>
          <p:nvPr/>
        </p:nvSpPr>
        <p:spPr bwMode="auto">
          <a:xfrm>
            <a:off x="3803473" y="5473398"/>
            <a:ext cx="908040" cy="140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CCFEEA-30DC-8572-9860-50E75B2E700B}"/>
              </a:ext>
            </a:extLst>
          </p:cNvPr>
          <p:cNvSpPr/>
          <p:nvPr/>
        </p:nvSpPr>
        <p:spPr bwMode="auto">
          <a:xfrm>
            <a:off x="3803473" y="5612796"/>
            <a:ext cx="908040" cy="140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614A8C-F7B9-676D-FDAF-0882BE977BC5}"/>
              </a:ext>
            </a:extLst>
          </p:cNvPr>
          <p:cNvSpPr txBox="1"/>
          <p:nvPr/>
        </p:nvSpPr>
        <p:spPr>
          <a:xfrm>
            <a:off x="4010566" y="5391042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args</a:t>
            </a:r>
            <a:endParaRPr lang="ko-KR" altLang="en-US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3695EC-AD8A-4CA4-8DB9-F41BA22AED31}"/>
              </a:ext>
            </a:extLst>
          </p:cNvPr>
          <p:cNvSpPr txBox="1"/>
          <p:nvPr/>
        </p:nvSpPr>
        <p:spPr>
          <a:xfrm>
            <a:off x="3845456" y="5536158"/>
            <a:ext cx="8226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sys_num</a:t>
            </a:r>
            <a:endParaRPr lang="ko-KR" altLang="en-US" sz="110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5AFCEF7-8F15-691E-E79D-DE255DD1E430}"/>
              </a:ext>
            </a:extLst>
          </p:cNvPr>
          <p:cNvCxnSpPr>
            <a:cxnSpLocks/>
          </p:cNvCxnSpPr>
          <p:nvPr/>
        </p:nvCxnSpPr>
        <p:spPr bwMode="auto">
          <a:xfrm>
            <a:off x="4267200" y="4092188"/>
            <a:ext cx="182794" cy="0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2333278-205E-E603-8C89-E1595B404256}"/>
              </a:ext>
            </a:extLst>
          </p:cNvPr>
          <p:cNvCxnSpPr>
            <a:cxnSpLocks/>
          </p:cNvCxnSpPr>
          <p:nvPr/>
        </p:nvCxnSpPr>
        <p:spPr bwMode="auto">
          <a:xfrm flipV="1">
            <a:off x="4267200" y="4092188"/>
            <a:ext cx="0" cy="255022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B1661C1-9541-72BF-16B5-7A67EF8E1265}"/>
              </a:ext>
            </a:extLst>
          </p:cNvPr>
          <p:cNvCxnSpPr>
            <a:cxnSpLocks/>
          </p:cNvCxnSpPr>
          <p:nvPr/>
        </p:nvCxnSpPr>
        <p:spPr bwMode="auto">
          <a:xfrm>
            <a:off x="1600200" y="4092188"/>
            <a:ext cx="284437" cy="0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5" name="직선 화살표 연결선 454">
            <a:extLst>
              <a:ext uri="{FF2B5EF4-FFF2-40B4-BE49-F238E27FC236}">
                <a16:creationId xmlns:a16="http://schemas.microsoft.com/office/drawing/2014/main" id="{3599F999-B51F-CAC7-E7F5-6B9272760B1E}"/>
              </a:ext>
            </a:extLst>
          </p:cNvPr>
          <p:cNvCxnSpPr>
            <a:cxnSpLocks/>
          </p:cNvCxnSpPr>
          <p:nvPr/>
        </p:nvCxnSpPr>
        <p:spPr bwMode="auto">
          <a:xfrm>
            <a:off x="2253896" y="3962400"/>
            <a:ext cx="26126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457" name="사각형: 둥근 모서리 456">
            <a:extLst>
              <a:ext uri="{FF2B5EF4-FFF2-40B4-BE49-F238E27FC236}">
                <a16:creationId xmlns:a16="http://schemas.microsoft.com/office/drawing/2014/main" id="{ADBF470C-3547-5333-2554-50B9ED713AD9}"/>
              </a:ext>
            </a:extLst>
          </p:cNvPr>
          <p:cNvSpPr/>
          <p:nvPr/>
        </p:nvSpPr>
        <p:spPr bwMode="auto">
          <a:xfrm>
            <a:off x="1355526" y="4590731"/>
            <a:ext cx="757384" cy="21032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6C4EB283-B9FD-EE9D-93FD-3E8154C48E90}"/>
              </a:ext>
            </a:extLst>
          </p:cNvPr>
          <p:cNvSpPr txBox="1"/>
          <p:nvPr/>
        </p:nvSpPr>
        <p:spPr>
          <a:xfrm>
            <a:off x="1329555" y="4565269"/>
            <a:ext cx="8177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cs.dpl=0</a:t>
            </a:r>
            <a:endParaRPr lang="ko-KR" altLang="en-US" sz="1100"/>
          </a:p>
        </p:txBody>
      </p:sp>
      <p:cxnSp>
        <p:nvCxnSpPr>
          <p:cNvPr id="461" name="직선 연결선 460">
            <a:extLst>
              <a:ext uri="{FF2B5EF4-FFF2-40B4-BE49-F238E27FC236}">
                <a16:creationId xmlns:a16="http://schemas.microsoft.com/office/drawing/2014/main" id="{A4997EB3-DC49-1945-B596-9E9B688C3EC7}"/>
              </a:ext>
            </a:extLst>
          </p:cNvPr>
          <p:cNvCxnSpPr>
            <a:cxnSpLocks/>
          </p:cNvCxnSpPr>
          <p:nvPr/>
        </p:nvCxnSpPr>
        <p:spPr bwMode="auto">
          <a:xfrm flipH="1">
            <a:off x="914400" y="3704921"/>
            <a:ext cx="609600" cy="0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469" name="직선 연결선 468">
            <a:extLst>
              <a:ext uri="{FF2B5EF4-FFF2-40B4-BE49-F238E27FC236}">
                <a16:creationId xmlns:a16="http://schemas.microsoft.com/office/drawing/2014/main" id="{BD6E4044-5410-CC3E-9B32-E5509AD3CFF7}"/>
              </a:ext>
            </a:extLst>
          </p:cNvPr>
          <p:cNvCxnSpPr>
            <a:cxnSpLocks/>
          </p:cNvCxnSpPr>
          <p:nvPr/>
        </p:nvCxnSpPr>
        <p:spPr bwMode="auto">
          <a:xfrm flipV="1">
            <a:off x="914400" y="3704921"/>
            <a:ext cx="0" cy="1295786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2" name="직선 연결선 471">
            <a:extLst>
              <a:ext uri="{FF2B5EF4-FFF2-40B4-BE49-F238E27FC236}">
                <a16:creationId xmlns:a16="http://schemas.microsoft.com/office/drawing/2014/main" id="{BA66D9E1-B4AF-4F11-A71F-9B17807A02D7}"/>
              </a:ext>
            </a:extLst>
          </p:cNvPr>
          <p:cNvCxnSpPr>
            <a:cxnSpLocks/>
          </p:cNvCxnSpPr>
          <p:nvPr/>
        </p:nvCxnSpPr>
        <p:spPr bwMode="auto">
          <a:xfrm>
            <a:off x="914400" y="5000707"/>
            <a:ext cx="685800" cy="0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4" name="직선 연결선 473">
            <a:extLst>
              <a:ext uri="{FF2B5EF4-FFF2-40B4-BE49-F238E27FC236}">
                <a16:creationId xmlns:a16="http://schemas.microsoft.com/office/drawing/2014/main" id="{96DD1E24-8641-5923-1955-3AE676B19069}"/>
              </a:ext>
            </a:extLst>
          </p:cNvPr>
          <p:cNvCxnSpPr>
            <a:cxnSpLocks/>
          </p:cNvCxnSpPr>
          <p:nvPr/>
        </p:nvCxnSpPr>
        <p:spPr bwMode="auto">
          <a:xfrm flipV="1">
            <a:off x="1600200" y="4793723"/>
            <a:ext cx="0" cy="206984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6" name="Rectangle 3">
            <a:extLst>
              <a:ext uri="{FF2B5EF4-FFF2-40B4-BE49-F238E27FC236}">
                <a16:creationId xmlns:a16="http://schemas.microsoft.com/office/drawing/2014/main" id="{900CA4B8-7328-C962-D8DD-94F8F5BA8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455" y="2959379"/>
            <a:ext cx="3423950" cy="84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600">
                <a:solidFill>
                  <a:srgbClr val="0000FF"/>
                </a:solidFill>
              </a:rPr>
              <a:t>EIP </a:t>
            </a:r>
            <a:r>
              <a:rPr lang="en-US" altLang="ko-KR" sz="1600"/>
              <a:t>is set to the interrupt handler address, and </a:t>
            </a:r>
            <a:r>
              <a:rPr lang="en-US" altLang="ko-KR" sz="1600">
                <a:solidFill>
                  <a:srgbClr val="0000FF"/>
                </a:solidFill>
              </a:rPr>
              <a:t>CPL</a:t>
            </a:r>
            <a:r>
              <a:rPr lang="en-US" altLang="ko-KR" sz="1600"/>
              <a:t> is promoted to 0.</a:t>
            </a:r>
            <a:endParaRPr lang="en-US" altLang="ko-KR" sz="12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latinLnBrk="1"/>
            <a:endParaRPr lang="en-US" altLang="ko-KR" sz="1600" kern="0">
              <a:latin typeface="+mj-lt"/>
            </a:endParaRPr>
          </a:p>
        </p:txBody>
      </p:sp>
      <p:sp>
        <p:nvSpPr>
          <p:cNvPr id="477" name="직사각형 476">
            <a:extLst>
              <a:ext uri="{FF2B5EF4-FFF2-40B4-BE49-F238E27FC236}">
                <a16:creationId xmlns:a16="http://schemas.microsoft.com/office/drawing/2014/main" id="{B44E4F32-DF25-33A7-FAEA-BF6920D8B8E0}"/>
              </a:ext>
            </a:extLst>
          </p:cNvPr>
          <p:cNvSpPr/>
          <p:nvPr/>
        </p:nvSpPr>
        <p:spPr bwMode="auto">
          <a:xfrm>
            <a:off x="3803473" y="2196555"/>
            <a:ext cx="908040" cy="14067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78" name="직사각형 477">
            <a:extLst>
              <a:ext uri="{FF2B5EF4-FFF2-40B4-BE49-F238E27FC236}">
                <a16:creationId xmlns:a16="http://schemas.microsoft.com/office/drawing/2014/main" id="{7F9A0F65-46BB-C66A-7AD7-E9110679D988}"/>
              </a:ext>
            </a:extLst>
          </p:cNvPr>
          <p:cNvSpPr/>
          <p:nvPr/>
        </p:nvSpPr>
        <p:spPr bwMode="auto">
          <a:xfrm>
            <a:off x="3803473" y="2340029"/>
            <a:ext cx="908040" cy="14067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79" name="직사각형 478">
            <a:extLst>
              <a:ext uri="{FF2B5EF4-FFF2-40B4-BE49-F238E27FC236}">
                <a16:creationId xmlns:a16="http://schemas.microsoft.com/office/drawing/2014/main" id="{102AF99E-5F75-8A25-E674-2C8943B5F896}"/>
              </a:ext>
            </a:extLst>
          </p:cNvPr>
          <p:cNvSpPr/>
          <p:nvPr/>
        </p:nvSpPr>
        <p:spPr bwMode="auto">
          <a:xfrm>
            <a:off x="3803473" y="2478143"/>
            <a:ext cx="908040" cy="14067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F1B8B90D-7DBE-1928-6696-57BCF0BBAF12}"/>
              </a:ext>
            </a:extLst>
          </p:cNvPr>
          <p:cNvSpPr/>
          <p:nvPr/>
        </p:nvSpPr>
        <p:spPr bwMode="auto">
          <a:xfrm>
            <a:off x="3803473" y="2617588"/>
            <a:ext cx="908040" cy="14067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9CC06F60-493D-8F7A-8157-7A0FE75D9420}"/>
              </a:ext>
            </a:extLst>
          </p:cNvPr>
          <p:cNvSpPr txBox="1"/>
          <p:nvPr/>
        </p:nvSpPr>
        <p:spPr>
          <a:xfrm>
            <a:off x="3927192" y="2265640"/>
            <a:ext cx="704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usr esp</a:t>
            </a:r>
            <a:endParaRPr lang="ko-KR" altLang="en-US" sz="1100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EE992DE6-8FB5-27FB-3852-73DAD5F7B1A5}"/>
              </a:ext>
            </a:extLst>
          </p:cNvPr>
          <p:cNvSpPr txBox="1"/>
          <p:nvPr/>
        </p:nvSpPr>
        <p:spPr>
          <a:xfrm>
            <a:off x="3927192" y="2547208"/>
            <a:ext cx="6687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usr eip</a:t>
            </a:r>
            <a:endParaRPr lang="ko-KR" altLang="en-US" sz="1100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9B46A754-24C0-1F4D-C8E4-7EB4B903E22B}"/>
              </a:ext>
            </a:extLst>
          </p:cNvPr>
          <p:cNvSpPr txBox="1"/>
          <p:nvPr/>
        </p:nvSpPr>
        <p:spPr>
          <a:xfrm>
            <a:off x="3927192" y="2410239"/>
            <a:ext cx="338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...</a:t>
            </a:r>
            <a:endParaRPr lang="ko-KR" altLang="en-US" sz="1100"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9405287C-E862-6124-B90D-41780D2CCD58}"/>
              </a:ext>
            </a:extLst>
          </p:cNvPr>
          <p:cNvSpPr txBox="1"/>
          <p:nvPr/>
        </p:nvSpPr>
        <p:spPr>
          <a:xfrm>
            <a:off x="3927192" y="2132917"/>
            <a:ext cx="338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...</a:t>
            </a:r>
            <a:endParaRPr lang="ko-KR" altLang="en-US" sz="1100"/>
          </a:p>
        </p:txBody>
      </p:sp>
      <p:cxnSp>
        <p:nvCxnSpPr>
          <p:cNvPr id="297" name="직선 화살표 연결선 296">
            <a:extLst>
              <a:ext uri="{FF2B5EF4-FFF2-40B4-BE49-F238E27FC236}">
                <a16:creationId xmlns:a16="http://schemas.microsoft.com/office/drawing/2014/main" id="{60F2DFBF-433C-0BAA-EC3B-1ED4A05CECE9}"/>
              </a:ext>
            </a:extLst>
          </p:cNvPr>
          <p:cNvCxnSpPr>
            <a:cxnSpLocks/>
          </p:cNvCxnSpPr>
          <p:nvPr/>
        </p:nvCxnSpPr>
        <p:spPr bwMode="auto">
          <a:xfrm flipH="1">
            <a:off x="3435920" y="5604355"/>
            <a:ext cx="14548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298" name="직선 연결선 297">
            <a:extLst>
              <a:ext uri="{FF2B5EF4-FFF2-40B4-BE49-F238E27FC236}">
                <a16:creationId xmlns:a16="http://schemas.microsoft.com/office/drawing/2014/main" id="{A8BCEEBD-0F95-6B09-7F26-0A5A038B7AF8}"/>
              </a:ext>
            </a:extLst>
          </p:cNvPr>
          <p:cNvCxnSpPr>
            <a:cxnSpLocks/>
          </p:cNvCxnSpPr>
          <p:nvPr/>
        </p:nvCxnSpPr>
        <p:spPr bwMode="auto">
          <a:xfrm>
            <a:off x="4640303" y="2410995"/>
            <a:ext cx="4417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oval" w="med" len="med"/>
            <a:tailEnd type="none" w="med" len="med"/>
          </a:ln>
          <a:effectLst/>
        </p:spPr>
      </p:cxnSp>
      <p:cxnSp>
        <p:nvCxnSpPr>
          <p:cNvPr id="299" name="직선 연결선 298">
            <a:extLst>
              <a:ext uri="{FF2B5EF4-FFF2-40B4-BE49-F238E27FC236}">
                <a16:creationId xmlns:a16="http://schemas.microsoft.com/office/drawing/2014/main" id="{DD28D0B4-424E-B3D5-DD91-7731A0224A95}"/>
              </a:ext>
            </a:extLst>
          </p:cNvPr>
          <p:cNvCxnSpPr>
            <a:cxnSpLocks/>
          </p:cNvCxnSpPr>
          <p:nvPr/>
        </p:nvCxnSpPr>
        <p:spPr bwMode="auto">
          <a:xfrm flipV="1">
            <a:off x="5105400" y="2438400"/>
            <a:ext cx="0" cy="3276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06" name="직선 연결선 305">
            <a:extLst>
              <a:ext uri="{FF2B5EF4-FFF2-40B4-BE49-F238E27FC236}">
                <a16:creationId xmlns:a16="http://schemas.microsoft.com/office/drawing/2014/main" id="{59C981D1-D797-7184-1D1A-B59D90FCBBD5}"/>
              </a:ext>
            </a:extLst>
          </p:cNvPr>
          <p:cNvCxnSpPr>
            <a:cxnSpLocks/>
          </p:cNvCxnSpPr>
          <p:nvPr/>
        </p:nvCxnSpPr>
        <p:spPr bwMode="auto">
          <a:xfrm flipH="1">
            <a:off x="3585094" y="2686050"/>
            <a:ext cx="32777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oval" w="med" len="med"/>
            <a:tailEnd type="none" w="med" len="med"/>
          </a:ln>
          <a:effectLst/>
        </p:spPr>
      </p:cxnSp>
      <p:cxnSp>
        <p:nvCxnSpPr>
          <p:cNvPr id="310" name="직선 연결선 309">
            <a:extLst>
              <a:ext uri="{FF2B5EF4-FFF2-40B4-BE49-F238E27FC236}">
                <a16:creationId xmlns:a16="http://schemas.microsoft.com/office/drawing/2014/main" id="{57109C75-51A9-FAD0-F7CC-B1470AB36144}"/>
              </a:ext>
            </a:extLst>
          </p:cNvPr>
          <p:cNvCxnSpPr>
            <a:cxnSpLocks/>
          </p:cNvCxnSpPr>
          <p:nvPr/>
        </p:nvCxnSpPr>
        <p:spPr bwMode="auto">
          <a:xfrm flipV="1">
            <a:off x="3581400" y="2667000"/>
            <a:ext cx="0" cy="294579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6E0CE4C8-4985-D3A3-4A83-7A013F079324}"/>
              </a:ext>
            </a:extLst>
          </p:cNvPr>
          <p:cNvCxnSpPr>
            <a:cxnSpLocks/>
          </p:cNvCxnSpPr>
          <p:nvPr/>
        </p:nvCxnSpPr>
        <p:spPr bwMode="auto">
          <a:xfrm flipH="1">
            <a:off x="4724400" y="5715000"/>
            <a:ext cx="381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19" name="Rectangle 3">
            <a:extLst>
              <a:ext uri="{FF2B5EF4-FFF2-40B4-BE49-F238E27FC236}">
                <a16:creationId xmlns:a16="http://schemas.microsoft.com/office/drawing/2014/main" id="{60C0D013-2466-323A-ACBD-9F556158A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455" y="3916719"/>
            <a:ext cx="3423950" cy="852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600">
                <a:solidFill>
                  <a:srgbClr val="0000FF"/>
                </a:solidFill>
              </a:rPr>
              <a:t>ESP</a:t>
            </a:r>
            <a:r>
              <a:rPr lang="en-US" altLang="ko-KR" sz="1600"/>
              <a:t> is changed to the top of the kernel stack, and </a:t>
            </a:r>
            <a:r>
              <a:rPr lang="en-US" altLang="ko-KR" sz="1600">
                <a:solidFill>
                  <a:srgbClr val="0000FF"/>
                </a:solidFill>
              </a:rPr>
              <a:t>The user context</a:t>
            </a:r>
            <a:r>
              <a:rPr lang="en-US" altLang="ko-KR" sz="1600"/>
              <a:t>'s EIP and ESP are saved on the kernel stack.</a:t>
            </a:r>
            <a:endParaRPr lang="en-US" altLang="ko-KR" sz="16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latinLnBrk="1"/>
            <a:endParaRPr lang="en-US" altLang="ko-KR" sz="1600" kern="0">
              <a:latin typeface="+mj-lt"/>
            </a:endParaRPr>
          </a:p>
        </p:txBody>
      </p:sp>
      <p:sp>
        <p:nvSpPr>
          <p:cNvPr id="121" name="자유형: 도형 120">
            <a:extLst>
              <a:ext uri="{FF2B5EF4-FFF2-40B4-BE49-F238E27FC236}">
                <a16:creationId xmlns:a16="http://schemas.microsoft.com/office/drawing/2014/main" id="{231175FE-AF51-5914-C946-7B351BE80BB1}"/>
              </a:ext>
            </a:extLst>
          </p:cNvPr>
          <p:cNvSpPr/>
          <p:nvPr/>
        </p:nvSpPr>
        <p:spPr bwMode="auto">
          <a:xfrm>
            <a:off x="3431540" y="2194560"/>
            <a:ext cx="375920" cy="1374140"/>
          </a:xfrm>
          <a:custGeom>
            <a:avLst/>
            <a:gdLst>
              <a:gd name="connsiteX0" fmla="*/ 0 w 375920"/>
              <a:gd name="connsiteY0" fmla="*/ 1374140 h 1374140"/>
              <a:gd name="connsiteX1" fmla="*/ 375920 w 375920"/>
              <a:gd name="connsiteY1" fmla="*/ 0 h 1374140"/>
              <a:gd name="connsiteX2" fmla="*/ 373380 w 375920"/>
              <a:gd name="connsiteY2" fmla="*/ 584200 h 1374140"/>
              <a:gd name="connsiteX3" fmla="*/ 0 w 375920"/>
              <a:gd name="connsiteY3" fmla="*/ 1374140 h 1374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920" h="1374140">
                <a:moveTo>
                  <a:pt x="0" y="1374140"/>
                </a:moveTo>
                <a:lnTo>
                  <a:pt x="375920" y="0"/>
                </a:lnTo>
                <a:cubicBezTo>
                  <a:pt x="375073" y="194733"/>
                  <a:pt x="374227" y="389467"/>
                  <a:pt x="373380" y="584200"/>
                </a:cubicBezTo>
                <a:lnTo>
                  <a:pt x="0" y="137414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134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F2228-DA51-B108-A271-140EED816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직사각형 450">
            <a:extLst>
              <a:ext uri="{FF2B5EF4-FFF2-40B4-BE49-F238E27FC236}">
                <a16:creationId xmlns:a16="http://schemas.microsoft.com/office/drawing/2014/main" id="{FEBE1980-6AF3-D9D1-8FDE-7F52E42CDBDC}"/>
              </a:ext>
            </a:extLst>
          </p:cNvPr>
          <p:cNvSpPr/>
          <p:nvPr/>
        </p:nvSpPr>
        <p:spPr bwMode="auto">
          <a:xfrm>
            <a:off x="-520" y="2069008"/>
            <a:ext cx="9144000" cy="195973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47" name="사각형: 둥근 모서리 446">
            <a:extLst>
              <a:ext uri="{FF2B5EF4-FFF2-40B4-BE49-F238E27FC236}">
                <a16:creationId xmlns:a16="http://schemas.microsoft.com/office/drawing/2014/main" id="{2A77A2BD-19BD-A5C5-A74A-DACE63CBECB1}"/>
              </a:ext>
            </a:extLst>
          </p:cNvPr>
          <p:cNvSpPr/>
          <p:nvPr/>
        </p:nvSpPr>
        <p:spPr bwMode="auto">
          <a:xfrm>
            <a:off x="1222759" y="4301109"/>
            <a:ext cx="3423948" cy="54554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86" name="자유형: 도형 385">
            <a:extLst>
              <a:ext uri="{FF2B5EF4-FFF2-40B4-BE49-F238E27FC236}">
                <a16:creationId xmlns:a16="http://schemas.microsoft.com/office/drawing/2014/main" id="{C975A8ED-8240-55D4-C1FA-E68F7B1661E6}"/>
              </a:ext>
            </a:extLst>
          </p:cNvPr>
          <p:cNvSpPr/>
          <p:nvPr/>
        </p:nvSpPr>
        <p:spPr bwMode="auto">
          <a:xfrm>
            <a:off x="3413760" y="4034789"/>
            <a:ext cx="392430" cy="1812131"/>
          </a:xfrm>
          <a:custGeom>
            <a:avLst/>
            <a:gdLst>
              <a:gd name="connsiteX0" fmla="*/ 0 w 392430"/>
              <a:gd name="connsiteY0" fmla="*/ 72390 h 1771650"/>
              <a:gd name="connsiteX1" fmla="*/ 392430 w 392430"/>
              <a:gd name="connsiteY1" fmla="*/ 1771650 h 1771650"/>
              <a:gd name="connsiteX2" fmla="*/ 392430 w 392430"/>
              <a:gd name="connsiteY2" fmla="*/ 1196340 h 1771650"/>
              <a:gd name="connsiteX3" fmla="*/ 15240 w 392430"/>
              <a:gd name="connsiteY3" fmla="*/ 0 h 1771650"/>
              <a:gd name="connsiteX4" fmla="*/ 0 w 392430"/>
              <a:gd name="connsiteY4" fmla="*/ 7239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2430" h="1771650">
                <a:moveTo>
                  <a:pt x="0" y="72390"/>
                </a:moveTo>
                <a:lnTo>
                  <a:pt x="392430" y="1771650"/>
                </a:lnTo>
                <a:lnTo>
                  <a:pt x="392430" y="1196340"/>
                </a:lnTo>
                <a:lnTo>
                  <a:pt x="15240" y="0"/>
                </a:lnTo>
                <a:lnTo>
                  <a:pt x="0" y="7239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61EE32C-3D4B-99B5-4774-5AAF434F2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/>
              <a:t>Mode Switch for System Call (5/5)</a:t>
            </a:r>
            <a:endParaRPr lang="ko-KR" altLang="en-US" sz="2800"/>
          </a:p>
        </p:txBody>
      </p:sp>
      <p:sp>
        <p:nvSpPr>
          <p:cNvPr id="311" name="직사각형 310">
            <a:extLst>
              <a:ext uri="{FF2B5EF4-FFF2-40B4-BE49-F238E27FC236}">
                <a16:creationId xmlns:a16="http://schemas.microsoft.com/office/drawing/2014/main" id="{0E40E08F-FF0A-A727-53E9-FBBB76E54C5E}"/>
              </a:ext>
            </a:extLst>
          </p:cNvPr>
          <p:cNvSpPr/>
          <p:nvPr/>
        </p:nvSpPr>
        <p:spPr bwMode="auto">
          <a:xfrm>
            <a:off x="2508798" y="2066034"/>
            <a:ext cx="914400" cy="3962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ABA963B0-8AE9-EE2E-75B5-46EE91D3C372}"/>
              </a:ext>
            </a:extLst>
          </p:cNvPr>
          <p:cNvSpPr txBox="1"/>
          <p:nvPr/>
        </p:nvSpPr>
        <p:spPr>
          <a:xfrm>
            <a:off x="2093876" y="1774292"/>
            <a:ext cx="17395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Virtual Addr Space</a:t>
            </a:r>
            <a:endParaRPr lang="ko-KR" altLang="en-US" sz="1100"/>
          </a:p>
        </p:txBody>
      </p:sp>
      <p:grpSp>
        <p:nvGrpSpPr>
          <p:cNvPr id="313" name="그룹 312">
            <a:extLst>
              <a:ext uri="{FF2B5EF4-FFF2-40B4-BE49-F238E27FC236}">
                <a16:creationId xmlns:a16="http://schemas.microsoft.com/office/drawing/2014/main" id="{3BD16938-8E10-ECCE-9701-FD4746A93EDE}"/>
              </a:ext>
            </a:extLst>
          </p:cNvPr>
          <p:cNvGrpSpPr/>
          <p:nvPr/>
        </p:nvGrpSpPr>
        <p:grpSpPr>
          <a:xfrm>
            <a:off x="3278893" y="4068504"/>
            <a:ext cx="311304" cy="325565"/>
            <a:chOff x="7612939" y="4068504"/>
            <a:chExt cx="311304" cy="325565"/>
          </a:xfrm>
        </p:grpSpPr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1B602304-DA81-9E13-B4E9-A7F266909B01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80D5BE9D-8617-D50C-F836-4AABBBE623FB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316" name="그룹 315">
            <a:extLst>
              <a:ext uri="{FF2B5EF4-FFF2-40B4-BE49-F238E27FC236}">
                <a16:creationId xmlns:a16="http://schemas.microsoft.com/office/drawing/2014/main" id="{BFA86541-254E-1FE8-2978-ECE33F8EFA80}"/>
              </a:ext>
            </a:extLst>
          </p:cNvPr>
          <p:cNvGrpSpPr/>
          <p:nvPr/>
        </p:nvGrpSpPr>
        <p:grpSpPr>
          <a:xfrm>
            <a:off x="2355139" y="4068504"/>
            <a:ext cx="311304" cy="325565"/>
            <a:chOff x="7612939" y="4068504"/>
            <a:chExt cx="311304" cy="325565"/>
          </a:xfrm>
        </p:grpSpPr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45C66AA9-82FD-CE52-C31C-B2181FE37ED6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A084F6DC-7701-1DFC-C0BA-DA8E0575F1FC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319" name="그룹 318">
            <a:extLst>
              <a:ext uri="{FF2B5EF4-FFF2-40B4-BE49-F238E27FC236}">
                <a16:creationId xmlns:a16="http://schemas.microsoft.com/office/drawing/2014/main" id="{DF8B0314-C6FD-726F-3471-B093F2960838}"/>
              </a:ext>
            </a:extLst>
          </p:cNvPr>
          <p:cNvGrpSpPr/>
          <p:nvPr/>
        </p:nvGrpSpPr>
        <p:grpSpPr>
          <a:xfrm>
            <a:off x="3269539" y="2046753"/>
            <a:ext cx="311304" cy="325565"/>
            <a:chOff x="7612939" y="4068504"/>
            <a:chExt cx="311304" cy="325565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97333B1F-005A-64D1-D7BF-DC3BFEC72147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77E7A20-8B64-571D-6351-E93FD29199D0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4680A4B8-5B41-813E-9A9C-5383CF820763}"/>
              </a:ext>
            </a:extLst>
          </p:cNvPr>
          <p:cNvGrpSpPr/>
          <p:nvPr/>
        </p:nvGrpSpPr>
        <p:grpSpPr>
          <a:xfrm>
            <a:off x="2355139" y="2046753"/>
            <a:ext cx="311304" cy="325565"/>
            <a:chOff x="7612939" y="4068504"/>
            <a:chExt cx="311304" cy="325565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08A342B-7D4C-D82A-53E4-4ADEB6C4D722}"/>
                </a:ext>
              </a:extLst>
            </p:cNvPr>
            <p:cNvSpPr txBox="1"/>
            <p:nvPr/>
          </p:nvSpPr>
          <p:spPr>
            <a:xfrm>
              <a:off x="7612939" y="4068504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6EDB388-24F4-30E3-D5A0-8C519B21E9DC}"/>
                </a:ext>
              </a:extLst>
            </p:cNvPr>
            <p:cNvSpPr txBox="1"/>
            <p:nvPr/>
          </p:nvSpPr>
          <p:spPr>
            <a:xfrm>
              <a:off x="7612939" y="4117070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~</a:t>
              </a:r>
              <a:endParaRPr lang="ko-KR" altLang="en-US" sz="1200"/>
            </a:p>
          </p:txBody>
        </p:sp>
      </p:grp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57C52FE4-EB57-B05E-1833-E2A6B138745B}"/>
              </a:ext>
            </a:extLst>
          </p:cNvPr>
          <p:cNvSpPr/>
          <p:nvPr/>
        </p:nvSpPr>
        <p:spPr bwMode="auto">
          <a:xfrm>
            <a:off x="2515159" y="2492999"/>
            <a:ext cx="914400" cy="15366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1BE612F3-BE4C-3E9B-9AB4-458A73716D15}"/>
              </a:ext>
            </a:extLst>
          </p:cNvPr>
          <p:cNvSpPr/>
          <p:nvPr/>
        </p:nvSpPr>
        <p:spPr bwMode="auto">
          <a:xfrm>
            <a:off x="2514600" y="3185651"/>
            <a:ext cx="910591" cy="7008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69D03552-9A6C-2F02-92CB-DDE4A1F94E60}"/>
              </a:ext>
            </a:extLst>
          </p:cNvPr>
          <p:cNvSpPr/>
          <p:nvPr/>
        </p:nvSpPr>
        <p:spPr bwMode="auto">
          <a:xfrm>
            <a:off x="2514600" y="2494054"/>
            <a:ext cx="910591" cy="70086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9" name="Rectangle 3">
            <a:extLst>
              <a:ext uri="{FF2B5EF4-FFF2-40B4-BE49-F238E27FC236}">
                <a16:creationId xmlns:a16="http://schemas.microsoft.com/office/drawing/2014/main" id="{E9B4742F-5E12-3653-637C-425507733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455" y="1774292"/>
            <a:ext cx="3423950" cy="1754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600"/>
              <a:t>Arguments and the system call number are placed on the user stack.</a:t>
            </a:r>
          </a:p>
          <a:p>
            <a:pPr latinLnBrk="1"/>
            <a:r>
              <a:rPr lang="en-US" altLang="ko-KR" sz="1600"/>
              <a:t>And ‘int 0x30’ is invoked. </a:t>
            </a:r>
            <a:endParaRPr lang="en-US" altLang="ko-KR" sz="1200"/>
          </a:p>
          <a:p>
            <a:pPr marL="471487" lvl="1" indent="0" latinLnBrk="1">
              <a:buNone/>
            </a:pPr>
            <a:endParaRPr lang="en-US" altLang="ko-KR" sz="12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latinLnBrk="1"/>
            <a:endParaRPr lang="en-US" altLang="ko-KR" sz="1600" kern="0">
              <a:latin typeface="+mj-lt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F4C1D88-EACB-3481-65AC-D4DA8137B775}"/>
              </a:ext>
            </a:extLst>
          </p:cNvPr>
          <p:cNvSpPr txBox="1"/>
          <p:nvPr/>
        </p:nvSpPr>
        <p:spPr>
          <a:xfrm rot="16200000">
            <a:off x="-308675" y="2859480"/>
            <a:ext cx="15872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/>
              <a:t>Kernel V-Addr Space</a:t>
            </a:r>
            <a:endParaRPr lang="ko-KR" altLang="en-US" sz="1050"/>
          </a:p>
        </p:txBody>
      </p:sp>
      <p:sp>
        <p:nvSpPr>
          <p:cNvPr id="111" name="오른쪽 중괄호 110">
            <a:extLst>
              <a:ext uri="{FF2B5EF4-FFF2-40B4-BE49-F238E27FC236}">
                <a16:creationId xmlns:a16="http://schemas.microsoft.com/office/drawing/2014/main" id="{6E9900DF-7904-24CF-679E-690E284796EF}"/>
              </a:ext>
            </a:extLst>
          </p:cNvPr>
          <p:cNvSpPr/>
          <p:nvPr/>
        </p:nvSpPr>
        <p:spPr bwMode="auto">
          <a:xfrm rot="10800000">
            <a:off x="583646" y="2054154"/>
            <a:ext cx="119789" cy="1965783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E32AE00-6E23-F4BC-97C4-A050ABB96C44}"/>
              </a:ext>
            </a:extLst>
          </p:cNvPr>
          <p:cNvSpPr txBox="1"/>
          <p:nvPr/>
        </p:nvSpPr>
        <p:spPr>
          <a:xfrm rot="16200000">
            <a:off x="-245356" y="4894437"/>
            <a:ext cx="14606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/>
              <a:t>User V-Addr Space</a:t>
            </a:r>
            <a:endParaRPr lang="ko-KR" altLang="en-US" sz="1050"/>
          </a:p>
        </p:txBody>
      </p:sp>
      <p:sp>
        <p:nvSpPr>
          <p:cNvPr id="113" name="오른쪽 중괄호 112">
            <a:extLst>
              <a:ext uri="{FF2B5EF4-FFF2-40B4-BE49-F238E27FC236}">
                <a16:creationId xmlns:a16="http://schemas.microsoft.com/office/drawing/2014/main" id="{361BA87D-9108-6534-E3CC-76BA252E44E5}"/>
              </a:ext>
            </a:extLst>
          </p:cNvPr>
          <p:cNvSpPr/>
          <p:nvPr/>
        </p:nvSpPr>
        <p:spPr bwMode="auto">
          <a:xfrm rot="10800000">
            <a:off x="583646" y="4041543"/>
            <a:ext cx="119789" cy="1965783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E91D2332-DBC8-E6E4-020C-FE0545EF06C4}"/>
              </a:ext>
            </a:extLst>
          </p:cNvPr>
          <p:cNvSpPr/>
          <p:nvPr/>
        </p:nvSpPr>
        <p:spPr bwMode="auto">
          <a:xfrm>
            <a:off x="2514599" y="4028360"/>
            <a:ext cx="910591" cy="829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DB192053-881B-9630-2F0F-10A511CEA0EB}"/>
              </a:ext>
            </a:extLst>
          </p:cNvPr>
          <p:cNvSpPr/>
          <p:nvPr/>
        </p:nvSpPr>
        <p:spPr bwMode="auto">
          <a:xfrm>
            <a:off x="2514599" y="3118807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55C72F96-7061-FB88-E7F2-500B8F4C5903}"/>
              </a:ext>
            </a:extLst>
          </p:cNvPr>
          <p:cNvSpPr/>
          <p:nvPr/>
        </p:nvSpPr>
        <p:spPr bwMode="auto">
          <a:xfrm>
            <a:off x="2514599" y="3039633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5EA555D2-F34E-1C53-3D03-27C5D8B760DB}"/>
              </a:ext>
            </a:extLst>
          </p:cNvPr>
          <p:cNvSpPr/>
          <p:nvPr/>
        </p:nvSpPr>
        <p:spPr bwMode="auto">
          <a:xfrm>
            <a:off x="2514599" y="2959379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26481A07-DAA7-9BC4-F359-6765B567599A}"/>
              </a:ext>
            </a:extLst>
          </p:cNvPr>
          <p:cNvSpPr/>
          <p:nvPr/>
        </p:nvSpPr>
        <p:spPr bwMode="auto">
          <a:xfrm>
            <a:off x="2514598" y="2880511"/>
            <a:ext cx="910591" cy="829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54A98E0D-4443-A6FE-12B8-8D0FBCD83C11}"/>
              </a:ext>
            </a:extLst>
          </p:cNvPr>
          <p:cNvSpPr txBox="1"/>
          <p:nvPr/>
        </p:nvSpPr>
        <p:spPr>
          <a:xfrm>
            <a:off x="2741682" y="4068522"/>
            <a:ext cx="4908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08D97416-25AA-F6DC-4D3F-4B6F3446902C}"/>
              </a:ext>
            </a:extLst>
          </p:cNvPr>
          <p:cNvSpPr txBox="1"/>
          <p:nvPr/>
        </p:nvSpPr>
        <p:spPr>
          <a:xfrm>
            <a:off x="2704011" y="3611228"/>
            <a:ext cx="5661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thread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3" name="직사각형 322">
            <a:extLst>
              <a:ext uri="{FF2B5EF4-FFF2-40B4-BE49-F238E27FC236}">
                <a16:creationId xmlns:a16="http://schemas.microsoft.com/office/drawing/2014/main" id="{5A75363C-D4A3-86C7-FEF3-D97EAF21E8D7}"/>
              </a:ext>
            </a:extLst>
          </p:cNvPr>
          <p:cNvSpPr/>
          <p:nvPr/>
        </p:nvSpPr>
        <p:spPr bwMode="auto">
          <a:xfrm>
            <a:off x="2508543" y="3569986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5" name="직사각형 354">
            <a:extLst>
              <a:ext uri="{FF2B5EF4-FFF2-40B4-BE49-F238E27FC236}">
                <a16:creationId xmlns:a16="http://schemas.microsoft.com/office/drawing/2014/main" id="{694D0808-4B85-90A9-BFF0-C7E52EAA4B21}"/>
              </a:ext>
            </a:extLst>
          </p:cNvPr>
          <p:cNvSpPr/>
          <p:nvPr/>
        </p:nvSpPr>
        <p:spPr bwMode="auto">
          <a:xfrm>
            <a:off x="2514599" y="5552572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6" name="직사각형 355">
            <a:extLst>
              <a:ext uri="{FF2B5EF4-FFF2-40B4-BE49-F238E27FC236}">
                <a16:creationId xmlns:a16="http://schemas.microsoft.com/office/drawing/2014/main" id="{D62911F4-AAF2-2729-B4DB-427DDEEECFFE}"/>
              </a:ext>
            </a:extLst>
          </p:cNvPr>
          <p:cNvSpPr/>
          <p:nvPr/>
        </p:nvSpPr>
        <p:spPr bwMode="auto">
          <a:xfrm>
            <a:off x="2514599" y="5473398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7" name="직사각형 356">
            <a:extLst>
              <a:ext uri="{FF2B5EF4-FFF2-40B4-BE49-F238E27FC236}">
                <a16:creationId xmlns:a16="http://schemas.microsoft.com/office/drawing/2014/main" id="{36A93786-BBC6-A8FE-8F79-36D4D68D92EF}"/>
              </a:ext>
            </a:extLst>
          </p:cNvPr>
          <p:cNvSpPr/>
          <p:nvPr/>
        </p:nvSpPr>
        <p:spPr bwMode="auto">
          <a:xfrm>
            <a:off x="2514599" y="5393144"/>
            <a:ext cx="910591" cy="82936"/>
          </a:xfrm>
          <a:prstGeom prst="rect">
            <a:avLst/>
          </a:prstGeom>
          <a:pattFill prst="wdDnDiag">
            <a:fgClr>
              <a:schemeClr val="accent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720E6308-1806-1F02-7D85-78F457FA03D0}"/>
              </a:ext>
            </a:extLst>
          </p:cNvPr>
          <p:cNvSpPr txBox="1"/>
          <p:nvPr/>
        </p:nvSpPr>
        <p:spPr>
          <a:xfrm>
            <a:off x="2419290" y="5601345"/>
            <a:ext cx="10887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.bss .code .data</a:t>
            </a:r>
            <a:endParaRPr lang="ko-KR" altLang="en-US" sz="800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563A313E-3D10-1F65-8841-77CECD80879F}"/>
              </a:ext>
            </a:extLst>
          </p:cNvPr>
          <p:cNvSpPr txBox="1"/>
          <p:nvPr/>
        </p:nvSpPr>
        <p:spPr>
          <a:xfrm>
            <a:off x="3378039" y="5873602"/>
            <a:ext cx="43473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0x0</a:t>
            </a:r>
            <a:endParaRPr lang="ko-KR" altLang="en-US" sz="1050"/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D1281638-5C9E-D616-8C3F-824A23A667AA}"/>
              </a:ext>
            </a:extLst>
          </p:cNvPr>
          <p:cNvSpPr/>
          <p:nvPr/>
        </p:nvSpPr>
        <p:spPr bwMode="auto">
          <a:xfrm>
            <a:off x="3794089" y="5222505"/>
            <a:ext cx="908040" cy="6062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3643153D-95FF-F0EC-0229-6E7E775AC744}"/>
              </a:ext>
            </a:extLst>
          </p:cNvPr>
          <p:cNvCxnSpPr/>
          <p:nvPr/>
        </p:nvCxnSpPr>
        <p:spPr bwMode="auto">
          <a:xfrm>
            <a:off x="3798942" y="5222505"/>
            <a:ext cx="0" cy="58314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77E23082-DD4F-36B9-3DC7-ADDDC43103E8}"/>
              </a:ext>
            </a:extLst>
          </p:cNvPr>
          <p:cNvCxnSpPr>
            <a:cxnSpLocks/>
          </p:cNvCxnSpPr>
          <p:nvPr/>
        </p:nvCxnSpPr>
        <p:spPr bwMode="auto">
          <a:xfrm flipH="1">
            <a:off x="3794089" y="5222505"/>
            <a:ext cx="9147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CE11A1B-86D4-516E-DA4F-B074AB3A73E4}"/>
              </a:ext>
            </a:extLst>
          </p:cNvPr>
          <p:cNvCxnSpPr>
            <a:cxnSpLocks/>
          </p:cNvCxnSpPr>
          <p:nvPr/>
        </p:nvCxnSpPr>
        <p:spPr bwMode="auto">
          <a:xfrm flipV="1">
            <a:off x="4708819" y="5220433"/>
            <a:ext cx="0" cy="5676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7B12ECF8-B2E9-E974-D85F-DF624B21C964}"/>
              </a:ext>
            </a:extLst>
          </p:cNvPr>
          <p:cNvSpPr txBox="1"/>
          <p:nvPr/>
        </p:nvSpPr>
        <p:spPr>
          <a:xfrm>
            <a:off x="3784680" y="5000707"/>
            <a:ext cx="9268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User stack</a:t>
            </a:r>
            <a:endParaRPr lang="ko-KR" altLang="en-US" sz="1100"/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DF0BBBF4-3A27-1396-48A0-B1701A97D58C}"/>
              </a:ext>
            </a:extLst>
          </p:cNvPr>
          <p:cNvSpPr/>
          <p:nvPr/>
        </p:nvSpPr>
        <p:spPr bwMode="auto">
          <a:xfrm>
            <a:off x="3991484" y="4351748"/>
            <a:ext cx="530606" cy="21032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63E85C7D-F5B0-7433-C78C-5C6CDE6D9397}"/>
              </a:ext>
            </a:extLst>
          </p:cNvPr>
          <p:cNvSpPr txBox="1"/>
          <p:nvPr/>
        </p:nvSpPr>
        <p:spPr>
          <a:xfrm>
            <a:off x="3998724" y="4302496"/>
            <a:ext cx="4299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esp</a:t>
            </a:r>
            <a:endParaRPr lang="ko-KR" altLang="en-US" sz="1100"/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C239130C-5126-2E08-7099-692BBD70F982}"/>
              </a:ext>
            </a:extLst>
          </p:cNvPr>
          <p:cNvCxnSpPr>
            <a:cxnSpLocks/>
          </p:cNvCxnSpPr>
          <p:nvPr/>
        </p:nvCxnSpPr>
        <p:spPr bwMode="auto">
          <a:xfrm>
            <a:off x="4461856" y="4454141"/>
            <a:ext cx="45765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853D0617-D7AC-C771-1B6B-D8A7CFC7F1BE}"/>
              </a:ext>
            </a:extLst>
          </p:cNvPr>
          <p:cNvCxnSpPr>
            <a:cxnSpLocks/>
          </p:cNvCxnSpPr>
          <p:nvPr/>
        </p:nvCxnSpPr>
        <p:spPr bwMode="auto">
          <a:xfrm>
            <a:off x="4919508" y="2760481"/>
            <a:ext cx="0" cy="16936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8358A86D-403B-C376-E891-17AEC4EDA07A}"/>
              </a:ext>
            </a:extLst>
          </p:cNvPr>
          <p:cNvSpPr/>
          <p:nvPr/>
        </p:nvSpPr>
        <p:spPr bwMode="auto">
          <a:xfrm>
            <a:off x="3794089" y="2217199"/>
            <a:ext cx="908040" cy="60620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BFD5B73A-5472-39C5-A0B0-B8F5045B8619}"/>
              </a:ext>
            </a:extLst>
          </p:cNvPr>
          <p:cNvCxnSpPr/>
          <p:nvPr/>
        </p:nvCxnSpPr>
        <p:spPr bwMode="auto">
          <a:xfrm>
            <a:off x="3798942" y="2194863"/>
            <a:ext cx="0" cy="58314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4CC7F559-0822-95A2-C35C-9B69CC7D9F97}"/>
              </a:ext>
            </a:extLst>
          </p:cNvPr>
          <p:cNvCxnSpPr>
            <a:cxnSpLocks/>
          </p:cNvCxnSpPr>
          <p:nvPr/>
        </p:nvCxnSpPr>
        <p:spPr bwMode="auto">
          <a:xfrm flipH="1">
            <a:off x="3794089" y="2194863"/>
            <a:ext cx="9147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C8147347-F182-6969-714F-C39BE5B9632A}"/>
              </a:ext>
            </a:extLst>
          </p:cNvPr>
          <p:cNvCxnSpPr>
            <a:cxnSpLocks/>
          </p:cNvCxnSpPr>
          <p:nvPr/>
        </p:nvCxnSpPr>
        <p:spPr bwMode="auto">
          <a:xfrm flipV="1">
            <a:off x="4708819" y="2192791"/>
            <a:ext cx="0" cy="5676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1" name="사각형: 둥근 모서리 390">
            <a:extLst>
              <a:ext uri="{FF2B5EF4-FFF2-40B4-BE49-F238E27FC236}">
                <a16:creationId xmlns:a16="http://schemas.microsoft.com/office/drawing/2014/main" id="{6C6BEF1D-A852-CFB6-8B70-7EF9A253A5CF}"/>
              </a:ext>
            </a:extLst>
          </p:cNvPr>
          <p:cNvSpPr/>
          <p:nvPr/>
        </p:nvSpPr>
        <p:spPr bwMode="auto">
          <a:xfrm>
            <a:off x="1347556" y="4351748"/>
            <a:ext cx="530606" cy="21032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1CB6CA0F-933A-B656-5EFB-46D520D204D2}"/>
              </a:ext>
            </a:extLst>
          </p:cNvPr>
          <p:cNvSpPr txBox="1"/>
          <p:nvPr/>
        </p:nvSpPr>
        <p:spPr>
          <a:xfrm>
            <a:off x="1336133" y="4302496"/>
            <a:ext cx="3946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eip</a:t>
            </a:r>
            <a:endParaRPr lang="ko-KR" altLang="en-US" sz="1100"/>
          </a:p>
        </p:txBody>
      </p: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B4AB4410-FAB2-7CBE-0926-2A2AA4CAD28F}"/>
              </a:ext>
            </a:extLst>
          </p:cNvPr>
          <p:cNvCxnSpPr>
            <a:cxnSpLocks/>
          </p:cNvCxnSpPr>
          <p:nvPr/>
        </p:nvCxnSpPr>
        <p:spPr bwMode="auto">
          <a:xfrm>
            <a:off x="1793240" y="4454141"/>
            <a:ext cx="45765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6C0CFC5E-3C70-BAD7-159C-250C3D6AF59B}"/>
              </a:ext>
            </a:extLst>
          </p:cNvPr>
          <p:cNvCxnSpPr>
            <a:cxnSpLocks/>
          </p:cNvCxnSpPr>
          <p:nvPr/>
        </p:nvCxnSpPr>
        <p:spPr bwMode="auto">
          <a:xfrm>
            <a:off x="2257024" y="3962400"/>
            <a:ext cx="0" cy="49174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8" name="직선 화살표 연결선 397">
            <a:extLst>
              <a:ext uri="{FF2B5EF4-FFF2-40B4-BE49-F238E27FC236}">
                <a16:creationId xmlns:a16="http://schemas.microsoft.com/office/drawing/2014/main" id="{14E70712-2F7B-91FA-D80C-1470780B079C}"/>
              </a:ext>
            </a:extLst>
          </p:cNvPr>
          <p:cNvCxnSpPr>
            <a:cxnSpLocks/>
          </p:cNvCxnSpPr>
          <p:nvPr/>
        </p:nvCxnSpPr>
        <p:spPr bwMode="auto">
          <a:xfrm>
            <a:off x="2253896" y="3962400"/>
            <a:ext cx="26126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8" name="TextBox 447">
            <a:extLst>
              <a:ext uri="{FF2B5EF4-FFF2-40B4-BE49-F238E27FC236}">
                <a16:creationId xmlns:a16="http://schemas.microsoft.com/office/drawing/2014/main" id="{6E709262-0FAE-F318-BD82-993F5E312E1C}"/>
              </a:ext>
            </a:extLst>
          </p:cNvPr>
          <p:cNvSpPr txBox="1"/>
          <p:nvPr/>
        </p:nvSpPr>
        <p:spPr>
          <a:xfrm rot="16200000">
            <a:off x="697149" y="4363096"/>
            <a:ext cx="8034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registers</a:t>
            </a:r>
            <a:endParaRPr lang="ko-KR" altLang="en-US" sz="1100"/>
          </a:p>
        </p:txBody>
      </p:sp>
      <p:sp>
        <p:nvSpPr>
          <p:cNvPr id="453" name="자유형: 도형 452">
            <a:extLst>
              <a:ext uri="{FF2B5EF4-FFF2-40B4-BE49-F238E27FC236}">
                <a16:creationId xmlns:a16="http://schemas.microsoft.com/office/drawing/2014/main" id="{45AF1ADC-8E6C-D9F0-A2EB-6E4AEDDD009F}"/>
              </a:ext>
            </a:extLst>
          </p:cNvPr>
          <p:cNvSpPr/>
          <p:nvPr/>
        </p:nvSpPr>
        <p:spPr bwMode="auto">
          <a:xfrm>
            <a:off x="3435920" y="3215639"/>
            <a:ext cx="343600" cy="715213"/>
          </a:xfrm>
          <a:custGeom>
            <a:avLst/>
            <a:gdLst>
              <a:gd name="connsiteX0" fmla="*/ 0 w 350520"/>
              <a:gd name="connsiteY0" fmla="*/ 712470 h 712470"/>
              <a:gd name="connsiteX1" fmla="*/ 350520 w 350520"/>
              <a:gd name="connsiteY1" fmla="*/ 0 h 712470"/>
              <a:gd name="connsiteX2" fmla="*/ 350520 w 350520"/>
              <a:gd name="connsiteY2" fmla="*/ 605790 h 712470"/>
              <a:gd name="connsiteX3" fmla="*/ 0 w 350520"/>
              <a:gd name="connsiteY3" fmla="*/ 712470 h 712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" h="712470">
                <a:moveTo>
                  <a:pt x="0" y="712470"/>
                </a:moveTo>
                <a:lnTo>
                  <a:pt x="350520" y="0"/>
                </a:lnTo>
                <a:lnTo>
                  <a:pt x="350520" y="605790"/>
                </a:lnTo>
                <a:lnTo>
                  <a:pt x="0" y="71247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E994D195-755A-4F11-7C9F-480E971FA746}"/>
              </a:ext>
            </a:extLst>
          </p:cNvPr>
          <p:cNvSpPr/>
          <p:nvPr/>
        </p:nvSpPr>
        <p:spPr bwMode="auto">
          <a:xfrm>
            <a:off x="3770955" y="3229637"/>
            <a:ext cx="809786" cy="5948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16E4CE73-D1A4-12F4-B8D1-0F768B35F330}"/>
              </a:ext>
            </a:extLst>
          </p:cNvPr>
          <p:cNvGrpSpPr/>
          <p:nvPr/>
        </p:nvGrpSpPr>
        <p:grpSpPr>
          <a:xfrm>
            <a:off x="3819467" y="3192115"/>
            <a:ext cx="713543" cy="261610"/>
            <a:chOff x="2817194" y="5105175"/>
            <a:chExt cx="512183" cy="261610"/>
          </a:xfrm>
        </p:grpSpPr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056ABE94-E3FD-29C7-CA83-3A02042781A9}"/>
                </a:ext>
              </a:extLst>
            </p:cNvPr>
            <p:cNvSpPr/>
            <p:nvPr/>
          </p:nvSpPr>
          <p:spPr bwMode="auto">
            <a:xfrm>
              <a:off x="2817194" y="5181053"/>
              <a:ext cx="512183" cy="1310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3D517179-0A34-3EEE-3E6A-1E3ED935D648}"/>
                </a:ext>
              </a:extLst>
            </p:cNvPr>
            <p:cNvSpPr txBox="1"/>
            <p:nvPr/>
          </p:nvSpPr>
          <p:spPr>
            <a:xfrm>
              <a:off x="2858322" y="5105175"/>
              <a:ext cx="4299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esp0</a:t>
              </a:r>
              <a:endParaRPr lang="ko-KR" altLang="en-US" sz="1100"/>
            </a:p>
          </p:txBody>
        </p: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3A220166-7C0B-A8DB-AE04-4F02D3A732F5}"/>
              </a:ext>
            </a:extLst>
          </p:cNvPr>
          <p:cNvGrpSpPr/>
          <p:nvPr/>
        </p:nvGrpSpPr>
        <p:grpSpPr>
          <a:xfrm>
            <a:off x="3819467" y="3365331"/>
            <a:ext cx="713543" cy="261610"/>
            <a:chOff x="2817194" y="5105175"/>
            <a:chExt cx="512183" cy="261610"/>
          </a:xfrm>
        </p:grpSpPr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736D1A72-742F-30EF-8D96-AD0996F7E378}"/>
                </a:ext>
              </a:extLst>
            </p:cNvPr>
            <p:cNvSpPr/>
            <p:nvPr/>
          </p:nvSpPr>
          <p:spPr bwMode="auto">
            <a:xfrm>
              <a:off x="2817194" y="5181053"/>
              <a:ext cx="512183" cy="1310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E38B1E41-8F86-F89B-3A67-8AF9CB587C4F}"/>
                </a:ext>
              </a:extLst>
            </p:cNvPr>
            <p:cNvSpPr txBox="1"/>
            <p:nvPr/>
          </p:nvSpPr>
          <p:spPr>
            <a:xfrm>
              <a:off x="2858322" y="5105175"/>
              <a:ext cx="4299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ss0</a:t>
              </a:r>
              <a:endParaRPr lang="ko-KR" altLang="en-US" sz="1100"/>
            </a:p>
          </p:txBody>
        </p:sp>
      </p:grpSp>
      <p:sp>
        <p:nvSpPr>
          <p:cNvPr id="423" name="TextBox 422">
            <a:extLst>
              <a:ext uri="{FF2B5EF4-FFF2-40B4-BE49-F238E27FC236}">
                <a16:creationId xmlns:a16="http://schemas.microsoft.com/office/drawing/2014/main" id="{47518537-59C5-E5F2-52D9-EC990C5350EF}"/>
              </a:ext>
            </a:extLst>
          </p:cNvPr>
          <p:cNvSpPr txBox="1"/>
          <p:nvPr/>
        </p:nvSpPr>
        <p:spPr>
          <a:xfrm>
            <a:off x="3695398" y="3011932"/>
            <a:ext cx="4635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TSS</a:t>
            </a:r>
            <a:endParaRPr lang="ko-KR" altLang="en-US" sz="1100"/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FABEF870-0255-CC78-C620-F2372755D62A}"/>
              </a:ext>
            </a:extLst>
          </p:cNvPr>
          <p:cNvGrpSpPr/>
          <p:nvPr/>
        </p:nvGrpSpPr>
        <p:grpSpPr>
          <a:xfrm>
            <a:off x="3819467" y="3546011"/>
            <a:ext cx="713543" cy="261610"/>
            <a:chOff x="2817194" y="5105175"/>
            <a:chExt cx="512183" cy="261610"/>
          </a:xfrm>
        </p:grpSpPr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AFB5AE92-98CB-EF55-782E-C5C600340CA1}"/>
                </a:ext>
              </a:extLst>
            </p:cNvPr>
            <p:cNvSpPr/>
            <p:nvPr/>
          </p:nvSpPr>
          <p:spPr bwMode="auto">
            <a:xfrm>
              <a:off x="2817194" y="5181053"/>
              <a:ext cx="512183" cy="1310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5885E0A8-A1F4-E370-3F09-407702D78271}"/>
                </a:ext>
              </a:extLst>
            </p:cNvPr>
            <p:cNvSpPr txBox="1"/>
            <p:nvPr/>
          </p:nvSpPr>
          <p:spPr>
            <a:xfrm>
              <a:off x="2858322" y="5105175"/>
              <a:ext cx="4299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...</a:t>
              </a:r>
              <a:endParaRPr lang="ko-KR" altLang="en-US" sz="1100"/>
            </a:p>
          </p:txBody>
        </p:sp>
      </p:grpSp>
      <p:sp>
        <p:nvSpPr>
          <p:cNvPr id="454" name="자유형: 도형 453">
            <a:extLst>
              <a:ext uri="{FF2B5EF4-FFF2-40B4-BE49-F238E27FC236}">
                <a16:creationId xmlns:a16="http://schemas.microsoft.com/office/drawing/2014/main" id="{9F14B7CD-FE02-FAFB-B181-0AE070979DE9}"/>
              </a:ext>
            </a:extLst>
          </p:cNvPr>
          <p:cNvSpPr/>
          <p:nvPr/>
        </p:nvSpPr>
        <p:spPr bwMode="auto">
          <a:xfrm flipH="1">
            <a:off x="2164943" y="3215639"/>
            <a:ext cx="343600" cy="715213"/>
          </a:xfrm>
          <a:custGeom>
            <a:avLst/>
            <a:gdLst>
              <a:gd name="connsiteX0" fmla="*/ 0 w 350520"/>
              <a:gd name="connsiteY0" fmla="*/ 712470 h 712470"/>
              <a:gd name="connsiteX1" fmla="*/ 350520 w 350520"/>
              <a:gd name="connsiteY1" fmla="*/ 0 h 712470"/>
              <a:gd name="connsiteX2" fmla="*/ 350520 w 350520"/>
              <a:gd name="connsiteY2" fmla="*/ 605790 h 712470"/>
              <a:gd name="connsiteX3" fmla="*/ 0 w 350520"/>
              <a:gd name="connsiteY3" fmla="*/ 712470 h 712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" h="712470">
                <a:moveTo>
                  <a:pt x="0" y="712470"/>
                </a:moveTo>
                <a:lnTo>
                  <a:pt x="350520" y="0"/>
                </a:lnTo>
                <a:lnTo>
                  <a:pt x="350520" y="605790"/>
                </a:lnTo>
                <a:lnTo>
                  <a:pt x="0" y="71247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5106320E-488A-4A0D-5699-D2A07D50B680}"/>
              </a:ext>
            </a:extLst>
          </p:cNvPr>
          <p:cNvSpPr txBox="1"/>
          <p:nvPr/>
        </p:nvSpPr>
        <p:spPr>
          <a:xfrm>
            <a:off x="3726834" y="1964489"/>
            <a:ext cx="10599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Kernel stack</a:t>
            </a:r>
            <a:endParaRPr lang="ko-KR" altLang="en-US" sz="1100"/>
          </a:p>
        </p:txBody>
      </p:sp>
      <p:sp>
        <p:nvSpPr>
          <p:cNvPr id="412" name="직사각형 411">
            <a:extLst>
              <a:ext uri="{FF2B5EF4-FFF2-40B4-BE49-F238E27FC236}">
                <a16:creationId xmlns:a16="http://schemas.microsoft.com/office/drawing/2014/main" id="{A5242372-94AC-3F67-6BF7-0728E023D829}"/>
              </a:ext>
            </a:extLst>
          </p:cNvPr>
          <p:cNvSpPr/>
          <p:nvPr/>
        </p:nvSpPr>
        <p:spPr bwMode="auto">
          <a:xfrm>
            <a:off x="1354469" y="3231014"/>
            <a:ext cx="809786" cy="5948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966F36A9-5F74-815B-BCD1-48BD90DB0B50}"/>
              </a:ext>
            </a:extLst>
          </p:cNvPr>
          <p:cNvSpPr txBox="1"/>
          <p:nvPr/>
        </p:nvSpPr>
        <p:spPr>
          <a:xfrm>
            <a:off x="1302843" y="301330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IDT</a:t>
            </a:r>
            <a:endParaRPr lang="ko-KR" altLang="en-US" sz="1100"/>
          </a:p>
        </p:txBody>
      </p:sp>
      <p:sp>
        <p:nvSpPr>
          <p:cNvPr id="425" name="직사각형 424">
            <a:extLst>
              <a:ext uri="{FF2B5EF4-FFF2-40B4-BE49-F238E27FC236}">
                <a16:creationId xmlns:a16="http://schemas.microsoft.com/office/drawing/2014/main" id="{F65D9858-C026-2D93-F60C-10461AA62FE1}"/>
              </a:ext>
            </a:extLst>
          </p:cNvPr>
          <p:cNvSpPr/>
          <p:nvPr/>
        </p:nvSpPr>
        <p:spPr bwMode="auto">
          <a:xfrm>
            <a:off x="1414764" y="3529246"/>
            <a:ext cx="698146" cy="236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427" name="직선 연결선 426">
            <a:extLst>
              <a:ext uri="{FF2B5EF4-FFF2-40B4-BE49-F238E27FC236}">
                <a16:creationId xmlns:a16="http://schemas.microsoft.com/office/drawing/2014/main" id="{05E0F0C9-0461-84FA-EF1C-0A08B19BDFEE}"/>
              </a:ext>
            </a:extLst>
          </p:cNvPr>
          <p:cNvCxnSpPr>
            <a:cxnSpLocks/>
            <a:stCxn id="425" idx="1"/>
          </p:cNvCxnSpPr>
          <p:nvPr/>
        </p:nvCxnSpPr>
        <p:spPr bwMode="auto">
          <a:xfrm>
            <a:off x="1414764" y="3647526"/>
            <a:ext cx="31714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2" name="직선 연결선 431">
            <a:extLst>
              <a:ext uri="{FF2B5EF4-FFF2-40B4-BE49-F238E27FC236}">
                <a16:creationId xmlns:a16="http://schemas.microsoft.com/office/drawing/2014/main" id="{A9F93C06-0706-6E1F-2BB2-7E2815A6B35F}"/>
              </a:ext>
            </a:extLst>
          </p:cNvPr>
          <p:cNvCxnSpPr>
            <a:cxnSpLocks/>
          </p:cNvCxnSpPr>
          <p:nvPr/>
        </p:nvCxnSpPr>
        <p:spPr bwMode="auto">
          <a:xfrm>
            <a:off x="1795764" y="3647526"/>
            <a:ext cx="31714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3" name="직선 연결선 432">
            <a:extLst>
              <a:ext uri="{FF2B5EF4-FFF2-40B4-BE49-F238E27FC236}">
                <a16:creationId xmlns:a16="http://schemas.microsoft.com/office/drawing/2014/main" id="{99B76A12-E0CE-C16C-4F47-FEC651D1F29C}"/>
              </a:ext>
            </a:extLst>
          </p:cNvPr>
          <p:cNvCxnSpPr>
            <a:cxnSpLocks/>
          </p:cNvCxnSpPr>
          <p:nvPr/>
        </p:nvCxnSpPr>
        <p:spPr bwMode="auto">
          <a:xfrm flipV="1">
            <a:off x="1731910" y="3647526"/>
            <a:ext cx="0" cy="1182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9" name="직선 연결선 438">
            <a:extLst>
              <a:ext uri="{FF2B5EF4-FFF2-40B4-BE49-F238E27FC236}">
                <a16:creationId xmlns:a16="http://schemas.microsoft.com/office/drawing/2014/main" id="{EDE93EF2-B194-6E1F-009B-6F9B843B00EB}"/>
              </a:ext>
            </a:extLst>
          </p:cNvPr>
          <p:cNvCxnSpPr>
            <a:cxnSpLocks/>
          </p:cNvCxnSpPr>
          <p:nvPr/>
        </p:nvCxnSpPr>
        <p:spPr bwMode="auto">
          <a:xfrm flipV="1">
            <a:off x="1799574" y="3531711"/>
            <a:ext cx="0" cy="1182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0" name="직선 연결선 439">
            <a:extLst>
              <a:ext uri="{FF2B5EF4-FFF2-40B4-BE49-F238E27FC236}">
                <a16:creationId xmlns:a16="http://schemas.microsoft.com/office/drawing/2014/main" id="{BF8073DF-AF84-B355-634F-7479559C45C2}"/>
              </a:ext>
            </a:extLst>
          </p:cNvPr>
          <p:cNvCxnSpPr>
            <a:cxnSpLocks/>
          </p:cNvCxnSpPr>
          <p:nvPr/>
        </p:nvCxnSpPr>
        <p:spPr bwMode="auto">
          <a:xfrm>
            <a:off x="1878162" y="3704921"/>
            <a:ext cx="0" cy="406375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460" name="직선 연결선 459">
            <a:extLst>
              <a:ext uri="{FF2B5EF4-FFF2-40B4-BE49-F238E27FC236}">
                <a16:creationId xmlns:a16="http://schemas.microsoft.com/office/drawing/2014/main" id="{57E86CFD-F941-0787-9AA3-D9CF41D9E3BA}"/>
              </a:ext>
            </a:extLst>
          </p:cNvPr>
          <p:cNvCxnSpPr>
            <a:cxnSpLocks/>
          </p:cNvCxnSpPr>
          <p:nvPr/>
        </p:nvCxnSpPr>
        <p:spPr bwMode="auto">
          <a:xfrm flipV="1">
            <a:off x="1600200" y="4089109"/>
            <a:ext cx="0" cy="258101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64" name="직사각형 463">
            <a:extLst>
              <a:ext uri="{FF2B5EF4-FFF2-40B4-BE49-F238E27FC236}">
                <a16:creationId xmlns:a16="http://schemas.microsoft.com/office/drawing/2014/main" id="{D97E7FEB-5E9F-B777-C545-DD323CF4A3EF}"/>
              </a:ext>
            </a:extLst>
          </p:cNvPr>
          <p:cNvSpPr/>
          <p:nvPr/>
        </p:nvSpPr>
        <p:spPr bwMode="auto">
          <a:xfrm>
            <a:off x="3803485" y="5222058"/>
            <a:ext cx="908040" cy="2616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6F37E038-5FC9-7CBB-E5CB-E814AB647B2B}"/>
              </a:ext>
            </a:extLst>
          </p:cNvPr>
          <p:cNvCxnSpPr>
            <a:cxnSpLocks/>
          </p:cNvCxnSpPr>
          <p:nvPr/>
        </p:nvCxnSpPr>
        <p:spPr bwMode="auto">
          <a:xfrm>
            <a:off x="4449994" y="3331491"/>
            <a:ext cx="0" cy="760697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466" name="TextBox 465">
            <a:extLst>
              <a:ext uri="{FF2B5EF4-FFF2-40B4-BE49-F238E27FC236}">
                <a16:creationId xmlns:a16="http://schemas.microsoft.com/office/drawing/2014/main" id="{415FF54B-A434-199C-E270-76FBD7276BE8}"/>
              </a:ext>
            </a:extLst>
          </p:cNvPr>
          <p:cNvSpPr txBox="1"/>
          <p:nvPr/>
        </p:nvSpPr>
        <p:spPr>
          <a:xfrm>
            <a:off x="1337198" y="3317608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0x30</a:t>
            </a:r>
            <a:endParaRPr lang="ko-KR" altLang="en-US" sz="1100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BB0FD207-909F-0057-48AF-7DDAD12BEAFF}"/>
              </a:ext>
            </a:extLst>
          </p:cNvPr>
          <p:cNvCxnSpPr/>
          <p:nvPr/>
        </p:nvCxnSpPr>
        <p:spPr bwMode="auto">
          <a:xfrm flipH="1">
            <a:off x="4708819" y="2760481"/>
            <a:ext cx="21068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B1B908-F70B-CBED-0CB3-51ABA3588261}"/>
              </a:ext>
            </a:extLst>
          </p:cNvPr>
          <p:cNvSpPr/>
          <p:nvPr/>
        </p:nvSpPr>
        <p:spPr bwMode="auto">
          <a:xfrm>
            <a:off x="3803473" y="5473398"/>
            <a:ext cx="908040" cy="140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107C4C-D160-5E64-95FE-4C507672FDAE}"/>
              </a:ext>
            </a:extLst>
          </p:cNvPr>
          <p:cNvSpPr/>
          <p:nvPr/>
        </p:nvSpPr>
        <p:spPr bwMode="auto">
          <a:xfrm>
            <a:off x="3803473" y="5612796"/>
            <a:ext cx="908040" cy="140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8119B1-EA49-8D7B-EE89-673DD7A0029B}"/>
              </a:ext>
            </a:extLst>
          </p:cNvPr>
          <p:cNvSpPr txBox="1"/>
          <p:nvPr/>
        </p:nvSpPr>
        <p:spPr>
          <a:xfrm>
            <a:off x="4010566" y="5391042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args</a:t>
            </a:r>
            <a:endParaRPr lang="ko-KR" altLang="en-US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CADAF2-AC51-ADE9-65E0-3BC3A479182A}"/>
              </a:ext>
            </a:extLst>
          </p:cNvPr>
          <p:cNvSpPr txBox="1"/>
          <p:nvPr/>
        </p:nvSpPr>
        <p:spPr>
          <a:xfrm>
            <a:off x="3845456" y="5536158"/>
            <a:ext cx="8226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sys_num</a:t>
            </a:r>
            <a:endParaRPr lang="ko-KR" altLang="en-US" sz="110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0A226F1-246C-9C4F-B543-B6FDB0DD1504}"/>
              </a:ext>
            </a:extLst>
          </p:cNvPr>
          <p:cNvCxnSpPr>
            <a:cxnSpLocks/>
          </p:cNvCxnSpPr>
          <p:nvPr/>
        </p:nvCxnSpPr>
        <p:spPr bwMode="auto">
          <a:xfrm>
            <a:off x="4267200" y="4092188"/>
            <a:ext cx="182794" cy="0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FE325E7-3100-E983-2A95-0B16B8577725}"/>
              </a:ext>
            </a:extLst>
          </p:cNvPr>
          <p:cNvCxnSpPr>
            <a:cxnSpLocks/>
          </p:cNvCxnSpPr>
          <p:nvPr/>
        </p:nvCxnSpPr>
        <p:spPr bwMode="auto">
          <a:xfrm flipV="1">
            <a:off x="4267200" y="4092188"/>
            <a:ext cx="0" cy="255022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A0B30A1-600E-D24B-0DA1-3E4E25AC4C25}"/>
              </a:ext>
            </a:extLst>
          </p:cNvPr>
          <p:cNvCxnSpPr>
            <a:cxnSpLocks/>
          </p:cNvCxnSpPr>
          <p:nvPr/>
        </p:nvCxnSpPr>
        <p:spPr bwMode="auto">
          <a:xfrm>
            <a:off x="1600200" y="4092188"/>
            <a:ext cx="284437" cy="0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5" name="직선 화살표 연결선 454">
            <a:extLst>
              <a:ext uri="{FF2B5EF4-FFF2-40B4-BE49-F238E27FC236}">
                <a16:creationId xmlns:a16="http://schemas.microsoft.com/office/drawing/2014/main" id="{F609D4B7-3305-5BE6-1479-D73FC474179E}"/>
              </a:ext>
            </a:extLst>
          </p:cNvPr>
          <p:cNvCxnSpPr>
            <a:cxnSpLocks/>
          </p:cNvCxnSpPr>
          <p:nvPr/>
        </p:nvCxnSpPr>
        <p:spPr bwMode="auto">
          <a:xfrm>
            <a:off x="2253896" y="3962400"/>
            <a:ext cx="26126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457" name="사각형: 둥근 모서리 456">
            <a:extLst>
              <a:ext uri="{FF2B5EF4-FFF2-40B4-BE49-F238E27FC236}">
                <a16:creationId xmlns:a16="http://schemas.microsoft.com/office/drawing/2014/main" id="{58A41EA3-090B-074F-0B7A-8F0F830A89D8}"/>
              </a:ext>
            </a:extLst>
          </p:cNvPr>
          <p:cNvSpPr/>
          <p:nvPr/>
        </p:nvSpPr>
        <p:spPr bwMode="auto">
          <a:xfrm>
            <a:off x="1355526" y="4590731"/>
            <a:ext cx="757384" cy="21032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AC4ADDAD-D21B-A267-7960-4F1210984292}"/>
              </a:ext>
            </a:extLst>
          </p:cNvPr>
          <p:cNvSpPr txBox="1"/>
          <p:nvPr/>
        </p:nvSpPr>
        <p:spPr>
          <a:xfrm>
            <a:off x="1329555" y="4565269"/>
            <a:ext cx="8177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cs.dpl=0</a:t>
            </a:r>
            <a:endParaRPr lang="ko-KR" altLang="en-US" sz="1100"/>
          </a:p>
        </p:txBody>
      </p:sp>
      <p:cxnSp>
        <p:nvCxnSpPr>
          <p:cNvPr id="461" name="직선 연결선 460">
            <a:extLst>
              <a:ext uri="{FF2B5EF4-FFF2-40B4-BE49-F238E27FC236}">
                <a16:creationId xmlns:a16="http://schemas.microsoft.com/office/drawing/2014/main" id="{3E37DEE1-2B4A-6A55-CB1A-50E0205AF6C0}"/>
              </a:ext>
            </a:extLst>
          </p:cNvPr>
          <p:cNvCxnSpPr>
            <a:cxnSpLocks/>
          </p:cNvCxnSpPr>
          <p:nvPr/>
        </p:nvCxnSpPr>
        <p:spPr bwMode="auto">
          <a:xfrm flipH="1">
            <a:off x="914400" y="3704921"/>
            <a:ext cx="609600" cy="0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469" name="직선 연결선 468">
            <a:extLst>
              <a:ext uri="{FF2B5EF4-FFF2-40B4-BE49-F238E27FC236}">
                <a16:creationId xmlns:a16="http://schemas.microsoft.com/office/drawing/2014/main" id="{3380EF6A-EA81-4C6A-8C42-3D18749F94C3}"/>
              </a:ext>
            </a:extLst>
          </p:cNvPr>
          <p:cNvCxnSpPr>
            <a:cxnSpLocks/>
          </p:cNvCxnSpPr>
          <p:nvPr/>
        </p:nvCxnSpPr>
        <p:spPr bwMode="auto">
          <a:xfrm flipV="1">
            <a:off x="914400" y="3704921"/>
            <a:ext cx="0" cy="1295786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2" name="직선 연결선 471">
            <a:extLst>
              <a:ext uri="{FF2B5EF4-FFF2-40B4-BE49-F238E27FC236}">
                <a16:creationId xmlns:a16="http://schemas.microsoft.com/office/drawing/2014/main" id="{4E07A384-598E-75D8-2931-A6DDDAFC6400}"/>
              </a:ext>
            </a:extLst>
          </p:cNvPr>
          <p:cNvCxnSpPr>
            <a:cxnSpLocks/>
          </p:cNvCxnSpPr>
          <p:nvPr/>
        </p:nvCxnSpPr>
        <p:spPr bwMode="auto">
          <a:xfrm>
            <a:off x="914400" y="5000707"/>
            <a:ext cx="685800" cy="0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4" name="직선 연결선 473">
            <a:extLst>
              <a:ext uri="{FF2B5EF4-FFF2-40B4-BE49-F238E27FC236}">
                <a16:creationId xmlns:a16="http://schemas.microsoft.com/office/drawing/2014/main" id="{425003C7-11E3-BAF9-D305-0191D4F7B892}"/>
              </a:ext>
            </a:extLst>
          </p:cNvPr>
          <p:cNvCxnSpPr>
            <a:cxnSpLocks/>
          </p:cNvCxnSpPr>
          <p:nvPr/>
        </p:nvCxnSpPr>
        <p:spPr bwMode="auto">
          <a:xfrm flipV="1">
            <a:off x="1600200" y="4793723"/>
            <a:ext cx="0" cy="206984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6" name="Rectangle 3">
            <a:extLst>
              <a:ext uri="{FF2B5EF4-FFF2-40B4-BE49-F238E27FC236}">
                <a16:creationId xmlns:a16="http://schemas.microsoft.com/office/drawing/2014/main" id="{FE25C42D-E401-DEAD-115B-641E944B1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455" y="2959379"/>
            <a:ext cx="3423950" cy="84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600">
                <a:solidFill>
                  <a:srgbClr val="0000FF"/>
                </a:solidFill>
              </a:rPr>
              <a:t>EIP </a:t>
            </a:r>
            <a:r>
              <a:rPr lang="en-US" altLang="ko-KR" sz="1600"/>
              <a:t>is set to the interrupt handler address, and </a:t>
            </a:r>
            <a:r>
              <a:rPr lang="en-US" altLang="ko-KR" sz="1600">
                <a:solidFill>
                  <a:srgbClr val="0000FF"/>
                </a:solidFill>
              </a:rPr>
              <a:t>CPL</a:t>
            </a:r>
            <a:r>
              <a:rPr lang="en-US" altLang="ko-KR" sz="1600"/>
              <a:t> is promoted to 0.</a:t>
            </a:r>
            <a:endParaRPr lang="en-US" altLang="ko-KR" sz="12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latinLnBrk="1"/>
            <a:endParaRPr lang="en-US" altLang="ko-KR" sz="1600" kern="0">
              <a:latin typeface="+mj-lt"/>
            </a:endParaRPr>
          </a:p>
        </p:txBody>
      </p:sp>
      <p:sp>
        <p:nvSpPr>
          <p:cNvPr id="477" name="직사각형 476">
            <a:extLst>
              <a:ext uri="{FF2B5EF4-FFF2-40B4-BE49-F238E27FC236}">
                <a16:creationId xmlns:a16="http://schemas.microsoft.com/office/drawing/2014/main" id="{059C6E2F-2012-04F3-1578-D824B19DCA22}"/>
              </a:ext>
            </a:extLst>
          </p:cNvPr>
          <p:cNvSpPr/>
          <p:nvPr/>
        </p:nvSpPr>
        <p:spPr bwMode="auto">
          <a:xfrm>
            <a:off x="3803473" y="2196555"/>
            <a:ext cx="908040" cy="140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78" name="직사각형 477">
            <a:extLst>
              <a:ext uri="{FF2B5EF4-FFF2-40B4-BE49-F238E27FC236}">
                <a16:creationId xmlns:a16="http://schemas.microsoft.com/office/drawing/2014/main" id="{D47F3C75-0462-8710-C328-A1ECBDFC26BA}"/>
              </a:ext>
            </a:extLst>
          </p:cNvPr>
          <p:cNvSpPr/>
          <p:nvPr/>
        </p:nvSpPr>
        <p:spPr bwMode="auto">
          <a:xfrm>
            <a:off x="3803473" y="2340029"/>
            <a:ext cx="908040" cy="140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79" name="직사각형 478">
            <a:extLst>
              <a:ext uri="{FF2B5EF4-FFF2-40B4-BE49-F238E27FC236}">
                <a16:creationId xmlns:a16="http://schemas.microsoft.com/office/drawing/2014/main" id="{B7B63FB6-E09C-3405-3513-928203C6B6F8}"/>
              </a:ext>
            </a:extLst>
          </p:cNvPr>
          <p:cNvSpPr/>
          <p:nvPr/>
        </p:nvSpPr>
        <p:spPr bwMode="auto">
          <a:xfrm>
            <a:off x="3803473" y="2478143"/>
            <a:ext cx="908040" cy="140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5FC5B236-681C-0D9F-D32A-55285F908885}"/>
              </a:ext>
            </a:extLst>
          </p:cNvPr>
          <p:cNvSpPr/>
          <p:nvPr/>
        </p:nvSpPr>
        <p:spPr bwMode="auto">
          <a:xfrm>
            <a:off x="3803473" y="2617588"/>
            <a:ext cx="908040" cy="140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20A3E61A-773F-D730-1543-B02B6C03B17F}"/>
              </a:ext>
            </a:extLst>
          </p:cNvPr>
          <p:cNvSpPr txBox="1"/>
          <p:nvPr/>
        </p:nvSpPr>
        <p:spPr>
          <a:xfrm>
            <a:off x="3927192" y="2265640"/>
            <a:ext cx="704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usr esp</a:t>
            </a:r>
            <a:endParaRPr lang="ko-KR" altLang="en-US" sz="1100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57E508CD-C649-9ED0-2FD7-E0C0E9A791FA}"/>
              </a:ext>
            </a:extLst>
          </p:cNvPr>
          <p:cNvSpPr txBox="1"/>
          <p:nvPr/>
        </p:nvSpPr>
        <p:spPr>
          <a:xfrm>
            <a:off x="3927192" y="2547208"/>
            <a:ext cx="6687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usr eip</a:t>
            </a:r>
            <a:endParaRPr lang="ko-KR" altLang="en-US" sz="1100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5FA8E7CD-9380-64ED-543E-D42AB5BBFF63}"/>
              </a:ext>
            </a:extLst>
          </p:cNvPr>
          <p:cNvSpPr txBox="1"/>
          <p:nvPr/>
        </p:nvSpPr>
        <p:spPr>
          <a:xfrm>
            <a:off x="3927192" y="2410239"/>
            <a:ext cx="338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...</a:t>
            </a:r>
            <a:endParaRPr lang="ko-KR" altLang="en-US" sz="1100"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1172EA28-2A53-8F73-CC34-45C83C36D152}"/>
              </a:ext>
            </a:extLst>
          </p:cNvPr>
          <p:cNvSpPr txBox="1"/>
          <p:nvPr/>
        </p:nvSpPr>
        <p:spPr>
          <a:xfrm>
            <a:off x="3927192" y="2132917"/>
            <a:ext cx="338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...</a:t>
            </a:r>
            <a:endParaRPr lang="ko-KR" altLang="en-US" sz="1100"/>
          </a:p>
        </p:txBody>
      </p:sp>
      <p:cxnSp>
        <p:nvCxnSpPr>
          <p:cNvPr id="297" name="직선 화살표 연결선 296">
            <a:extLst>
              <a:ext uri="{FF2B5EF4-FFF2-40B4-BE49-F238E27FC236}">
                <a16:creationId xmlns:a16="http://schemas.microsoft.com/office/drawing/2014/main" id="{07EC84B3-76B2-3825-5784-52CBF3029F76}"/>
              </a:ext>
            </a:extLst>
          </p:cNvPr>
          <p:cNvCxnSpPr>
            <a:cxnSpLocks/>
          </p:cNvCxnSpPr>
          <p:nvPr/>
        </p:nvCxnSpPr>
        <p:spPr bwMode="auto">
          <a:xfrm flipH="1">
            <a:off x="3435920" y="5604355"/>
            <a:ext cx="14548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298" name="직선 연결선 297">
            <a:extLst>
              <a:ext uri="{FF2B5EF4-FFF2-40B4-BE49-F238E27FC236}">
                <a16:creationId xmlns:a16="http://schemas.microsoft.com/office/drawing/2014/main" id="{58276C08-EDA3-0BC7-0D86-ADF56788AF41}"/>
              </a:ext>
            </a:extLst>
          </p:cNvPr>
          <p:cNvCxnSpPr>
            <a:cxnSpLocks/>
          </p:cNvCxnSpPr>
          <p:nvPr/>
        </p:nvCxnSpPr>
        <p:spPr bwMode="auto">
          <a:xfrm>
            <a:off x="4640303" y="2410995"/>
            <a:ext cx="4417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oval" w="med" len="med"/>
            <a:tailEnd type="none" w="med" len="med"/>
          </a:ln>
          <a:effectLst/>
        </p:spPr>
      </p:cxnSp>
      <p:cxnSp>
        <p:nvCxnSpPr>
          <p:cNvPr id="299" name="직선 연결선 298">
            <a:extLst>
              <a:ext uri="{FF2B5EF4-FFF2-40B4-BE49-F238E27FC236}">
                <a16:creationId xmlns:a16="http://schemas.microsoft.com/office/drawing/2014/main" id="{3AF443BA-F471-AB92-E9AB-4BF760507746}"/>
              </a:ext>
            </a:extLst>
          </p:cNvPr>
          <p:cNvCxnSpPr>
            <a:cxnSpLocks/>
          </p:cNvCxnSpPr>
          <p:nvPr/>
        </p:nvCxnSpPr>
        <p:spPr bwMode="auto">
          <a:xfrm flipV="1">
            <a:off x="5105400" y="2438400"/>
            <a:ext cx="0" cy="3276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06" name="직선 연결선 305">
            <a:extLst>
              <a:ext uri="{FF2B5EF4-FFF2-40B4-BE49-F238E27FC236}">
                <a16:creationId xmlns:a16="http://schemas.microsoft.com/office/drawing/2014/main" id="{B2E1B03B-50B0-9923-7606-BF0EAD4DEF3C}"/>
              </a:ext>
            </a:extLst>
          </p:cNvPr>
          <p:cNvCxnSpPr>
            <a:cxnSpLocks/>
          </p:cNvCxnSpPr>
          <p:nvPr/>
        </p:nvCxnSpPr>
        <p:spPr bwMode="auto">
          <a:xfrm flipH="1">
            <a:off x="3585094" y="2686050"/>
            <a:ext cx="32777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oval" w="med" len="med"/>
            <a:tailEnd type="none" w="med" len="med"/>
          </a:ln>
          <a:effectLst/>
        </p:spPr>
      </p:cxnSp>
      <p:cxnSp>
        <p:nvCxnSpPr>
          <p:cNvPr id="310" name="직선 연결선 309">
            <a:extLst>
              <a:ext uri="{FF2B5EF4-FFF2-40B4-BE49-F238E27FC236}">
                <a16:creationId xmlns:a16="http://schemas.microsoft.com/office/drawing/2014/main" id="{460AFF11-405D-6D4E-A090-FC8208C69B31}"/>
              </a:ext>
            </a:extLst>
          </p:cNvPr>
          <p:cNvCxnSpPr>
            <a:cxnSpLocks/>
          </p:cNvCxnSpPr>
          <p:nvPr/>
        </p:nvCxnSpPr>
        <p:spPr bwMode="auto">
          <a:xfrm flipV="1">
            <a:off x="3581400" y="2667000"/>
            <a:ext cx="0" cy="294579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98052CDD-8C3C-6EBD-9539-421D4DFBB8F4}"/>
              </a:ext>
            </a:extLst>
          </p:cNvPr>
          <p:cNvCxnSpPr>
            <a:cxnSpLocks/>
          </p:cNvCxnSpPr>
          <p:nvPr/>
        </p:nvCxnSpPr>
        <p:spPr bwMode="auto">
          <a:xfrm flipH="1">
            <a:off x="4724400" y="5715000"/>
            <a:ext cx="381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19" name="Rectangle 3">
            <a:extLst>
              <a:ext uri="{FF2B5EF4-FFF2-40B4-BE49-F238E27FC236}">
                <a16:creationId xmlns:a16="http://schemas.microsoft.com/office/drawing/2014/main" id="{B6C0C464-CCE5-05F1-EC72-A0E16B25B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455" y="3916719"/>
            <a:ext cx="3423950" cy="852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600">
                <a:solidFill>
                  <a:srgbClr val="0000FF"/>
                </a:solidFill>
              </a:rPr>
              <a:t>ESP</a:t>
            </a:r>
            <a:r>
              <a:rPr lang="en-US" altLang="ko-KR" sz="1600"/>
              <a:t> is changed to the top of the kernel stack, and </a:t>
            </a:r>
            <a:r>
              <a:rPr lang="en-US" altLang="ko-KR" sz="1600">
                <a:solidFill>
                  <a:srgbClr val="0000FF"/>
                </a:solidFill>
              </a:rPr>
              <a:t>The user context</a:t>
            </a:r>
            <a:r>
              <a:rPr lang="en-US" altLang="ko-KR" sz="1600"/>
              <a:t>'s EIP and ESP are saved on the kernel stack.</a:t>
            </a:r>
            <a:endParaRPr lang="en-US" altLang="ko-KR" sz="16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600" kern="0">
              <a:latin typeface="+mj-lt"/>
            </a:endParaRPr>
          </a:p>
          <a:p>
            <a:pPr latinLnBrk="1"/>
            <a:endParaRPr lang="en-US" altLang="ko-KR" sz="1600" kern="0">
              <a:latin typeface="+mj-lt"/>
            </a:endParaRPr>
          </a:p>
        </p:txBody>
      </p:sp>
      <p:sp>
        <p:nvSpPr>
          <p:cNvPr id="120" name="Rectangle 3">
            <a:extLst>
              <a:ext uri="{FF2B5EF4-FFF2-40B4-BE49-F238E27FC236}">
                <a16:creationId xmlns:a16="http://schemas.microsoft.com/office/drawing/2014/main" id="{334BAABB-6308-0FA4-1136-B199505C5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455" y="5263050"/>
            <a:ext cx="3423950" cy="852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600" b="1">
                <a:solidFill>
                  <a:srgbClr val="FF0000"/>
                </a:solidFill>
              </a:rPr>
              <a:t>All of this is performed automatically by the x86 architecture!</a:t>
            </a:r>
            <a:endParaRPr lang="en-US" altLang="ko-KR" sz="1600" b="1" kern="0">
              <a:solidFill>
                <a:srgbClr val="FF0000"/>
              </a:solidFill>
              <a:latin typeface="+mj-lt"/>
            </a:endParaRPr>
          </a:p>
          <a:p>
            <a:pPr latinLnBrk="1"/>
            <a:endParaRPr lang="en-US" altLang="ko-KR" sz="1600" kern="0">
              <a:latin typeface="+mj-lt"/>
            </a:endParaRPr>
          </a:p>
        </p:txBody>
      </p:sp>
      <p:sp>
        <p:nvSpPr>
          <p:cNvPr id="121" name="자유형: 도형 120">
            <a:extLst>
              <a:ext uri="{FF2B5EF4-FFF2-40B4-BE49-F238E27FC236}">
                <a16:creationId xmlns:a16="http://schemas.microsoft.com/office/drawing/2014/main" id="{68738094-94CE-8C41-A1C3-B849788BBD8C}"/>
              </a:ext>
            </a:extLst>
          </p:cNvPr>
          <p:cNvSpPr/>
          <p:nvPr/>
        </p:nvSpPr>
        <p:spPr bwMode="auto">
          <a:xfrm>
            <a:off x="3431540" y="2194560"/>
            <a:ext cx="375920" cy="1374140"/>
          </a:xfrm>
          <a:custGeom>
            <a:avLst/>
            <a:gdLst>
              <a:gd name="connsiteX0" fmla="*/ 0 w 375920"/>
              <a:gd name="connsiteY0" fmla="*/ 1374140 h 1374140"/>
              <a:gd name="connsiteX1" fmla="*/ 375920 w 375920"/>
              <a:gd name="connsiteY1" fmla="*/ 0 h 1374140"/>
              <a:gd name="connsiteX2" fmla="*/ 373380 w 375920"/>
              <a:gd name="connsiteY2" fmla="*/ 584200 h 1374140"/>
              <a:gd name="connsiteX3" fmla="*/ 0 w 375920"/>
              <a:gd name="connsiteY3" fmla="*/ 1374140 h 1374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920" h="1374140">
                <a:moveTo>
                  <a:pt x="0" y="1374140"/>
                </a:moveTo>
                <a:lnTo>
                  <a:pt x="375920" y="0"/>
                </a:lnTo>
                <a:cubicBezTo>
                  <a:pt x="375073" y="194733"/>
                  <a:pt x="374227" y="389467"/>
                  <a:pt x="373380" y="584200"/>
                </a:cubicBezTo>
                <a:lnTo>
                  <a:pt x="0" y="137414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820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0809C-B392-A551-C535-4C5C06DAE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82C34E-98F1-9DF8-30D6-BDD1CA89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/>
              <a:t>Validate pointers passed from user</a:t>
            </a:r>
            <a:endParaRPr lang="ko-KR" altLang="en-US" sz="280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7BAF5A2-6FCB-3FBE-25DD-92555E55A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455" y="1774292"/>
            <a:ext cx="3423950" cy="4245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300"/>
              <a:t>When entering a system call handler, the CPU switches to </a:t>
            </a:r>
            <a:r>
              <a:rPr lang="en-US" altLang="ko-KR" sz="1300">
                <a:solidFill>
                  <a:srgbClr val="FF0000"/>
                </a:solidFill>
              </a:rPr>
              <a:t>privilege level 0</a:t>
            </a:r>
          </a:p>
          <a:p>
            <a:pPr latinLnBrk="1"/>
            <a:endParaRPr lang="en-US" altLang="ko-KR" sz="1300"/>
          </a:p>
          <a:p>
            <a:pPr latinLnBrk="1"/>
            <a:r>
              <a:rPr lang="en-US" altLang="ko-KR" sz="1300"/>
              <a:t>The syscall handler performs operations </a:t>
            </a:r>
            <a:r>
              <a:rPr lang="en-US" altLang="ko-KR" sz="1300">
                <a:solidFill>
                  <a:srgbClr val="FF0000"/>
                </a:solidFill>
              </a:rPr>
              <a:t>on memory regions specified by the user.</a:t>
            </a:r>
          </a:p>
          <a:p>
            <a:pPr latinLnBrk="1"/>
            <a:endParaRPr lang="en-US" altLang="ko-KR" sz="1300"/>
          </a:p>
          <a:p>
            <a:pPr latinLnBrk="1"/>
            <a:r>
              <a:rPr lang="en-US" altLang="ko-KR" sz="1300">
                <a:solidFill>
                  <a:srgbClr val="FF0000"/>
                </a:solidFill>
              </a:rPr>
              <a:t>This combination </a:t>
            </a:r>
            <a:r>
              <a:rPr lang="en-US" altLang="ko-KR" sz="1300"/>
              <a:t>— kernel-level privileges plus user-specified memory</a:t>
            </a:r>
            <a:r>
              <a:rPr lang="en-US" altLang="ko-KR" sz="1300">
                <a:solidFill>
                  <a:srgbClr val="FF0000"/>
                </a:solidFill>
              </a:rPr>
              <a:t> </a:t>
            </a:r>
            <a:r>
              <a:rPr lang="en-US" altLang="ko-KR" sz="1300"/>
              <a:t>— </a:t>
            </a:r>
            <a:r>
              <a:rPr lang="en-US" altLang="ko-KR" sz="1300" b="1">
                <a:solidFill>
                  <a:srgbClr val="FF0000"/>
                </a:solidFill>
              </a:rPr>
              <a:t>effectively bypasses the architectural protection mechanisms.</a:t>
            </a:r>
          </a:p>
          <a:p>
            <a:pPr latinLnBrk="1"/>
            <a:endParaRPr lang="en-US" altLang="ko-KR" sz="1300"/>
          </a:p>
          <a:p>
            <a:pPr latinLnBrk="1"/>
            <a:r>
              <a:rPr lang="en-US" altLang="ko-KR" sz="1300"/>
              <a:t>Therefore, </a:t>
            </a:r>
            <a:r>
              <a:rPr lang="en-US" altLang="ko-KR" sz="1300">
                <a:solidFill>
                  <a:srgbClr val="0000FF"/>
                </a:solidFill>
              </a:rPr>
              <a:t>the kernel must be smart enough</a:t>
            </a:r>
            <a:r>
              <a:rPr lang="en-US" altLang="ko-KR" sz="1300"/>
              <a:t> to distinguish between legitimate faults and those caused by invalid user requests.</a:t>
            </a:r>
          </a:p>
          <a:p>
            <a:pPr marL="471487" lvl="1" indent="0" latinLnBrk="1">
              <a:buNone/>
            </a:pPr>
            <a:endParaRPr lang="en-US" altLang="ko-KR" sz="13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3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300" kern="0">
              <a:latin typeface="+mj-lt"/>
            </a:endParaRPr>
          </a:p>
          <a:p>
            <a:pPr latinLnBrk="1"/>
            <a:endParaRPr lang="en-US" altLang="ko-KR" sz="1300" kern="0">
              <a:latin typeface="+mj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FEEBB0-DE78-2B92-5827-324806D03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9" y="2514600"/>
            <a:ext cx="2559613" cy="243414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62025A5-B776-F157-E550-32AC9252F3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57980" y="2775401"/>
            <a:ext cx="1452020" cy="282498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E835854-715A-E2EE-BC53-01AD81A186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3048248"/>
            <a:ext cx="1143000" cy="2320636"/>
          </a:xfrm>
          <a:prstGeom prst="rect">
            <a:avLst/>
          </a:prstGeom>
        </p:spPr>
      </p:pic>
      <p:pic>
        <p:nvPicPr>
          <p:cNvPr id="1028" name="Picture 4" descr="서 쪽지 메일 - 애정 아이콘">
            <a:extLst>
              <a:ext uri="{FF2B5EF4-FFF2-40B4-BE49-F238E27FC236}">
                <a16:creationId xmlns:a16="http://schemas.microsoft.com/office/drawing/2014/main" id="{F317FA70-843E-BCD2-4B61-F6FFEAE45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00000">
            <a:off x="3631073" y="3587646"/>
            <a:ext cx="618800" cy="61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75D086CF-6805-A6EB-75CC-FF8EE01AEF7E}"/>
              </a:ext>
            </a:extLst>
          </p:cNvPr>
          <p:cNvSpPr/>
          <p:nvPr/>
        </p:nvSpPr>
        <p:spPr bwMode="auto">
          <a:xfrm>
            <a:off x="3733800" y="2840203"/>
            <a:ext cx="381000" cy="612307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B3FAD0-5D4B-4476-5709-C1CD1EE5CD20}"/>
              </a:ext>
            </a:extLst>
          </p:cNvPr>
          <p:cNvSpPr txBox="1"/>
          <p:nvPr/>
        </p:nvSpPr>
        <p:spPr>
          <a:xfrm>
            <a:off x="3206026" y="2471669"/>
            <a:ext cx="1436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i="1">
                <a:solidFill>
                  <a:srgbClr val="FF0000"/>
                </a:solidFill>
              </a:rPr>
              <a:t>Validate it!</a:t>
            </a:r>
            <a:endParaRPr lang="ko-KR" altLang="en-US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283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90C69-5384-294E-BB1F-09AF1C6A9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직사각형 1191">
            <a:extLst>
              <a:ext uri="{FF2B5EF4-FFF2-40B4-BE49-F238E27FC236}">
                <a16:creationId xmlns:a16="http://schemas.microsoft.com/office/drawing/2014/main" id="{2A5F8CA5-1347-EEAF-9736-C67B48EE6C02}"/>
              </a:ext>
            </a:extLst>
          </p:cNvPr>
          <p:cNvSpPr/>
          <p:nvPr/>
        </p:nvSpPr>
        <p:spPr bwMode="auto">
          <a:xfrm rot="5400000">
            <a:off x="4853943" y="2567946"/>
            <a:ext cx="5303518" cy="3276595"/>
          </a:xfrm>
          <a:prstGeom prst="rect">
            <a:avLst/>
          </a:prstGeom>
          <a:solidFill>
            <a:srgbClr val="91B4DF">
              <a:alpha val="12549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FCBE21F-B92B-8FD0-04A6-5FABD0D7B6F9}"/>
              </a:ext>
            </a:extLst>
          </p:cNvPr>
          <p:cNvSpPr/>
          <p:nvPr/>
        </p:nvSpPr>
        <p:spPr bwMode="auto">
          <a:xfrm>
            <a:off x="400779" y="6244846"/>
            <a:ext cx="5388626" cy="47783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215" name="화살표: 오른쪽 1214">
            <a:extLst>
              <a:ext uri="{FF2B5EF4-FFF2-40B4-BE49-F238E27FC236}">
                <a16:creationId xmlns:a16="http://schemas.microsoft.com/office/drawing/2014/main" id="{1874AD22-FA8D-3D92-6F47-AB2AD46449EC}"/>
              </a:ext>
            </a:extLst>
          </p:cNvPr>
          <p:cNvSpPr/>
          <p:nvPr/>
        </p:nvSpPr>
        <p:spPr bwMode="auto">
          <a:xfrm rot="5400000">
            <a:off x="2678118" y="2047382"/>
            <a:ext cx="540715" cy="1370522"/>
          </a:xfrm>
          <a:prstGeom prst="rightArrow">
            <a:avLst>
              <a:gd name="adj1" fmla="val 76616"/>
              <a:gd name="adj2" fmla="val 50000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91" name="직사각형 1190">
            <a:extLst>
              <a:ext uri="{FF2B5EF4-FFF2-40B4-BE49-F238E27FC236}">
                <a16:creationId xmlns:a16="http://schemas.microsoft.com/office/drawing/2014/main" id="{907A6034-E8C1-56B3-9D1D-66483CE61F04}"/>
              </a:ext>
            </a:extLst>
          </p:cNvPr>
          <p:cNvSpPr/>
          <p:nvPr/>
        </p:nvSpPr>
        <p:spPr bwMode="auto">
          <a:xfrm>
            <a:off x="-151830" y="3064988"/>
            <a:ext cx="9295829" cy="1585545"/>
          </a:xfrm>
          <a:prstGeom prst="rect">
            <a:avLst/>
          </a:prstGeom>
          <a:solidFill>
            <a:srgbClr val="91B4DF">
              <a:alpha val="12549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96" name="직사각형 1195">
            <a:extLst>
              <a:ext uri="{FF2B5EF4-FFF2-40B4-BE49-F238E27FC236}">
                <a16:creationId xmlns:a16="http://schemas.microsoft.com/office/drawing/2014/main" id="{54CF3F8A-5815-B09D-B867-0762C24BF802}"/>
              </a:ext>
            </a:extLst>
          </p:cNvPr>
          <p:cNvSpPr/>
          <p:nvPr/>
        </p:nvSpPr>
        <p:spPr bwMode="auto">
          <a:xfrm>
            <a:off x="7728504" y="4559967"/>
            <a:ext cx="990600" cy="4428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208" name="직사각형 1207">
            <a:extLst>
              <a:ext uri="{FF2B5EF4-FFF2-40B4-BE49-F238E27FC236}">
                <a16:creationId xmlns:a16="http://schemas.microsoft.com/office/drawing/2014/main" id="{5C52F6D0-1013-7417-C86E-FC1244AFFF4C}"/>
              </a:ext>
            </a:extLst>
          </p:cNvPr>
          <p:cNvSpPr/>
          <p:nvPr/>
        </p:nvSpPr>
        <p:spPr bwMode="auto">
          <a:xfrm>
            <a:off x="7736899" y="4715852"/>
            <a:ext cx="982205" cy="275679"/>
          </a:xfrm>
          <a:prstGeom prst="rect">
            <a:avLst/>
          </a:prstGeom>
          <a:pattFill prst="wd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95" name="직사각형 1194">
            <a:extLst>
              <a:ext uri="{FF2B5EF4-FFF2-40B4-BE49-F238E27FC236}">
                <a16:creationId xmlns:a16="http://schemas.microsoft.com/office/drawing/2014/main" id="{6740BF93-F51F-015F-DABD-AD5A02D43BAB}"/>
              </a:ext>
            </a:extLst>
          </p:cNvPr>
          <p:cNvSpPr/>
          <p:nvPr/>
        </p:nvSpPr>
        <p:spPr bwMode="auto">
          <a:xfrm>
            <a:off x="6595760" y="4559967"/>
            <a:ext cx="990600" cy="4428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94" name="직사각형 1193">
            <a:extLst>
              <a:ext uri="{FF2B5EF4-FFF2-40B4-BE49-F238E27FC236}">
                <a16:creationId xmlns:a16="http://schemas.microsoft.com/office/drawing/2014/main" id="{26C16F4E-1247-BC42-30DC-8CD170C2A85D}"/>
              </a:ext>
            </a:extLst>
          </p:cNvPr>
          <p:cNvSpPr/>
          <p:nvPr/>
        </p:nvSpPr>
        <p:spPr bwMode="auto">
          <a:xfrm>
            <a:off x="4048026" y="4387992"/>
            <a:ext cx="990600" cy="61487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93" name="직사각형 1192">
            <a:extLst>
              <a:ext uri="{FF2B5EF4-FFF2-40B4-BE49-F238E27FC236}">
                <a16:creationId xmlns:a16="http://schemas.microsoft.com/office/drawing/2014/main" id="{020F6978-AF64-E8F9-6F56-312EE7DB8B89}"/>
              </a:ext>
            </a:extLst>
          </p:cNvPr>
          <p:cNvSpPr/>
          <p:nvPr/>
        </p:nvSpPr>
        <p:spPr bwMode="auto">
          <a:xfrm>
            <a:off x="1822311" y="4387992"/>
            <a:ext cx="990600" cy="61487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88" name="직사각형 1187">
            <a:extLst>
              <a:ext uri="{FF2B5EF4-FFF2-40B4-BE49-F238E27FC236}">
                <a16:creationId xmlns:a16="http://schemas.microsoft.com/office/drawing/2014/main" id="{A4F4CDCB-CE4A-76C4-932E-0A0B701F8B84}"/>
              </a:ext>
            </a:extLst>
          </p:cNvPr>
          <p:cNvSpPr/>
          <p:nvPr/>
        </p:nvSpPr>
        <p:spPr bwMode="auto">
          <a:xfrm>
            <a:off x="7728504" y="4991542"/>
            <a:ext cx="990600" cy="6569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87" name="직사각형 1186">
            <a:extLst>
              <a:ext uri="{FF2B5EF4-FFF2-40B4-BE49-F238E27FC236}">
                <a16:creationId xmlns:a16="http://schemas.microsoft.com/office/drawing/2014/main" id="{533E871E-E660-5468-1D15-26984A6B6208}"/>
              </a:ext>
            </a:extLst>
          </p:cNvPr>
          <p:cNvSpPr/>
          <p:nvPr/>
        </p:nvSpPr>
        <p:spPr bwMode="auto">
          <a:xfrm>
            <a:off x="6600636" y="4991542"/>
            <a:ext cx="990600" cy="6569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85" name="직사각형 1184">
            <a:extLst>
              <a:ext uri="{FF2B5EF4-FFF2-40B4-BE49-F238E27FC236}">
                <a16:creationId xmlns:a16="http://schemas.microsoft.com/office/drawing/2014/main" id="{9F30B4D8-01F4-7538-9002-F69D2CCE9498}"/>
              </a:ext>
            </a:extLst>
          </p:cNvPr>
          <p:cNvSpPr/>
          <p:nvPr/>
        </p:nvSpPr>
        <p:spPr bwMode="auto">
          <a:xfrm>
            <a:off x="6588361" y="3922067"/>
            <a:ext cx="990600" cy="6399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86" name="직사각형 1185">
            <a:extLst>
              <a:ext uri="{FF2B5EF4-FFF2-40B4-BE49-F238E27FC236}">
                <a16:creationId xmlns:a16="http://schemas.microsoft.com/office/drawing/2014/main" id="{54CA12BF-1134-54AB-CB58-D2F609502C04}"/>
              </a:ext>
            </a:extLst>
          </p:cNvPr>
          <p:cNvSpPr/>
          <p:nvPr/>
        </p:nvSpPr>
        <p:spPr bwMode="auto">
          <a:xfrm>
            <a:off x="7728504" y="3922067"/>
            <a:ext cx="990600" cy="6399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22" name="직사각형 1121">
            <a:extLst>
              <a:ext uri="{FF2B5EF4-FFF2-40B4-BE49-F238E27FC236}">
                <a16:creationId xmlns:a16="http://schemas.microsoft.com/office/drawing/2014/main" id="{A4531FA0-59C3-77B6-BE7D-B8063B8023D5}"/>
              </a:ext>
            </a:extLst>
          </p:cNvPr>
          <p:cNvSpPr/>
          <p:nvPr/>
        </p:nvSpPr>
        <p:spPr bwMode="auto">
          <a:xfrm>
            <a:off x="1826186" y="4991542"/>
            <a:ext cx="990600" cy="6569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31" name="직사각형 1030">
            <a:extLst>
              <a:ext uri="{FF2B5EF4-FFF2-40B4-BE49-F238E27FC236}">
                <a16:creationId xmlns:a16="http://schemas.microsoft.com/office/drawing/2014/main" id="{D6C2E903-BF07-7F09-612C-26D2FFF6FF08}"/>
              </a:ext>
            </a:extLst>
          </p:cNvPr>
          <p:cNvSpPr/>
          <p:nvPr/>
        </p:nvSpPr>
        <p:spPr bwMode="auto">
          <a:xfrm>
            <a:off x="1822311" y="3286308"/>
            <a:ext cx="990600" cy="730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98" name="직사각형 1097">
            <a:extLst>
              <a:ext uri="{FF2B5EF4-FFF2-40B4-BE49-F238E27FC236}">
                <a16:creationId xmlns:a16="http://schemas.microsoft.com/office/drawing/2014/main" id="{B4642E33-0FE0-64A3-6402-84E28173090E}"/>
              </a:ext>
            </a:extLst>
          </p:cNvPr>
          <p:cNvSpPr/>
          <p:nvPr/>
        </p:nvSpPr>
        <p:spPr bwMode="auto">
          <a:xfrm>
            <a:off x="1826508" y="3733477"/>
            <a:ext cx="982205" cy="108761"/>
          </a:xfrm>
          <a:prstGeom prst="rect">
            <a:avLst/>
          </a:prstGeom>
          <a:pattFill prst="wdUpDiag">
            <a:fgClr>
              <a:schemeClr val="accent2">
                <a:lumMod val="20000"/>
                <a:lumOff val="80000"/>
              </a:schemeClr>
            </a:fgClr>
            <a:bgClr>
              <a:schemeClr val="accent1">
                <a:lumMod val="40000"/>
                <a:lumOff val="60000"/>
              </a:schemeClr>
            </a:bgClr>
          </a:patt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99" name="직사각형 1098">
            <a:extLst>
              <a:ext uri="{FF2B5EF4-FFF2-40B4-BE49-F238E27FC236}">
                <a16:creationId xmlns:a16="http://schemas.microsoft.com/office/drawing/2014/main" id="{118B3AC2-A64A-0949-F1E3-EBEFDB272FB5}"/>
              </a:ext>
            </a:extLst>
          </p:cNvPr>
          <p:cNvSpPr/>
          <p:nvPr/>
        </p:nvSpPr>
        <p:spPr bwMode="auto">
          <a:xfrm>
            <a:off x="1826508" y="4764337"/>
            <a:ext cx="982205" cy="108761"/>
          </a:xfrm>
          <a:prstGeom prst="rect">
            <a:avLst/>
          </a:prstGeom>
          <a:pattFill prst="wd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03BA985-663F-A4AD-4411-A4ECAB94DE3A}"/>
              </a:ext>
            </a:extLst>
          </p:cNvPr>
          <p:cNvSpPr/>
          <p:nvPr/>
        </p:nvSpPr>
        <p:spPr bwMode="auto">
          <a:xfrm>
            <a:off x="6594498" y="3242898"/>
            <a:ext cx="990600" cy="6791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79" name="직사각형 1078">
            <a:extLst>
              <a:ext uri="{FF2B5EF4-FFF2-40B4-BE49-F238E27FC236}">
                <a16:creationId xmlns:a16="http://schemas.microsoft.com/office/drawing/2014/main" id="{2EDA81EA-98A6-A6CD-1A3F-01936845115F}"/>
              </a:ext>
            </a:extLst>
          </p:cNvPr>
          <p:cNvSpPr/>
          <p:nvPr/>
        </p:nvSpPr>
        <p:spPr bwMode="auto">
          <a:xfrm>
            <a:off x="6596315" y="3615228"/>
            <a:ext cx="982205" cy="300921"/>
          </a:xfrm>
          <a:prstGeom prst="rect">
            <a:avLst/>
          </a:prstGeom>
          <a:pattFill prst="wdUpDiag">
            <a:fgClr>
              <a:schemeClr val="accent2">
                <a:lumMod val="20000"/>
                <a:lumOff val="80000"/>
              </a:schemeClr>
            </a:fgClr>
            <a:bgClr>
              <a:schemeClr val="accent1">
                <a:lumMod val="40000"/>
                <a:lumOff val="60000"/>
              </a:schemeClr>
            </a:bgClr>
          </a:patt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5CC1F21-F9ED-88D1-21EC-B009AC1ED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/>
              <a:t>Validate pointers passed from user</a:t>
            </a:r>
            <a:endParaRPr lang="ko-KR" altLang="en-US" sz="2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3033C4-E941-9F20-2F42-052CB5872D0C}"/>
              </a:ext>
            </a:extLst>
          </p:cNvPr>
          <p:cNvSpPr txBox="1"/>
          <p:nvPr/>
        </p:nvSpPr>
        <p:spPr>
          <a:xfrm>
            <a:off x="1271588" y="4687912"/>
            <a:ext cx="3898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ptr</a:t>
            </a:r>
            <a:endParaRPr lang="ko-KR" altLang="en-US" sz="1100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0310B6F-A7A0-2F91-10B7-77D0EF07EFED}"/>
              </a:ext>
            </a:extLst>
          </p:cNvPr>
          <p:cNvCxnSpPr/>
          <p:nvPr/>
        </p:nvCxnSpPr>
        <p:spPr bwMode="auto">
          <a:xfrm>
            <a:off x="6594498" y="3242897"/>
            <a:ext cx="0" cy="2362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B3D3F7A-65FF-A3CF-89E9-1D86997AC4CB}"/>
              </a:ext>
            </a:extLst>
          </p:cNvPr>
          <p:cNvCxnSpPr/>
          <p:nvPr/>
        </p:nvCxnSpPr>
        <p:spPr bwMode="auto">
          <a:xfrm>
            <a:off x="7585098" y="3242897"/>
            <a:ext cx="0" cy="2362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C25E4BE-8426-AB17-7520-95A85D0072F8}"/>
              </a:ext>
            </a:extLst>
          </p:cNvPr>
          <p:cNvCxnSpPr>
            <a:cxnSpLocks/>
          </p:cNvCxnSpPr>
          <p:nvPr/>
        </p:nvCxnSpPr>
        <p:spPr bwMode="auto">
          <a:xfrm flipH="1">
            <a:off x="6594498" y="3922068"/>
            <a:ext cx="990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8C24683-71EC-6EDA-DF74-99A211A211A5}"/>
              </a:ext>
            </a:extLst>
          </p:cNvPr>
          <p:cNvSpPr txBox="1"/>
          <p:nvPr/>
        </p:nvSpPr>
        <p:spPr>
          <a:xfrm>
            <a:off x="6560450" y="4204805"/>
            <a:ext cx="10874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spc="280">
                <a:latin typeface="Consolas" panose="020B0609020204030204" pitchFamily="49" charset="0"/>
              </a:rPr>
              <a:t>COMPUTER</a:t>
            </a:r>
            <a:endParaRPr lang="ko-KR" altLang="en-US" sz="1100" spc="280">
              <a:latin typeface="Consolas" panose="020B0609020204030204" pitchFamily="49" charset="0"/>
            </a:endParaRP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958EE57A-2D81-B85D-923B-DEAE9200E31E}"/>
              </a:ext>
            </a:extLst>
          </p:cNvPr>
          <p:cNvSpPr txBox="1"/>
          <p:nvPr/>
        </p:nvSpPr>
        <p:spPr>
          <a:xfrm>
            <a:off x="6764399" y="3242894"/>
            <a:ext cx="6238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kernel</a:t>
            </a:r>
            <a:endParaRPr lang="ko-KR" altLang="en-US" sz="1100"/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A345645B-1BFA-06A2-9BDE-362577985861}"/>
              </a:ext>
            </a:extLst>
          </p:cNvPr>
          <p:cNvSpPr txBox="1"/>
          <p:nvPr/>
        </p:nvSpPr>
        <p:spPr>
          <a:xfrm>
            <a:off x="6852226" y="5343487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user</a:t>
            </a:r>
            <a:endParaRPr lang="ko-KR" altLang="en-US" sz="1100"/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AE9F202D-A2F3-7F4B-F275-EDB99122EBED}"/>
              </a:ext>
            </a:extLst>
          </p:cNvPr>
          <p:cNvSpPr txBox="1"/>
          <p:nvPr/>
        </p:nvSpPr>
        <p:spPr>
          <a:xfrm>
            <a:off x="1992212" y="3286305"/>
            <a:ext cx="623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kernel</a:t>
            </a:r>
            <a:endParaRPr lang="ko-KR" altLang="en-US" sz="1100"/>
          </a:p>
        </p:txBody>
      </p:sp>
      <p:sp>
        <p:nvSpPr>
          <p:cNvPr id="1040" name="직사각형 1039">
            <a:extLst>
              <a:ext uri="{FF2B5EF4-FFF2-40B4-BE49-F238E27FC236}">
                <a16:creationId xmlns:a16="http://schemas.microsoft.com/office/drawing/2014/main" id="{FF130950-2399-DE21-E0F1-5CBA2154CF57}"/>
              </a:ext>
            </a:extLst>
          </p:cNvPr>
          <p:cNvSpPr/>
          <p:nvPr/>
        </p:nvSpPr>
        <p:spPr bwMode="auto">
          <a:xfrm>
            <a:off x="7730733" y="3242898"/>
            <a:ext cx="990600" cy="6791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041" name="직선 연결선 1040">
            <a:extLst>
              <a:ext uri="{FF2B5EF4-FFF2-40B4-BE49-F238E27FC236}">
                <a16:creationId xmlns:a16="http://schemas.microsoft.com/office/drawing/2014/main" id="{E3BD7B57-5C11-BA19-D75C-9E3432D0622E}"/>
              </a:ext>
            </a:extLst>
          </p:cNvPr>
          <p:cNvCxnSpPr/>
          <p:nvPr/>
        </p:nvCxnSpPr>
        <p:spPr bwMode="auto">
          <a:xfrm>
            <a:off x="7730733" y="3242897"/>
            <a:ext cx="0" cy="2362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2" name="직선 연결선 1041">
            <a:extLst>
              <a:ext uri="{FF2B5EF4-FFF2-40B4-BE49-F238E27FC236}">
                <a16:creationId xmlns:a16="http://schemas.microsoft.com/office/drawing/2014/main" id="{EDDC5FDA-0CB0-A443-CBB2-F71D3F2F9934}"/>
              </a:ext>
            </a:extLst>
          </p:cNvPr>
          <p:cNvCxnSpPr/>
          <p:nvPr/>
        </p:nvCxnSpPr>
        <p:spPr bwMode="auto">
          <a:xfrm>
            <a:off x="8721333" y="3242897"/>
            <a:ext cx="0" cy="2362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3" name="직선 연결선 1042">
            <a:extLst>
              <a:ext uri="{FF2B5EF4-FFF2-40B4-BE49-F238E27FC236}">
                <a16:creationId xmlns:a16="http://schemas.microsoft.com/office/drawing/2014/main" id="{A873B8A6-C5C6-567A-5BD6-0063C38DE07E}"/>
              </a:ext>
            </a:extLst>
          </p:cNvPr>
          <p:cNvCxnSpPr>
            <a:cxnSpLocks/>
          </p:cNvCxnSpPr>
          <p:nvPr/>
        </p:nvCxnSpPr>
        <p:spPr bwMode="auto">
          <a:xfrm flipH="1">
            <a:off x="7730733" y="3922068"/>
            <a:ext cx="990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44" name="TextBox 1043">
            <a:extLst>
              <a:ext uri="{FF2B5EF4-FFF2-40B4-BE49-F238E27FC236}">
                <a16:creationId xmlns:a16="http://schemas.microsoft.com/office/drawing/2014/main" id="{26AC42BD-85CE-9510-DB30-951ED7028292}"/>
              </a:ext>
            </a:extLst>
          </p:cNvPr>
          <p:cNvSpPr txBox="1"/>
          <p:nvPr/>
        </p:nvSpPr>
        <p:spPr>
          <a:xfrm>
            <a:off x="7696685" y="4204805"/>
            <a:ext cx="974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spc="280">
                <a:latin typeface="Consolas" panose="020B0609020204030204" pitchFamily="49" charset="0"/>
              </a:rPr>
              <a:t>NETWORK</a:t>
            </a:r>
            <a:endParaRPr lang="ko-KR" altLang="en-US" sz="1100" spc="280">
              <a:latin typeface="Consolas" panose="020B0609020204030204" pitchFamily="49" charset="0"/>
            </a:endParaRP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2463F675-0E06-D40C-7403-83821D14F285}"/>
              </a:ext>
            </a:extLst>
          </p:cNvPr>
          <p:cNvSpPr txBox="1"/>
          <p:nvPr/>
        </p:nvSpPr>
        <p:spPr>
          <a:xfrm>
            <a:off x="7900634" y="3242894"/>
            <a:ext cx="6238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kernel</a:t>
            </a:r>
            <a:endParaRPr lang="ko-KR" altLang="en-US" sz="1100"/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62885602-F5BE-1F15-3F10-B31BE9EE56D0}"/>
              </a:ext>
            </a:extLst>
          </p:cNvPr>
          <p:cNvSpPr txBox="1"/>
          <p:nvPr/>
        </p:nvSpPr>
        <p:spPr>
          <a:xfrm>
            <a:off x="7988461" y="5343487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user</a:t>
            </a:r>
            <a:endParaRPr lang="ko-KR" altLang="en-US" sz="1100"/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1561AB32-7923-0F41-CFAA-79AAA5895BBB}"/>
              </a:ext>
            </a:extLst>
          </p:cNvPr>
          <p:cNvSpPr txBox="1"/>
          <p:nvPr/>
        </p:nvSpPr>
        <p:spPr>
          <a:xfrm>
            <a:off x="8464530" y="4204805"/>
            <a:ext cx="300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spc="-150">
                <a:latin typeface="Consolas" panose="020B0609020204030204" pitchFamily="49" charset="0"/>
              </a:rPr>
              <a:t>\0</a:t>
            </a:r>
            <a:endParaRPr lang="ko-KR" altLang="en-US" sz="1100" spc="-150">
              <a:latin typeface="Consolas" panose="020B0609020204030204" pitchFamily="49" charset="0"/>
            </a:endParaRPr>
          </a:p>
        </p:txBody>
      </p:sp>
      <p:cxnSp>
        <p:nvCxnSpPr>
          <p:cNvPr id="1049" name="직선 화살표 연결선 1048">
            <a:extLst>
              <a:ext uri="{FF2B5EF4-FFF2-40B4-BE49-F238E27FC236}">
                <a16:creationId xmlns:a16="http://schemas.microsoft.com/office/drawing/2014/main" id="{18ABBB52-6D58-7314-B31F-E6581E7F1375}"/>
              </a:ext>
            </a:extLst>
          </p:cNvPr>
          <p:cNvCxnSpPr>
            <a:cxnSpLocks/>
          </p:cNvCxnSpPr>
          <p:nvPr/>
        </p:nvCxnSpPr>
        <p:spPr bwMode="auto">
          <a:xfrm>
            <a:off x="6721697" y="4506291"/>
            <a:ext cx="762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051" name="직선 화살표 연결선 1050">
            <a:extLst>
              <a:ext uri="{FF2B5EF4-FFF2-40B4-BE49-F238E27FC236}">
                <a16:creationId xmlns:a16="http://schemas.microsoft.com/office/drawing/2014/main" id="{FB2FDA99-EFF6-1ECF-A74F-63D5AF2FBF48}"/>
              </a:ext>
            </a:extLst>
          </p:cNvPr>
          <p:cNvCxnSpPr>
            <a:cxnSpLocks/>
          </p:cNvCxnSpPr>
          <p:nvPr/>
        </p:nvCxnSpPr>
        <p:spPr bwMode="auto">
          <a:xfrm>
            <a:off x="6721697" y="4155504"/>
            <a:ext cx="762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052" name="직선 화살표 연결선 1051">
            <a:extLst>
              <a:ext uri="{FF2B5EF4-FFF2-40B4-BE49-F238E27FC236}">
                <a16:creationId xmlns:a16="http://schemas.microsoft.com/office/drawing/2014/main" id="{692A9B6C-39C8-90E1-8CD2-488F85E4FF83}"/>
              </a:ext>
            </a:extLst>
          </p:cNvPr>
          <p:cNvCxnSpPr>
            <a:cxnSpLocks/>
          </p:cNvCxnSpPr>
          <p:nvPr/>
        </p:nvCxnSpPr>
        <p:spPr bwMode="auto">
          <a:xfrm>
            <a:off x="6721697" y="3811343"/>
            <a:ext cx="762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053" name="TextBox 1052">
            <a:extLst>
              <a:ext uri="{FF2B5EF4-FFF2-40B4-BE49-F238E27FC236}">
                <a16:creationId xmlns:a16="http://schemas.microsoft.com/office/drawing/2014/main" id="{0E47D992-BC9D-1007-4CA7-59C8DCA0DC30}"/>
              </a:ext>
            </a:extLst>
          </p:cNvPr>
          <p:cNvSpPr txBox="1"/>
          <p:nvPr/>
        </p:nvSpPr>
        <p:spPr>
          <a:xfrm>
            <a:off x="6560450" y="3946412"/>
            <a:ext cx="10874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spc="280">
                <a:latin typeface="Consolas" panose="020B0609020204030204" pitchFamily="49" charset="0"/>
              </a:rPr>
              <a:t>........</a:t>
            </a:r>
            <a:endParaRPr lang="ko-KR" altLang="en-US" sz="1100" spc="280">
              <a:latin typeface="Consolas" panose="020B0609020204030204" pitchFamily="49" charset="0"/>
            </a:endParaRP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A650054F-2078-801B-8B57-653D7FADDB82}"/>
              </a:ext>
            </a:extLst>
          </p:cNvPr>
          <p:cNvSpPr txBox="1"/>
          <p:nvPr/>
        </p:nvSpPr>
        <p:spPr>
          <a:xfrm>
            <a:off x="7698025" y="3932631"/>
            <a:ext cx="10874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spc="280">
                <a:latin typeface="Consolas" panose="020B0609020204030204" pitchFamily="49" charset="0"/>
              </a:rPr>
              <a:t>........</a:t>
            </a:r>
            <a:endParaRPr lang="ko-KR" altLang="en-US" sz="1100" spc="280">
              <a:latin typeface="Consolas" panose="020B0609020204030204" pitchFamily="49" charset="0"/>
            </a:endParaRPr>
          </a:p>
        </p:txBody>
      </p:sp>
      <p:cxnSp>
        <p:nvCxnSpPr>
          <p:cNvPr id="1055" name="직선 화살표 연결선 1054">
            <a:extLst>
              <a:ext uri="{FF2B5EF4-FFF2-40B4-BE49-F238E27FC236}">
                <a16:creationId xmlns:a16="http://schemas.microsoft.com/office/drawing/2014/main" id="{18B880D7-2CF9-3428-1A04-BD8D4CC8057C}"/>
              </a:ext>
            </a:extLst>
          </p:cNvPr>
          <p:cNvCxnSpPr>
            <a:cxnSpLocks/>
          </p:cNvCxnSpPr>
          <p:nvPr/>
        </p:nvCxnSpPr>
        <p:spPr bwMode="auto">
          <a:xfrm>
            <a:off x="7853682" y="4499665"/>
            <a:ext cx="762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57" name="직선 연결선 1056">
            <a:extLst>
              <a:ext uri="{FF2B5EF4-FFF2-40B4-BE49-F238E27FC236}">
                <a16:creationId xmlns:a16="http://schemas.microsoft.com/office/drawing/2014/main" id="{6F50FF72-2A72-A35D-1A84-AD780BF2D95C}"/>
              </a:ext>
            </a:extLst>
          </p:cNvPr>
          <p:cNvCxnSpPr/>
          <p:nvPr/>
        </p:nvCxnSpPr>
        <p:spPr bwMode="auto">
          <a:xfrm>
            <a:off x="8614571" y="4423465"/>
            <a:ext cx="0" cy="1590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64" name="직선 연결선 1063">
            <a:extLst>
              <a:ext uri="{FF2B5EF4-FFF2-40B4-BE49-F238E27FC236}">
                <a16:creationId xmlns:a16="http://schemas.microsoft.com/office/drawing/2014/main" id="{5E3D6323-0442-7BD8-5959-292A647D8318}"/>
              </a:ext>
            </a:extLst>
          </p:cNvPr>
          <p:cNvCxnSpPr/>
          <p:nvPr/>
        </p:nvCxnSpPr>
        <p:spPr bwMode="auto">
          <a:xfrm flipH="1" flipV="1">
            <a:off x="6721697" y="4155504"/>
            <a:ext cx="762000" cy="34416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65" name="직선 연결선 1064">
            <a:extLst>
              <a:ext uri="{FF2B5EF4-FFF2-40B4-BE49-F238E27FC236}">
                <a16:creationId xmlns:a16="http://schemas.microsoft.com/office/drawing/2014/main" id="{67837446-50F6-A7AC-86E1-4BBCE49400B5}"/>
              </a:ext>
            </a:extLst>
          </p:cNvPr>
          <p:cNvCxnSpPr/>
          <p:nvPr/>
        </p:nvCxnSpPr>
        <p:spPr bwMode="auto">
          <a:xfrm flipH="1" flipV="1">
            <a:off x="6721697" y="3811343"/>
            <a:ext cx="762000" cy="34416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66" name="직선 연결선 1065">
            <a:extLst>
              <a:ext uri="{FF2B5EF4-FFF2-40B4-BE49-F238E27FC236}">
                <a16:creationId xmlns:a16="http://schemas.microsoft.com/office/drawing/2014/main" id="{E1F990D4-12CE-7DE9-00D8-05EFC5B62E44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02697" y="3628697"/>
            <a:ext cx="381000" cy="1786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  <a:effectLst/>
        </p:spPr>
      </p:cxnSp>
      <p:cxnSp>
        <p:nvCxnSpPr>
          <p:cNvPr id="1068" name="직선 화살표 연결선 1067">
            <a:extLst>
              <a:ext uri="{FF2B5EF4-FFF2-40B4-BE49-F238E27FC236}">
                <a16:creationId xmlns:a16="http://schemas.microsoft.com/office/drawing/2014/main" id="{3B2DBC00-B73B-1A2E-53F2-D37EBF329D58}"/>
              </a:ext>
            </a:extLst>
          </p:cNvPr>
          <p:cNvCxnSpPr>
            <a:cxnSpLocks/>
          </p:cNvCxnSpPr>
          <p:nvPr/>
        </p:nvCxnSpPr>
        <p:spPr bwMode="auto">
          <a:xfrm>
            <a:off x="6279123" y="4335835"/>
            <a:ext cx="25477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73" name="TextBox 1072">
            <a:extLst>
              <a:ext uri="{FF2B5EF4-FFF2-40B4-BE49-F238E27FC236}">
                <a16:creationId xmlns:a16="http://schemas.microsoft.com/office/drawing/2014/main" id="{BD6530C8-8FC6-942E-8932-E0A405091AC9}"/>
              </a:ext>
            </a:extLst>
          </p:cNvPr>
          <p:cNvSpPr txBox="1"/>
          <p:nvPr/>
        </p:nvSpPr>
        <p:spPr>
          <a:xfrm>
            <a:off x="5950401" y="4194241"/>
            <a:ext cx="3754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str</a:t>
            </a:r>
            <a:endParaRPr lang="ko-KR" altLang="en-US" sz="1100"/>
          </a:p>
        </p:txBody>
      </p:sp>
      <p:cxnSp>
        <p:nvCxnSpPr>
          <p:cNvPr id="1095" name="직선 화살표 연결선 1094">
            <a:extLst>
              <a:ext uri="{FF2B5EF4-FFF2-40B4-BE49-F238E27FC236}">
                <a16:creationId xmlns:a16="http://schemas.microsoft.com/office/drawing/2014/main" id="{0A171B66-F4ED-68FD-2512-E434F47EC608}"/>
              </a:ext>
            </a:extLst>
          </p:cNvPr>
          <p:cNvCxnSpPr>
            <a:cxnSpLocks/>
          </p:cNvCxnSpPr>
          <p:nvPr/>
        </p:nvCxnSpPr>
        <p:spPr bwMode="auto">
          <a:xfrm>
            <a:off x="1593711" y="4818718"/>
            <a:ext cx="228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97" name="직선 화살표 연결선 1096">
            <a:extLst>
              <a:ext uri="{FF2B5EF4-FFF2-40B4-BE49-F238E27FC236}">
                <a16:creationId xmlns:a16="http://schemas.microsoft.com/office/drawing/2014/main" id="{D3BBBDDD-4943-14FF-4F81-D4F412073D3C}"/>
              </a:ext>
            </a:extLst>
          </p:cNvPr>
          <p:cNvCxnSpPr>
            <a:cxnSpLocks/>
          </p:cNvCxnSpPr>
          <p:nvPr/>
        </p:nvCxnSpPr>
        <p:spPr bwMode="auto">
          <a:xfrm>
            <a:off x="1593711" y="3789507"/>
            <a:ext cx="228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06" name="TextBox 1105">
            <a:extLst>
              <a:ext uri="{FF2B5EF4-FFF2-40B4-BE49-F238E27FC236}">
                <a16:creationId xmlns:a16="http://schemas.microsoft.com/office/drawing/2014/main" id="{96C498E6-2AED-0F47-69F0-68D82869CE14}"/>
              </a:ext>
            </a:extLst>
          </p:cNvPr>
          <p:cNvSpPr txBox="1"/>
          <p:nvPr/>
        </p:nvSpPr>
        <p:spPr>
          <a:xfrm>
            <a:off x="1271588" y="3657052"/>
            <a:ext cx="3898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ptr</a:t>
            </a:r>
            <a:endParaRPr lang="ko-KR" altLang="en-US" sz="1100"/>
          </a:p>
        </p:txBody>
      </p:sp>
      <p:sp>
        <p:nvSpPr>
          <p:cNvPr id="1120" name="직사각형 1119">
            <a:extLst>
              <a:ext uri="{FF2B5EF4-FFF2-40B4-BE49-F238E27FC236}">
                <a16:creationId xmlns:a16="http://schemas.microsoft.com/office/drawing/2014/main" id="{3BF9BFDC-4FE9-7D1D-2BD8-EC7CF7197CB2}"/>
              </a:ext>
            </a:extLst>
          </p:cNvPr>
          <p:cNvSpPr/>
          <p:nvPr/>
        </p:nvSpPr>
        <p:spPr bwMode="auto">
          <a:xfrm>
            <a:off x="1822311" y="4004898"/>
            <a:ext cx="990600" cy="3857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99D495FC-3810-6CFC-F6AC-618A68A1CA9F}"/>
              </a:ext>
            </a:extLst>
          </p:cNvPr>
          <p:cNvSpPr txBox="1"/>
          <p:nvPr/>
        </p:nvSpPr>
        <p:spPr>
          <a:xfrm>
            <a:off x="2053025" y="5409107"/>
            <a:ext cx="4924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user</a:t>
            </a:r>
            <a:endParaRPr lang="ko-KR" altLang="en-US" sz="1100"/>
          </a:p>
        </p:txBody>
      </p:sp>
      <p:cxnSp>
        <p:nvCxnSpPr>
          <p:cNvPr id="1032" name="직선 연결선 1031">
            <a:extLst>
              <a:ext uri="{FF2B5EF4-FFF2-40B4-BE49-F238E27FC236}">
                <a16:creationId xmlns:a16="http://schemas.microsoft.com/office/drawing/2014/main" id="{2B3A4413-E9CE-2854-FA35-DF19CEF9AF3C}"/>
              </a:ext>
            </a:extLst>
          </p:cNvPr>
          <p:cNvCxnSpPr>
            <a:cxnSpLocks/>
          </p:cNvCxnSpPr>
          <p:nvPr/>
        </p:nvCxnSpPr>
        <p:spPr bwMode="auto">
          <a:xfrm>
            <a:off x="1822311" y="3286308"/>
            <a:ext cx="0" cy="2362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34" name="직선 연결선 1033">
            <a:extLst>
              <a:ext uri="{FF2B5EF4-FFF2-40B4-BE49-F238E27FC236}">
                <a16:creationId xmlns:a16="http://schemas.microsoft.com/office/drawing/2014/main" id="{10BC9AF2-ED1A-0BA6-59EA-1BBFC7587CFF}"/>
              </a:ext>
            </a:extLst>
          </p:cNvPr>
          <p:cNvCxnSpPr>
            <a:cxnSpLocks/>
          </p:cNvCxnSpPr>
          <p:nvPr/>
        </p:nvCxnSpPr>
        <p:spPr bwMode="auto">
          <a:xfrm flipH="1">
            <a:off x="1822311" y="4004898"/>
            <a:ext cx="990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7" name="직선 연결선 1126">
            <a:extLst>
              <a:ext uri="{FF2B5EF4-FFF2-40B4-BE49-F238E27FC236}">
                <a16:creationId xmlns:a16="http://schemas.microsoft.com/office/drawing/2014/main" id="{2C52A658-E277-103D-AABD-F6645EC0A6DC}"/>
              </a:ext>
            </a:extLst>
          </p:cNvPr>
          <p:cNvCxnSpPr>
            <a:cxnSpLocks/>
          </p:cNvCxnSpPr>
          <p:nvPr/>
        </p:nvCxnSpPr>
        <p:spPr bwMode="auto">
          <a:xfrm>
            <a:off x="2808713" y="3286308"/>
            <a:ext cx="0" cy="2362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31" name="직사각형 1130">
            <a:extLst>
              <a:ext uri="{FF2B5EF4-FFF2-40B4-BE49-F238E27FC236}">
                <a16:creationId xmlns:a16="http://schemas.microsoft.com/office/drawing/2014/main" id="{849A67B6-1B16-A271-EA29-65BF8CB33B54}"/>
              </a:ext>
            </a:extLst>
          </p:cNvPr>
          <p:cNvSpPr/>
          <p:nvPr/>
        </p:nvSpPr>
        <p:spPr bwMode="auto">
          <a:xfrm>
            <a:off x="4065356" y="4991542"/>
            <a:ext cx="990600" cy="6569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32" name="직사각형 1131">
            <a:extLst>
              <a:ext uri="{FF2B5EF4-FFF2-40B4-BE49-F238E27FC236}">
                <a16:creationId xmlns:a16="http://schemas.microsoft.com/office/drawing/2014/main" id="{3A0ACFB5-924A-3CAE-7E40-B36D8CED2830}"/>
              </a:ext>
            </a:extLst>
          </p:cNvPr>
          <p:cNvSpPr/>
          <p:nvPr/>
        </p:nvSpPr>
        <p:spPr bwMode="auto">
          <a:xfrm>
            <a:off x="4061481" y="3286308"/>
            <a:ext cx="990600" cy="730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33" name="직사각형 1132">
            <a:extLst>
              <a:ext uri="{FF2B5EF4-FFF2-40B4-BE49-F238E27FC236}">
                <a16:creationId xmlns:a16="http://schemas.microsoft.com/office/drawing/2014/main" id="{24A0F971-ED0F-5F9E-9E96-495BFC342510}"/>
              </a:ext>
            </a:extLst>
          </p:cNvPr>
          <p:cNvSpPr/>
          <p:nvPr/>
        </p:nvSpPr>
        <p:spPr bwMode="auto">
          <a:xfrm>
            <a:off x="4065678" y="3733477"/>
            <a:ext cx="982205" cy="271420"/>
          </a:xfrm>
          <a:prstGeom prst="rect">
            <a:avLst/>
          </a:prstGeom>
          <a:pattFill prst="wdUpDiag">
            <a:fgClr>
              <a:schemeClr val="accent2">
                <a:lumMod val="20000"/>
                <a:lumOff val="80000"/>
              </a:schemeClr>
            </a:fgClr>
            <a:bgClr>
              <a:schemeClr val="accent1">
                <a:lumMod val="40000"/>
                <a:lumOff val="60000"/>
              </a:schemeClr>
            </a:bgClr>
          </a:patt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34" name="직사각형 1133">
            <a:extLst>
              <a:ext uri="{FF2B5EF4-FFF2-40B4-BE49-F238E27FC236}">
                <a16:creationId xmlns:a16="http://schemas.microsoft.com/office/drawing/2014/main" id="{22DD1F72-0A94-343E-46C3-17001DB592E6}"/>
              </a:ext>
            </a:extLst>
          </p:cNvPr>
          <p:cNvSpPr/>
          <p:nvPr/>
        </p:nvSpPr>
        <p:spPr bwMode="auto">
          <a:xfrm>
            <a:off x="4065678" y="4662030"/>
            <a:ext cx="982205" cy="329501"/>
          </a:xfrm>
          <a:prstGeom prst="rect">
            <a:avLst/>
          </a:prstGeom>
          <a:pattFill prst="wd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30F3935E-754F-3457-20D2-DAF2E38CA604}"/>
              </a:ext>
            </a:extLst>
          </p:cNvPr>
          <p:cNvSpPr txBox="1"/>
          <p:nvPr/>
        </p:nvSpPr>
        <p:spPr>
          <a:xfrm>
            <a:off x="4231382" y="3286305"/>
            <a:ext cx="623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kernel</a:t>
            </a:r>
            <a:endParaRPr lang="ko-KR" altLang="en-US" sz="1100"/>
          </a:p>
        </p:txBody>
      </p:sp>
      <p:cxnSp>
        <p:nvCxnSpPr>
          <p:cNvPr id="1137" name="직선 화살표 연결선 1136">
            <a:extLst>
              <a:ext uri="{FF2B5EF4-FFF2-40B4-BE49-F238E27FC236}">
                <a16:creationId xmlns:a16="http://schemas.microsoft.com/office/drawing/2014/main" id="{CAB720B0-E38B-87F3-D91A-B43AC1C1964C}"/>
              </a:ext>
            </a:extLst>
          </p:cNvPr>
          <p:cNvCxnSpPr>
            <a:cxnSpLocks/>
          </p:cNvCxnSpPr>
          <p:nvPr/>
        </p:nvCxnSpPr>
        <p:spPr bwMode="auto">
          <a:xfrm>
            <a:off x="3741714" y="5187700"/>
            <a:ext cx="228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38" name="직선 화살표 연결선 1137">
            <a:extLst>
              <a:ext uri="{FF2B5EF4-FFF2-40B4-BE49-F238E27FC236}">
                <a16:creationId xmlns:a16="http://schemas.microsoft.com/office/drawing/2014/main" id="{A81957C1-573B-EA3A-50C2-07B6585A7CA0}"/>
              </a:ext>
            </a:extLst>
          </p:cNvPr>
          <p:cNvCxnSpPr>
            <a:cxnSpLocks/>
          </p:cNvCxnSpPr>
          <p:nvPr/>
        </p:nvCxnSpPr>
        <p:spPr bwMode="auto">
          <a:xfrm>
            <a:off x="3743222" y="4259146"/>
            <a:ext cx="228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40" name="직사각형 1139">
            <a:extLst>
              <a:ext uri="{FF2B5EF4-FFF2-40B4-BE49-F238E27FC236}">
                <a16:creationId xmlns:a16="http://schemas.microsoft.com/office/drawing/2014/main" id="{4F2FDEA3-9DFC-C4B9-5268-E59491A9EA88}"/>
              </a:ext>
            </a:extLst>
          </p:cNvPr>
          <p:cNvSpPr/>
          <p:nvPr/>
        </p:nvSpPr>
        <p:spPr bwMode="auto">
          <a:xfrm>
            <a:off x="4061481" y="4004898"/>
            <a:ext cx="990600" cy="3857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41" name="TextBox 1140">
            <a:extLst>
              <a:ext uri="{FF2B5EF4-FFF2-40B4-BE49-F238E27FC236}">
                <a16:creationId xmlns:a16="http://schemas.microsoft.com/office/drawing/2014/main" id="{67A2A1AB-E873-E4D4-61A2-0A64ABC657C9}"/>
              </a:ext>
            </a:extLst>
          </p:cNvPr>
          <p:cNvSpPr txBox="1"/>
          <p:nvPr/>
        </p:nvSpPr>
        <p:spPr>
          <a:xfrm>
            <a:off x="4292195" y="5409107"/>
            <a:ext cx="4924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user</a:t>
            </a:r>
            <a:endParaRPr lang="ko-KR" altLang="en-US" sz="1100"/>
          </a:p>
        </p:txBody>
      </p:sp>
      <p:cxnSp>
        <p:nvCxnSpPr>
          <p:cNvPr id="1142" name="직선 연결선 1141">
            <a:extLst>
              <a:ext uri="{FF2B5EF4-FFF2-40B4-BE49-F238E27FC236}">
                <a16:creationId xmlns:a16="http://schemas.microsoft.com/office/drawing/2014/main" id="{F3D2FE5E-54FA-FABE-5F3A-0FD423262E44}"/>
              </a:ext>
            </a:extLst>
          </p:cNvPr>
          <p:cNvCxnSpPr>
            <a:cxnSpLocks/>
          </p:cNvCxnSpPr>
          <p:nvPr/>
        </p:nvCxnSpPr>
        <p:spPr bwMode="auto">
          <a:xfrm>
            <a:off x="4061481" y="3286308"/>
            <a:ext cx="0" cy="2362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43" name="직선 연결선 1142">
            <a:extLst>
              <a:ext uri="{FF2B5EF4-FFF2-40B4-BE49-F238E27FC236}">
                <a16:creationId xmlns:a16="http://schemas.microsoft.com/office/drawing/2014/main" id="{5A0C4547-02E0-1FF7-94D3-EBC420B5F359}"/>
              </a:ext>
            </a:extLst>
          </p:cNvPr>
          <p:cNvCxnSpPr>
            <a:cxnSpLocks/>
          </p:cNvCxnSpPr>
          <p:nvPr/>
        </p:nvCxnSpPr>
        <p:spPr bwMode="auto">
          <a:xfrm flipH="1">
            <a:off x="4061481" y="4004898"/>
            <a:ext cx="990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44" name="직선 연결선 1143">
            <a:extLst>
              <a:ext uri="{FF2B5EF4-FFF2-40B4-BE49-F238E27FC236}">
                <a16:creationId xmlns:a16="http://schemas.microsoft.com/office/drawing/2014/main" id="{9BD3FD31-91A5-B72D-915E-120DA082D21F}"/>
              </a:ext>
            </a:extLst>
          </p:cNvPr>
          <p:cNvCxnSpPr>
            <a:cxnSpLocks/>
          </p:cNvCxnSpPr>
          <p:nvPr/>
        </p:nvCxnSpPr>
        <p:spPr bwMode="auto">
          <a:xfrm>
            <a:off x="5047883" y="3286308"/>
            <a:ext cx="0" cy="2362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45" name="직사각형 1144">
            <a:extLst>
              <a:ext uri="{FF2B5EF4-FFF2-40B4-BE49-F238E27FC236}">
                <a16:creationId xmlns:a16="http://schemas.microsoft.com/office/drawing/2014/main" id="{5CB219EF-2700-5698-8F62-F6D0B87E7AD1}"/>
              </a:ext>
            </a:extLst>
          </p:cNvPr>
          <p:cNvSpPr/>
          <p:nvPr/>
        </p:nvSpPr>
        <p:spPr bwMode="auto">
          <a:xfrm>
            <a:off x="4015930" y="3733476"/>
            <a:ext cx="1066373" cy="52567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46" name="직사각형 1145">
            <a:extLst>
              <a:ext uri="{FF2B5EF4-FFF2-40B4-BE49-F238E27FC236}">
                <a16:creationId xmlns:a16="http://schemas.microsoft.com/office/drawing/2014/main" id="{DFFE62F7-59D6-21EF-2AFB-BBD5A45F273C}"/>
              </a:ext>
            </a:extLst>
          </p:cNvPr>
          <p:cNvSpPr/>
          <p:nvPr/>
        </p:nvSpPr>
        <p:spPr bwMode="auto">
          <a:xfrm>
            <a:off x="4015930" y="4662030"/>
            <a:ext cx="1066373" cy="52567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47" name="오른쪽 중괄호 1146">
            <a:extLst>
              <a:ext uri="{FF2B5EF4-FFF2-40B4-BE49-F238E27FC236}">
                <a16:creationId xmlns:a16="http://schemas.microsoft.com/office/drawing/2014/main" id="{5ADCA5E1-9D23-605F-D6E1-595BA51F4832}"/>
              </a:ext>
            </a:extLst>
          </p:cNvPr>
          <p:cNvSpPr/>
          <p:nvPr/>
        </p:nvSpPr>
        <p:spPr bwMode="auto">
          <a:xfrm>
            <a:off x="5143872" y="4662030"/>
            <a:ext cx="104696" cy="525670"/>
          </a:xfrm>
          <a:prstGeom prst="rightBrac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31D13127-FA5C-43AC-0BA0-F91469C4EE95}"/>
              </a:ext>
            </a:extLst>
          </p:cNvPr>
          <p:cNvSpPr txBox="1"/>
          <p:nvPr/>
        </p:nvSpPr>
        <p:spPr>
          <a:xfrm>
            <a:off x="5208520" y="4794060"/>
            <a:ext cx="4539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size</a:t>
            </a:r>
            <a:endParaRPr lang="ko-KR" altLang="en-US" sz="1100"/>
          </a:p>
        </p:txBody>
      </p:sp>
      <p:sp>
        <p:nvSpPr>
          <p:cNvPr id="1149" name="오른쪽 중괄호 1148">
            <a:extLst>
              <a:ext uri="{FF2B5EF4-FFF2-40B4-BE49-F238E27FC236}">
                <a16:creationId xmlns:a16="http://schemas.microsoft.com/office/drawing/2014/main" id="{841CA094-84FB-74EE-354C-3408FAA56EFE}"/>
              </a:ext>
            </a:extLst>
          </p:cNvPr>
          <p:cNvSpPr/>
          <p:nvPr/>
        </p:nvSpPr>
        <p:spPr bwMode="auto">
          <a:xfrm>
            <a:off x="5143872" y="3733220"/>
            <a:ext cx="104696" cy="525670"/>
          </a:xfrm>
          <a:prstGeom prst="rightBrac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ED62F0F6-1C40-DEE3-40CD-A73D71475C78}"/>
              </a:ext>
            </a:extLst>
          </p:cNvPr>
          <p:cNvSpPr txBox="1"/>
          <p:nvPr/>
        </p:nvSpPr>
        <p:spPr>
          <a:xfrm>
            <a:off x="5208520" y="3865250"/>
            <a:ext cx="4539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size</a:t>
            </a:r>
            <a:endParaRPr lang="ko-KR" altLang="en-US" sz="1100"/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1241E55F-8989-4C67-AF0F-EDD9E84BEFAA}"/>
              </a:ext>
            </a:extLst>
          </p:cNvPr>
          <p:cNvSpPr txBox="1"/>
          <p:nvPr/>
        </p:nvSpPr>
        <p:spPr>
          <a:xfrm rot="16200000">
            <a:off x="3351686" y="5056895"/>
            <a:ext cx="5148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base</a:t>
            </a:r>
            <a:endParaRPr lang="ko-KR" altLang="en-US" sz="1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2" name="TextBox 1151">
                <a:extLst>
                  <a:ext uri="{FF2B5EF4-FFF2-40B4-BE49-F238E27FC236}">
                    <a16:creationId xmlns:a16="http://schemas.microsoft.com/office/drawing/2014/main" id="{6CE10F5B-5B57-6FB0-0BCB-E8317806E602}"/>
                  </a:ext>
                </a:extLst>
              </p:cNvPr>
              <p:cNvSpPr txBox="1"/>
              <p:nvPr/>
            </p:nvSpPr>
            <p:spPr>
              <a:xfrm>
                <a:off x="2884339" y="4131077"/>
                <a:ext cx="63511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smtClean="0">
                          <a:latin typeface="Cambria Math" panose="02040503050406030204" pitchFamily="18" charset="0"/>
                        </a:rPr>
                        <m:t>⊂</m:t>
                      </m:r>
                    </m:oMath>
                  </m:oMathPara>
                </a14:m>
                <a:endParaRPr lang="ko-KR" altLang="en-US" sz="3200"/>
              </a:p>
            </p:txBody>
          </p:sp>
        </mc:Choice>
        <mc:Fallback xmlns="">
          <p:sp>
            <p:nvSpPr>
              <p:cNvPr id="1152" name="TextBox 1151">
                <a:extLst>
                  <a:ext uri="{FF2B5EF4-FFF2-40B4-BE49-F238E27FC236}">
                    <a16:creationId xmlns:a16="http://schemas.microsoft.com/office/drawing/2014/main" id="{6CE10F5B-5B57-6FB0-0BCB-E8317806E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339" y="4131077"/>
                <a:ext cx="63511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5" name="TextBox 1154">
            <a:extLst>
              <a:ext uri="{FF2B5EF4-FFF2-40B4-BE49-F238E27FC236}">
                <a16:creationId xmlns:a16="http://schemas.microsoft.com/office/drawing/2014/main" id="{32153CEF-B7AB-11FB-5E17-9D2B172F8D4D}"/>
              </a:ext>
            </a:extLst>
          </p:cNvPr>
          <p:cNvSpPr txBox="1"/>
          <p:nvPr/>
        </p:nvSpPr>
        <p:spPr>
          <a:xfrm>
            <a:off x="2398989" y="2417818"/>
            <a:ext cx="1130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/>
              <a:t>Fixed</a:t>
            </a:r>
          </a:p>
          <a:p>
            <a:pPr algn="ctr"/>
            <a:r>
              <a:rPr lang="en-US" altLang="ko-KR" sz="1200" b="1" i="1"/>
              <a:t>Buffer Size</a:t>
            </a:r>
            <a:endParaRPr lang="ko-KR" altLang="en-US" sz="1200" b="1" i="1"/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0AAFDA29-68B2-5C3D-A698-62F921D95E7B}"/>
              </a:ext>
            </a:extLst>
          </p:cNvPr>
          <p:cNvSpPr txBox="1"/>
          <p:nvPr/>
        </p:nvSpPr>
        <p:spPr>
          <a:xfrm rot="16200000">
            <a:off x="3351686" y="4128085"/>
            <a:ext cx="5148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base</a:t>
            </a:r>
            <a:endParaRPr lang="ko-KR" altLang="en-US" sz="1100"/>
          </a:p>
        </p:txBody>
      </p:sp>
      <p:sp>
        <p:nvSpPr>
          <p:cNvPr id="1182" name="화살표: 오른쪽 1181">
            <a:extLst>
              <a:ext uri="{FF2B5EF4-FFF2-40B4-BE49-F238E27FC236}">
                <a16:creationId xmlns:a16="http://schemas.microsoft.com/office/drawing/2014/main" id="{2D6D61B2-EC15-6854-5079-39C061A86125}"/>
              </a:ext>
            </a:extLst>
          </p:cNvPr>
          <p:cNvSpPr/>
          <p:nvPr/>
        </p:nvSpPr>
        <p:spPr bwMode="auto">
          <a:xfrm>
            <a:off x="691013" y="4745827"/>
            <a:ext cx="365154" cy="858891"/>
          </a:xfrm>
          <a:prstGeom prst="rightArrow">
            <a:avLst>
              <a:gd name="adj1" fmla="val 76616"/>
              <a:gd name="adj2" fmla="val 50000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84" name="화살표: 오른쪽 1183">
            <a:extLst>
              <a:ext uri="{FF2B5EF4-FFF2-40B4-BE49-F238E27FC236}">
                <a16:creationId xmlns:a16="http://schemas.microsoft.com/office/drawing/2014/main" id="{AAA4A78F-F8E6-34F3-1DA3-37AA0821A313}"/>
              </a:ext>
            </a:extLst>
          </p:cNvPr>
          <p:cNvSpPr/>
          <p:nvPr/>
        </p:nvSpPr>
        <p:spPr bwMode="auto">
          <a:xfrm>
            <a:off x="691013" y="3432350"/>
            <a:ext cx="365154" cy="858891"/>
          </a:xfrm>
          <a:prstGeom prst="rightArrow">
            <a:avLst>
              <a:gd name="adj1" fmla="val 76616"/>
              <a:gd name="adj2" fmla="val 50000"/>
            </a:avLst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89" name="TextBox 1188">
            <a:extLst>
              <a:ext uri="{FF2B5EF4-FFF2-40B4-BE49-F238E27FC236}">
                <a16:creationId xmlns:a16="http://schemas.microsoft.com/office/drawing/2014/main" id="{BC8F9EB5-6653-281E-C2C0-1FEC21362245}"/>
              </a:ext>
            </a:extLst>
          </p:cNvPr>
          <p:cNvSpPr txBox="1"/>
          <p:nvPr/>
        </p:nvSpPr>
        <p:spPr>
          <a:xfrm>
            <a:off x="140457" y="3460940"/>
            <a:ext cx="8050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/>
              <a:t>kernel </a:t>
            </a:r>
          </a:p>
          <a:p>
            <a:pPr algn="ctr"/>
            <a:r>
              <a:rPr lang="en-US" altLang="ko-KR" sz="1200" b="1"/>
              <a:t>v-addr </a:t>
            </a:r>
          </a:p>
          <a:p>
            <a:pPr algn="ctr"/>
            <a:r>
              <a:rPr lang="en-US" altLang="ko-KR" sz="1200" b="1"/>
              <a:t>space </a:t>
            </a:r>
          </a:p>
          <a:p>
            <a:pPr algn="ctr"/>
            <a:r>
              <a:rPr lang="en-US" altLang="ko-KR" sz="1200" b="1"/>
              <a:t>invade</a:t>
            </a:r>
            <a:endParaRPr lang="ko-KR" altLang="en-US" sz="1200" b="1"/>
          </a:p>
        </p:txBody>
      </p:sp>
      <p:sp>
        <p:nvSpPr>
          <p:cNvPr id="1190" name="TextBox 1189">
            <a:extLst>
              <a:ext uri="{FF2B5EF4-FFF2-40B4-BE49-F238E27FC236}">
                <a16:creationId xmlns:a16="http://schemas.microsoft.com/office/drawing/2014/main" id="{8B6969BE-DB1F-FDE3-AA3B-710B7723D257}"/>
              </a:ext>
            </a:extLst>
          </p:cNvPr>
          <p:cNvSpPr txBox="1"/>
          <p:nvPr/>
        </p:nvSpPr>
        <p:spPr>
          <a:xfrm>
            <a:off x="-35838" y="4843179"/>
            <a:ext cx="10935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/>
              <a:t>access to</a:t>
            </a:r>
          </a:p>
          <a:p>
            <a:pPr algn="ctr"/>
            <a:r>
              <a:rPr lang="en-US" altLang="ko-KR" sz="1200" b="1"/>
              <a:t>unmapped</a:t>
            </a:r>
          </a:p>
          <a:p>
            <a:pPr algn="ctr"/>
            <a:r>
              <a:rPr lang="en-US" altLang="ko-KR" sz="1200" b="1"/>
              <a:t>page</a:t>
            </a:r>
            <a:endParaRPr lang="ko-KR" altLang="en-US" sz="1200" b="1"/>
          </a:p>
        </p:txBody>
      </p:sp>
      <p:sp>
        <p:nvSpPr>
          <p:cNvPr id="1202" name="TextBox 1201">
            <a:extLst>
              <a:ext uri="{FF2B5EF4-FFF2-40B4-BE49-F238E27FC236}">
                <a16:creationId xmlns:a16="http://schemas.microsoft.com/office/drawing/2014/main" id="{F01A3EA3-1533-0F57-324B-05D40535271F}"/>
              </a:ext>
            </a:extLst>
          </p:cNvPr>
          <p:cNvSpPr txBox="1"/>
          <p:nvPr/>
        </p:nvSpPr>
        <p:spPr>
          <a:xfrm>
            <a:off x="7723062" y="4999679"/>
            <a:ext cx="10874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spc="280">
                <a:latin typeface="Consolas" panose="020B0609020204030204" pitchFamily="49" charset="0"/>
              </a:rPr>
              <a:t>COMPUTER</a:t>
            </a:r>
            <a:endParaRPr lang="ko-KR" altLang="en-US" sz="1100" spc="280">
              <a:latin typeface="Consolas" panose="020B0609020204030204" pitchFamily="49" charset="0"/>
            </a:endParaRPr>
          </a:p>
        </p:txBody>
      </p:sp>
      <p:cxnSp>
        <p:nvCxnSpPr>
          <p:cNvPr id="1203" name="직선 화살표 연결선 1202">
            <a:extLst>
              <a:ext uri="{FF2B5EF4-FFF2-40B4-BE49-F238E27FC236}">
                <a16:creationId xmlns:a16="http://schemas.microsoft.com/office/drawing/2014/main" id="{B73B9EC6-0977-7877-3423-65612D421313}"/>
              </a:ext>
            </a:extLst>
          </p:cNvPr>
          <p:cNvCxnSpPr>
            <a:cxnSpLocks/>
          </p:cNvCxnSpPr>
          <p:nvPr/>
        </p:nvCxnSpPr>
        <p:spPr bwMode="auto">
          <a:xfrm>
            <a:off x="7884309" y="5261610"/>
            <a:ext cx="762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204" name="직선 연결선 1203">
            <a:extLst>
              <a:ext uri="{FF2B5EF4-FFF2-40B4-BE49-F238E27FC236}">
                <a16:creationId xmlns:a16="http://schemas.microsoft.com/office/drawing/2014/main" id="{5A57BEBE-B126-24F9-3228-DFA2B1F4DBAB}"/>
              </a:ext>
            </a:extLst>
          </p:cNvPr>
          <p:cNvCxnSpPr/>
          <p:nvPr/>
        </p:nvCxnSpPr>
        <p:spPr bwMode="auto">
          <a:xfrm flipH="1" flipV="1">
            <a:off x="7884309" y="4910823"/>
            <a:ext cx="762000" cy="34416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05" name="직선 화살표 연결선 1204">
            <a:extLst>
              <a:ext uri="{FF2B5EF4-FFF2-40B4-BE49-F238E27FC236}">
                <a16:creationId xmlns:a16="http://schemas.microsoft.com/office/drawing/2014/main" id="{E4478015-F095-0213-1986-4427041E31B8}"/>
              </a:ext>
            </a:extLst>
          </p:cNvPr>
          <p:cNvCxnSpPr>
            <a:cxnSpLocks/>
          </p:cNvCxnSpPr>
          <p:nvPr/>
        </p:nvCxnSpPr>
        <p:spPr bwMode="auto">
          <a:xfrm>
            <a:off x="7879299" y="4911626"/>
            <a:ext cx="762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206" name="직선 연결선 1205">
            <a:extLst>
              <a:ext uri="{FF2B5EF4-FFF2-40B4-BE49-F238E27FC236}">
                <a16:creationId xmlns:a16="http://schemas.microsoft.com/office/drawing/2014/main" id="{347B6E9B-D389-83FA-EE01-CD9A9A9219A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8260299" y="4728980"/>
            <a:ext cx="381000" cy="1786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  <a:effectLst/>
        </p:spPr>
      </p:cxnSp>
      <p:cxnSp>
        <p:nvCxnSpPr>
          <p:cNvPr id="1209" name="직선 화살표 연결선 1208">
            <a:extLst>
              <a:ext uri="{FF2B5EF4-FFF2-40B4-BE49-F238E27FC236}">
                <a16:creationId xmlns:a16="http://schemas.microsoft.com/office/drawing/2014/main" id="{F0CF2548-A037-6B37-3214-18A2B55BC1BF}"/>
              </a:ext>
            </a:extLst>
          </p:cNvPr>
          <p:cNvCxnSpPr>
            <a:cxnSpLocks/>
          </p:cNvCxnSpPr>
          <p:nvPr/>
        </p:nvCxnSpPr>
        <p:spPr bwMode="auto">
          <a:xfrm>
            <a:off x="6279123" y="5084677"/>
            <a:ext cx="25477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10" name="TextBox 1209">
            <a:extLst>
              <a:ext uri="{FF2B5EF4-FFF2-40B4-BE49-F238E27FC236}">
                <a16:creationId xmlns:a16="http://schemas.microsoft.com/office/drawing/2014/main" id="{281D2A9C-094B-4B3B-08DD-69A53862DD5A}"/>
              </a:ext>
            </a:extLst>
          </p:cNvPr>
          <p:cNvSpPr txBox="1"/>
          <p:nvPr/>
        </p:nvSpPr>
        <p:spPr>
          <a:xfrm>
            <a:off x="5950401" y="4943083"/>
            <a:ext cx="3754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str</a:t>
            </a:r>
            <a:endParaRPr lang="ko-KR" altLang="en-US" sz="11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19D83B-A4B5-4807-E79A-4B2D1DAC63D1}"/>
              </a:ext>
            </a:extLst>
          </p:cNvPr>
          <p:cNvSpPr txBox="1"/>
          <p:nvPr/>
        </p:nvSpPr>
        <p:spPr>
          <a:xfrm>
            <a:off x="434434" y="6252932"/>
            <a:ext cx="5335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solidFill>
                  <a:srgbClr val="0000FF"/>
                </a:solidFill>
              </a:rPr>
              <a:t>void</a:t>
            </a:r>
          </a:p>
          <a:p>
            <a:r>
              <a:rPr lang="en-US" altLang="ko-KR" sz="1200" b="1"/>
              <a:t>validate_uaddr_space </a:t>
            </a:r>
            <a:r>
              <a:rPr lang="en-US" altLang="ko-KR" sz="1200" b="1">
                <a:solidFill>
                  <a:srgbClr val="0000FF"/>
                </a:solidFill>
              </a:rPr>
              <a:t>(const void *base, unsigned int size)</a:t>
            </a:r>
            <a:endParaRPr lang="ko-KR" altLang="en-US" sz="1200" b="1">
              <a:solidFill>
                <a:srgbClr val="0000FF"/>
              </a:solidFill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EC56AD92-B150-1A3C-324C-BE3B74456EAF}"/>
              </a:ext>
            </a:extLst>
          </p:cNvPr>
          <p:cNvSpPr/>
          <p:nvPr/>
        </p:nvSpPr>
        <p:spPr bwMode="auto">
          <a:xfrm rot="5400000">
            <a:off x="2760919" y="5527824"/>
            <a:ext cx="406577" cy="858891"/>
          </a:xfrm>
          <a:prstGeom prst="rightArrow">
            <a:avLst>
              <a:gd name="adj1" fmla="val 76616"/>
              <a:gd name="adj2" fmla="val 50000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46FB0377-B8C9-BCBA-05E1-07F0EF7F62B2}"/>
              </a:ext>
            </a:extLst>
          </p:cNvPr>
          <p:cNvSpPr/>
          <p:nvPr/>
        </p:nvSpPr>
        <p:spPr bwMode="auto">
          <a:xfrm rot="5400000">
            <a:off x="7404556" y="5527823"/>
            <a:ext cx="406575" cy="858891"/>
          </a:xfrm>
          <a:prstGeom prst="rightArrow">
            <a:avLst>
              <a:gd name="adj1" fmla="val 76616"/>
              <a:gd name="adj2" fmla="val 50000"/>
            </a:avLst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4B1917-CFE4-6114-C345-E82D7D804A4A}"/>
              </a:ext>
            </a:extLst>
          </p:cNvPr>
          <p:cNvSpPr txBox="1"/>
          <p:nvPr/>
        </p:nvSpPr>
        <p:spPr>
          <a:xfrm>
            <a:off x="2051940" y="5733093"/>
            <a:ext cx="18245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/>
              <a:t>validation procedure</a:t>
            </a:r>
            <a:endParaRPr lang="ko-KR" altLang="en-US" sz="11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D80D54-A925-3D90-3EA7-EBFBCD4607F8}"/>
              </a:ext>
            </a:extLst>
          </p:cNvPr>
          <p:cNvSpPr txBox="1"/>
          <p:nvPr/>
        </p:nvSpPr>
        <p:spPr>
          <a:xfrm>
            <a:off x="6735659" y="5732685"/>
            <a:ext cx="18245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/>
              <a:t>validation procedure</a:t>
            </a:r>
            <a:endParaRPr lang="ko-KR" altLang="en-US" sz="1100" b="1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E2B431E-665C-3B84-3168-7FB18A2BF917}"/>
              </a:ext>
            </a:extLst>
          </p:cNvPr>
          <p:cNvSpPr/>
          <p:nvPr/>
        </p:nvSpPr>
        <p:spPr bwMode="auto">
          <a:xfrm>
            <a:off x="6001395" y="6244846"/>
            <a:ext cx="3008079" cy="4697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89D130-5EF0-222B-E49F-F3724FB81411}"/>
              </a:ext>
            </a:extLst>
          </p:cNvPr>
          <p:cNvSpPr txBox="1"/>
          <p:nvPr/>
        </p:nvSpPr>
        <p:spPr>
          <a:xfrm>
            <a:off x="5969065" y="6260086"/>
            <a:ext cx="3113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rgbClr val="0000FF"/>
                </a:solidFill>
              </a:rPr>
              <a:t>int</a:t>
            </a:r>
          </a:p>
          <a:p>
            <a:r>
              <a:rPr lang="en-US" altLang="ko-KR" sz="1200" b="1"/>
              <a:t>validated_strlen </a:t>
            </a:r>
            <a:r>
              <a:rPr lang="en-US" altLang="ko-KR" sz="1200" b="1">
                <a:solidFill>
                  <a:srgbClr val="0000FF"/>
                </a:solidFill>
              </a:rPr>
              <a:t>(const char *str)</a:t>
            </a:r>
            <a:endParaRPr lang="ko-KR" altLang="en-US" sz="1200" b="1">
              <a:solidFill>
                <a:srgbClr val="0000F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19F154-EE43-9389-461C-058BC19CF8C5}"/>
              </a:ext>
            </a:extLst>
          </p:cNvPr>
          <p:cNvSpPr txBox="1"/>
          <p:nvPr/>
        </p:nvSpPr>
        <p:spPr>
          <a:xfrm>
            <a:off x="5935977" y="1596366"/>
            <a:ext cx="3280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/>
              <a:t>exec (char *cmd_line)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/>
              <a:t>create (char* file_name, int init_size)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/>
              <a:t>remove (char* file_name)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/>
              <a:t>open (char* file_name)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B978CE-5978-65F7-BE8E-BD158CFA8A61}"/>
              </a:ext>
            </a:extLst>
          </p:cNvPr>
          <p:cNvSpPr txBox="1"/>
          <p:nvPr/>
        </p:nvSpPr>
        <p:spPr>
          <a:xfrm>
            <a:off x="793401" y="1736215"/>
            <a:ext cx="3778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/>
              <a:t>read (int fd, void *buffer, unsigned int size)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/>
              <a:t>write (int fd, void *buffer, unsigned int size)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/>
              <a:t>validation of space [usr esp, usr esp + argc]</a:t>
            </a:r>
          </a:p>
        </p:txBody>
      </p:sp>
      <p:sp>
        <p:nvSpPr>
          <p:cNvPr id="1124" name="화살표: 오른쪽 1123">
            <a:extLst>
              <a:ext uri="{FF2B5EF4-FFF2-40B4-BE49-F238E27FC236}">
                <a16:creationId xmlns:a16="http://schemas.microsoft.com/office/drawing/2014/main" id="{846AF22A-9A06-B624-210F-E532D24308AC}"/>
              </a:ext>
            </a:extLst>
          </p:cNvPr>
          <p:cNvSpPr/>
          <p:nvPr/>
        </p:nvSpPr>
        <p:spPr bwMode="auto">
          <a:xfrm rot="5400000">
            <a:off x="7377570" y="2047383"/>
            <a:ext cx="540715" cy="1370522"/>
          </a:xfrm>
          <a:prstGeom prst="rightArrow">
            <a:avLst>
              <a:gd name="adj1" fmla="val 76616"/>
              <a:gd name="adj2" fmla="val 50000"/>
            </a:avLst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C9AAF578-D4D8-8485-9A9E-E3E3ACD5D96D}"/>
              </a:ext>
            </a:extLst>
          </p:cNvPr>
          <p:cNvSpPr txBox="1"/>
          <p:nvPr/>
        </p:nvSpPr>
        <p:spPr>
          <a:xfrm>
            <a:off x="7098441" y="2417819"/>
            <a:ext cx="1130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/>
              <a:t>Variable</a:t>
            </a:r>
          </a:p>
          <a:p>
            <a:pPr algn="ctr"/>
            <a:r>
              <a:rPr lang="en-US" altLang="ko-KR" sz="1200" b="1" i="1"/>
              <a:t>Buffer Size</a:t>
            </a:r>
            <a:endParaRPr lang="ko-KR" altLang="en-US" sz="1200" b="1" i="1"/>
          </a:p>
        </p:txBody>
      </p:sp>
    </p:spTree>
    <p:extLst>
      <p:ext uri="{BB962C8B-B14F-4D97-AF65-F5344CB8AC3E}">
        <p14:creationId xmlns:p14="http://schemas.microsoft.com/office/powerpoint/2010/main" val="132158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D6A8F-AB6F-B777-57AE-031F5EC9A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/>
              <a:t>EXEC System Call</a:t>
            </a:r>
            <a:endParaRPr lang="ko-KR" altLang="en-US" sz="36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79ADC6-F53A-8A39-0DB9-6561DAB1E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455" y="1774292"/>
            <a:ext cx="3423950" cy="4321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400">
                <a:solidFill>
                  <a:srgbClr val="0000FF"/>
                </a:solidFill>
              </a:rPr>
              <a:t>A child </a:t>
            </a:r>
            <a:r>
              <a:rPr lang="en-US" altLang="ko-KR" sz="1400"/>
              <a:t>process loads an ELF binary and </a:t>
            </a:r>
            <a:r>
              <a:rPr lang="en-US" altLang="ko-KR" sz="1400">
                <a:solidFill>
                  <a:srgbClr val="0000FF"/>
                </a:solidFill>
              </a:rPr>
              <a:t>stores the result in </a:t>
            </a:r>
            <a:r>
              <a:rPr lang="en-US" altLang="ko-KR" sz="1400" i="1">
                <a:solidFill>
                  <a:srgbClr val="0000FF"/>
                </a:solidFill>
              </a:rPr>
              <a:t>elf_load_status.</a:t>
            </a:r>
          </a:p>
          <a:p>
            <a:pPr latinLnBrk="1"/>
            <a:endParaRPr lang="en-US" altLang="ko-KR" sz="1400"/>
          </a:p>
          <a:p>
            <a:pPr latinLnBrk="1"/>
            <a:r>
              <a:rPr lang="en-US" altLang="ko-KR" sz="1400">
                <a:solidFill>
                  <a:srgbClr val="FF0000"/>
                </a:solidFill>
              </a:rPr>
              <a:t>The parent </a:t>
            </a:r>
            <a:r>
              <a:rPr lang="en-US" altLang="ko-KR" sz="1400"/>
              <a:t>process</a:t>
            </a:r>
            <a:r>
              <a:rPr lang="en-US" altLang="ko-KR" sz="1400">
                <a:solidFill>
                  <a:srgbClr val="FF0000"/>
                </a:solidFill>
              </a:rPr>
              <a:t> checks the child's </a:t>
            </a:r>
            <a:r>
              <a:rPr lang="en-US" altLang="ko-KR" sz="1400" i="1">
                <a:solidFill>
                  <a:srgbClr val="FF0000"/>
                </a:solidFill>
              </a:rPr>
              <a:t>elf_load_status </a:t>
            </a:r>
            <a:r>
              <a:rPr lang="en-US" altLang="ko-KR" sz="1400"/>
              <a:t>whether the ELF file was successfully loaded.</a:t>
            </a:r>
          </a:p>
          <a:p>
            <a:pPr latinLnBrk="1"/>
            <a:endParaRPr lang="en-US" altLang="ko-KR" sz="1400"/>
          </a:p>
          <a:p>
            <a:pPr latinLnBrk="1"/>
            <a:r>
              <a:rPr lang="en-US" altLang="ko-KR" sz="1400">
                <a:solidFill>
                  <a:srgbClr val="0000FF"/>
                </a:solidFill>
              </a:rPr>
              <a:t>The child acts as the producer </a:t>
            </a:r>
            <a:r>
              <a:rPr lang="en-US" altLang="ko-KR" sz="1400"/>
              <a:t>of elf_load_status, while </a:t>
            </a:r>
            <a:r>
              <a:rPr lang="en-US" altLang="ko-KR" sz="1400">
                <a:solidFill>
                  <a:srgbClr val="FF0000"/>
                </a:solidFill>
              </a:rPr>
              <a:t>the parent is the consumer.</a:t>
            </a:r>
          </a:p>
          <a:p>
            <a:pPr latinLnBrk="1"/>
            <a:endParaRPr lang="en-US" altLang="ko-KR" sz="1400" b="1">
              <a:solidFill>
                <a:srgbClr val="FF0000"/>
              </a:solidFill>
            </a:endParaRPr>
          </a:p>
          <a:p>
            <a:pPr latinLnBrk="1"/>
            <a:r>
              <a:rPr lang="en-US" altLang="ko-KR" sz="1400"/>
              <a:t>This situation represents a classic </a:t>
            </a:r>
            <a:r>
              <a:rPr lang="en-US" altLang="ko-KR" sz="1400" b="1"/>
              <a:t>producer-consumer problem</a:t>
            </a:r>
            <a:r>
              <a:rPr lang="en-US" altLang="ko-KR" sz="1400"/>
              <a:t> involving shared memory.</a:t>
            </a:r>
            <a:endParaRPr lang="en-US" altLang="ko-KR" sz="14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400" kern="0">
              <a:latin typeface="+mj-lt"/>
            </a:endParaRPr>
          </a:p>
          <a:p>
            <a:pPr latinLnBrk="1"/>
            <a:endParaRPr lang="en-US" altLang="ko-KR" sz="1400" kern="0">
              <a:latin typeface="+mj-lt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639712A-98CC-105C-536B-DE5F021E8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227" y="3230880"/>
            <a:ext cx="1187271" cy="17966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4876D3-CE1E-4EDA-1090-782F5B1914CB}"/>
              </a:ext>
            </a:extLst>
          </p:cNvPr>
          <p:cNvSpPr txBox="1"/>
          <p:nvPr/>
        </p:nvSpPr>
        <p:spPr>
          <a:xfrm rot="21338511">
            <a:off x="2650383" y="4299420"/>
            <a:ext cx="820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ELF</a:t>
            </a:r>
            <a:endParaRPr lang="ko-KR" altLang="en-US">
              <a:latin typeface="UD Digi Kyokasho N-B" panose="02020700000000000000" pitchFamily="17" charset="-128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99C0315-CD09-48AD-CF43-7F6D4D2F1D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38" y="2741504"/>
            <a:ext cx="1349517" cy="195790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AEADAD9-82F8-94D8-9DC6-D3E1FEFA1F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69862" y="4129213"/>
            <a:ext cx="2685126" cy="1216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C33AA3-3A09-55C4-9746-19D4AA22E5A0}"/>
              </a:ext>
            </a:extLst>
          </p:cNvPr>
          <p:cNvSpPr txBox="1"/>
          <p:nvPr/>
        </p:nvSpPr>
        <p:spPr>
          <a:xfrm rot="19800000">
            <a:off x="2201311" y="3168299"/>
            <a:ext cx="917085" cy="346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spc="-15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child</a:t>
            </a:r>
            <a:endParaRPr lang="ko-KR" altLang="en-US" sz="1600" spc="-150">
              <a:latin typeface="UD Digi Kyokasho N-B" panose="020207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75DA0-5705-B5D4-24C0-E38416304C20}"/>
              </a:ext>
            </a:extLst>
          </p:cNvPr>
          <p:cNvSpPr txBox="1"/>
          <p:nvPr/>
        </p:nvSpPr>
        <p:spPr>
          <a:xfrm rot="19131228">
            <a:off x="342931" y="2789174"/>
            <a:ext cx="917085" cy="346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spc="-15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parent</a:t>
            </a:r>
            <a:endParaRPr lang="ko-KR" altLang="en-US" sz="1600" spc="-150">
              <a:latin typeface="UD Digi Kyokasho N-B" panose="02020700000000000000" pitchFamily="17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ABE358-7F57-0B97-0DB2-B5F314CB61E7}"/>
              </a:ext>
            </a:extLst>
          </p:cNvPr>
          <p:cNvSpPr txBox="1"/>
          <p:nvPr/>
        </p:nvSpPr>
        <p:spPr>
          <a:xfrm>
            <a:off x="3321670" y="5097748"/>
            <a:ext cx="15815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spc="-15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File System</a:t>
            </a:r>
            <a:endParaRPr lang="ko-KR" altLang="en-US" sz="1600" spc="-150">
              <a:latin typeface="UD Digi Kyokasho N-B" panose="020207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97857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157C7AC6-7BE2-7877-6092-E60B551FCC9E}"/>
              </a:ext>
            </a:extLst>
          </p:cNvPr>
          <p:cNvSpPr/>
          <p:nvPr/>
        </p:nvSpPr>
        <p:spPr bwMode="auto">
          <a:xfrm>
            <a:off x="3218618" y="1828800"/>
            <a:ext cx="5929150" cy="4077533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43F2C6A4-A84B-1922-38B5-A016DBC8655C}"/>
              </a:ext>
            </a:extLst>
          </p:cNvPr>
          <p:cNvSpPr/>
          <p:nvPr/>
        </p:nvSpPr>
        <p:spPr bwMode="auto">
          <a:xfrm>
            <a:off x="1688573" y="1828800"/>
            <a:ext cx="1466309" cy="4077533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123EEC46-A94C-E81F-1A47-9701E038E7A0}"/>
              </a:ext>
            </a:extLst>
          </p:cNvPr>
          <p:cNvSpPr/>
          <p:nvPr/>
        </p:nvSpPr>
        <p:spPr bwMode="auto">
          <a:xfrm>
            <a:off x="0" y="1828800"/>
            <a:ext cx="1603487" cy="4077533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85A0942F-1325-3FDE-04C3-C3AD39D20C10}"/>
              </a:ext>
            </a:extLst>
          </p:cNvPr>
          <p:cNvCxnSpPr>
            <a:cxnSpLocks/>
            <a:stCxn id="17" idx="4"/>
            <a:endCxn id="153" idx="0"/>
          </p:cNvCxnSpPr>
          <p:nvPr/>
        </p:nvCxnSpPr>
        <p:spPr bwMode="auto">
          <a:xfrm>
            <a:off x="5933703" y="2751531"/>
            <a:ext cx="0" cy="10916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4CA07021-63AF-9E30-ACB0-3FBFFD6C7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/>
              <a:t>Synchronization for EXEC Syscall</a:t>
            </a:r>
            <a:endParaRPr lang="ko-KR" altLang="en-US" sz="280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23A37BD-4FB4-F3CC-71E7-781A40A1396F}"/>
              </a:ext>
            </a:extLst>
          </p:cNvPr>
          <p:cNvCxnSpPr>
            <a:cxnSpLocks/>
            <a:stCxn id="20" idx="3"/>
          </p:cNvCxnSpPr>
          <p:nvPr/>
        </p:nvCxnSpPr>
        <p:spPr bwMode="auto">
          <a:xfrm>
            <a:off x="839223" y="2657626"/>
            <a:ext cx="7858396" cy="160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158AC63B-6725-2197-91FF-4CCA5C0AC58B}"/>
              </a:ext>
            </a:extLst>
          </p:cNvPr>
          <p:cNvSpPr/>
          <p:nvPr/>
        </p:nvSpPr>
        <p:spPr bwMode="auto">
          <a:xfrm>
            <a:off x="5857503" y="2599131"/>
            <a:ext cx="152400" cy="152400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094CFF-1681-4548-B882-477A69A81DD6}"/>
              </a:ext>
            </a:extLst>
          </p:cNvPr>
          <p:cNvSpPr txBox="1"/>
          <p:nvPr/>
        </p:nvSpPr>
        <p:spPr>
          <a:xfrm>
            <a:off x="48622" y="2519126"/>
            <a:ext cx="790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0000FF"/>
                </a:solidFill>
              </a:rPr>
              <a:t>EXEC()</a:t>
            </a:r>
            <a:endParaRPr lang="ko-KR" altLang="en-US" sz="1200" b="1">
              <a:solidFill>
                <a:srgbClr val="0000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889EEA-C05C-43BF-4E28-98CEE8028031}"/>
              </a:ext>
            </a:extLst>
          </p:cNvPr>
          <p:cNvSpPr txBox="1"/>
          <p:nvPr/>
        </p:nvSpPr>
        <p:spPr>
          <a:xfrm>
            <a:off x="4991781" y="2322134"/>
            <a:ext cx="18838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0000FF"/>
                </a:solidFill>
              </a:rPr>
              <a:t>P(‘child’-&gt;elf_load)</a:t>
            </a:r>
            <a:endParaRPr lang="ko-KR" altLang="en-US" sz="1200" b="1">
              <a:solidFill>
                <a:srgbClr val="0000FF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7CBD61-A659-E15D-E3B6-3ECB9ADAF770}"/>
              </a:ext>
            </a:extLst>
          </p:cNvPr>
          <p:cNvSpPr txBox="1"/>
          <p:nvPr/>
        </p:nvSpPr>
        <p:spPr>
          <a:xfrm>
            <a:off x="7778595" y="3085454"/>
            <a:ext cx="1408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/>
              <a:t>return</a:t>
            </a:r>
          </a:p>
          <a:p>
            <a:pPr algn="ctr"/>
            <a:r>
              <a:rPr lang="en-US" altLang="ko-KR" sz="1200"/>
              <a:t>‘child’-&gt;tid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D2FD21C-5864-C90B-56BE-056893C9AD9F}"/>
              </a:ext>
            </a:extLst>
          </p:cNvPr>
          <p:cNvSpPr txBox="1"/>
          <p:nvPr/>
        </p:nvSpPr>
        <p:spPr>
          <a:xfrm rot="19800000">
            <a:off x="7406377" y="1962315"/>
            <a:ext cx="1824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elf_load_status</a:t>
            </a:r>
          </a:p>
          <a:p>
            <a:r>
              <a:rPr lang="en-US" altLang="ko-KR" sz="1200"/>
              <a:t>        ==SUCCESS?</a:t>
            </a:r>
          </a:p>
        </p:txBody>
      </p:sp>
      <p:sp>
        <p:nvSpPr>
          <p:cNvPr id="63" name="이등변 삼각형 62">
            <a:extLst>
              <a:ext uri="{FF2B5EF4-FFF2-40B4-BE49-F238E27FC236}">
                <a16:creationId xmlns:a16="http://schemas.microsoft.com/office/drawing/2014/main" id="{CB106251-68FA-96A7-7C5E-5D9179ED1CD5}"/>
              </a:ext>
            </a:extLst>
          </p:cNvPr>
          <p:cNvSpPr/>
          <p:nvPr/>
        </p:nvSpPr>
        <p:spPr bwMode="auto">
          <a:xfrm rot="5400000">
            <a:off x="1592591" y="2619525"/>
            <a:ext cx="88392" cy="762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9C3F81D-A141-BA2C-6C2D-91A4CB0C59D8}"/>
              </a:ext>
            </a:extLst>
          </p:cNvPr>
          <p:cNvSpPr txBox="1"/>
          <p:nvPr/>
        </p:nvSpPr>
        <p:spPr>
          <a:xfrm rot="1800000">
            <a:off x="7764" y="1963362"/>
            <a:ext cx="1824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/>
              <a:t>Create child thread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9211381-9A9A-4CD1-BA6A-219AA8394759}"/>
              </a:ext>
            </a:extLst>
          </p:cNvPr>
          <p:cNvSpPr txBox="1"/>
          <p:nvPr/>
        </p:nvSpPr>
        <p:spPr>
          <a:xfrm rot="19800000">
            <a:off x="6781383" y="1979709"/>
            <a:ext cx="1824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</a:rPr>
              <a:t>Get elf_load_status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60AD879B-EEC3-CF53-57C7-34DFB2EDF4CA}"/>
              </a:ext>
            </a:extLst>
          </p:cNvPr>
          <p:cNvCxnSpPr>
            <a:cxnSpLocks/>
          </p:cNvCxnSpPr>
          <p:nvPr/>
        </p:nvCxnSpPr>
        <p:spPr bwMode="auto">
          <a:xfrm>
            <a:off x="1676400" y="2657625"/>
            <a:ext cx="0" cy="8236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40636AEE-A919-7A6E-C1CF-E9B6804C4E06}"/>
              </a:ext>
            </a:extLst>
          </p:cNvPr>
          <p:cNvCxnSpPr>
            <a:cxnSpLocks/>
            <a:endCxn id="119" idx="1"/>
          </p:cNvCxnSpPr>
          <p:nvPr/>
        </p:nvCxnSpPr>
        <p:spPr bwMode="auto">
          <a:xfrm flipV="1">
            <a:off x="1676400" y="3478466"/>
            <a:ext cx="6109142" cy="442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91" name="그림 90">
            <a:extLst>
              <a:ext uri="{FF2B5EF4-FFF2-40B4-BE49-F238E27FC236}">
                <a16:creationId xmlns:a16="http://schemas.microsoft.com/office/drawing/2014/main" id="{9F94A248-4DD1-4D6B-34F3-543366572FA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907" t="-1"/>
          <a:stretch>
            <a:fillRect/>
          </a:stretch>
        </p:blipFill>
        <p:spPr>
          <a:xfrm rot="2512632">
            <a:off x="7141840" y="4094834"/>
            <a:ext cx="744879" cy="127297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98691313-FACF-6EB6-5E69-E21BABD4E1C6}"/>
              </a:ext>
            </a:extLst>
          </p:cNvPr>
          <p:cNvSpPr txBox="1"/>
          <p:nvPr/>
        </p:nvSpPr>
        <p:spPr>
          <a:xfrm rot="1800000">
            <a:off x="1573622" y="3900818"/>
            <a:ext cx="1824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Load ELF File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3BD1E98-C765-A470-1CA8-34AF9C8F94D3}"/>
              </a:ext>
            </a:extLst>
          </p:cNvPr>
          <p:cNvSpPr txBox="1"/>
          <p:nvPr/>
        </p:nvSpPr>
        <p:spPr>
          <a:xfrm rot="1800000">
            <a:off x="2262864" y="3900818"/>
            <a:ext cx="1824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Parsing &amp; Passing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9FEB2C9-0DA7-0893-61EA-2F23797B633D}"/>
              </a:ext>
            </a:extLst>
          </p:cNvPr>
          <p:cNvSpPr txBox="1"/>
          <p:nvPr/>
        </p:nvSpPr>
        <p:spPr>
          <a:xfrm rot="1800000">
            <a:off x="2932726" y="3900819"/>
            <a:ext cx="1824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Initialize FDT</a:t>
            </a:r>
          </a:p>
        </p:txBody>
      </p:sp>
      <p:sp>
        <p:nvSpPr>
          <p:cNvPr id="109" name="이등변 삼각형 108">
            <a:extLst>
              <a:ext uri="{FF2B5EF4-FFF2-40B4-BE49-F238E27FC236}">
                <a16:creationId xmlns:a16="http://schemas.microsoft.com/office/drawing/2014/main" id="{166611B7-1964-13B6-46F0-FF22BD87B9EC}"/>
              </a:ext>
            </a:extLst>
          </p:cNvPr>
          <p:cNvSpPr/>
          <p:nvPr/>
        </p:nvSpPr>
        <p:spPr bwMode="auto">
          <a:xfrm rot="5400000">
            <a:off x="3138286" y="3444791"/>
            <a:ext cx="88392" cy="762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0" name="순서도: 판단 109">
            <a:extLst>
              <a:ext uri="{FF2B5EF4-FFF2-40B4-BE49-F238E27FC236}">
                <a16:creationId xmlns:a16="http://schemas.microsoft.com/office/drawing/2014/main" id="{26D3093B-8409-6940-C074-60B32041EDC3}"/>
              </a:ext>
            </a:extLst>
          </p:cNvPr>
          <p:cNvSpPr/>
          <p:nvPr/>
        </p:nvSpPr>
        <p:spPr bwMode="auto">
          <a:xfrm>
            <a:off x="3942974" y="3403664"/>
            <a:ext cx="227703" cy="155162"/>
          </a:xfrm>
          <a:prstGeom prst="flowChartDecisi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F859CC2-E764-5DE0-6BF0-EC85FB43AE1A}"/>
              </a:ext>
            </a:extLst>
          </p:cNvPr>
          <p:cNvCxnSpPr>
            <a:cxnSpLocks/>
          </p:cNvCxnSpPr>
          <p:nvPr/>
        </p:nvCxnSpPr>
        <p:spPr bwMode="auto">
          <a:xfrm>
            <a:off x="4054977" y="3558827"/>
            <a:ext cx="754" cy="3605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CFB5D202-EB8F-FFD0-1193-AB447B29AC58}"/>
              </a:ext>
            </a:extLst>
          </p:cNvPr>
          <p:cNvCxnSpPr>
            <a:cxnSpLocks/>
          </p:cNvCxnSpPr>
          <p:nvPr/>
        </p:nvCxnSpPr>
        <p:spPr bwMode="auto">
          <a:xfrm>
            <a:off x="4054977" y="3919372"/>
            <a:ext cx="318402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22688BBE-9F6F-0C59-A687-5AAF146E589A}"/>
              </a:ext>
            </a:extLst>
          </p:cNvPr>
          <p:cNvSpPr txBox="1"/>
          <p:nvPr/>
        </p:nvSpPr>
        <p:spPr>
          <a:xfrm rot="1800000">
            <a:off x="2921668" y="3001846"/>
            <a:ext cx="11889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is successful?</a:t>
            </a:r>
          </a:p>
        </p:txBody>
      </p:sp>
      <p:pic>
        <p:nvPicPr>
          <p:cNvPr id="119" name="그림 118">
            <a:extLst>
              <a:ext uri="{FF2B5EF4-FFF2-40B4-BE49-F238E27FC236}">
                <a16:creationId xmlns:a16="http://schemas.microsoft.com/office/drawing/2014/main" id="{614817C1-39D7-703A-583F-9A4D9691FA1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907" t="-1"/>
          <a:stretch>
            <a:fillRect/>
          </a:stretch>
        </p:blipFill>
        <p:spPr>
          <a:xfrm rot="2512632">
            <a:off x="7690413" y="3663434"/>
            <a:ext cx="744879" cy="127297"/>
          </a:xfrm>
          <a:prstGeom prst="rect">
            <a:avLst/>
          </a:prstGeom>
        </p:spPr>
      </p:pic>
      <p:sp>
        <p:nvSpPr>
          <p:cNvPr id="125" name="타원 124">
            <a:extLst>
              <a:ext uri="{FF2B5EF4-FFF2-40B4-BE49-F238E27FC236}">
                <a16:creationId xmlns:a16="http://schemas.microsoft.com/office/drawing/2014/main" id="{CCA7456E-C307-AD98-2D2F-BCA48B6CA37F}"/>
              </a:ext>
            </a:extLst>
          </p:cNvPr>
          <p:cNvSpPr/>
          <p:nvPr/>
        </p:nvSpPr>
        <p:spPr bwMode="auto">
          <a:xfrm>
            <a:off x="5857503" y="3395766"/>
            <a:ext cx="152400" cy="152400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7E959B8-3841-7119-0BFE-08231B3F7EE6}"/>
              </a:ext>
            </a:extLst>
          </p:cNvPr>
          <p:cNvSpPr txBox="1"/>
          <p:nvPr/>
        </p:nvSpPr>
        <p:spPr>
          <a:xfrm>
            <a:off x="7321103" y="4388368"/>
            <a:ext cx="942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/>
              <a:t>call EXIT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A678B293-CB05-0DF0-4CB0-8D2740D1DBD2}"/>
              </a:ext>
            </a:extLst>
          </p:cNvPr>
          <p:cNvCxnSpPr>
            <a:cxnSpLocks/>
          </p:cNvCxnSpPr>
          <p:nvPr/>
        </p:nvCxnSpPr>
        <p:spPr bwMode="auto">
          <a:xfrm>
            <a:off x="5650865" y="3919371"/>
            <a:ext cx="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2" name="이등변 삼각형 141">
            <a:extLst>
              <a:ext uri="{FF2B5EF4-FFF2-40B4-BE49-F238E27FC236}">
                <a16:creationId xmlns:a16="http://schemas.microsoft.com/office/drawing/2014/main" id="{D64C5C76-490A-8FD7-8F01-51D7ADF6F619}"/>
              </a:ext>
            </a:extLst>
          </p:cNvPr>
          <p:cNvSpPr/>
          <p:nvPr/>
        </p:nvSpPr>
        <p:spPr bwMode="auto">
          <a:xfrm rot="5400000">
            <a:off x="4832474" y="3444790"/>
            <a:ext cx="88392" cy="762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43" name="이등변 삼각형 142">
            <a:extLst>
              <a:ext uri="{FF2B5EF4-FFF2-40B4-BE49-F238E27FC236}">
                <a16:creationId xmlns:a16="http://schemas.microsoft.com/office/drawing/2014/main" id="{4F4E9A6E-993F-EA7E-AA37-9D19A00CC9F7}"/>
              </a:ext>
            </a:extLst>
          </p:cNvPr>
          <p:cNvSpPr/>
          <p:nvPr/>
        </p:nvSpPr>
        <p:spPr bwMode="auto">
          <a:xfrm rot="5400000">
            <a:off x="4832474" y="3872916"/>
            <a:ext cx="88392" cy="762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5772E8C-941D-CAF6-9FD9-3E3B47B91D5D}"/>
              </a:ext>
            </a:extLst>
          </p:cNvPr>
          <p:cNvSpPr txBox="1"/>
          <p:nvPr/>
        </p:nvSpPr>
        <p:spPr>
          <a:xfrm>
            <a:off x="3951259" y="3941077"/>
            <a:ext cx="1824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solidFill>
                  <a:srgbClr val="FF0000"/>
                </a:solidFill>
              </a:rPr>
              <a:t>Set elf_load_status</a:t>
            </a:r>
          </a:p>
          <a:p>
            <a:pPr algn="ctr"/>
            <a:r>
              <a:rPr lang="en-US" altLang="ko-KR" sz="1200">
                <a:solidFill>
                  <a:srgbClr val="FF0000"/>
                </a:solidFill>
              </a:rPr>
              <a:t>=FAIL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EEB69A99-A478-7023-A127-695A270DF55A}"/>
              </a:ext>
            </a:extLst>
          </p:cNvPr>
          <p:cNvSpPr txBox="1"/>
          <p:nvPr/>
        </p:nvSpPr>
        <p:spPr>
          <a:xfrm>
            <a:off x="3672903" y="3000663"/>
            <a:ext cx="231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solidFill>
                  <a:srgbClr val="FF0000"/>
                </a:solidFill>
              </a:rPr>
              <a:t>Set elf_load_status</a:t>
            </a:r>
          </a:p>
          <a:p>
            <a:pPr algn="ctr"/>
            <a:r>
              <a:rPr lang="en-US" altLang="ko-KR" sz="1200">
                <a:solidFill>
                  <a:srgbClr val="FF0000"/>
                </a:solidFill>
              </a:rPr>
              <a:t>=SUCCESS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BD0C1715-F26A-27D8-5D58-AD2695FD3594}"/>
              </a:ext>
            </a:extLst>
          </p:cNvPr>
          <p:cNvSpPr/>
          <p:nvPr/>
        </p:nvSpPr>
        <p:spPr bwMode="auto">
          <a:xfrm>
            <a:off x="5857503" y="3843171"/>
            <a:ext cx="152400" cy="152400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3E994C1-CDE0-2B29-731D-B1B6E9BB4B0E}"/>
              </a:ext>
            </a:extLst>
          </p:cNvPr>
          <p:cNvSpPr txBox="1"/>
          <p:nvPr/>
        </p:nvSpPr>
        <p:spPr>
          <a:xfrm>
            <a:off x="5090481" y="3562057"/>
            <a:ext cx="16866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0000FF"/>
                </a:solidFill>
              </a:rPr>
              <a:t>V(self-&gt;elf_load)</a:t>
            </a:r>
            <a:endParaRPr lang="ko-KR" altLang="en-US" sz="1200" b="1">
              <a:solidFill>
                <a:srgbClr val="0000FF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201AD09E-1B94-E209-7D10-BECAF1B8E607}"/>
              </a:ext>
            </a:extLst>
          </p:cNvPr>
          <p:cNvSpPr txBox="1"/>
          <p:nvPr/>
        </p:nvSpPr>
        <p:spPr>
          <a:xfrm>
            <a:off x="7642404" y="3926704"/>
            <a:ext cx="1347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/>
              <a:t>mode switch</a:t>
            </a:r>
          </a:p>
          <a:p>
            <a:pPr algn="ctr"/>
            <a:r>
              <a:rPr lang="en-US" altLang="ko-KR" sz="1200"/>
              <a:t>(K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  <a:r>
              <a:rPr lang="en-US" altLang="ko-KR" sz="1200"/>
              <a:t>U)</a:t>
            </a:r>
          </a:p>
        </p:txBody>
      </p:sp>
      <p:sp>
        <p:nvSpPr>
          <p:cNvPr id="186" name="순서도: 판단 185">
            <a:extLst>
              <a:ext uri="{FF2B5EF4-FFF2-40B4-BE49-F238E27FC236}">
                <a16:creationId xmlns:a16="http://schemas.microsoft.com/office/drawing/2014/main" id="{BDF453E2-5C17-518C-0EFE-F19165E11937}"/>
              </a:ext>
            </a:extLst>
          </p:cNvPr>
          <p:cNvSpPr/>
          <p:nvPr/>
        </p:nvSpPr>
        <p:spPr bwMode="auto">
          <a:xfrm>
            <a:off x="7368030" y="2596046"/>
            <a:ext cx="227703" cy="155162"/>
          </a:xfrm>
          <a:prstGeom prst="flowChartDecisi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DB2491F9-615D-86E9-7487-B126D2A9A245}"/>
              </a:ext>
            </a:extLst>
          </p:cNvPr>
          <p:cNvCxnSpPr>
            <a:cxnSpLocks/>
          </p:cNvCxnSpPr>
          <p:nvPr/>
        </p:nvCxnSpPr>
        <p:spPr bwMode="auto">
          <a:xfrm>
            <a:off x="7479955" y="2752279"/>
            <a:ext cx="754" cy="3605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6" name="직선 화살표 연결선 195">
            <a:extLst>
              <a:ext uri="{FF2B5EF4-FFF2-40B4-BE49-F238E27FC236}">
                <a16:creationId xmlns:a16="http://schemas.microsoft.com/office/drawing/2014/main" id="{01EEEF57-7B43-5A13-6E11-6FE351E5B1A2}"/>
              </a:ext>
            </a:extLst>
          </p:cNvPr>
          <p:cNvCxnSpPr>
            <a:cxnSpLocks/>
          </p:cNvCxnSpPr>
          <p:nvPr/>
        </p:nvCxnSpPr>
        <p:spPr bwMode="auto">
          <a:xfrm>
            <a:off x="7479955" y="3115598"/>
            <a:ext cx="1095720" cy="21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452B829E-1D47-CF07-FB06-10D73B3971C6}"/>
              </a:ext>
            </a:extLst>
          </p:cNvPr>
          <p:cNvSpPr txBox="1"/>
          <p:nvPr/>
        </p:nvSpPr>
        <p:spPr>
          <a:xfrm>
            <a:off x="7778595" y="2655552"/>
            <a:ext cx="14081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/>
              <a:t>return -1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9F829F14-3DB2-DB05-1AD0-FDC44106C249}"/>
              </a:ext>
            </a:extLst>
          </p:cNvPr>
          <p:cNvSpPr txBox="1"/>
          <p:nvPr/>
        </p:nvSpPr>
        <p:spPr>
          <a:xfrm>
            <a:off x="420736" y="3323828"/>
            <a:ext cx="1239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0000FF"/>
                </a:solidFill>
              </a:rPr>
              <a:t>Child thread</a:t>
            </a:r>
            <a:endParaRPr lang="ko-KR" altLang="en-US" sz="1200" b="1">
              <a:solidFill>
                <a:srgbClr val="0000FF"/>
              </a:solidFill>
            </a:endParaRPr>
          </a:p>
        </p:txBody>
      </p:sp>
      <p:sp>
        <p:nvSpPr>
          <p:cNvPr id="242" name="이등변 삼각형 241">
            <a:extLst>
              <a:ext uri="{FF2B5EF4-FFF2-40B4-BE49-F238E27FC236}">
                <a16:creationId xmlns:a16="http://schemas.microsoft.com/office/drawing/2014/main" id="{1B35B7EA-496A-A2F0-DAB9-F2C000B251EF}"/>
              </a:ext>
            </a:extLst>
          </p:cNvPr>
          <p:cNvSpPr/>
          <p:nvPr/>
        </p:nvSpPr>
        <p:spPr bwMode="auto">
          <a:xfrm rot="8100000">
            <a:off x="7755966" y="4332306"/>
            <a:ext cx="82100" cy="99447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3" name="이등변 삼각형 242">
            <a:extLst>
              <a:ext uri="{FF2B5EF4-FFF2-40B4-BE49-F238E27FC236}">
                <a16:creationId xmlns:a16="http://schemas.microsoft.com/office/drawing/2014/main" id="{7CF68987-85DF-98BE-F89C-DDDDCB53CC4D}"/>
              </a:ext>
            </a:extLst>
          </p:cNvPr>
          <p:cNvSpPr/>
          <p:nvPr/>
        </p:nvSpPr>
        <p:spPr bwMode="auto">
          <a:xfrm rot="8100000">
            <a:off x="8306658" y="3900905"/>
            <a:ext cx="82100" cy="99447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D34F44CB-49F9-AAE0-4F40-022347BF5C10}"/>
              </a:ext>
            </a:extLst>
          </p:cNvPr>
          <p:cNvSpPr/>
          <p:nvPr/>
        </p:nvSpPr>
        <p:spPr bwMode="auto">
          <a:xfrm>
            <a:off x="1674887" y="4920993"/>
            <a:ext cx="1469495" cy="2769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50" name="직사각형 249">
            <a:extLst>
              <a:ext uri="{FF2B5EF4-FFF2-40B4-BE49-F238E27FC236}">
                <a16:creationId xmlns:a16="http://schemas.microsoft.com/office/drawing/2014/main" id="{D27A9001-B7FA-DFA8-F11B-E13C8398693A}"/>
              </a:ext>
            </a:extLst>
          </p:cNvPr>
          <p:cNvSpPr/>
          <p:nvPr/>
        </p:nvSpPr>
        <p:spPr bwMode="auto">
          <a:xfrm>
            <a:off x="633923" y="5197998"/>
            <a:ext cx="964764" cy="6095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9602A711-6CC5-FA99-438D-B191A6B42974}"/>
              </a:ext>
            </a:extLst>
          </p:cNvPr>
          <p:cNvSpPr/>
          <p:nvPr/>
        </p:nvSpPr>
        <p:spPr bwMode="auto">
          <a:xfrm>
            <a:off x="633923" y="4920993"/>
            <a:ext cx="964764" cy="2769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52" name="이등변 삼각형 251">
            <a:extLst>
              <a:ext uri="{FF2B5EF4-FFF2-40B4-BE49-F238E27FC236}">
                <a16:creationId xmlns:a16="http://schemas.microsoft.com/office/drawing/2014/main" id="{860B17B7-2809-2ABB-2B0B-6D8B296DFB75}"/>
              </a:ext>
            </a:extLst>
          </p:cNvPr>
          <p:cNvSpPr/>
          <p:nvPr/>
        </p:nvSpPr>
        <p:spPr bwMode="auto">
          <a:xfrm rot="5400000">
            <a:off x="1781183" y="3444791"/>
            <a:ext cx="88392" cy="762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53" name="이등변 삼각형 252">
            <a:extLst>
              <a:ext uri="{FF2B5EF4-FFF2-40B4-BE49-F238E27FC236}">
                <a16:creationId xmlns:a16="http://schemas.microsoft.com/office/drawing/2014/main" id="{47528F32-C5CB-B14D-8931-FD8DAF33B89C}"/>
              </a:ext>
            </a:extLst>
          </p:cNvPr>
          <p:cNvSpPr/>
          <p:nvPr/>
        </p:nvSpPr>
        <p:spPr bwMode="auto">
          <a:xfrm rot="5400000">
            <a:off x="2501946" y="3444791"/>
            <a:ext cx="88392" cy="762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54" name="직사각형 253">
            <a:extLst>
              <a:ext uri="{FF2B5EF4-FFF2-40B4-BE49-F238E27FC236}">
                <a16:creationId xmlns:a16="http://schemas.microsoft.com/office/drawing/2014/main" id="{CF4DBB95-50B7-07B6-9C15-D37497BC0EEA}"/>
              </a:ext>
            </a:extLst>
          </p:cNvPr>
          <p:cNvSpPr/>
          <p:nvPr/>
        </p:nvSpPr>
        <p:spPr bwMode="auto">
          <a:xfrm>
            <a:off x="3220581" y="4920993"/>
            <a:ext cx="5355093" cy="2769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56" name="직사각형 255">
            <a:extLst>
              <a:ext uri="{FF2B5EF4-FFF2-40B4-BE49-F238E27FC236}">
                <a16:creationId xmlns:a16="http://schemas.microsoft.com/office/drawing/2014/main" id="{535DD4FB-FCA9-1CBD-614B-82490C2E668F}"/>
              </a:ext>
            </a:extLst>
          </p:cNvPr>
          <p:cNvSpPr/>
          <p:nvPr/>
        </p:nvSpPr>
        <p:spPr bwMode="auto">
          <a:xfrm>
            <a:off x="1673906" y="5197998"/>
            <a:ext cx="1469494" cy="6095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85337CA3-D574-6C98-733E-33A4FD8BE9CE}"/>
              </a:ext>
            </a:extLst>
          </p:cNvPr>
          <p:cNvSpPr/>
          <p:nvPr/>
        </p:nvSpPr>
        <p:spPr bwMode="auto">
          <a:xfrm>
            <a:off x="3218618" y="5197998"/>
            <a:ext cx="5357057" cy="6095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63" name="직사각형 262">
            <a:extLst>
              <a:ext uri="{FF2B5EF4-FFF2-40B4-BE49-F238E27FC236}">
                <a16:creationId xmlns:a16="http://schemas.microsoft.com/office/drawing/2014/main" id="{6324664C-7101-6261-2995-7F31D109EC52}"/>
              </a:ext>
            </a:extLst>
          </p:cNvPr>
          <p:cNvSpPr/>
          <p:nvPr/>
        </p:nvSpPr>
        <p:spPr bwMode="auto">
          <a:xfrm>
            <a:off x="4838570" y="5037212"/>
            <a:ext cx="3737104" cy="115580"/>
          </a:xfrm>
          <a:prstGeom prst="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A2A344FB-1D1F-AC94-94C4-EEE102A5C47E}"/>
              </a:ext>
            </a:extLst>
          </p:cNvPr>
          <p:cNvCxnSpPr>
            <a:cxnSpLocks/>
          </p:cNvCxnSpPr>
          <p:nvPr/>
        </p:nvCxnSpPr>
        <p:spPr bwMode="auto">
          <a:xfrm>
            <a:off x="6978225" y="2723154"/>
            <a:ext cx="0" cy="2382246"/>
          </a:xfrm>
          <a:prstGeom prst="line">
            <a:avLst/>
          </a:prstGeom>
          <a:ln>
            <a:solidFill>
              <a:srgbClr val="FF0000"/>
            </a:solidFill>
            <a:headEnd type="stealth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2" name="직선 연결선 201">
            <a:extLst>
              <a:ext uri="{FF2B5EF4-FFF2-40B4-BE49-F238E27FC236}">
                <a16:creationId xmlns:a16="http://schemas.microsoft.com/office/drawing/2014/main" id="{75200C1E-91A9-803C-FC99-BFC36F9A0405}"/>
              </a:ext>
            </a:extLst>
          </p:cNvPr>
          <p:cNvCxnSpPr>
            <a:cxnSpLocks/>
            <a:stCxn id="142" idx="0"/>
          </p:cNvCxnSpPr>
          <p:nvPr/>
        </p:nvCxnSpPr>
        <p:spPr bwMode="auto">
          <a:xfrm flipH="1">
            <a:off x="4909820" y="3482890"/>
            <a:ext cx="4950" cy="155139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stealth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7" name="TextBox 276">
            <a:extLst>
              <a:ext uri="{FF2B5EF4-FFF2-40B4-BE49-F238E27FC236}">
                <a16:creationId xmlns:a16="http://schemas.microsoft.com/office/drawing/2014/main" id="{85DEE626-848C-2BE8-3249-9130475033F9}"/>
              </a:ext>
            </a:extLst>
          </p:cNvPr>
          <p:cNvSpPr txBox="1"/>
          <p:nvPr/>
        </p:nvSpPr>
        <p:spPr>
          <a:xfrm>
            <a:off x="-22826" y="4920993"/>
            <a:ext cx="689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/>
              <a:t>thread</a:t>
            </a:r>
            <a:endParaRPr lang="ko-KR" altLang="en-US" sz="1200"/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68758C7B-5527-1F04-E91C-2CD6D2669F41}"/>
              </a:ext>
            </a:extLst>
          </p:cNvPr>
          <p:cNvSpPr txBox="1"/>
          <p:nvPr/>
        </p:nvSpPr>
        <p:spPr>
          <a:xfrm>
            <a:off x="-63702" y="5301556"/>
            <a:ext cx="771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/>
              <a:t>process</a:t>
            </a:r>
          </a:p>
          <a:p>
            <a:pPr algn="ctr"/>
            <a:r>
              <a:rPr lang="en-US" altLang="ko-KR" sz="1200"/>
              <a:t>segs.</a:t>
            </a:r>
            <a:endParaRPr lang="ko-KR" altLang="en-US" sz="1200"/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69BCDE71-C726-04AA-1993-6BA4FB83534B}"/>
              </a:ext>
            </a:extLst>
          </p:cNvPr>
          <p:cNvSpPr txBox="1"/>
          <p:nvPr/>
        </p:nvSpPr>
        <p:spPr>
          <a:xfrm>
            <a:off x="3735266" y="4944079"/>
            <a:ext cx="12137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</a:rPr>
              <a:t>elf_load_status</a:t>
            </a:r>
            <a:endParaRPr lang="ko-KR" altLang="en-US" sz="1000">
              <a:solidFill>
                <a:srgbClr val="FF0000"/>
              </a:solidFill>
            </a:endParaRPr>
          </a:p>
        </p:txBody>
      </p:sp>
      <p:sp>
        <p:nvSpPr>
          <p:cNvPr id="132" name="이등변 삼각형 131">
            <a:extLst>
              <a:ext uri="{FF2B5EF4-FFF2-40B4-BE49-F238E27FC236}">
                <a16:creationId xmlns:a16="http://schemas.microsoft.com/office/drawing/2014/main" id="{F96A2E92-BB69-CB40-6251-46F7C5D4B295}"/>
              </a:ext>
            </a:extLst>
          </p:cNvPr>
          <p:cNvSpPr/>
          <p:nvPr/>
        </p:nvSpPr>
        <p:spPr bwMode="auto">
          <a:xfrm rot="5400000">
            <a:off x="6972129" y="2627526"/>
            <a:ext cx="88392" cy="762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8B144065-75F7-E565-B5C9-8B78E1267EDC}"/>
              </a:ext>
            </a:extLst>
          </p:cNvPr>
          <p:cNvSpPr txBox="1"/>
          <p:nvPr/>
        </p:nvSpPr>
        <p:spPr>
          <a:xfrm>
            <a:off x="48622" y="5863662"/>
            <a:ext cx="20487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child process to execute</a:t>
            </a:r>
            <a:endParaRPr lang="ko-KR" altLang="en-US" sz="120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F224690A-C071-F778-E04B-736FADB0EF91}"/>
              </a:ext>
            </a:extLst>
          </p:cNvPr>
          <p:cNvSpPr txBox="1"/>
          <p:nvPr/>
        </p:nvSpPr>
        <p:spPr>
          <a:xfrm>
            <a:off x="5219776" y="5863662"/>
            <a:ext cx="16145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Completely loaded</a:t>
            </a:r>
            <a:endParaRPr lang="ko-KR" altLang="en-US" sz="1200"/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9ECE337F-77F0-58C7-6970-97AC92B6165B}"/>
              </a:ext>
            </a:extLst>
          </p:cNvPr>
          <p:cNvSpPr txBox="1"/>
          <p:nvPr/>
        </p:nvSpPr>
        <p:spPr>
          <a:xfrm>
            <a:off x="7288546" y="2838381"/>
            <a:ext cx="205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/>
              <a:t>T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5F1EF565-2C66-5799-2117-F7E3C8C2633E}"/>
              </a:ext>
            </a:extLst>
          </p:cNvPr>
          <p:cNvSpPr txBox="1"/>
          <p:nvPr/>
        </p:nvSpPr>
        <p:spPr>
          <a:xfrm>
            <a:off x="7566593" y="2633200"/>
            <a:ext cx="205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/>
              <a:t>F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3A578F67-2E65-4C5B-822D-05802FA5563B}"/>
              </a:ext>
            </a:extLst>
          </p:cNvPr>
          <p:cNvSpPr txBox="1"/>
          <p:nvPr/>
        </p:nvSpPr>
        <p:spPr>
          <a:xfrm>
            <a:off x="4169251" y="3438694"/>
            <a:ext cx="205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/>
              <a:t>T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F828A4FD-46C9-513E-2180-2FA8B479591C}"/>
              </a:ext>
            </a:extLst>
          </p:cNvPr>
          <p:cNvSpPr txBox="1"/>
          <p:nvPr/>
        </p:nvSpPr>
        <p:spPr>
          <a:xfrm>
            <a:off x="3852677" y="3531907"/>
            <a:ext cx="205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746828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3A2D14-CE11-0AD6-7923-CD5F26480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1DCFFB17-5650-7793-4D56-B9F0702F6489}"/>
              </a:ext>
            </a:extLst>
          </p:cNvPr>
          <p:cNvSpPr/>
          <p:nvPr/>
        </p:nvSpPr>
        <p:spPr bwMode="auto">
          <a:xfrm>
            <a:off x="4869019" y="4888209"/>
            <a:ext cx="3706656" cy="4604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A7DC0B90-785F-50FB-C735-ACC55ECB43DA}"/>
              </a:ext>
            </a:extLst>
          </p:cNvPr>
          <p:cNvSpPr/>
          <p:nvPr/>
        </p:nvSpPr>
        <p:spPr bwMode="auto">
          <a:xfrm>
            <a:off x="4869019" y="5400928"/>
            <a:ext cx="3706656" cy="4604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53F9B65C-1797-B2B5-31DE-23D955E1330A}"/>
              </a:ext>
            </a:extLst>
          </p:cNvPr>
          <p:cNvSpPr/>
          <p:nvPr/>
        </p:nvSpPr>
        <p:spPr bwMode="auto">
          <a:xfrm>
            <a:off x="4869019" y="4354949"/>
            <a:ext cx="3706656" cy="4604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28DF1035-7D96-ECFF-B090-335E1D29C499}"/>
              </a:ext>
            </a:extLst>
          </p:cNvPr>
          <p:cNvSpPr/>
          <p:nvPr/>
        </p:nvSpPr>
        <p:spPr bwMode="auto">
          <a:xfrm>
            <a:off x="5926745" y="1951340"/>
            <a:ext cx="966846" cy="3364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56803F16-FF0C-AE9D-07B5-C7AD62C9E7BF}"/>
              </a:ext>
            </a:extLst>
          </p:cNvPr>
          <p:cNvSpPr/>
          <p:nvPr/>
        </p:nvSpPr>
        <p:spPr bwMode="auto">
          <a:xfrm>
            <a:off x="5838910" y="3108127"/>
            <a:ext cx="648767" cy="2271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CD8313B-9284-B5CE-A371-07EAF857AFDE}"/>
              </a:ext>
            </a:extLst>
          </p:cNvPr>
          <p:cNvSpPr/>
          <p:nvPr/>
        </p:nvSpPr>
        <p:spPr bwMode="auto">
          <a:xfrm>
            <a:off x="7250792" y="2679827"/>
            <a:ext cx="914717" cy="33148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E0F7B25-D63D-3CA0-6A75-40CCBEE63912}"/>
              </a:ext>
            </a:extLst>
          </p:cNvPr>
          <p:cNvSpPr/>
          <p:nvPr/>
        </p:nvSpPr>
        <p:spPr bwMode="auto">
          <a:xfrm>
            <a:off x="7250792" y="3438053"/>
            <a:ext cx="914717" cy="33148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52E4FFF-7F9C-1898-283A-AA7ADD299EED}"/>
              </a:ext>
            </a:extLst>
          </p:cNvPr>
          <p:cNvSpPr/>
          <p:nvPr/>
        </p:nvSpPr>
        <p:spPr bwMode="auto">
          <a:xfrm>
            <a:off x="4711086" y="2472078"/>
            <a:ext cx="627928" cy="41549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3C1BFFA-D150-242F-F25A-9BFEA58F5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/>
              <a:t>Implementation EXEC Syscall</a:t>
            </a:r>
            <a:endParaRPr lang="ko-KR" altLang="en-US" sz="320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7CB21EC-62EA-3E8A-5CE0-37F68865BE27}"/>
              </a:ext>
            </a:extLst>
          </p:cNvPr>
          <p:cNvSpPr/>
          <p:nvPr/>
        </p:nvSpPr>
        <p:spPr bwMode="auto">
          <a:xfrm>
            <a:off x="605155" y="1981200"/>
            <a:ext cx="3581400" cy="1447800"/>
          </a:xfrm>
          <a:prstGeom prst="rect">
            <a:avLst/>
          </a:prstGeom>
          <a:solidFill>
            <a:srgbClr val="1F1F1F"/>
          </a:solidFill>
          <a:ln>
            <a:solidFill>
              <a:schemeClr val="accent3">
                <a:shade val="95000"/>
                <a:satMod val="10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</a:rPr>
              <a:t>enum elf_load_status</a:t>
            </a:r>
          </a:p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</a:rPr>
              <a:t>  {</a:t>
            </a:r>
          </a:p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</a:rPr>
              <a:t>    </a:t>
            </a:r>
            <a:r>
              <a:rPr lang="en-US" altLang="ko-KR" sz="1200">
                <a:solidFill>
                  <a:srgbClr val="00B0F0"/>
                </a:solidFill>
              </a:rPr>
              <a:t>ELF_NOT_REQUESTED, </a:t>
            </a:r>
          </a:p>
          <a:p>
            <a:r>
              <a:rPr lang="en-US" altLang="ko-KR" sz="1200">
                <a:solidFill>
                  <a:srgbClr val="00B0F0"/>
                </a:solidFill>
              </a:rPr>
              <a:t>    ELF_LOADING, </a:t>
            </a:r>
          </a:p>
          <a:p>
            <a:r>
              <a:rPr lang="en-US" altLang="ko-KR" sz="1200">
                <a:solidFill>
                  <a:srgbClr val="00B0F0"/>
                </a:solidFill>
              </a:rPr>
              <a:t>    ELF_LOAD_SUCCESS, </a:t>
            </a:r>
          </a:p>
          <a:p>
            <a:r>
              <a:rPr lang="en-US" altLang="ko-KR" sz="1200">
                <a:solidFill>
                  <a:srgbClr val="00B0F0"/>
                </a:solidFill>
              </a:rPr>
              <a:t>    ELF_LOAD_FAILED  </a:t>
            </a:r>
          </a:p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</a:rPr>
              <a:t>  };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905BA20-36A0-29EC-D12C-2AAD68533610}"/>
              </a:ext>
            </a:extLst>
          </p:cNvPr>
          <p:cNvSpPr/>
          <p:nvPr/>
        </p:nvSpPr>
        <p:spPr bwMode="auto">
          <a:xfrm>
            <a:off x="605155" y="4369397"/>
            <a:ext cx="3581400" cy="1447800"/>
          </a:xfrm>
          <a:prstGeom prst="rect">
            <a:avLst/>
          </a:prstGeom>
          <a:solidFill>
            <a:srgbClr val="1F1F1F"/>
          </a:solidFill>
          <a:ln>
            <a:solidFill>
              <a:schemeClr val="accent3">
                <a:shade val="95000"/>
                <a:satMod val="10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struct thread {</a:t>
            </a:r>
          </a:p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  ...</a:t>
            </a:r>
          </a:p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  struct semaphore </a:t>
            </a:r>
            <a:r>
              <a:rPr lang="en-US" altLang="ko-KR" sz="1200">
                <a:solidFill>
                  <a:srgbClr val="92D050"/>
                </a:solidFill>
                <a:latin typeface="Consolas" panose="020B0609020204030204" pitchFamily="49" charset="0"/>
              </a:rPr>
              <a:t>sema_elf_load</a:t>
            </a:r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  enum elf_load_status </a:t>
            </a:r>
            <a:r>
              <a:rPr lang="en-US" altLang="ko-KR" sz="1200">
                <a:solidFill>
                  <a:srgbClr val="92D050"/>
                </a:solidFill>
                <a:latin typeface="Consolas" panose="020B0609020204030204" pitchFamily="49" charset="0"/>
              </a:rPr>
              <a:t>elf_load_status</a:t>
            </a:r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  struct file *</a:t>
            </a:r>
            <a:r>
              <a:rPr lang="en-US" altLang="ko-KR" sz="1200">
                <a:solidFill>
                  <a:srgbClr val="92D050"/>
                </a:solidFill>
                <a:latin typeface="Consolas" panose="020B0609020204030204" pitchFamily="49" charset="0"/>
              </a:rPr>
              <a:t>elf_file</a:t>
            </a:r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  ... </a:t>
            </a:r>
          </a:p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4" name="오른쪽 중괄호 3">
            <a:extLst>
              <a:ext uri="{FF2B5EF4-FFF2-40B4-BE49-F238E27FC236}">
                <a16:creationId xmlns:a16="http://schemas.microsoft.com/office/drawing/2014/main" id="{98673E91-AF02-BFCA-BAAB-E45BA815B621}"/>
              </a:ext>
            </a:extLst>
          </p:cNvPr>
          <p:cNvSpPr/>
          <p:nvPr/>
        </p:nvSpPr>
        <p:spPr bwMode="auto">
          <a:xfrm flipH="1">
            <a:off x="5381282" y="2146503"/>
            <a:ext cx="316765" cy="1088127"/>
          </a:xfrm>
          <a:prstGeom prst="rightBrace">
            <a:avLst>
              <a:gd name="adj1" fmla="val 11666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EBF25-0F1F-6159-812B-2096B5CE7588}"/>
              </a:ext>
            </a:extLst>
          </p:cNvPr>
          <p:cNvSpPr txBox="1"/>
          <p:nvPr/>
        </p:nvSpPr>
        <p:spPr>
          <a:xfrm>
            <a:off x="4658283" y="2472078"/>
            <a:ext cx="74571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thread</a:t>
            </a:r>
          </a:p>
          <a:p>
            <a:pPr algn="ctr"/>
            <a:r>
              <a:rPr lang="en-US" altLang="ko-KR" sz="10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instance</a:t>
            </a:r>
            <a:endParaRPr lang="ko-KR" altLang="en-US" sz="105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E2C569-B2CD-5BA7-8117-88AEF6FBD79C}"/>
              </a:ext>
            </a:extLst>
          </p:cNvPr>
          <p:cNvSpPr txBox="1"/>
          <p:nvPr/>
        </p:nvSpPr>
        <p:spPr>
          <a:xfrm>
            <a:off x="5934675" y="1915670"/>
            <a:ext cx="95891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pure kernel</a:t>
            </a:r>
          </a:p>
          <a:p>
            <a:pPr algn="ctr"/>
            <a:r>
              <a:rPr lang="en-US" altLang="ko-KR" sz="10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thread</a:t>
            </a:r>
            <a:endParaRPr lang="ko-KR" altLang="en-US" sz="105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AC9FB-2F0E-D7A9-EEBF-896ECB3ED4CD}"/>
              </a:ext>
            </a:extLst>
          </p:cNvPr>
          <p:cNvSpPr txBox="1"/>
          <p:nvPr/>
        </p:nvSpPr>
        <p:spPr>
          <a:xfrm>
            <a:off x="5809971" y="3103052"/>
            <a:ext cx="6992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</a:t>
            </a:r>
          </a:p>
        </p:txBody>
      </p:sp>
      <p:sp>
        <p:nvSpPr>
          <p:cNvPr id="8" name="오른쪽 중괄호 7">
            <a:extLst>
              <a:ext uri="{FF2B5EF4-FFF2-40B4-BE49-F238E27FC236}">
                <a16:creationId xmlns:a16="http://schemas.microsoft.com/office/drawing/2014/main" id="{462A12EE-D125-18F8-81A9-DD0BC6B101AC}"/>
              </a:ext>
            </a:extLst>
          </p:cNvPr>
          <p:cNvSpPr/>
          <p:nvPr/>
        </p:nvSpPr>
        <p:spPr bwMode="auto">
          <a:xfrm flipH="1">
            <a:off x="6721614" y="2887576"/>
            <a:ext cx="316765" cy="750623"/>
          </a:xfrm>
          <a:prstGeom prst="rightBrace">
            <a:avLst>
              <a:gd name="adj1" fmla="val 11666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BFAFFF-F13E-7D80-8741-D3C6E2AA4463}"/>
              </a:ext>
            </a:extLst>
          </p:cNvPr>
          <p:cNvSpPr txBox="1"/>
          <p:nvPr/>
        </p:nvSpPr>
        <p:spPr>
          <a:xfrm>
            <a:off x="7196172" y="2635055"/>
            <a:ext cx="10454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load-success</a:t>
            </a:r>
          </a:p>
          <a:p>
            <a:pPr algn="ctr"/>
            <a:r>
              <a:rPr lang="en-US" altLang="ko-KR" sz="10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9FEC98-7F89-C8E9-4C50-DAB755E9385A}"/>
              </a:ext>
            </a:extLst>
          </p:cNvPr>
          <p:cNvSpPr txBox="1"/>
          <p:nvPr/>
        </p:nvSpPr>
        <p:spPr>
          <a:xfrm>
            <a:off x="7272316" y="3395617"/>
            <a:ext cx="89319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load-failed</a:t>
            </a:r>
          </a:p>
          <a:p>
            <a:pPr algn="ctr"/>
            <a:r>
              <a:rPr lang="en-US" altLang="ko-KR" sz="10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22D82EB-6F21-15A3-E395-33FC2DB0809B}"/>
              </a:ext>
            </a:extLst>
          </p:cNvPr>
          <p:cNvGrpSpPr/>
          <p:nvPr/>
        </p:nvGrpSpPr>
        <p:grpSpPr>
          <a:xfrm>
            <a:off x="5681345" y="3315385"/>
            <a:ext cx="995785" cy="253916"/>
            <a:chOff x="5254786" y="3102546"/>
            <a:chExt cx="995785" cy="253916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4C06C6E5-64D8-70F3-9040-055C78F48BCF}"/>
                </a:ext>
              </a:extLst>
            </p:cNvPr>
            <p:cNvSpPr/>
            <p:nvPr/>
          </p:nvSpPr>
          <p:spPr bwMode="auto">
            <a:xfrm>
              <a:off x="5271489" y="3144129"/>
              <a:ext cx="936593" cy="190648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BAB28C5-FE0E-DE28-CDB5-EA39BB54BB48}"/>
                </a:ext>
              </a:extLst>
            </p:cNvPr>
            <p:cNvSpPr txBox="1"/>
            <p:nvPr/>
          </p:nvSpPr>
          <p:spPr>
            <a:xfrm>
              <a:off x="5254786" y="3102546"/>
              <a:ext cx="99578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50">
                  <a:solidFill>
                    <a:srgbClr val="00B0F0"/>
                  </a:solidFill>
                  <a:latin typeface="Consolas" panose="020B0609020204030204" pitchFamily="49" charset="0"/>
                </a:rPr>
                <a:t>ELF_LOADING</a:t>
              </a:r>
              <a:endParaRPr lang="ko-KR" altLang="en-US" sz="1050">
                <a:solidFill>
                  <a:srgbClr val="00B0F0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FD20A4D-45DD-CAF9-57AB-5F76D46D2274}"/>
              </a:ext>
            </a:extLst>
          </p:cNvPr>
          <p:cNvGrpSpPr/>
          <p:nvPr/>
        </p:nvGrpSpPr>
        <p:grpSpPr>
          <a:xfrm>
            <a:off x="7087972" y="3011311"/>
            <a:ext cx="1364477" cy="253916"/>
            <a:chOff x="5070442" y="3104887"/>
            <a:chExt cx="1364477" cy="253916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297B6AAB-B394-4C4E-956B-45A2A11A8FC7}"/>
                </a:ext>
              </a:extLst>
            </p:cNvPr>
            <p:cNvSpPr/>
            <p:nvPr/>
          </p:nvSpPr>
          <p:spPr bwMode="auto">
            <a:xfrm>
              <a:off x="5097828" y="3144129"/>
              <a:ext cx="1283916" cy="190648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ECF5B11-8501-3EE4-3B0E-B8E05C63D551}"/>
                </a:ext>
              </a:extLst>
            </p:cNvPr>
            <p:cNvSpPr txBox="1"/>
            <p:nvPr/>
          </p:nvSpPr>
          <p:spPr>
            <a:xfrm>
              <a:off x="5070442" y="3104887"/>
              <a:ext cx="136447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50">
                  <a:solidFill>
                    <a:srgbClr val="00B0F0"/>
                  </a:solidFill>
                  <a:latin typeface="Consolas" panose="020B0609020204030204" pitchFamily="49" charset="0"/>
                </a:rPr>
                <a:t>ELF_LOAD_SUCCESS</a:t>
              </a:r>
              <a:endParaRPr lang="ko-KR" altLang="en-US" sz="1050">
                <a:solidFill>
                  <a:srgbClr val="00B0F0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9782A8F-4113-3DDD-3EE7-73A5654F8594}"/>
              </a:ext>
            </a:extLst>
          </p:cNvPr>
          <p:cNvGrpSpPr/>
          <p:nvPr/>
        </p:nvGrpSpPr>
        <p:grpSpPr>
          <a:xfrm>
            <a:off x="5664997" y="2292500"/>
            <a:ext cx="1438215" cy="253916"/>
            <a:chOff x="5230509" y="3115604"/>
            <a:chExt cx="1438215" cy="253916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82EFB4F9-56CE-EBC3-31EC-630CF054AFBB}"/>
                </a:ext>
              </a:extLst>
            </p:cNvPr>
            <p:cNvSpPr/>
            <p:nvPr/>
          </p:nvSpPr>
          <p:spPr bwMode="auto">
            <a:xfrm>
              <a:off x="5271489" y="3144129"/>
              <a:ext cx="1330521" cy="190648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07BB54E-5495-C51E-AACB-7AB1C2645079}"/>
                </a:ext>
              </a:extLst>
            </p:cNvPr>
            <p:cNvSpPr txBox="1"/>
            <p:nvPr/>
          </p:nvSpPr>
          <p:spPr>
            <a:xfrm>
              <a:off x="5230509" y="3115604"/>
              <a:ext cx="143821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50">
                  <a:solidFill>
                    <a:srgbClr val="00B0F0"/>
                  </a:solidFill>
                  <a:latin typeface="Consolas" panose="020B0609020204030204" pitchFamily="49" charset="0"/>
                </a:rPr>
                <a:t>ELF_NOT_REQUESTED</a:t>
              </a:r>
              <a:endParaRPr lang="ko-KR" altLang="en-US" sz="1050">
                <a:solidFill>
                  <a:srgbClr val="00B0F0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F05BD89-75B7-E3FE-8749-5CAE2549A745}"/>
              </a:ext>
            </a:extLst>
          </p:cNvPr>
          <p:cNvGrpSpPr/>
          <p:nvPr/>
        </p:nvGrpSpPr>
        <p:grpSpPr>
          <a:xfrm>
            <a:off x="7115358" y="3774209"/>
            <a:ext cx="1300223" cy="253916"/>
            <a:chOff x="5097828" y="3104887"/>
            <a:chExt cx="1300223" cy="253916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9CB38F67-9E9D-4D9F-BC28-84A2F1F6C4FA}"/>
                </a:ext>
              </a:extLst>
            </p:cNvPr>
            <p:cNvSpPr/>
            <p:nvPr/>
          </p:nvSpPr>
          <p:spPr bwMode="auto">
            <a:xfrm>
              <a:off x="5097828" y="3144129"/>
              <a:ext cx="1283916" cy="190648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B465D28-57F6-3E4D-FA5F-43FCB48FD0AF}"/>
                </a:ext>
              </a:extLst>
            </p:cNvPr>
            <p:cNvSpPr txBox="1"/>
            <p:nvPr/>
          </p:nvSpPr>
          <p:spPr>
            <a:xfrm>
              <a:off x="5107312" y="3104887"/>
              <a:ext cx="129073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50">
                  <a:solidFill>
                    <a:srgbClr val="00B0F0"/>
                  </a:solidFill>
                  <a:latin typeface="Consolas" panose="020B0609020204030204" pitchFamily="49" charset="0"/>
                </a:rPr>
                <a:t>ELF_LOAD_FAILED</a:t>
              </a:r>
              <a:endParaRPr lang="ko-KR" altLang="en-US" sz="1050">
                <a:solidFill>
                  <a:srgbClr val="00B0F0"/>
                </a:solidFill>
                <a:latin typeface="Consolas" panose="020B0609020204030204" pitchFamily="49" charset="0"/>
              </a:endParaRPr>
            </a:p>
          </p:txBody>
        </p:sp>
      </p:grp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9C93E52-7D21-5074-A06A-5D337DA04039}"/>
              </a:ext>
            </a:extLst>
          </p:cNvPr>
          <p:cNvCxnSpPr>
            <a:cxnSpLocks/>
            <a:endCxn id="53" idx="1"/>
          </p:cNvCxnSpPr>
          <p:nvPr/>
        </p:nvCxnSpPr>
        <p:spPr bwMode="auto">
          <a:xfrm flipV="1">
            <a:off x="3621024" y="4561471"/>
            <a:ext cx="1240248" cy="3199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oval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89BFB4A5-D145-C3FC-EDC0-EF733AEC4324}"/>
              </a:ext>
            </a:extLst>
          </p:cNvPr>
          <p:cNvCxnSpPr>
            <a:cxnSpLocks/>
            <a:endCxn id="54" idx="1"/>
          </p:cNvCxnSpPr>
          <p:nvPr/>
        </p:nvCxnSpPr>
        <p:spPr bwMode="auto">
          <a:xfrm>
            <a:off x="4057653" y="5071961"/>
            <a:ext cx="803619" cy="466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oval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A2A829B6-D627-48B2-1D55-48D253A3A519}"/>
              </a:ext>
            </a:extLst>
          </p:cNvPr>
          <p:cNvCxnSpPr>
            <a:cxnSpLocks/>
            <a:endCxn id="55" idx="1"/>
          </p:cNvCxnSpPr>
          <p:nvPr/>
        </p:nvCxnSpPr>
        <p:spPr bwMode="auto">
          <a:xfrm>
            <a:off x="2849883" y="5267795"/>
            <a:ext cx="2011389" cy="3703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oval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54C16D5-D9E4-07A9-77E6-AAB5D3E6FE63}"/>
              </a:ext>
            </a:extLst>
          </p:cNvPr>
          <p:cNvSpPr txBox="1"/>
          <p:nvPr/>
        </p:nvSpPr>
        <p:spPr>
          <a:xfrm>
            <a:off x="4861272" y="4422971"/>
            <a:ext cx="3549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Semaphore for conditional synchronization.</a:t>
            </a:r>
            <a:endParaRPr lang="ko-KR" altLang="en-US" sz="12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F8B441-6DFB-0243-93F5-D2CF80C4443F}"/>
              </a:ext>
            </a:extLst>
          </p:cNvPr>
          <p:cNvSpPr txBox="1"/>
          <p:nvPr/>
        </p:nvSpPr>
        <p:spPr>
          <a:xfrm>
            <a:off x="4861272" y="4887741"/>
            <a:ext cx="3706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Shared variable represents ELF loading result</a:t>
            </a:r>
          </a:p>
          <a:p>
            <a:r>
              <a:rPr lang="en-US" altLang="ko-KR" sz="1200"/>
              <a:t>of created child process </a:t>
            </a:r>
            <a:endParaRPr lang="ko-KR" altLang="en-US" sz="12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58F297-06D0-F938-AE1C-3D14BDDB1B58}"/>
              </a:ext>
            </a:extLst>
          </p:cNvPr>
          <p:cNvSpPr txBox="1"/>
          <p:nvPr/>
        </p:nvSpPr>
        <p:spPr>
          <a:xfrm>
            <a:off x="4861272" y="5407272"/>
            <a:ext cx="3575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Held ELF file object to prevent it from being</a:t>
            </a:r>
          </a:p>
          <a:p>
            <a:r>
              <a:rPr lang="en-US" altLang="ko-KR" sz="1200"/>
              <a:t>modified on runtime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812794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25AEE-91EB-6EFB-FF78-BFBC04889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559803-3A34-E309-A87F-481F6F9BE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/>
              <a:t>Implementation EXEC Syscall</a:t>
            </a:r>
            <a:endParaRPr lang="ko-KR" altLang="en-US" sz="3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8784CC-46A7-8C1B-961B-72D6A70C01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977"/>
          <a:stretch>
            <a:fillRect/>
          </a:stretch>
        </p:blipFill>
        <p:spPr>
          <a:xfrm>
            <a:off x="4677794" y="2133600"/>
            <a:ext cx="1249933" cy="3810000"/>
          </a:xfrm>
          <a:prstGeom prst="rect">
            <a:avLst/>
          </a:prstGeom>
          <a:effectLst/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F2063D7-1BBD-9C2A-5FAB-EC76C1CFE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625" y="2141070"/>
            <a:ext cx="1257553" cy="1885481"/>
          </a:xfrm>
          <a:prstGeom prst="rect">
            <a:avLst/>
          </a:prstGeom>
          <a:effectLst/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B8AB3CC-9181-C946-6856-6824C63A2EF9}"/>
              </a:ext>
            </a:extLst>
          </p:cNvPr>
          <p:cNvSpPr/>
          <p:nvPr/>
        </p:nvSpPr>
        <p:spPr bwMode="auto">
          <a:xfrm>
            <a:off x="4677794" y="3496108"/>
            <a:ext cx="1249933" cy="85291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1BC2936-A495-0CCD-1227-E92110DE4617}"/>
              </a:ext>
            </a:extLst>
          </p:cNvPr>
          <p:cNvSpPr/>
          <p:nvPr/>
        </p:nvSpPr>
        <p:spPr bwMode="auto">
          <a:xfrm>
            <a:off x="4677794" y="3660139"/>
            <a:ext cx="1249933" cy="1140461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E67FA4B-C666-D611-0FF8-253CE9A4A9F7}"/>
              </a:ext>
            </a:extLst>
          </p:cNvPr>
          <p:cNvSpPr/>
          <p:nvPr/>
        </p:nvSpPr>
        <p:spPr bwMode="auto">
          <a:xfrm>
            <a:off x="4677794" y="5161915"/>
            <a:ext cx="1249933" cy="13017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39E7DA6-017E-63C9-EC2A-A5EB0BF015E3}"/>
              </a:ext>
            </a:extLst>
          </p:cNvPr>
          <p:cNvSpPr/>
          <p:nvPr/>
        </p:nvSpPr>
        <p:spPr bwMode="auto">
          <a:xfrm>
            <a:off x="4677793" y="2133600"/>
            <a:ext cx="1249933" cy="1354888"/>
          </a:xfrm>
          <a:prstGeom prst="rect">
            <a:avLst/>
          </a:prstGeom>
          <a:solidFill>
            <a:schemeClr val="tx1"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2768E63-FB40-9E6C-4295-ECA2E459B656}"/>
              </a:ext>
            </a:extLst>
          </p:cNvPr>
          <p:cNvSpPr/>
          <p:nvPr/>
        </p:nvSpPr>
        <p:spPr bwMode="auto">
          <a:xfrm>
            <a:off x="4677794" y="3579178"/>
            <a:ext cx="1249933" cy="75883"/>
          </a:xfrm>
          <a:prstGeom prst="rect">
            <a:avLst/>
          </a:prstGeom>
          <a:solidFill>
            <a:schemeClr val="tx1">
              <a:alpha val="41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7FD29E-E980-831B-0DEF-9E42D1C0E7E0}"/>
              </a:ext>
            </a:extLst>
          </p:cNvPr>
          <p:cNvSpPr/>
          <p:nvPr/>
        </p:nvSpPr>
        <p:spPr bwMode="auto">
          <a:xfrm>
            <a:off x="4677794" y="4800600"/>
            <a:ext cx="1249933" cy="361315"/>
          </a:xfrm>
          <a:prstGeom prst="rect">
            <a:avLst/>
          </a:prstGeom>
          <a:solidFill>
            <a:schemeClr val="tx1">
              <a:alpha val="41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FBB5C7F-58E8-E53D-2DA4-731706EA81B0}"/>
              </a:ext>
            </a:extLst>
          </p:cNvPr>
          <p:cNvSpPr/>
          <p:nvPr/>
        </p:nvSpPr>
        <p:spPr bwMode="auto">
          <a:xfrm>
            <a:off x="4677794" y="5299710"/>
            <a:ext cx="1249933" cy="641351"/>
          </a:xfrm>
          <a:prstGeom prst="rect">
            <a:avLst/>
          </a:prstGeom>
          <a:solidFill>
            <a:schemeClr val="tx1">
              <a:alpha val="41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9A02BA9-DB7C-4486-BD7A-84F98353C83F}"/>
              </a:ext>
            </a:extLst>
          </p:cNvPr>
          <p:cNvSpPr/>
          <p:nvPr/>
        </p:nvSpPr>
        <p:spPr bwMode="auto">
          <a:xfrm>
            <a:off x="5058794" y="5209107"/>
            <a:ext cx="3886200" cy="454026"/>
          </a:xfrm>
          <a:prstGeom prst="rect">
            <a:avLst/>
          </a:prstGeom>
          <a:solidFill>
            <a:srgbClr val="1F1F1F"/>
          </a:solidFill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05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cur_thread-&gt;</a:t>
            </a:r>
            <a:r>
              <a:rPr lang="en-US" altLang="ko-KR" sz="1050">
                <a:solidFill>
                  <a:srgbClr val="92D050"/>
                </a:solidFill>
                <a:latin typeface="Consolas" panose="020B0609020204030204" pitchFamily="49" charset="0"/>
              </a:rPr>
              <a:t>elf_load_status </a:t>
            </a:r>
            <a:r>
              <a:rPr lang="en-US" altLang="ko-KR" sz="105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= </a:t>
            </a:r>
            <a:r>
              <a:rPr lang="en-US" altLang="ko-KR" sz="1050">
                <a:solidFill>
                  <a:srgbClr val="00B0F0"/>
                </a:solidFill>
                <a:latin typeface="Consolas" panose="020B0609020204030204" pitchFamily="49" charset="0"/>
              </a:rPr>
              <a:t>ELF_LOAD_SUCCESS</a:t>
            </a:r>
            <a:r>
              <a:rPr lang="en-US" altLang="ko-KR" sz="105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050">
                <a:solidFill>
                  <a:srgbClr val="FFFF00"/>
                </a:solidFill>
                <a:latin typeface="Consolas" panose="020B0609020204030204" pitchFamily="49" charset="0"/>
              </a:rPr>
              <a:t>sema_up 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(&amp;cur_thread-&gt;</a:t>
            </a:r>
            <a:r>
              <a:rPr lang="en-US" altLang="ko-KR" sz="1050">
                <a:solidFill>
                  <a:srgbClr val="92D050"/>
                </a:solidFill>
                <a:latin typeface="Consolas" panose="020B0609020204030204" pitchFamily="49" charset="0"/>
              </a:rPr>
              <a:t>sema_elf_load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CBF420C-40EB-F6CD-496A-7E8B63E1A7EE}"/>
              </a:ext>
            </a:extLst>
          </p:cNvPr>
          <p:cNvSpPr/>
          <p:nvPr/>
        </p:nvSpPr>
        <p:spPr bwMode="auto">
          <a:xfrm>
            <a:off x="5058794" y="3791237"/>
            <a:ext cx="3886200" cy="1194463"/>
          </a:xfrm>
          <a:prstGeom prst="rect">
            <a:avLst/>
          </a:prstGeom>
          <a:solidFill>
            <a:srgbClr val="1F1F1F"/>
          </a:solidFill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900">
                <a:solidFill>
                  <a:schemeClr val="accent6">
                    <a:lumMod val="20000"/>
                    <a:lumOff val="80000"/>
                  </a:schemeClr>
                </a:solidFill>
              </a:rPr>
              <a:t>char *arg_contents_part </a:t>
            </a:r>
          </a:p>
          <a:p>
            <a:r>
              <a:rPr lang="en-US" altLang="ko-KR" sz="900">
                <a:solidFill>
                  <a:schemeClr val="accent3">
                    <a:lumMod val="95000"/>
                  </a:schemeClr>
                </a:solidFill>
              </a:rPr>
              <a:t>    = (char *)if_.esp - (char_cnt + 1);</a:t>
            </a:r>
          </a:p>
          <a:p>
            <a:r>
              <a:rPr lang="en-US" altLang="ko-KR" sz="900">
                <a:solidFill>
                  <a:schemeClr val="accent6">
                    <a:lumMod val="20000"/>
                    <a:lumOff val="80000"/>
                  </a:schemeClr>
                </a:solidFill>
              </a:rPr>
              <a:t>char *word_align_part </a:t>
            </a:r>
          </a:p>
          <a:p>
            <a:r>
              <a:rPr lang="en-US" altLang="ko-KR" sz="900">
                <a:solidFill>
                  <a:schemeClr val="accent3">
                    <a:lumMod val="95000"/>
                  </a:schemeClr>
                </a:solidFill>
              </a:rPr>
              <a:t>    = arg_contents_part - ((uint32_t)arg_contents_part % 4);</a:t>
            </a:r>
          </a:p>
          <a:p>
            <a:r>
              <a:rPr lang="en-US" altLang="ko-KR" sz="900">
                <a:solidFill>
                  <a:schemeClr val="accent6">
                    <a:lumMod val="20000"/>
                    <a:lumOff val="80000"/>
                  </a:schemeClr>
                </a:solidFill>
              </a:rPr>
              <a:t>char **argv_entries_part </a:t>
            </a:r>
          </a:p>
          <a:p>
            <a:r>
              <a:rPr lang="en-US" altLang="ko-KR" sz="900">
                <a:solidFill>
                  <a:schemeClr val="accent3">
                    <a:lumMod val="95000"/>
                  </a:schemeClr>
                </a:solidFill>
              </a:rPr>
              <a:t>    = (char **)word_align_part - (argc + 1); </a:t>
            </a:r>
          </a:p>
          <a:p>
            <a:r>
              <a:rPr lang="en-US" altLang="ko-KR" sz="900">
                <a:solidFill>
                  <a:schemeClr val="accent6">
                    <a:lumMod val="20000"/>
                    <a:lumOff val="80000"/>
                  </a:schemeClr>
                </a:solidFill>
              </a:rPr>
              <a:t>uint32_t *stk_top </a:t>
            </a:r>
          </a:p>
          <a:p>
            <a:r>
              <a:rPr lang="en-US" altLang="ko-KR" sz="900">
                <a:solidFill>
                  <a:schemeClr val="accent3">
                    <a:lumMod val="95000"/>
                  </a:schemeClr>
                </a:solidFill>
              </a:rPr>
              <a:t>    = (uint32_t *)argv_entries_part - 3;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820B641-3CC8-7695-1D31-685975BA7286}"/>
              </a:ext>
            </a:extLst>
          </p:cNvPr>
          <p:cNvSpPr/>
          <p:nvPr/>
        </p:nvSpPr>
        <p:spPr bwMode="auto">
          <a:xfrm>
            <a:off x="5058794" y="3079590"/>
            <a:ext cx="3886200" cy="454026"/>
          </a:xfrm>
          <a:prstGeom prst="rect">
            <a:avLst/>
          </a:prstGeom>
          <a:solidFill>
            <a:srgbClr val="1F1F1F"/>
          </a:solidFill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if (!</a:t>
            </a:r>
            <a:r>
              <a:rPr lang="en-US" altLang="ko-KR" sz="1050">
                <a:solidFill>
                  <a:srgbClr val="FFC000"/>
                </a:solidFill>
                <a:latin typeface="Consolas" panose="020B0609020204030204" pitchFamily="49" charset="0"/>
              </a:rPr>
              <a:t>load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 (exec_name, &amp;if_.eip, &amp;if_.esp)) 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    goto start_process_fail;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CA9C650-F2BE-685F-31EC-5A4CB22D9FBD}"/>
              </a:ext>
            </a:extLst>
          </p:cNvPr>
          <p:cNvCxnSpPr>
            <a:cxnSpLocks/>
            <a:stCxn id="18" idx="1"/>
            <a:endCxn id="28" idx="3"/>
          </p:cNvCxnSpPr>
          <p:nvPr/>
        </p:nvCxnSpPr>
        <p:spPr bwMode="auto">
          <a:xfrm flipH="1" flipV="1">
            <a:off x="3581400" y="4657635"/>
            <a:ext cx="1477394" cy="77848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FFFF"/>
            </a:solidFill>
            <a:prstDash val="solid"/>
            <a:round/>
            <a:headEnd type="none" w="med" len="med"/>
            <a:tailEnd type="triangle" w="lg" len="lg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4FA315C-BCD7-9F50-2D29-B536B196606B}"/>
              </a:ext>
            </a:extLst>
          </p:cNvPr>
          <p:cNvSpPr txBox="1"/>
          <p:nvPr/>
        </p:nvSpPr>
        <p:spPr>
          <a:xfrm>
            <a:off x="2767716" y="1801230"/>
            <a:ext cx="1627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pc="-150">
                <a:latin typeface="Consolas" panose="020B0609020204030204" pitchFamily="49" charset="0"/>
              </a:rPr>
              <a:t>process_execute ()</a:t>
            </a:r>
            <a:endParaRPr lang="ko-KR" altLang="en-US" sz="1400" b="1" spc="-150">
              <a:latin typeface="Consolas" panose="020B06090202040302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36FC18-7334-040E-02BC-9638D51B75D0}"/>
              </a:ext>
            </a:extLst>
          </p:cNvPr>
          <p:cNvSpPr txBox="1"/>
          <p:nvPr/>
        </p:nvSpPr>
        <p:spPr>
          <a:xfrm>
            <a:off x="4560954" y="1801230"/>
            <a:ext cx="1467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pc="-150">
                <a:latin typeface="Consolas" panose="020B0609020204030204" pitchFamily="49" charset="0"/>
              </a:rPr>
              <a:t>start_process ()</a:t>
            </a:r>
            <a:endParaRPr lang="ko-KR" altLang="en-US" sz="1400" b="1" spc="-150"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01A2FAC-749B-6648-16C7-BA29D843C281}"/>
              </a:ext>
            </a:extLst>
          </p:cNvPr>
          <p:cNvSpPr/>
          <p:nvPr/>
        </p:nvSpPr>
        <p:spPr bwMode="auto">
          <a:xfrm>
            <a:off x="2960245" y="2631021"/>
            <a:ext cx="1249933" cy="85291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B35D2A1-4524-3533-BAF1-4A16C1EF5E79}"/>
              </a:ext>
            </a:extLst>
          </p:cNvPr>
          <p:cNvSpPr/>
          <p:nvPr/>
        </p:nvSpPr>
        <p:spPr bwMode="auto">
          <a:xfrm>
            <a:off x="2960245" y="3569789"/>
            <a:ext cx="1249933" cy="25966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73D8892-9B71-C9ED-909A-EE119F08B396}"/>
              </a:ext>
            </a:extLst>
          </p:cNvPr>
          <p:cNvSpPr/>
          <p:nvPr/>
        </p:nvSpPr>
        <p:spPr bwMode="auto">
          <a:xfrm>
            <a:off x="2960245" y="3299168"/>
            <a:ext cx="1249933" cy="16144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9F26AFA-6268-CEDE-A5F4-069A53A20E9A}"/>
              </a:ext>
            </a:extLst>
          </p:cNvPr>
          <p:cNvSpPr/>
          <p:nvPr/>
        </p:nvSpPr>
        <p:spPr bwMode="auto">
          <a:xfrm>
            <a:off x="2952622" y="2133600"/>
            <a:ext cx="1249933" cy="496863"/>
          </a:xfrm>
          <a:prstGeom prst="rect">
            <a:avLst/>
          </a:prstGeom>
          <a:solidFill>
            <a:schemeClr val="tx1"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E4DFA4E-7492-62AA-1731-A026EF9D6D2F}"/>
              </a:ext>
            </a:extLst>
          </p:cNvPr>
          <p:cNvSpPr/>
          <p:nvPr/>
        </p:nvSpPr>
        <p:spPr bwMode="auto">
          <a:xfrm>
            <a:off x="2952622" y="2731654"/>
            <a:ext cx="1249933" cy="546500"/>
          </a:xfrm>
          <a:prstGeom prst="rect">
            <a:avLst/>
          </a:prstGeom>
          <a:solidFill>
            <a:schemeClr val="tx1"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7598A83-7423-4B88-AA1C-C283E2CBCCA5}"/>
              </a:ext>
            </a:extLst>
          </p:cNvPr>
          <p:cNvSpPr/>
          <p:nvPr/>
        </p:nvSpPr>
        <p:spPr bwMode="auto">
          <a:xfrm>
            <a:off x="2952622" y="3458645"/>
            <a:ext cx="1249933" cy="120533"/>
          </a:xfrm>
          <a:prstGeom prst="rect">
            <a:avLst/>
          </a:prstGeom>
          <a:solidFill>
            <a:schemeClr val="tx1"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E18D4B7-86C3-441D-54ED-27B36821B7A9}"/>
              </a:ext>
            </a:extLst>
          </p:cNvPr>
          <p:cNvSpPr/>
          <p:nvPr/>
        </p:nvSpPr>
        <p:spPr bwMode="auto">
          <a:xfrm>
            <a:off x="2952622" y="3831348"/>
            <a:ext cx="1249933" cy="195203"/>
          </a:xfrm>
          <a:prstGeom prst="rect">
            <a:avLst/>
          </a:prstGeom>
          <a:solidFill>
            <a:schemeClr val="tx1"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EF51657-E915-169B-6550-195964FFC83B}"/>
              </a:ext>
            </a:extLst>
          </p:cNvPr>
          <p:cNvSpPr/>
          <p:nvPr/>
        </p:nvSpPr>
        <p:spPr bwMode="auto">
          <a:xfrm>
            <a:off x="228600" y="3699621"/>
            <a:ext cx="3352800" cy="1916027"/>
          </a:xfrm>
          <a:prstGeom prst="rect">
            <a:avLst/>
          </a:prstGeom>
          <a:solidFill>
            <a:srgbClr val="1F1F1F"/>
          </a:solidFill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if (new_thread-&gt;</a:t>
            </a:r>
            <a:r>
              <a:rPr lang="en-US" altLang="ko-KR" sz="1050">
                <a:solidFill>
                  <a:srgbClr val="92D050"/>
                </a:solidFill>
                <a:latin typeface="Consolas" panose="020B0609020204030204" pitchFamily="49" charset="0"/>
              </a:rPr>
              <a:t>elf_load_status 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    == </a:t>
            </a:r>
            <a:r>
              <a:rPr lang="en-US" altLang="ko-KR" sz="1050">
                <a:solidFill>
                  <a:srgbClr val="00B0F0"/>
                </a:solidFill>
                <a:latin typeface="Consolas" panose="020B0609020204030204" pitchFamily="49" charset="0"/>
              </a:rPr>
              <a:t>ELF_LOAD_SUCCESS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  ret = tid;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  else if (new_thread-&gt;</a:t>
            </a:r>
            <a:r>
              <a:rPr lang="en-US" altLang="ko-KR" sz="1050">
                <a:solidFill>
                  <a:srgbClr val="92D050"/>
                </a:solidFill>
                <a:latin typeface="Consolas" panose="020B0609020204030204" pitchFamily="49" charset="0"/>
              </a:rPr>
              <a:t>elf_load_status 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           == </a:t>
            </a:r>
            <a:r>
              <a:rPr lang="en-US" altLang="ko-KR" sz="1050">
                <a:solidFill>
                  <a:srgbClr val="00B0F0"/>
                </a:solidFill>
                <a:latin typeface="Consolas" panose="020B0609020204030204" pitchFamily="49" charset="0"/>
              </a:rPr>
              <a:t>ELF_LOAD_FAILED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altLang="ko-KR" sz="1050">
                <a:solidFill>
                  <a:srgbClr val="FFC000"/>
                </a:solidFill>
                <a:latin typeface="Consolas" panose="020B0609020204030204" pitchFamily="49" charset="0"/>
              </a:rPr>
              <a:t>process_wait 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(tid);     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  ret = -1;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811E370-D00D-BC9A-6B6F-A200D3AEAD0E}"/>
              </a:ext>
            </a:extLst>
          </p:cNvPr>
          <p:cNvSpPr/>
          <p:nvPr/>
        </p:nvSpPr>
        <p:spPr bwMode="auto">
          <a:xfrm>
            <a:off x="228600" y="2221111"/>
            <a:ext cx="3352800" cy="454027"/>
          </a:xfrm>
          <a:prstGeom prst="rect">
            <a:avLst/>
          </a:prstGeom>
          <a:solidFill>
            <a:srgbClr val="1F1F1F"/>
          </a:solidFill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tid = </a:t>
            </a:r>
            <a:r>
              <a:rPr lang="en-US" altLang="ko-KR" sz="1050">
                <a:solidFill>
                  <a:srgbClr val="FFC000"/>
                </a:solidFill>
                <a:latin typeface="Consolas" panose="020B0609020204030204" pitchFamily="49" charset="0"/>
              </a:rPr>
              <a:t>thread_create 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("on-ld procs“,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      PRI_DEFAULT, start_process, fn_copy);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CF9293C-BC4B-A534-77EA-176A44886321}"/>
              </a:ext>
            </a:extLst>
          </p:cNvPr>
          <p:cNvSpPr/>
          <p:nvPr/>
        </p:nvSpPr>
        <p:spPr bwMode="auto">
          <a:xfrm>
            <a:off x="228600" y="2955319"/>
            <a:ext cx="3352800" cy="431865"/>
          </a:xfrm>
          <a:prstGeom prst="rect">
            <a:avLst/>
          </a:prstGeom>
          <a:solidFill>
            <a:srgbClr val="1F1F1F"/>
          </a:solidFill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new_thread-&gt;</a:t>
            </a:r>
            <a:r>
              <a:rPr lang="en-US" altLang="ko-KR" sz="1050">
                <a:solidFill>
                  <a:srgbClr val="92D050"/>
                </a:solidFill>
                <a:latin typeface="Consolas" panose="020B0609020204030204" pitchFamily="49" charset="0"/>
              </a:rPr>
              <a:t>elf_load_status 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= </a:t>
            </a:r>
            <a:r>
              <a:rPr lang="en-US" altLang="ko-KR" sz="1050">
                <a:solidFill>
                  <a:srgbClr val="00B0F0"/>
                </a:solidFill>
                <a:latin typeface="Consolas" panose="020B0609020204030204" pitchFamily="49" charset="0"/>
              </a:rPr>
              <a:t>ELF_LOADING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050">
                <a:solidFill>
                  <a:srgbClr val="FFFF00"/>
                </a:solidFill>
                <a:latin typeface="Consolas" panose="020B0609020204030204" pitchFamily="49" charset="0"/>
              </a:rPr>
              <a:t>sema_down 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(&amp;new_thread-&gt;</a:t>
            </a:r>
            <a:r>
              <a:rPr lang="en-US" altLang="ko-KR" sz="1050">
                <a:solidFill>
                  <a:srgbClr val="92D050"/>
                </a:solidFill>
                <a:latin typeface="Consolas" panose="020B0609020204030204" pitchFamily="49" charset="0"/>
              </a:rPr>
              <a:t>sema_elf_load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9E7C7E7-C603-E526-006A-3DF3EB829B11}"/>
              </a:ext>
            </a:extLst>
          </p:cNvPr>
          <p:cNvCxnSpPr>
            <a:cxnSpLocks/>
            <a:stCxn id="27" idx="3"/>
          </p:cNvCxnSpPr>
          <p:nvPr/>
        </p:nvCxnSpPr>
        <p:spPr bwMode="auto">
          <a:xfrm flipV="1">
            <a:off x="3581400" y="2169609"/>
            <a:ext cx="1096393" cy="100164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FFFF"/>
            </a:solidFill>
            <a:prstDash val="solid"/>
            <a:round/>
            <a:headEnd type="none" w="med" len="med"/>
            <a:tailEnd type="triangle" w="lg" len="lg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301856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63DF95-5B65-C2A8-312D-8CD664CF3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/>
              <a:t>WAIT, EXIT System Call</a:t>
            </a:r>
            <a:endParaRPr lang="ko-KR" altLang="en-US" sz="3600"/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83DB5E8F-9930-4329-0E97-283F54C51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455" y="1774292"/>
            <a:ext cx="3423950" cy="4245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400">
                <a:solidFill>
                  <a:srgbClr val="0000FF"/>
                </a:solidFill>
              </a:rPr>
              <a:t>The child </a:t>
            </a:r>
            <a:r>
              <a:rPr lang="en-US" altLang="ko-KR" sz="1400"/>
              <a:t>process releases the resources in its own user space, but </a:t>
            </a:r>
            <a:r>
              <a:rPr lang="en-US" altLang="ko-KR" sz="1400">
                <a:solidFill>
                  <a:srgbClr val="0000FF"/>
                </a:solidFill>
              </a:rPr>
              <a:t>retains its kernel thread, including the </a:t>
            </a:r>
            <a:r>
              <a:rPr lang="en-US" altLang="ko-KR" sz="1400" i="1">
                <a:solidFill>
                  <a:srgbClr val="0000FF"/>
                </a:solidFill>
              </a:rPr>
              <a:t>exit_status</a:t>
            </a:r>
            <a:r>
              <a:rPr lang="en-US" altLang="ko-KR" sz="1400" i="1"/>
              <a:t>.</a:t>
            </a:r>
            <a:r>
              <a:rPr lang="en-US" altLang="ko-KR" sz="1400"/>
              <a:t> </a:t>
            </a:r>
            <a:r>
              <a:rPr lang="en-US" altLang="ko-KR" sz="1400" i="1"/>
              <a:t>(Zombie)</a:t>
            </a:r>
          </a:p>
          <a:p>
            <a:pPr latinLnBrk="1"/>
            <a:endParaRPr lang="en-US" altLang="ko-KR" sz="1400"/>
          </a:p>
          <a:p>
            <a:pPr latinLnBrk="1"/>
            <a:r>
              <a:rPr lang="en-US" altLang="ko-KR" sz="1400">
                <a:solidFill>
                  <a:srgbClr val="FF0000"/>
                </a:solidFill>
              </a:rPr>
              <a:t>The parent</a:t>
            </a:r>
            <a:r>
              <a:rPr lang="en-US" altLang="ko-KR" sz="1400"/>
              <a:t> process </a:t>
            </a:r>
            <a:r>
              <a:rPr lang="en-US" altLang="ko-KR" sz="1400">
                <a:solidFill>
                  <a:srgbClr val="FF0000"/>
                </a:solidFill>
              </a:rPr>
              <a:t>accesses the child's </a:t>
            </a:r>
            <a:r>
              <a:rPr lang="en-US" altLang="ko-KR" sz="1400" i="1">
                <a:solidFill>
                  <a:srgbClr val="FF0000"/>
                </a:solidFill>
              </a:rPr>
              <a:t>exit _status</a:t>
            </a:r>
            <a:r>
              <a:rPr lang="en-US" altLang="ko-KR" sz="1400" i="1"/>
              <a:t> </a:t>
            </a:r>
            <a:r>
              <a:rPr lang="en-US" altLang="ko-KR" sz="1400"/>
              <a:t>and then deallocates the remaining resources of the child. </a:t>
            </a:r>
            <a:r>
              <a:rPr lang="en-US" altLang="ko-KR" sz="1400" i="1"/>
              <a:t>(Reaping)</a:t>
            </a:r>
          </a:p>
          <a:p>
            <a:pPr latinLnBrk="1"/>
            <a:endParaRPr lang="en-US" altLang="ko-KR" sz="1400"/>
          </a:p>
          <a:p>
            <a:pPr latinLnBrk="1"/>
            <a:r>
              <a:rPr lang="en-US" altLang="ko-KR" sz="1400">
                <a:solidFill>
                  <a:srgbClr val="0000FF"/>
                </a:solidFill>
              </a:rPr>
              <a:t>The child is the producer </a:t>
            </a:r>
            <a:r>
              <a:rPr lang="en-US" altLang="ko-KR" sz="1400"/>
              <a:t>of the exit_status, and the </a:t>
            </a:r>
            <a:r>
              <a:rPr lang="en-US" altLang="ko-KR" sz="1400">
                <a:solidFill>
                  <a:srgbClr val="FF0000"/>
                </a:solidFill>
              </a:rPr>
              <a:t>parent is the consumer.</a:t>
            </a:r>
          </a:p>
          <a:p>
            <a:pPr latinLnBrk="1"/>
            <a:endParaRPr lang="en-US" altLang="ko-KR" sz="1400">
              <a:solidFill>
                <a:srgbClr val="FF0000"/>
              </a:solidFill>
            </a:endParaRPr>
          </a:p>
          <a:p>
            <a:pPr latinLnBrk="1"/>
            <a:r>
              <a:rPr lang="en-US" altLang="ko-KR" sz="1400" b="1"/>
              <a:t>A producer-consumer problem!</a:t>
            </a:r>
          </a:p>
          <a:p>
            <a:pPr marL="471487" lvl="1" indent="0" latinLnBrk="1">
              <a:buNone/>
            </a:pPr>
            <a:endParaRPr lang="en-US" altLang="ko-KR" sz="14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400" kern="0">
              <a:latin typeface="+mj-lt"/>
            </a:endParaRPr>
          </a:p>
          <a:p>
            <a:pPr marL="0" indent="0" latinLnBrk="1">
              <a:buNone/>
            </a:pPr>
            <a:endParaRPr lang="en-US" altLang="ko-KR" sz="1400" kern="0">
              <a:latin typeface="+mj-lt"/>
            </a:endParaRPr>
          </a:p>
          <a:p>
            <a:pPr latinLnBrk="1"/>
            <a:endParaRPr lang="en-US" altLang="ko-KR" sz="1400" kern="0">
              <a:latin typeface="+mj-lt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7345B44-1FB4-9736-29D9-0304F6297351}"/>
              </a:ext>
            </a:extLst>
          </p:cNvPr>
          <p:cNvGrpSpPr/>
          <p:nvPr/>
        </p:nvGrpSpPr>
        <p:grpSpPr>
          <a:xfrm>
            <a:off x="761026" y="1981200"/>
            <a:ext cx="4757429" cy="3903085"/>
            <a:chOff x="914400" y="2222249"/>
            <a:chExt cx="4300229" cy="3471214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C2B2C521-1FB8-DBE9-30C3-379F46883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3452105"/>
              <a:ext cx="1155700" cy="2241358"/>
            </a:xfrm>
            <a:prstGeom prst="rect">
              <a:avLst/>
            </a:prstGeom>
          </p:spPr>
        </p:pic>
        <p:pic>
          <p:nvPicPr>
            <p:cNvPr id="1026" name="Picture 2" descr="Exit icon | Free SVG">
              <a:extLst>
                <a:ext uri="{FF2B5EF4-FFF2-40B4-BE49-F238E27FC236}">
                  <a16:creationId xmlns:a16="http://schemas.microsoft.com/office/drawing/2014/main" id="{2D429B35-F3DF-8E4E-D676-E838398234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6545" y="3109378"/>
              <a:ext cx="450975" cy="450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68F3F3E-E1EE-C49E-C598-0A4DCF8B5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129509" y="3037676"/>
              <a:ext cx="1710250" cy="1847001"/>
            </a:xfrm>
            <a:prstGeom prst="rect">
              <a:avLst/>
            </a:prstGeom>
          </p:spPr>
        </p:pic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1187BD27-B43E-C651-D41A-BA5D258193B7}"/>
                </a:ext>
              </a:extLst>
            </p:cNvPr>
            <p:cNvSpPr/>
            <p:nvPr/>
          </p:nvSpPr>
          <p:spPr bwMode="auto">
            <a:xfrm>
              <a:off x="3120109" y="3382209"/>
              <a:ext cx="638175" cy="635285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CE1C7C8-097D-8C24-FE1D-4AEA29772617}"/>
                </a:ext>
              </a:extLst>
            </p:cNvPr>
            <p:cNvSpPr txBox="1"/>
            <p:nvPr/>
          </p:nvSpPr>
          <p:spPr>
            <a:xfrm>
              <a:off x="3086232" y="3465377"/>
              <a:ext cx="705929" cy="465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>
                  <a:latin typeface="Consolas" panose="020B0609020204030204" pitchFamily="49" charset="0"/>
                </a:rPr>
                <a:t>exit</a:t>
              </a:r>
            </a:p>
            <a:p>
              <a:pPr algn="ctr"/>
              <a:r>
                <a:rPr lang="en-US" altLang="ko-KR" sz="1400">
                  <a:latin typeface="Consolas" panose="020B0609020204030204" pitchFamily="49" charset="0"/>
                </a:rPr>
                <a:t>status</a:t>
              </a:r>
              <a:endParaRPr lang="ko-KR" altLang="en-US" sz="1400">
                <a:latin typeface="Consolas" panose="020B0609020204030204" pitchFamily="49" charset="0"/>
              </a:endParaRPr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BF13AF1D-2E4E-E65A-2DD9-088AE5C21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04" t="31958" r="62377" b="42241"/>
            <a:stretch>
              <a:fillRect/>
            </a:stretch>
          </p:blipFill>
          <p:spPr>
            <a:xfrm flipH="1">
              <a:off x="3162019" y="3646981"/>
              <a:ext cx="371450" cy="476546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B3B68FC-AA1C-E077-21A6-34DF5DD53823}"/>
                </a:ext>
              </a:extLst>
            </p:cNvPr>
            <p:cNvSpPr txBox="1"/>
            <p:nvPr/>
          </p:nvSpPr>
          <p:spPr>
            <a:xfrm rot="1800000">
              <a:off x="2223313" y="3604391"/>
              <a:ext cx="8289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spc="-150">
                  <a:latin typeface="UD Digi Kyokasho N-B" panose="02020700000000000000" pitchFamily="17" charset="-128"/>
                  <a:ea typeface="UD Digi Kyokasho N-B" panose="02020700000000000000" pitchFamily="17" charset="-128"/>
                </a:rPr>
                <a:t>child</a:t>
              </a:r>
              <a:endParaRPr lang="ko-KR" altLang="en-US" sz="1600" spc="-150">
                <a:latin typeface="UD Digi Kyokasho N-B" panose="02020700000000000000" pitchFamily="17" charset="-128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F40F0ACB-12D7-DDBD-2EE8-42C5E9F06921}"/>
                </a:ext>
              </a:extLst>
            </p:cNvPr>
            <p:cNvGrpSpPr/>
            <p:nvPr/>
          </p:nvGrpSpPr>
          <p:grpSpPr>
            <a:xfrm>
              <a:off x="3811578" y="2222249"/>
              <a:ext cx="1403051" cy="1856188"/>
              <a:chOff x="3483319" y="2160876"/>
              <a:chExt cx="1403051" cy="1856188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68608419-DCC6-CC37-F0F5-7134CEBC7B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085" b="47406"/>
              <a:stretch>
                <a:fillRect/>
              </a:stretch>
            </p:blipFill>
            <p:spPr>
              <a:xfrm>
                <a:off x="3483319" y="2160876"/>
                <a:ext cx="1403051" cy="1856188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B2BD670-B464-CA14-9155-88E1562225AA}"/>
                  </a:ext>
                </a:extLst>
              </p:cNvPr>
              <p:cNvSpPr txBox="1"/>
              <p:nvPr/>
            </p:nvSpPr>
            <p:spPr>
              <a:xfrm rot="201732">
                <a:off x="3639241" y="2726669"/>
                <a:ext cx="8289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spc="-150">
                    <a:latin typeface="UD Digi Kyokasho N-B" panose="02020700000000000000" pitchFamily="17" charset="-128"/>
                    <a:ea typeface="UD Digi Kyokasho N-B" panose="02020700000000000000" pitchFamily="17" charset="-128"/>
                  </a:rPr>
                  <a:t>parent</a:t>
                </a:r>
                <a:endParaRPr lang="ko-KR" altLang="en-US" sz="1600" spc="-150">
                  <a:latin typeface="UD Digi Kyokasho N-B" panose="02020700000000000000" pitchFamily="17" charset="-12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12925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D0592-586A-F383-8069-CE77F5B2E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FD249EA8-ED51-ABD3-775F-6C53C1DD99E7}"/>
              </a:ext>
            </a:extLst>
          </p:cNvPr>
          <p:cNvSpPr/>
          <p:nvPr/>
        </p:nvSpPr>
        <p:spPr bwMode="auto">
          <a:xfrm>
            <a:off x="2483260" y="3082436"/>
            <a:ext cx="5049114" cy="2823897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10B7F186-D6CD-7581-4712-D415A474C11E}"/>
              </a:ext>
            </a:extLst>
          </p:cNvPr>
          <p:cNvSpPr/>
          <p:nvPr/>
        </p:nvSpPr>
        <p:spPr bwMode="auto">
          <a:xfrm flipV="1">
            <a:off x="5939967" y="2057400"/>
            <a:ext cx="1594605" cy="1029796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577094AC-F2C1-6B62-977C-2C2AF97B1CB9}"/>
              </a:ext>
            </a:extLst>
          </p:cNvPr>
          <p:cNvSpPr/>
          <p:nvPr/>
        </p:nvSpPr>
        <p:spPr bwMode="auto">
          <a:xfrm>
            <a:off x="7620605" y="2057399"/>
            <a:ext cx="1523395" cy="3825659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886C401F-57B9-1E7B-E7FE-FA3874C17964}"/>
              </a:ext>
            </a:extLst>
          </p:cNvPr>
          <p:cNvSpPr/>
          <p:nvPr/>
        </p:nvSpPr>
        <p:spPr bwMode="auto">
          <a:xfrm>
            <a:off x="0" y="3082436"/>
            <a:ext cx="2411597" cy="2823897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DAFDFBE-342B-0B2A-5006-B0241EC28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/>
              <a:t>Synchronization for WAIT, EXIT Syscall</a:t>
            </a:r>
            <a:endParaRPr lang="ko-KR" altLang="en-US" sz="280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A9E01E5-892A-379F-42C4-1FF1428682B5}"/>
              </a:ext>
            </a:extLst>
          </p:cNvPr>
          <p:cNvCxnSpPr>
            <a:cxnSpLocks/>
            <a:stCxn id="19" idx="3"/>
          </p:cNvCxnSpPr>
          <p:nvPr/>
        </p:nvCxnSpPr>
        <p:spPr bwMode="auto">
          <a:xfrm>
            <a:off x="990814" y="2827094"/>
            <a:ext cx="7837557" cy="160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E47A330-AEFA-B719-BE7C-B6D94848381E}"/>
              </a:ext>
            </a:extLst>
          </p:cNvPr>
          <p:cNvCxnSpPr>
            <a:cxnSpLocks/>
            <a:stCxn id="20" idx="3"/>
          </p:cNvCxnSpPr>
          <p:nvPr/>
        </p:nvCxnSpPr>
        <p:spPr bwMode="auto">
          <a:xfrm>
            <a:off x="920282" y="3387870"/>
            <a:ext cx="638249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4D59D10B-A952-E1FA-EA20-EA53646F9870}"/>
              </a:ext>
            </a:extLst>
          </p:cNvPr>
          <p:cNvSpPr/>
          <p:nvPr/>
        </p:nvSpPr>
        <p:spPr bwMode="auto">
          <a:xfrm>
            <a:off x="5863769" y="2768599"/>
            <a:ext cx="152400" cy="152400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00D9866-74E7-189C-A9DC-E0E485DB93F5}"/>
              </a:ext>
            </a:extLst>
          </p:cNvPr>
          <p:cNvSpPr/>
          <p:nvPr/>
        </p:nvSpPr>
        <p:spPr bwMode="auto">
          <a:xfrm>
            <a:off x="5863769" y="3311671"/>
            <a:ext cx="152400" cy="152400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407EB62-A176-F537-2ED4-A3342F361007}"/>
              </a:ext>
            </a:extLst>
          </p:cNvPr>
          <p:cNvCxnSpPr>
            <a:stCxn id="16" idx="4"/>
            <a:endCxn id="17" idx="0"/>
          </p:cNvCxnSpPr>
          <p:nvPr/>
        </p:nvCxnSpPr>
        <p:spPr bwMode="auto">
          <a:xfrm>
            <a:off x="5939969" y="2920999"/>
            <a:ext cx="0" cy="39067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96646DB-589F-1847-5CFD-70D84EDD5A5F}"/>
              </a:ext>
            </a:extLst>
          </p:cNvPr>
          <p:cNvSpPr txBox="1"/>
          <p:nvPr/>
        </p:nvSpPr>
        <p:spPr>
          <a:xfrm>
            <a:off x="158535" y="2688594"/>
            <a:ext cx="8322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0000FF"/>
                </a:solidFill>
              </a:rPr>
              <a:t>WAIT()</a:t>
            </a:r>
            <a:endParaRPr lang="ko-KR" altLang="en-US" sz="1200" b="1">
              <a:solidFill>
                <a:srgbClr val="0000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EDC60C-443A-CECC-D254-A95E5976239A}"/>
              </a:ext>
            </a:extLst>
          </p:cNvPr>
          <p:cNvSpPr txBox="1"/>
          <p:nvPr/>
        </p:nvSpPr>
        <p:spPr>
          <a:xfrm>
            <a:off x="158535" y="3249370"/>
            <a:ext cx="761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0000FF"/>
                </a:solidFill>
              </a:rPr>
              <a:t>EXIT()</a:t>
            </a:r>
            <a:endParaRPr lang="ko-KR" altLang="en-US" sz="1200" b="1">
              <a:solidFill>
                <a:srgbClr val="0000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55E8F0-32D5-3CAB-B952-84EE4F8F642B}"/>
              </a:ext>
            </a:extLst>
          </p:cNvPr>
          <p:cNvSpPr txBox="1"/>
          <p:nvPr/>
        </p:nvSpPr>
        <p:spPr>
          <a:xfrm>
            <a:off x="5159148" y="2491602"/>
            <a:ext cx="15616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0000FF"/>
                </a:solidFill>
              </a:rPr>
              <a:t>P(‘child’-&gt;wait)</a:t>
            </a:r>
            <a:endParaRPr lang="ko-KR" altLang="en-US" sz="1200" b="1">
              <a:solidFill>
                <a:srgbClr val="0000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9C7751-D62A-B89B-E559-63F39E139364}"/>
              </a:ext>
            </a:extLst>
          </p:cNvPr>
          <p:cNvSpPr txBox="1"/>
          <p:nvPr/>
        </p:nvSpPr>
        <p:spPr>
          <a:xfrm>
            <a:off x="5265846" y="3435976"/>
            <a:ext cx="13644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0000FF"/>
                </a:solidFill>
              </a:rPr>
              <a:t>V(self-&gt;wait)</a:t>
            </a:r>
            <a:endParaRPr lang="ko-KR" altLang="en-US" sz="1200" b="1">
              <a:solidFill>
                <a:srgbClr val="0000FF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C2A757-7ED5-748A-AB25-E27EF4ECF334}"/>
              </a:ext>
            </a:extLst>
          </p:cNvPr>
          <p:cNvSpPr txBox="1"/>
          <p:nvPr/>
        </p:nvSpPr>
        <p:spPr>
          <a:xfrm rot="1800000">
            <a:off x="1257244" y="3864862"/>
            <a:ext cx="2060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Reap Or Abandon</a:t>
            </a:r>
          </a:p>
          <a:p>
            <a:r>
              <a:rPr lang="en-US" altLang="ko-KR" sz="1200"/>
              <a:t>Children</a:t>
            </a:r>
            <a:endParaRPr lang="ko-KR" altLang="en-US" sz="1200"/>
          </a:p>
        </p:txBody>
      </p:sp>
      <p:sp>
        <p:nvSpPr>
          <p:cNvPr id="43" name="이등변 삼각형 42">
            <a:extLst>
              <a:ext uri="{FF2B5EF4-FFF2-40B4-BE49-F238E27FC236}">
                <a16:creationId xmlns:a16="http://schemas.microsoft.com/office/drawing/2014/main" id="{990865DC-26F3-E048-CF3A-4B1FBB1D8B88}"/>
              </a:ext>
            </a:extLst>
          </p:cNvPr>
          <p:cNvSpPr/>
          <p:nvPr/>
        </p:nvSpPr>
        <p:spPr bwMode="auto">
          <a:xfrm rot="5400000">
            <a:off x="2405593" y="3349770"/>
            <a:ext cx="88392" cy="762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0DF043-42E0-CDEE-4B98-124B782B5405}"/>
              </a:ext>
            </a:extLst>
          </p:cNvPr>
          <p:cNvSpPr txBox="1"/>
          <p:nvPr/>
        </p:nvSpPr>
        <p:spPr>
          <a:xfrm rot="1800000">
            <a:off x="2066296" y="4340104"/>
            <a:ext cx="39179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Destroy user v-addr space</a:t>
            </a:r>
            <a:endParaRPr lang="ko-KR" altLang="en-US" sz="120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647517A-0467-CBAC-E12C-8517BE13E03C}"/>
              </a:ext>
            </a:extLst>
          </p:cNvPr>
          <p:cNvCxnSpPr>
            <a:cxnSpLocks/>
          </p:cNvCxnSpPr>
          <p:nvPr/>
        </p:nvCxnSpPr>
        <p:spPr bwMode="auto">
          <a:xfrm>
            <a:off x="5043777" y="4094216"/>
            <a:ext cx="347027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4" name="곱하기 기호 53">
            <a:extLst>
              <a:ext uri="{FF2B5EF4-FFF2-40B4-BE49-F238E27FC236}">
                <a16:creationId xmlns:a16="http://schemas.microsoft.com/office/drawing/2014/main" id="{A47FA5A1-0334-996C-59A6-0DEB6B2899EF}"/>
              </a:ext>
            </a:extLst>
          </p:cNvPr>
          <p:cNvSpPr/>
          <p:nvPr/>
        </p:nvSpPr>
        <p:spPr bwMode="auto">
          <a:xfrm>
            <a:off x="8391642" y="3863577"/>
            <a:ext cx="461277" cy="461277"/>
          </a:xfrm>
          <a:prstGeom prst="mathMultiply">
            <a:avLst>
              <a:gd name="adj1" fmla="val 1360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0E9BA0-ACFC-AB9D-5342-7D71056FFC89}"/>
              </a:ext>
            </a:extLst>
          </p:cNvPr>
          <p:cNvSpPr txBox="1"/>
          <p:nvPr/>
        </p:nvSpPr>
        <p:spPr>
          <a:xfrm>
            <a:off x="8302854" y="4203454"/>
            <a:ext cx="60304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/>
              <a:t>never</a:t>
            </a:r>
          </a:p>
          <a:p>
            <a:pPr algn="ctr"/>
            <a:r>
              <a:rPr lang="en-US" altLang="ko-KR" sz="1050"/>
              <a:t>return</a:t>
            </a:r>
            <a:endParaRPr lang="ko-KR" altLang="en-US" sz="1050"/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72F39433-5559-4425-AA44-20024F2408AC}"/>
              </a:ext>
            </a:extLst>
          </p:cNvPr>
          <p:cNvCxnSpPr>
            <a:cxnSpLocks/>
          </p:cNvCxnSpPr>
          <p:nvPr/>
        </p:nvCxnSpPr>
        <p:spPr bwMode="auto">
          <a:xfrm>
            <a:off x="5043777" y="3387868"/>
            <a:ext cx="0" cy="7063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2" name="순서도: 판단 61">
            <a:extLst>
              <a:ext uri="{FF2B5EF4-FFF2-40B4-BE49-F238E27FC236}">
                <a16:creationId xmlns:a16="http://schemas.microsoft.com/office/drawing/2014/main" id="{26E4BE44-DBBF-B7CB-2ABD-D86B2366F6DE}"/>
              </a:ext>
            </a:extLst>
          </p:cNvPr>
          <p:cNvSpPr/>
          <p:nvPr/>
        </p:nvSpPr>
        <p:spPr bwMode="auto">
          <a:xfrm>
            <a:off x="4929925" y="3308907"/>
            <a:ext cx="227703" cy="155162"/>
          </a:xfrm>
          <a:prstGeom prst="flowChartDecisi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6505566-D98F-2E28-F20F-A8E730236F59}"/>
              </a:ext>
            </a:extLst>
          </p:cNvPr>
          <p:cNvSpPr txBox="1"/>
          <p:nvPr/>
        </p:nvSpPr>
        <p:spPr>
          <a:xfrm>
            <a:off x="4518275" y="3034671"/>
            <a:ext cx="10198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/>
              <a:t>if (orphan)</a:t>
            </a:r>
            <a:endParaRPr lang="ko-KR" altLang="en-US" sz="1200" i="1"/>
          </a:p>
        </p:txBody>
      </p:sp>
      <p:sp>
        <p:nvSpPr>
          <p:cNvPr id="69" name="이등변 삼각형 68">
            <a:extLst>
              <a:ext uri="{FF2B5EF4-FFF2-40B4-BE49-F238E27FC236}">
                <a16:creationId xmlns:a16="http://schemas.microsoft.com/office/drawing/2014/main" id="{07A943FF-C907-1ACC-CBA2-3CB273D3B27C}"/>
              </a:ext>
            </a:extLst>
          </p:cNvPr>
          <p:cNvSpPr/>
          <p:nvPr/>
        </p:nvSpPr>
        <p:spPr bwMode="auto">
          <a:xfrm rot="5400000">
            <a:off x="3302447" y="3349771"/>
            <a:ext cx="88392" cy="762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893909D-4573-3A89-6959-5D1F5A7A0A52}"/>
              </a:ext>
            </a:extLst>
          </p:cNvPr>
          <p:cNvSpPr txBox="1"/>
          <p:nvPr/>
        </p:nvSpPr>
        <p:spPr>
          <a:xfrm rot="1800000">
            <a:off x="2963150" y="4340105"/>
            <a:ext cx="39179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Set status=ZOMBIE</a:t>
            </a:r>
            <a:endParaRPr lang="ko-KR" altLang="en-US" sz="120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1211DED-5B5A-7079-1092-A69A76DDF7B9}"/>
              </a:ext>
            </a:extLst>
          </p:cNvPr>
          <p:cNvSpPr txBox="1"/>
          <p:nvPr/>
        </p:nvSpPr>
        <p:spPr>
          <a:xfrm>
            <a:off x="4813691" y="340260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T</a:t>
            </a:r>
            <a:endParaRPr lang="ko-KR" altLang="en-US" sz="120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C709725-805A-F46B-7470-A8426E1C96D4}"/>
              </a:ext>
            </a:extLst>
          </p:cNvPr>
          <p:cNvSpPr txBox="1"/>
          <p:nvPr/>
        </p:nvSpPr>
        <p:spPr>
          <a:xfrm>
            <a:off x="5098044" y="333461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F</a:t>
            </a:r>
            <a:endParaRPr lang="ko-KR" altLang="en-US" sz="1200"/>
          </a:p>
        </p:txBody>
      </p:sp>
      <p:sp>
        <p:nvSpPr>
          <p:cNvPr id="122" name="이등변 삼각형 121">
            <a:extLst>
              <a:ext uri="{FF2B5EF4-FFF2-40B4-BE49-F238E27FC236}">
                <a16:creationId xmlns:a16="http://schemas.microsoft.com/office/drawing/2014/main" id="{DC1FDD34-17E3-99E7-C69B-D400DB4DF2C3}"/>
              </a:ext>
            </a:extLst>
          </p:cNvPr>
          <p:cNvSpPr/>
          <p:nvPr/>
        </p:nvSpPr>
        <p:spPr bwMode="auto">
          <a:xfrm rot="5400000">
            <a:off x="7528476" y="2813201"/>
            <a:ext cx="88392" cy="762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7EF6AD6-8622-B54A-E347-CDC722766AEB}"/>
              </a:ext>
            </a:extLst>
          </p:cNvPr>
          <p:cNvSpPr txBox="1"/>
          <p:nvPr/>
        </p:nvSpPr>
        <p:spPr>
          <a:xfrm>
            <a:off x="7895224" y="2872126"/>
            <a:ext cx="1408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/>
              <a:t>return</a:t>
            </a:r>
          </a:p>
          <a:p>
            <a:pPr algn="ctr"/>
            <a:r>
              <a:rPr lang="en-US" altLang="ko-KR" sz="1200"/>
              <a:t>exit_status</a:t>
            </a:r>
          </a:p>
        </p:txBody>
      </p:sp>
      <p:sp>
        <p:nvSpPr>
          <p:cNvPr id="130" name="이등변 삼각형 129">
            <a:extLst>
              <a:ext uri="{FF2B5EF4-FFF2-40B4-BE49-F238E27FC236}">
                <a16:creationId xmlns:a16="http://schemas.microsoft.com/office/drawing/2014/main" id="{CC0DDECD-12EB-0B2B-7556-915167EF8029}"/>
              </a:ext>
            </a:extLst>
          </p:cNvPr>
          <p:cNvSpPr/>
          <p:nvPr/>
        </p:nvSpPr>
        <p:spPr bwMode="auto">
          <a:xfrm rot="5400000">
            <a:off x="7526280" y="4056115"/>
            <a:ext cx="88392" cy="762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9537B1A-01D1-BA72-11E0-7FD82B74BCCC}"/>
              </a:ext>
            </a:extLst>
          </p:cNvPr>
          <p:cNvSpPr txBox="1"/>
          <p:nvPr/>
        </p:nvSpPr>
        <p:spPr>
          <a:xfrm rot="1800000">
            <a:off x="7322536" y="4284681"/>
            <a:ext cx="10527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/>
              <a:t>Reap itself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6476E20-3BCD-1746-AD97-D52D88C4681A}"/>
              </a:ext>
            </a:extLst>
          </p:cNvPr>
          <p:cNvSpPr txBox="1"/>
          <p:nvPr/>
        </p:nvSpPr>
        <p:spPr>
          <a:xfrm rot="19800000">
            <a:off x="7300159" y="2149177"/>
            <a:ext cx="1824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Reap ‘child’</a:t>
            </a:r>
          </a:p>
        </p:txBody>
      </p:sp>
      <p:sp>
        <p:nvSpPr>
          <p:cNvPr id="139" name="순서도: 판단 138">
            <a:extLst>
              <a:ext uri="{FF2B5EF4-FFF2-40B4-BE49-F238E27FC236}">
                <a16:creationId xmlns:a16="http://schemas.microsoft.com/office/drawing/2014/main" id="{5241CFB8-DE1A-EFB6-DE04-406276730637}"/>
              </a:ext>
            </a:extLst>
          </p:cNvPr>
          <p:cNvSpPr/>
          <p:nvPr/>
        </p:nvSpPr>
        <p:spPr bwMode="auto">
          <a:xfrm>
            <a:off x="2737981" y="2758906"/>
            <a:ext cx="227703" cy="155162"/>
          </a:xfrm>
          <a:prstGeom prst="flowChartDecisi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8C1A0AB1-34AC-84CD-66F8-90761188614E}"/>
              </a:ext>
            </a:extLst>
          </p:cNvPr>
          <p:cNvCxnSpPr>
            <a:stCxn id="139" idx="0"/>
          </p:cNvCxnSpPr>
          <p:nvPr/>
        </p:nvCxnSpPr>
        <p:spPr bwMode="auto">
          <a:xfrm flipH="1" flipV="1">
            <a:off x="2851832" y="2057399"/>
            <a:ext cx="1" cy="7015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9D54E586-3F5E-B8CD-2C6F-FD6DC17A8DFB}"/>
              </a:ext>
            </a:extLst>
          </p:cNvPr>
          <p:cNvSpPr txBox="1"/>
          <p:nvPr/>
        </p:nvSpPr>
        <p:spPr>
          <a:xfrm>
            <a:off x="800042" y="5863662"/>
            <a:ext cx="17315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child process to exit</a:t>
            </a:r>
            <a:endParaRPr lang="ko-KR" altLang="en-US" sz="120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B6AC570-ED34-F102-FEE4-B6D26E484D7D}"/>
              </a:ext>
            </a:extLst>
          </p:cNvPr>
          <p:cNvSpPr txBox="1"/>
          <p:nvPr/>
        </p:nvSpPr>
        <p:spPr>
          <a:xfrm>
            <a:off x="7267502" y="5863662"/>
            <a:ext cx="18893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Completely Destroyed</a:t>
            </a:r>
            <a:endParaRPr lang="ko-KR" altLang="en-US" sz="120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DDC540C-A612-0952-428B-9A3D6AC3FC61}"/>
              </a:ext>
            </a:extLst>
          </p:cNvPr>
          <p:cNvSpPr txBox="1"/>
          <p:nvPr/>
        </p:nvSpPr>
        <p:spPr>
          <a:xfrm>
            <a:off x="2627353" y="2222442"/>
            <a:ext cx="201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/>
              <a:t>F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910407C-931F-6105-B2FE-C1526E9E52C2}"/>
              </a:ext>
            </a:extLst>
          </p:cNvPr>
          <p:cNvSpPr txBox="1"/>
          <p:nvPr/>
        </p:nvSpPr>
        <p:spPr>
          <a:xfrm>
            <a:off x="2033906" y="1787018"/>
            <a:ext cx="14081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/>
              <a:t>return -1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0CF2F23-D99E-4EFC-45A4-5382672F5531}"/>
              </a:ext>
            </a:extLst>
          </p:cNvPr>
          <p:cNvSpPr txBox="1"/>
          <p:nvPr/>
        </p:nvSpPr>
        <p:spPr>
          <a:xfrm rot="1800000">
            <a:off x="4063545" y="4340105"/>
            <a:ext cx="391797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</a:rPr>
              <a:t>Set exit_status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94983DED-D5D7-F139-7EB1-7F5E91DAD1EE}"/>
              </a:ext>
            </a:extLst>
          </p:cNvPr>
          <p:cNvSpPr txBox="1"/>
          <p:nvPr/>
        </p:nvSpPr>
        <p:spPr>
          <a:xfrm rot="19800000">
            <a:off x="6670750" y="2149177"/>
            <a:ext cx="1824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</a:rPr>
              <a:t>Get exit_status</a:t>
            </a:r>
          </a:p>
        </p:txBody>
      </p:sp>
      <p:sp>
        <p:nvSpPr>
          <p:cNvPr id="53" name="곱하기 기호 52">
            <a:extLst>
              <a:ext uri="{FF2B5EF4-FFF2-40B4-BE49-F238E27FC236}">
                <a16:creationId xmlns:a16="http://schemas.microsoft.com/office/drawing/2014/main" id="{0EA4FF30-6199-9896-1126-51F3DC3A2262}"/>
              </a:ext>
            </a:extLst>
          </p:cNvPr>
          <p:cNvSpPr/>
          <p:nvPr/>
        </p:nvSpPr>
        <p:spPr bwMode="auto">
          <a:xfrm>
            <a:off x="7040696" y="3162228"/>
            <a:ext cx="461277" cy="461277"/>
          </a:xfrm>
          <a:prstGeom prst="mathMultiply">
            <a:avLst>
              <a:gd name="adj1" fmla="val 1360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E3F14C-3D2F-39DE-394D-F2A1BF421BD0}"/>
              </a:ext>
            </a:extLst>
          </p:cNvPr>
          <p:cNvSpPr txBox="1"/>
          <p:nvPr/>
        </p:nvSpPr>
        <p:spPr>
          <a:xfrm>
            <a:off x="6693964" y="3507103"/>
            <a:ext cx="11547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/>
              <a:t>never</a:t>
            </a:r>
          </a:p>
          <a:p>
            <a:pPr algn="ctr"/>
            <a:r>
              <a:rPr lang="en-US" altLang="ko-KR" sz="1050"/>
              <a:t>return</a:t>
            </a:r>
            <a:endParaRPr lang="ko-KR" altLang="en-US" sz="105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F7B80788-3D02-D579-492C-531C29F85DB2}"/>
              </a:ext>
            </a:extLst>
          </p:cNvPr>
          <p:cNvSpPr txBox="1"/>
          <p:nvPr/>
        </p:nvSpPr>
        <p:spPr>
          <a:xfrm>
            <a:off x="4404734" y="5863662"/>
            <a:ext cx="13764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zombie process</a:t>
            </a:r>
            <a:endParaRPr lang="ko-KR" altLang="en-US" sz="12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189EA06-FD61-8387-4A0D-CD0AB51B4A66}"/>
              </a:ext>
            </a:extLst>
          </p:cNvPr>
          <p:cNvSpPr/>
          <p:nvPr/>
        </p:nvSpPr>
        <p:spPr bwMode="auto">
          <a:xfrm>
            <a:off x="926633" y="4920993"/>
            <a:ext cx="1481763" cy="2769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2B991A2-C6F8-E5D8-EFFE-5B1F4C2A32EC}"/>
              </a:ext>
            </a:extLst>
          </p:cNvPr>
          <p:cNvSpPr/>
          <p:nvPr/>
        </p:nvSpPr>
        <p:spPr bwMode="auto">
          <a:xfrm>
            <a:off x="924671" y="5197998"/>
            <a:ext cx="1482306" cy="6095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5A279D-9E2B-1BC5-4935-1E72DC01E991}"/>
              </a:ext>
            </a:extLst>
          </p:cNvPr>
          <p:cNvSpPr txBox="1"/>
          <p:nvPr/>
        </p:nvSpPr>
        <p:spPr>
          <a:xfrm>
            <a:off x="120910" y="4920993"/>
            <a:ext cx="689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/>
              <a:t>thread</a:t>
            </a:r>
            <a:endParaRPr lang="ko-KR" altLang="en-US" sz="12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3D5112-0C53-3970-4121-162BA4B2EA4E}"/>
              </a:ext>
            </a:extLst>
          </p:cNvPr>
          <p:cNvSpPr txBox="1"/>
          <p:nvPr/>
        </p:nvSpPr>
        <p:spPr>
          <a:xfrm>
            <a:off x="80034" y="5301556"/>
            <a:ext cx="771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/>
              <a:t>process</a:t>
            </a:r>
          </a:p>
          <a:p>
            <a:pPr algn="ctr"/>
            <a:r>
              <a:rPr lang="en-US" altLang="ko-KR" sz="1200"/>
              <a:t>segs.</a:t>
            </a:r>
            <a:endParaRPr lang="ko-KR" altLang="en-US" sz="12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332FC91-C3D9-B771-3574-33ED9E0AE139}"/>
              </a:ext>
            </a:extLst>
          </p:cNvPr>
          <p:cNvSpPr/>
          <p:nvPr/>
        </p:nvSpPr>
        <p:spPr bwMode="auto">
          <a:xfrm>
            <a:off x="2473273" y="4920993"/>
            <a:ext cx="5059208" cy="2769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C52A295-6881-D4F2-DC44-16F00F8CFC82}"/>
              </a:ext>
            </a:extLst>
          </p:cNvPr>
          <p:cNvSpPr/>
          <p:nvPr/>
        </p:nvSpPr>
        <p:spPr bwMode="auto">
          <a:xfrm>
            <a:off x="2471311" y="5197998"/>
            <a:ext cx="5061062" cy="6095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64ACFBFF-F69B-C446-2260-7DD8600C06B7}"/>
              </a:ext>
            </a:extLst>
          </p:cNvPr>
          <p:cNvSpPr/>
          <p:nvPr/>
        </p:nvSpPr>
        <p:spPr bwMode="auto">
          <a:xfrm rot="5400000">
            <a:off x="1549384" y="3349770"/>
            <a:ext cx="88392" cy="762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4FAF8C-3052-7CC7-0AEC-906ECF1F263E}"/>
              </a:ext>
            </a:extLst>
          </p:cNvPr>
          <p:cNvSpPr txBox="1"/>
          <p:nvPr/>
        </p:nvSpPr>
        <p:spPr>
          <a:xfrm rot="1800000">
            <a:off x="1008046" y="2147340"/>
            <a:ext cx="2060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does target ‘child’ exist</a:t>
            </a:r>
            <a:endParaRPr lang="ko-KR" altLang="en-US" sz="120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DF78C22-34B6-4207-433D-710A18908ED1}"/>
              </a:ext>
            </a:extLst>
          </p:cNvPr>
          <p:cNvSpPr/>
          <p:nvPr/>
        </p:nvSpPr>
        <p:spPr bwMode="auto">
          <a:xfrm>
            <a:off x="4267199" y="5037212"/>
            <a:ext cx="3271607" cy="115580"/>
          </a:xfrm>
          <a:prstGeom prst="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17BDBEC1-2C2A-9C78-4204-38BA5835D381}"/>
              </a:ext>
            </a:extLst>
          </p:cNvPr>
          <p:cNvCxnSpPr>
            <a:cxnSpLocks/>
          </p:cNvCxnSpPr>
          <p:nvPr/>
        </p:nvCxnSpPr>
        <p:spPr bwMode="auto">
          <a:xfrm flipV="1">
            <a:off x="6926546" y="2914068"/>
            <a:ext cx="0" cy="220512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stealth"/>
          </a:ln>
          <a:effectLst/>
        </p:spPr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72351EDA-32ED-56A1-D952-F6D69A9FA012}"/>
              </a:ext>
            </a:extLst>
          </p:cNvPr>
          <p:cNvCxnSpPr>
            <a:cxnSpLocks/>
          </p:cNvCxnSpPr>
          <p:nvPr/>
        </p:nvCxnSpPr>
        <p:spPr bwMode="auto">
          <a:xfrm>
            <a:off x="4343400" y="3387868"/>
            <a:ext cx="0" cy="164934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/>
          </a:ln>
          <a:effectLst/>
        </p:spPr>
      </p:cxnSp>
      <p:sp>
        <p:nvSpPr>
          <p:cNvPr id="57" name="이등변 삼각형 56">
            <a:extLst>
              <a:ext uri="{FF2B5EF4-FFF2-40B4-BE49-F238E27FC236}">
                <a16:creationId xmlns:a16="http://schemas.microsoft.com/office/drawing/2014/main" id="{90EA6A3D-8E89-A67D-9970-B300371C2868}"/>
              </a:ext>
            </a:extLst>
          </p:cNvPr>
          <p:cNvSpPr/>
          <p:nvPr/>
        </p:nvSpPr>
        <p:spPr bwMode="auto">
          <a:xfrm rot="5400000">
            <a:off x="4261104" y="3349771"/>
            <a:ext cx="88392" cy="762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8" name="이등변 삼각형 57">
            <a:extLst>
              <a:ext uri="{FF2B5EF4-FFF2-40B4-BE49-F238E27FC236}">
                <a16:creationId xmlns:a16="http://schemas.microsoft.com/office/drawing/2014/main" id="{4E929705-5046-766D-0331-1A3C40E988F6}"/>
              </a:ext>
            </a:extLst>
          </p:cNvPr>
          <p:cNvSpPr/>
          <p:nvPr/>
        </p:nvSpPr>
        <p:spPr bwMode="auto">
          <a:xfrm rot="5400000">
            <a:off x="6917041" y="2806589"/>
            <a:ext cx="88392" cy="762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C008B4C-5AB3-A040-370C-255ABDB910D7}"/>
              </a:ext>
            </a:extLst>
          </p:cNvPr>
          <p:cNvSpPr txBox="1"/>
          <p:nvPr/>
        </p:nvSpPr>
        <p:spPr>
          <a:xfrm>
            <a:off x="3421091" y="4944079"/>
            <a:ext cx="9012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</a:rPr>
              <a:t>exit_status</a:t>
            </a:r>
            <a:endParaRPr lang="ko-KR" altLang="en-US" sz="1000">
              <a:solidFill>
                <a:srgbClr val="FF0000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F2F704F-E355-FDAA-79CB-347287E5E5F3}"/>
              </a:ext>
            </a:extLst>
          </p:cNvPr>
          <p:cNvSpPr/>
          <p:nvPr/>
        </p:nvSpPr>
        <p:spPr bwMode="auto">
          <a:xfrm>
            <a:off x="7626801" y="4920993"/>
            <a:ext cx="1290088" cy="2769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86B2713-DBE5-CDF1-4D46-635E93B2DF1F}"/>
              </a:ext>
            </a:extLst>
          </p:cNvPr>
          <p:cNvSpPr/>
          <p:nvPr/>
        </p:nvSpPr>
        <p:spPr bwMode="auto">
          <a:xfrm>
            <a:off x="7624839" y="5197998"/>
            <a:ext cx="1290561" cy="6095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15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49A7B2-D4EA-82FB-1F7D-A0BA2B274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/>
              <a:t>Implementation WAIT, EXIT Syscall</a:t>
            </a:r>
            <a:endParaRPr lang="ko-KR" altLang="en-US" sz="320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EFB78D5-7DF7-7AF7-5338-987A053B291C}"/>
              </a:ext>
            </a:extLst>
          </p:cNvPr>
          <p:cNvSpPr/>
          <p:nvPr/>
        </p:nvSpPr>
        <p:spPr bwMode="auto">
          <a:xfrm>
            <a:off x="581427" y="2154202"/>
            <a:ext cx="3352800" cy="1600200"/>
          </a:xfrm>
          <a:prstGeom prst="rect">
            <a:avLst/>
          </a:prstGeom>
          <a:solidFill>
            <a:srgbClr val="1F1F1F"/>
          </a:solidFill>
          <a:ln>
            <a:solidFill>
              <a:schemeClr val="accent3">
                <a:shade val="95000"/>
                <a:satMod val="10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enum thread_status</a:t>
            </a:r>
          </a:p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  {</a:t>
            </a:r>
          </a:p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>
                <a:solidFill>
                  <a:srgbClr val="CCFFFF"/>
                </a:solidFill>
                <a:latin typeface="Consolas" panose="020B0609020204030204" pitchFamily="49" charset="0"/>
              </a:rPr>
              <a:t>THREAD_RUNNING,</a:t>
            </a:r>
          </a:p>
          <a:p>
            <a:r>
              <a:rPr lang="en-US" altLang="ko-KR" sz="1200">
                <a:solidFill>
                  <a:srgbClr val="CCFFFF"/>
                </a:solidFill>
                <a:latin typeface="Consolas" panose="020B0609020204030204" pitchFamily="49" charset="0"/>
              </a:rPr>
              <a:t>    THREAD_READY</a:t>
            </a:r>
          </a:p>
          <a:p>
            <a:r>
              <a:rPr lang="en-US" altLang="ko-KR" sz="1200">
                <a:solidFill>
                  <a:srgbClr val="CCFFFF"/>
                </a:solidFill>
                <a:latin typeface="Consolas" panose="020B0609020204030204" pitchFamily="49" charset="0"/>
              </a:rPr>
              <a:t>    THREAD_BLOCKED</a:t>
            </a:r>
          </a:p>
          <a:p>
            <a:r>
              <a:rPr lang="en-US" altLang="ko-KR" sz="1200">
                <a:solidFill>
                  <a:srgbClr val="CCFFFF"/>
                </a:solidFill>
                <a:latin typeface="Consolas" panose="020B0609020204030204" pitchFamily="49" charset="0"/>
              </a:rPr>
              <a:t>    THREAD_DYING,</a:t>
            </a:r>
          </a:p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>
                <a:solidFill>
                  <a:srgbClr val="00B0F0"/>
                </a:solidFill>
                <a:latin typeface="Consolas" panose="020B0609020204030204" pitchFamily="49" charset="0"/>
              </a:rPr>
              <a:t>THREAD_ZOMBIE </a:t>
            </a:r>
            <a:r>
              <a:rPr lang="en-US" altLang="ko-KR" sz="1200">
                <a:solidFill>
                  <a:srgbClr val="00B050"/>
                </a:solidFill>
                <a:latin typeface="Consolas" panose="020B0609020204030204" pitchFamily="49" charset="0"/>
              </a:rPr>
              <a:t>// [+]   </a:t>
            </a:r>
          </a:p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  };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EAC55F0-5726-B0F1-ECA4-3B80CC329BA9}"/>
              </a:ext>
            </a:extLst>
          </p:cNvPr>
          <p:cNvSpPr/>
          <p:nvPr/>
        </p:nvSpPr>
        <p:spPr bwMode="auto">
          <a:xfrm>
            <a:off x="581427" y="4314554"/>
            <a:ext cx="3352800" cy="1219200"/>
          </a:xfrm>
          <a:prstGeom prst="rect">
            <a:avLst/>
          </a:prstGeom>
          <a:solidFill>
            <a:srgbClr val="1F1F1F"/>
          </a:solidFill>
          <a:ln>
            <a:solidFill>
              <a:schemeClr val="accent3">
                <a:shade val="95000"/>
                <a:satMod val="10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struct thread {</a:t>
            </a:r>
          </a:p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    ...</a:t>
            </a:r>
          </a:p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    struct semaphore </a:t>
            </a:r>
            <a:r>
              <a:rPr lang="en-US" altLang="ko-KR" sz="1200">
                <a:solidFill>
                  <a:srgbClr val="92D050"/>
                </a:solidFill>
                <a:latin typeface="Consolas" panose="020B0609020204030204" pitchFamily="49" charset="0"/>
              </a:rPr>
              <a:t>sema_sys_wait</a:t>
            </a:r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    int </a:t>
            </a:r>
            <a:r>
              <a:rPr lang="en-US" altLang="ko-KR" sz="1200">
                <a:solidFill>
                  <a:srgbClr val="92D050"/>
                </a:solidFill>
                <a:latin typeface="Consolas" panose="020B0609020204030204" pitchFamily="49" charset="0"/>
              </a:rPr>
              <a:t>exit_status</a:t>
            </a:r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    ... </a:t>
            </a:r>
          </a:p>
          <a:p>
            <a:r>
              <a:rPr lang="en-US" altLang="ko-KR" sz="12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};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26E6CF34-B1D7-141E-2891-5CA7CB64D725}"/>
              </a:ext>
            </a:extLst>
          </p:cNvPr>
          <p:cNvGrpSpPr/>
          <p:nvPr/>
        </p:nvGrpSpPr>
        <p:grpSpPr>
          <a:xfrm>
            <a:off x="5105400" y="2569441"/>
            <a:ext cx="700834" cy="415498"/>
            <a:chOff x="5239252" y="3112495"/>
            <a:chExt cx="1080427" cy="415498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BB4740FA-76B1-BBF2-C757-C9C9D9CEEA92}"/>
                </a:ext>
              </a:extLst>
            </p:cNvPr>
            <p:cNvSpPr/>
            <p:nvPr/>
          </p:nvSpPr>
          <p:spPr bwMode="auto">
            <a:xfrm>
              <a:off x="5271489" y="3144129"/>
              <a:ext cx="1015953" cy="336582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rgbClr val="CCFFFF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18BF293-D0BE-5D13-2543-04C08A8E797A}"/>
                </a:ext>
              </a:extLst>
            </p:cNvPr>
            <p:cNvSpPr txBox="1"/>
            <p:nvPr/>
          </p:nvSpPr>
          <p:spPr>
            <a:xfrm>
              <a:off x="5239252" y="3112495"/>
              <a:ext cx="1080427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50">
                  <a:solidFill>
                    <a:srgbClr val="CCFFFF"/>
                  </a:solidFill>
                  <a:latin typeface="Consolas" panose="020B0609020204030204" pitchFamily="49" charset="0"/>
                </a:rPr>
                <a:t>THREAD_</a:t>
              </a:r>
            </a:p>
            <a:p>
              <a:pPr algn="ctr"/>
              <a:r>
                <a:rPr lang="en-US" altLang="ko-KR" sz="1050">
                  <a:solidFill>
                    <a:srgbClr val="CCFFFF"/>
                  </a:solidFill>
                  <a:latin typeface="Consolas" panose="020B0609020204030204" pitchFamily="49" charset="0"/>
                </a:rPr>
                <a:t>READY</a:t>
              </a:r>
              <a:endParaRPr lang="ko-KR" altLang="en-US" sz="1050">
                <a:solidFill>
                  <a:srgbClr val="CCFFFF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67A6DC85-BA84-B99F-4FAA-520282909C0B}"/>
              </a:ext>
            </a:extLst>
          </p:cNvPr>
          <p:cNvGrpSpPr/>
          <p:nvPr/>
        </p:nvGrpSpPr>
        <p:grpSpPr>
          <a:xfrm>
            <a:off x="6087254" y="2569441"/>
            <a:ext cx="700834" cy="415498"/>
            <a:chOff x="5239252" y="3112495"/>
            <a:chExt cx="1080427" cy="415498"/>
          </a:xfrm>
        </p:grpSpPr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5FF123E0-79EF-E63C-97A3-95E5AC5C664E}"/>
                </a:ext>
              </a:extLst>
            </p:cNvPr>
            <p:cNvSpPr/>
            <p:nvPr/>
          </p:nvSpPr>
          <p:spPr bwMode="auto">
            <a:xfrm>
              <a:off x="5271489" y="3144129"/>
              <a:ext cx="1015953" cy="336582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rgbClr val="CCFFFF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4E96C49-BA17-E6C0-7686-7C8C0A09CEC7}"/>
                </a:ext>
              </a:extLst>
            </p:cNvPr>
            <p:cNvSpPr txBox="1"/>
            <p:nvPr/>
          </p:nvSpPr>
          <p:spPr>
            <a:xfrm>
              <a:off x="5239252" y="3112495"/>
              <a:ext cx="1080427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50">
                  <a:solidFill>
                    <a:srgbClr val="CCFFFF"/>
                  </a:solidFill>
                  <a:latin typeface="Consolas" panose="020B0609020204030204" pitchFamily="49" charset="0"/>
                </a:rPr>
                <a:t>THREAD_</a:t>
              </a:r>
            </a:p>
            <a:p>
              <a:pPr algn="ctr"/>
              <a:r>
                <a:rPr lang="en-US" altLang="ko-KR" sz="1050">
                  <a:solidFill>
                    <a:srgbClr val="CCFFFF"/>
                  </a:solidFill>
                  <a:latin typeface="Consolas" panose="020B0609020204030204" pitchFamily="49" charset="0"/>
                </a:rPr>
                <a:t>RUNNING</a:t>
              </a:r>
              <a:endParaRPr lang="ko-KR" altLang="en-US" sz="1050">
                <a:solidFill>
                  <a:srgbClr val="CCFFFF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94C3AAB3-8ED1-C687-3585-4930FBE8A4C9}"/>
              </a:ext>
            </a:extLst>
          </p:cNvPr>
          <p:cNvGrpSpPr/>
          <p:nvPr/>
        </p:nvGrpSpPr>
        <p:grpSpPr>
          <a:xfrm>
            <a:off x="5105399" y="3274078"/>
            <a:ext cx="700834" cy="415498"/>
            <a:chOff x="5239252" y="3112495"/>
            <a:chExt cx="1080427" cy="415498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2C6C5BA3-2DA9-7758-DA10-49E2E0060261}"/>
                </a:ext>
              </a:extLst>
            </p:cNvPr>
            <p:cNvSpPr/>
            <p:nvPr/>
          </p:nvSpPr>
          <p:spPr bwMode="auto">
            <a:xfrm>
              <a:off x="5271489" y="3144129"/>
              <a:ext cx="1015953" cy="336582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rgbClr val="CCFFFF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CC751C4-DE18-44FB-1192-B2B7E261125B}"/>
                </a:ext>
              </a:extLst>
            </p:cNvPr>
            <p:cNvSpPr txBox="1"/>
            <p:nvPr/>
          </p:nvSpPr>
          <p:spPr>
            <a:xfrm>
              <a:off x="5239252" y="3112495"/>
              <a:ext cx="1080427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50">
                  <a:solidFill>
                    <a:srgbClr val="CCFFFF"/>
                  </a:solidFill>
                  <a:latin typeface="Consolas" panose="020B0609020204030204" pitchFamily="49" charset="0"/>
                </a:rPr>
                <a:t>THREAD_</a:t>
              </a:r>
            </a:p>
            <a:p>
              <a:pPr algn="ctr"/>
              <a:r>
                <a:rPr lang="en-US" altLang="ko-KR" sz="1050">
                  <a:solidFill>
                    <a:srgbClr val="CCFFFF"/>
                  </a:solidFill>
                  <a:latin typeface="Consolas" panose="020B0609020204030204" pitchFamily="49" charset="0"/>
                </a:rPr>
                <a:t>BLOCKED</a:t>
              </a:r>
              <a:endParaRPr lang="ko-KR" altLang="en-US" sz="1050">
                <a:solidFill>
                  <a:srgbClr val="CCFFFF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2663C289-085F-07C8-E4A0-19FE074266D4}"/>
              </a:ext>
            </a:extLst>
          </p:cNvPr>
          <p:cNvGrpSpPr/>
          <p:nvPr/>
        </p:nvGrpSpPr>
        <p:grpSpPr>
          <a:xfrm>
            <a:off x="7042589" y="2563345"/>
            <a:ext cx="700834" cy="415498"/>
            <a:chOff x="5239252" y="3112495"/>
            <a:chExt cx="1080427" cy="415498"/>
          </a:xfrm>
        </p:grpSpPr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7AA4CC47-C61C-E7E6-244A-1F7347875F22}"/>
                </a:ext>
              </a:extLst>
            </p:cNvPr>
            <p:cNvSpPr/>
            <p:nvPr/>
          </p:nvSpPr>
          <p:spPr bwMode="auto">
            <a:xfrm>
              <a:off x="5271489" y="3144129"/>
              <a:ext cx="1015953" cy="336582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74FFE1F-A904-E417-7A75-EAFD8E1A80F9}"/>
                </a:ext>
              </a:extLst>
            </p:cNvPr>
            <p:cNvSpPr txBox="1"/>
            <p:nvPr/>
          </p:nvSpPr>
          <p:spPr>
            <a:xfrm>
              <a:off x="5239252" y="3112495"/>
              <a:ext cx="1080427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50">
                  <a:solidFill>
                    <a:srgbClr val="00B0F0"/>
                  </a:solidFill>
                  <a:latin typeface="Consolas" panose="020B0609020204030204" pitchFamily="49" charset="0"/>
                </a:rPr>
                <a:t>THREAD_</a:t>
              </a:r>
            </a:p>
            <a:p>
              <a:pPr algn="ctr"/>
              <a:r>
                <a:rPr lang="en-US" altLang="ko-KR" sz="1050">
                  <a:solidFill>
                    <a:srgbClr val="00B0F0"/>
                  </a:solidFill>
                  <a:latin typeface="Consolas" panose="020B0609020204030204" pitchFamily="49" charset="0"/>
                </a:rPr>
                <a:t>ZOMBIE</a:t>
              </a:r>
              <a:endParaRPr lang="ko-KR" altLang="en-US" sz="1050">
                <a:solidFill>
                  <a:srgbClr val="00B0F0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6072893E-643F-9A83-6206-B3ADE003A37A}"/>
              </a:ext>
            </a:extLst>
          </p:cNvPr>
          <p:cNvSpPr/>
          <p:nvPr/>
        </p:nvSpPr>
        <p:spPr bwMode="auto">
          <a:xfrm>
            <a:off x="4196452" y="2642408"/>
            <a:ext cx="627928" cy="25391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D3624BC-D003-5DF0-491F-ED539F550642}"/>
              </a:ext>
            </a:extLst>
          </p:cNvPr>
          <p:cNvSpPr txBox="1"/>
          <p:nvPr/>
        </p:nvSpPr>
        <p:spPr>
          <a:xfrm>
            <a:off x="4267080" y="2642408"/>
            <a:ext cx="4988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</a:t>
            </a:r>
            <a:endParaRPr lang="ko-KR" altLang="en-US" sz="105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4C9ECE47-D56B-CCF8-6D4B-80AC623DCDEF}"/>
              </a:ext>
            </a:extLst>
          </p:cNvPr>
          <p:cNvGrpSpPr/>
          <p:nvPr/>
        </p:nvGrpSpPr>
        <p:grpSpPr>
          <a:xfrm>
            <a:off x="7997924" y="2563345"/>
            <a:ext cx="700834" cy="415498"/>
            <a:chOff x="5239252" y="3112495"/>
            <a:chExt cx="1080427" cy="415498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A1AD71FE-81F6-30BE-9667-F29833F3BC8E}"/>
                </a:ext>
              </a:extLst>
            </p:cNvPr>
            <p:cNvSpPr/>
            <p:nvPr/>
          </p:nvSpPr>
          <p:spPr bwMode="auto">
            <a:xfrm>
              <a:off x="5271489" y="3144129"/>
              <a:ext cx="1015953" cy="336582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rgbClr val="CCFFFF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BF60D4A-6453-FED8-7E29-8222D34C952F}"/>
                </a:ext>
              </a:extLst>
            </p:cNvPr>
            <p:cNvSpPr txBox="1"/>
            <p:nvPr/>
          </p:nvSpPr>
          <p:spPr>
            <a:xfrm>
              <a:off x="5239252" y="3112495"/>
              <a:ext cx="1080427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50">
                  <a:solidFill>
                    <a:srgbClr val="CCFFFF"/>
                  </a:solidFill>
                  <a:latin typeface="Consolas" panose="020B0609020204030204" pitchFamily="49" charset="0"/>
                </a:rPr>
                <a:t>THREAD_</a:t>
              </a:r>
            </a:p>
            <a:p>
              <a:pPr algn="ctr"/>
              <a:r>
                <a:rPr lang="en-US" altLang="ko-KR" sz="1050">
                  <a:solidFill>
                    <a:srgbClr val="CCFFFF"/>
                  </a:solidFill>
                  <a:latin typeface="Consolas" panose="020B0609020204030204" pitchFamily="49" charset="0"/>
                </a:rPr>
                <a:t>DYING</a:t>
              </a:r>
              <a:endParaRPr lang="ko-KR" altLang="en-US" sz="1050">
                <a:solidFill>
                  <a:srgbClr val="CCFFFF"/>
                </a:solidFill>
                <a:latin typeface="Consolas" panose="020B0609020204030204" pitchFamily="49" charset="0"/>
              </a:endParaRPr>
            </a:p>
          </p:txBody>
        </p:sp>
      </p:grp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B9399963-19EE-B7B9-8356-0ED5F0B5D2E8}"/>
              </a:ext>
            </a:extLst>
          </p:cNvPr>
          <p:cNvCxnSpPr>
            <a:cxnSpLocks/>
            <a:stCxn id="88" idx="3"/>
          </p:cNvCxnSpPr>
          <p:nvPr/>
        </p:nvCxnSpPr>
        <p:spPr bwMode="auto">
          <a:xfrm>
            <a:off x="4824380" y="2769366"/>
            <a:ext cx="28101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3F93C929-E2F8-B38F-7797-E64D4AB8371F}"/>
              </a:ext>
            </a:extLst>
          </p:cNvPr>
          <p:cNvCxnSpPr>
            <a:cxnSpLocks/>
          </p:cNvCxnSpPr>
          <p:nvPr/>
        </p:nvCxnSpPr>
        <p:spPr bwMode="auto">
          <a:xfrm flipH="1">
            <a:off x="5806234" y="2798041"/>
            <a:ext cx="30193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9BD45890-9D65-9F96-81D9-02F99672298C}"/>
              </a:ext>
            </a:extLst>
          </p:cNvPr>
          <p:cNvCxnSpPr>
            <a:cxnSpLocks/>
          </p:cNvCxnSpPr>
          <p:nvPr/>
        </p:nvCxnSpPr>
        <p:spPr bwMode="auto">
          <a:xfrm>
            <a:off x="6767177" y="2769366"/>
            <a:ext cx="30193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BF916B53-6DD5-07BE-A4C6-8C9E5E9B7604}"/>
              </a:ext>
            </a:extLst>
          </p:cNvPr>
          <p:cNvCxnSpPr>
            <a:cxnSpLocks/>
          </p:cNvCxnSpPr>
          <p:nvPr/>
        </p:nvCxnSpPr>
        <p:spPr bwMode="auto">
          <a:xfrm>
            <a:off x="7716904" y="2769366"/>
            <a:ext cx="30193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617CEBA6-E739-0F0C-026B-03C950E811C5}"/>
              </a:ext>
            </a:extLst>
          </p:cNvPr>
          <p:cNvCxnSpPr>
            <a:stCxn id="79" idx="2"/>
            <a:endCxn id="83" idx="3"/>
          </p:cNvCxnSpPr>
          <p:nvPr/>
        </p:nvCxnSpPr>
        <p:spPr bwMode="auto">
          <a:xfrm flipH="1">
            <a:off x="5806233" y="2984939"/>
            <a:ext cx="631438" cy="4968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CB0F4AC7-D0E9-4187-AB42-C99D9EF0335F}"/>
              </a:ext>
            </a:extLst>
          </p:cNvPr>
          <p:cNvCxnSpPr>
            <a:stCxn id="83" idx="0"/>
            <a:endCxn id="70" idx="2"/>
          </p:cNvCxnSpPr>
          <p:nvPr/>
        </p:nvCxnSpPr>
        <p:spPr bwMode="auto">
          <a:xfrm flipV="1">
            <a:off x="5455816" y="2984939"/>
            <a:ext cx="1" cy="2891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76D2ACB6-D595-2906-DA18-C5159236E609}"/>
              </a:ext>
            </a:extLst>
          </p:cNvPr>
          <p:cNvSpPr/>
          <p:nvPr/>
        </p:nvSpPr>
        <p:spPr bwMode="auto">
          <a:xfrm>
            <a:off x="4869019" y="4478503"/>
            <a:ext cx="3706656" cy="4604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DEB4A49E-13EB-7A1A-FBE2-56B4ED57876D}"/>
              </a:ext>
            </a:extLst>
          </p:cNvPr>
          <p:cNvCxnSpPr>
            <a:cxnSpLocks/>
            <a:endCxn id="108" idx="1"/>
          </p:cNvCxnSpPr>
          <p:nvPr/>
        </p:nvCxnSpPr>
        <p:spPr bwMode="auto">
          <a:xfrm flipV="1">
            <a:off x="3735197" y="4708742"/>
            <a:ext cx="1133822" cy="11393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oval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E9D3B7F7-91E0-F159-F359-A44E900D177B}"/>
              </a:ext>
            </a:extLst>
          </p:cNvPr>
          <p:cNvSpPr txBox="1"/>
          <p:nvPr/>
        </p:nvSpPr>
        <p:spPr>
          <a:xfrm>
            <a:off x="4953000" y="4536492"/>
            <a:ext cx="35493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Semaphore for conditional synchronization.</a:t>
            </a:r>
            <a:endParaRPr lang="ko-KR" altLang="en-US" sz="1200"/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2AD289F4-6B1B-0A5C-0E8B-6A3672C8754A}"/>
              </a:ext>
            </a:extLst>
          </p:cNvPr>
          <p:cNvSpPr/>
          <p:nvPr/>
        </p:nvSpPr>
        <p:spPr bwMode="auto">
          <a:xfrm>
            <a:off x="4869019" y="5150403"/>
            <a:ext cx="3706656" cy="4604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A70B84FC-4ECF-C3FB-4C1E-4AE23BE7ED40}"/>
              </a:ext>
            </a:extLst>
          </p:cNvPr>
          <p:cNvCxnSpPr>
            <a:cxnSpLocks/>
            <a:endCxn id="114" idx="1"/>
          </p:cNvCxnSpPr>
          <p:nvPr/>
        </p:nvCxnSpPr>
        <p:spPr bwMode="auto">
          <a:xfrm>
            <a:off x="2492629" y="5000354"/>
            <a:ext cx="2376390" cy="3802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oval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7133AFBA-3CF0-E8DB-D08E-1E40AD200B64}"/>
              </a:ext>
            </a:extLst>
          </p:cNvPr>
          <p:cNvSpPr txBox="1"/>
          <p:nvPr/>
        </p:nvSpPr>
        <p:spPr>
          <a:xfrm>
            <a:off x="4953000" y="5153655"/>
            <a:ext cx="3549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Shared variable storing exit status of child process</a:t>
            </a:r>
            <a:endParaRPr lang="ko-KR" altLang="en-US" sz="1200"/>
          </a:p>
        </p:txBody>
      </p:sp>
      <p:sp>
        <p:nvSpPr>
          <p:cNvPr id="123" name="원호 122">
            <a:extLst>
              <a:ext uri="{FF2B5EF4-FFF2-40B4-BE49-F238E27FC236}">
                <a16:creationId xmlns:a16="http://schemas.microsoft.com/office/drawing/2014/main" id="{D35B5560-6EE4-CE9E-CA48-B94B54822282}"/>
              </a:ext>
            </a:extLst>
          </p:cNvPr>
          <p:cNvSpPr/>
          <p:nvPr/>
        </p:nvSpPr>
        <p:spPr bwMode="auto">
          <a:xfrm>
            <a:off x="7362423" y="2362281"/>
            <a:ext cx="762000" cy="381000"/>
          </a:xfrm>
          <a:prstGeom prst="arc">
            <a:avLst>
              <a:gd name="adj1" fmla="val 16200000"/>
              <a:gd name="adj2" fmla="val 2100905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24" name="원호 123">
            <a:extLst>
              <a:ext uri="{FF2B5EF4-FFF2-40B4-BE49-F238E27FC236}">
                <a16:creationId xmlns:a16="http://schemas.microsoft.com/office/drawing/2014/main" id="{F71F7CA9-6750-E25A-4987-C8F349ABBB17}"/>
              </a:ext>
            </a:extLst>
          </p:cNvPr>
          <p:cNvSpPr/>
          <p:nvPr/>
        </p:nvSpPr>
        <p:spPr bwMode="auto">
          <a:xfrm flipH="1">
            <a:off x="6700403" y="2362281"/>
            <a:ext cx="762000" cy="381000"/>
          </a:xfrm>
          <a:prstGeom prst="arc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D2918729-9193-96F5-662D-1559C26D5ACF}"/>
              </a:ext>
            </a:extLst>
          </p:cNvPr>
          <p:cNvCxnSpPr>
            <a:cxnSpLocks/>
            <a:endCxn id="123" idx="0"/>
          </p:cNvCxnSpPr>
          <p:nvPr/>
        </p:nvCxnSpPr>
        <p:spPr bwMode="auto">
          <a:xfrm>
            <a:off x="7081403" y="2362281"/>
            <a:ext cx="6620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74DC20CA-C766-B1A3-FBB2-B1AC72498DF9}"/>
              </a:ext>
            </a:extLst>
          </p:cNvPr>
          <p:cNvCxnSpPr>
            <a:cxnSpLocks/>
          </p:cNvCxnSpPr>
          <p:nvPr/>
        </p:nvCxnSpPr>
        <p:spPr bwMode="auto">
          <a:xfrm>
            <a:off x="8099023" y="2477431"/>
            <a:ext cx="44951" cy="663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2982BC93-5683-077B-4E68-98C517DE5638}"/>
              </a:ext>
            </a:extLst>
          </p:cNvPr>
          <p:cNvCxnSpPr>
            <a:cxnSpLocks/>
          </p:cNvCxnSpPr>
          <p:nvPr/>
        </p:nvCxnSpPr>
        <p:spPr bwMode="auto">
          <a:xfrm>
            <a:off x="5785322" y="2721841"/>
            <a:ext cx="30193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780489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4341DF-25A5-FC49-322E-331ED7DB9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CF2B53CE-D9E8-1061-0964-3F5D4E2962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28"/>
          <a:stretch>
            <a:fillRect/>
          </a:stretch>
        </p:blipFill>
        <p:spPr>
          <a:xfrm>
            <a:off x="4674422" y="2138057"/>
            <a:ext cx="1244422" cy="2848297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01BF728A-B30D-7357-398E-E5D92261F665}"/>
              </a:ext>
            </a:extLst>
          </p:cNvPr>
          <p:cNvSpPr/>
          <p:nvPr/>
        </p:nvSpPr>
        <p:spPr bwMode="auto">
          <a:xfrm>
            <a:off x="4677793" y="3175710"/>
            <a:ext cx="1249933" cy="592734"/>
          </a:xfrm>
          <a:prstGeom prst="rect">
            <a:avLst/>
          </a:prstGeom>
          <a:solidFill>
            <a:schemeClr val="tx1"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58F636-F840-DB92-944E-65C4A52E4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245" y="2133350"/>
            <a:ext cx="1244422" cy="158974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496464D-D340-4750-4193-43301686C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/>
              <a:t>Implementation WAIT, EXIT Syscall</a:t>
            </a:r>
            <a:endParaRPr lang="ko-KR" altLang="en-US" sz="3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168E399-26D9-8AA8-F211-A21DDB11B8B7}"/>
              </a:ext>
            </a:extLst>
          </p:cNvPr>
          <p:cNvSpPr/>
          <p:nvPr/>
        </p:nvSpPr>
        <p:spPr bwMode="auto">
          <a:xfrm>
            <a:off x="4677794" y="3768444"/>
            <a:ext cx="1249933" cy="12565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AF021F1-5959-1DAA-E5EF-D7D4AD03D20B}"/>
              </a:ext>
            </a:extLst>
          </p:cNvPr>
          <p:cNvSpPr/>
          <p:nvPr/>
        </p:nvSpPr>
        <p:spPr bwMode="auto">
          <a:xfrm>
            <a:off x="4677794" y="4267200"/>
            <a:ext cx="1249933" cy="51608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65A63A-FECC-8EC2-1F4B-0F7291FB9EF7}"/>
              </a:ext>
            </a:extLst>
          </p:cNvPr>
          <p:cNvSpPr/>
          <p:nvPr/>
        </p:nvSpPr>
        <p:spPr bwMode="auto">
          <a:xfrm>
            <a:off x="4677793" y="2133599"/>
            <a:ext cx="1249933" cy="670897"/>
          </a:xfrm>
          <a:prstGeom prst="rect">
            <a:avLst/>
          </a:prstGeom>
          <a:solidFill>
            <a:schemeClr val="tx1"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EAAAAF-1CC6-81FC-D4E2-9CCFD45EB17C}"/>
              </a:ext>
            </a:extLst>
          </p:cNvPr>
          <p:cNvSpPr txBox="1"/>
          <p:nvPr/>
        </p:nvSpPr>
        <p:spPr>
          <a:xfrm>
            <a:off x="2891752" y="1751410"/>
            <a:ext cx="1386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pc="-150">
                <a:latin typeface="Consolas" panose="020B0609020204030204" pitchFamily="49" charset="0"/>
              </a:rPr>
              <a:t>process_wait ()</a:t>
            </a:r>
            <a:endParaRPr lang="ko-KR" altLang="en-US" sz="1400" b="1" spc="-150">
              <a:latin typeface="Consolas" panose="020B06090202040302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3348EE-147A-8AF4-71A8-5375EDBB8457}"/>
              </a:ext>
            </a:extLst>
          </p:cNvPr>
          <p:cNvSpPr txBox="1"/>
          <p:nvPr/>
        </p:nvSpPr>
        <p:spPr>
          <a:xfrm>
            <a:off x="4560954" y="1751410"/>
            <a:ext cx="1386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pc="-150">
                <a:latin typeface="Consolas" panose="020B0609020204030204" pitchFamily="49" charset="0"/>
              </a:rPr>
              <a:t>process_exit ()</a:t>
            </a:r>
            <a:endParaRPr lang="ko-KR" altLang="en-US" sz="1400" b="1" spc="-150"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860F4C2-AFB5-7915-685D-F30240BC7B4D}"/>
              </a:ext>
            </a:extLst>
          </p:cNvPr>
          <p:cNvSpPr/>
          <p:nvPr/>
        </p:nvSpPr>
        <p:spPr bwMode="auto">
          <a:xfrm>
            <a:off x="2960245" y="3035585"/>
            <a:ext cx="1249933" cy="85291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24CE525-C39B-AF7C-8617-E20E9A8FA868}"/>
              </a:ext>
            </a:extLst>
          </p:cNvPr>
          <p:cNvSpPr/>
          <p:nvPr/>
        </p:nvSpPr>
        <p:spPr bwMode="auto">
          <a:xfrm>
            <a:off x="2960245" y="3200535"/>
            <a:ext cx="1249933" cy="32636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B823D92-4D13-CCF5-C6D2-8A8248BF7078}"/>
              </a:ext>
            </a:extLst>
          </p:cNvPr>
          <p:cNvSpPr/>
          <p:nvPr/>
        </p:nvSpPr>
        <p:spPr bwMode="auto">
          <a:xfrm>
            <a:off x="2952622" y="2133600"/>
            <a:ext cx="1249933" cy="899599"/>
          </a:xfrm>
          <a:prstGeom prst="rect">
            <a:avLst/>
          </a:prstGeom>
          <a:solidFill>
            <a:schemeClr val="tx1"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AEB0AB1-5E0C-598E-64BB-7E9F1DB080BC}"/>
              </a:ext>
            </a:extLst>
          </p:cNvPr>
          <p:cNvSpPr/>
          <p:nvPr/>
        </p:nvSpPr>
        <p:spPr bwMode="auto">
          <a:xfrm>
            <a:off x="2959175" y="3129723"/>
            <a:ext cx="1249933" cy="70811"/>
          </a:xfrm>
          <a:prstGeom prst="rect">
            <a:avLst/>
          </a:prstGeom>
          <a:solidFill>
            <a:schemeClr val="tx1"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B6BB532-9C2E-61C5-86EF-F083FF3C1D8A}"/>
              </a:ext>
            </a:extLst>
          </p:cNvPr>
          <p:cNvSpPr/>
          <p:nvPr/>
        </p:nvSpPr>
        <p:spPr bwMode="auto">
          <a:xfrm>
            <a:off x="2952622" y="3538978"/>
            <a:ext cx="1249933" cy="177019"/>
          </a:xfrm>
          <a:prstGeom prst="rect">
            <a:avLst/>
          </a:prstGeom>
          <a:solidFill>
            <a:schemeClr val="tx1"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876D8EA-8007-94E6-9723-2CC4D50244AF}"/>
              </a:ext>
            </a:extLst>
          </p:cNvPr>
          <p:cNvSpPr/>
          <p:nvPr/>
        </p:nvSpPr>
        <p:spPr bwMode="auto">
          <a:xfrm>
            <a:off x="228600" y="2807354"/>
            <a:ext cx="3352800" cy="263470"/>
          </a:xfrm>
          <a:prstGeom prst="rect">
            <a:avLst/>
          </a:prstGeom>
          <a:solidFill>
            <a:srgbClr val="1F1F1F"/>
          </a:solidFill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050">
                <a:solidFill>
                  <a:srgbClr val="FFFF00"/>
                </a:solidFill>
                <a:latin typeface="Consolas" panose="020B0609020204030204" pitchFamily="49" charset="0"/>
              </a:rPr>
              <a:t>sema_down 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(&amp;child-&gt;</a:t>
            </a:r>
            <a:r>
              <a:rPr lang="en-US" altLang="ko-KR" sz="1050">
                <a:solidFill>
                  <a:srgbClr val="92D050"/>
                </a:solidFill>
                <a:latin typeface="Consolas" panose="020B0609020204030204" pitchFamily="49" charset="0"/>
              </a:rPr>
              <a:t>sema_sys_wait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B6E1D0C-12A0-1C4B-E2B1-733B6A34EC38}"/>
              </a:ext>
            </a:extLst>
          </p:cNvPr>
          <p:cNvSpPr/>
          <p:nvPr/>
        </p:nvSpPr>
        <p:spPr bwMode="auto">
          <a:xfrm>
            <a:off x="228600" y="3363717"/>
            <a:ext cx="3352800" cy="944468"/>
          </a:xfrm>
          <a:prstGeom prst="rect">
            <a:avLst/>
          </a:prstGeom>
          <a:solidFill>
            <a:srgbClr val="1F1F1F"/>
          </a:solidFill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int </a:t>
            </a:r>
            <a:r>
              <a:rPr lang="en-US" altLang="ko-KR" sz="1050">
                <a:solidFill>
                  <a:srgbClr val="92D050"/>
                </a:solidFill>
                <a:latin typeface="Consolas" panose="020B0609020204030204" pitchFamily="49" charset="0"/>
              </a:rPr>
              <a:t>exit_status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050">
                <a:solidFill>
                  <a:srgbClr val="92D050"/>
                </a:solidFill>
                <a:latin typeface="Consolas" panose="020B0609020204030204" pitchFamily="49" charset="0"/>
              </a:rPr>
              <a:t>child-&gt;exit_status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list_remove (&amp;child-&gt;child_elem);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list_remove (&amp;child-&gt;allelem);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child-&gt;status = </a:t>
            </a:r>
            <a:r>
              <a:rPr lang="en-US" altLang="ko-KR" sz="1050">
                <a:solidFill>
                  <a:srgbClr val="00B0F0"/>
                </a:solidFill>
                <a:latin typeface="Consolas" panose="020B0609020204030204" pitchFamily="49" charset="0"/>
              </a:rPr>
              <a:t>THREAD_DYING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050">
                <a:solidFill>
                  <a:srgbClr val="FFC000"/>
                </a:solidFill>
                <a:latin typeface="Consolas" panose="020B0609020204030204" pitchFamily="49" charset="0"/>
              </a:rPr>
              <a:t>palloc_free_page 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(child);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CD990D1-7DE8-AEF1-B590-9D7D26DE2A46}"/>
              </a:ext>
            </a:extLst>
          </p:cNvPr>
          <p:cNvSpPr/>
          <p:nvPr/>
        </p:nvSpPr>
        <p:spPr bwMode="auto">
          <a:xfrm>
            <a:off x="4677793" y="3907119"/>
            <a:ext cx="1249933" cy="146385"/>
          </a:xfrm>
          <a:prstGeom prst="rect">
            <a:avLst/>
          </a:prstGeom>
          <a:solidFill>
            <a:schemeClr val="tx1"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F8BDFAC-1817-AFE1-CECE-9EE1A4E1BE0A}"/>
              </a:ext>
            </a:extLst>
          </p:cNvPr>
          <p:cNvSpPr/>
          <p:nvPr/>
        </p:nvSpPr>
        <p:spPr bwMode="auto">
          <a:xfrm>
            <a:off x="4677794" y="2804497"/>
            <a:ext cx="1249933" cy="36675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9112ECB-281F-819C-96C6-734F718D49D1}"/>
              </a:ext>
            </a:extLst>
          </p:cNvPr>
          <p:cNvSpPr/>
          <p:nvPr/>
        </p:nvSpPr>
        <p:spPr bwMode="auto">
          <a:xfrm>
            <a:off x="4677793" y="3912199"/>
            <a:ext cx="1249933" cy="355001"/>
          </a:xfrm>
          <a:prstGeom prst="rect">
            <a:avLst/>
          </a:prstGeom>
          <a:solidFill>
            <a:schemeClr val="tx1"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DD34F21-3CFF-EBD3-1519-3BB156ADDEB2}"/>
              </a:ext>
            </a:extLst>
          </p:cNvPr>
          <p:cNvSpPr/>
          <p:nvPr/>
        </p:nvSpPr>
        <p:spPr bwMode="auto">
          <a:xfrm>
            <a:off x="4677793" y="4788239"/>
            <a:ext cx="1249933" cy="198115"/>
          </a:xfrm>
          <a:prstGeom prst="rect">
            <a:avLst/>
          </a:prstGeom>
          <a:solidFill>
            <a:schemeClr val="tx1"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C0110D0-8528-82D8-43B4-61212D0283F5}"/>
              </a:ext>
            </a:extLst>
          </p:cNvPr>
          <p:cNvSpPr/>
          <p:nvPr/>
        </p:nvSpPr>
        <p:spPr bwMode="auto">
          <a:xfrm>
            <a:off x="5488106" y="4660616"/>
            <a:ext cx="3456888" cy="1587783"/>
          </a:xfrm>
          <a:prstGeom prst="rect">
            <a:avLst/>
          </a:prstGeom>
          <a:solidFill>
            <a:srgbClr val="1F1F1F"/>
          </a:solidFill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t-&gt;</a:t>
            </a:r>
            <a:r>
              <a:rPr lang="en-US" altLang="ko-KR" sz="1050">
                <a:solidFill>
                  <a:srgbClr val="92D050"/>
                </a:solidFill>
                <a:latin typeface="Consolas" panose="020B0609020204030204" pitchFamily="49" charset="0"/>
              </a:rPr>
              <a:t>exit_status 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= </a:t>
            </a:r>
            <a:r>
              <a:rPr lang="en-US" altLang="ko-KR" sz="1050">
                <a:solidFill>
                  <a:srgbClr val="92D050"/>
                </a:solidFill>
                <a:latin typeface="Consolas" panose="020B0609020204030204" pitchFamily="49" charset="0"/>
              </a:rPr>
              <a:t>exit_status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t-&gt;status = </a:t>
            </a:r>
            <a:r>
              <a:rPr lang="en-US" altLang="ko-KR" sz="1050">
                <a:solidFill>
                  <a:srgbClr val="00B0F0"/>
                </a:solidFill>
                <a:latin typeface="Consolas" panose="020B0609020204030204" pitchFamily="49" charset="0"/>
              </a:rPr>
              <a:t>THREAD_ZOMBIE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if (t-&gt;parent == NULL) {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  t-&gt;status = </a:t>
            </a:r>
            <a:r>
              <a:rPr lang="en-US" altLang="ko-KR" sz="1050">
                <a:solidFill>
                  <a:srgbClr val="00B0F0"/>
                </a:solidFill>
                <a:latin typeface="Consolas" panose="020B0609020204030204" pitchFamily="49" charset="0"/>
              </a:rPr>
              <a:t>THREAD_DYING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else {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050">
                <a:solidFill>
                  <a:srgbClr val="FFFF00"/>
                </a:solidFill>
                <a:latin typeface="Consolas" panose="020B0609020204030204" pitchFamily="49" charset="0"/>
              </a:rPr>
              <a:t>sema_up 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(&amp;t-&gt;</a:t>
            </a:r>
            <a:r>
              <a:rPr lang="en-US" altLang="ko-KR" sz="1050">
                <a:solidFill>
                  <a:srgbClr val="92D050"/>
                </a:solidFill>
                <a:latin typeface="Consolas" panose="020B0609020204030204" pitchFamily="49" charset="0"/>
              </a:rPr>
              <a:t>sema_sys_wait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15AF129-F46B-4597-CEC7-C9A0C764D886}"/>
              </a:ext>
            </a:extLst>
          </p:cNvPr>
          <p:cNvSpPr/>
          <p:nvPr/>
        </p:nvSpPr>
        <p:spPr bwMode="auto">
          <a:xfrm>
            <a:off x="5488106" y="2074025"/>
            <a:ext cx="3466859" cy="1633664"/>
          </a:xfrm>
          <a:prstGeom prst="rect">
            <a:avLst/>
          </a:prstGeom>
          <a:solidFill>
            <a:srgbClr val="1F1F1F"/>
          </a:solidFill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  if (child-&gt;status == </a:t>
            </a:r>
            <a:r>
              <a:rPr lang="en-US" altLang="ko-KR" sz="1050">
                <a:solidFill>
                  <a:srgbClr val="00B0F0"/>
                </a:solidFill>
                <a:latin typeface="Consolas" panose="020B0609020204030204" pitchFamily="49" charset="0"/>
              </a:rPr>
              <a:t>THREAD_ZOMBIE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sz="1050">
                <a:solidFill>
                  <a:srgbClr val="00B050"/>
                </a:solidFill>
                <a:latin typeface="Consolas" panose="020B0609020204030204" pitchFamily="49" charset="0"/>
              </a:rPr>
              <a:t>/* Reap */</a:t>
            </a:r>
          </a:p>
          <a:p>
            <a:r>
              <a:rPr lang="en-US" altLang="ko-KR" sz="9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       list_remove (&amp;child-&gt;child_elem);</a:t>
            </a:r>
          </a:p>
          <a:p>
            <a:r>
              <a:rPr lang="en-US" altLang="ko-KR" sz="9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       list_remove (&amp;child-&gt;allelem);</a:t>
            </a:r>
          </a:p>
          <a:p>
            <a:r>
              <a:rPr lang="en-US" altLang="ko-KR" sz="9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       child-&gt;status = THREAD_DYING;</a:t>
            </a:r>
          </a:p>
          <a:p>
            <a:r>
              <a:rPr lang="en-US" altLang="ko-KR" sz="90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       palloc_free_page (child);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  } else { 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sz="1050">
                <a:solidFill>
                  <a:srgbClr val="00B050"/>
                </a:solidFill>
                <a:latin typeface="Consolas" panose="020B0609020204030204" pitchFamily="49" charset="0"/>
              </a:rPr>
              <a:t>/* Make orphen */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      child-&gt;parent = NULL;</a:t>
            </a:r>
          </a:p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870C858-6846-9725-6006-6262707478B5}"/>
              </a:ext>
            </a:extLst>
          </p:cNvPr>
          <p:cNvSpPr/>
          <p:nvPr/>
        </p:nvSpPr>
        <p:spPr bwMode="auto">
          <a:xfrm>
            <a:off x="5478134" y="3864182"/>
            <a:ext cx="3466859" cy="652895"/>
          </a:xfrm>
          <a:prstGeom prst="rect">
            <a:avLst/>
          </a:prstGeom>
          <a:solidFill>
            <a:srgbClr val="1F1F1F"/>
          </a:solidFill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t-&gt;pagedir = NULL;</a:t>
            </a:r>
          </a:p>
          <a:p>
            <a:r>
              <a:rPr lang="en-US" altLang="ko-KR" sz="1050">
                <a:solidFill>
                  <a:srgbClr val="FFC000"/>
                </a:solidFill>
                <a:latin typeface="Consolas" panose="020B0609020204030204" pitchFamily="49" charset="0"/>
              </a:rPr>
              <a:t>pagedir_activate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 (NULL);</a:t>
            </a:r>
          </a:p>
          <a:p>
            <a:r>
              <a:rPr lang="en-US" altLang="ko-KR" sz="1050">
                <a:solidFill>
                  <a:srgbClr val="FFC000"/>
                </a:solidFill>
                <a:latin typeface="Consolas" panose="020B0609020204030204" pitchFamily="49" charset="0"/>
              </a:rPr>
              <a:t>pagedir_destroy </a:t>
            </a:r>
            <a:r>
              <a:rPr lang="en-US" altLang="ko-KR" sz="1050">
                <a:solidFill>
                  <a:schemeClr val="accent3">
                    <a:lumMod val="95000"/>
                  </a:schemeClr>
                </a:solidFill>
                <a:latin typeface="Consolas" panose="020B0609020204030204" pitchFamily="49" charset="0"/>
              </a:rPr>
              <a:t>(pd);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F12D56C-8A91-1DD0-8A31-3554C5489C00}"/>
              </a:ext>
            </a:extLst>
          </p:cNvPr>
          <p:cNvCxnSpPr>
            <a:cxnSpLocks/>
            <a:stCxn id="23" idx="3"/>
          </p:cNvCxnSpPr>
          <p:nvPr/>
        </p:nvCxnSpPr>
        <p:spPr bwMode="auto">
          <a:xfrm flipV="1">
            <a:off x="3581400" y="2147221"/>
            <a:ext cx="1098533" cy="79186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FFFF"/>
            </a:solidFill>
            <a:prstDash val="solid"/>
            <a:round/>
            <a:headEnd type="none" w="med" len="med"/>
            <a:tailEnd type="triangle" w="lg" len="lg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CC0F0049-7D6A-2A2E-A8C6-9D48ED24CFAE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584141" y="3371258"/>
            <a:ext cx="1893993" cy="256955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FFFF"/>
            </a:solidFill>
            <a:prstDash val="solid"/>
            <a:round/>
            <a:headEnd type="none" w="med" len="med"/>
            <a:tailEnd type="triangle" w="lg" len="lg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645414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ED632-BD43-49F1-C7BD-EED37F85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7C82F416-6F51-9A48-09D3-C138FBE585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0" y="244835"/>
            <a:ext cx="8001000" cy="1216025"/>
          </a:xfrm>
        </p:spPr>
        <p:txBody>
          <a:bodyPr/>
          <a:lstStyle/>
          <a:p>
            <a:r>
              <a:rPr lang="en-US" altLang="ko-KR" sz="3600" dirty="0"/>
              <a:t>File management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635664F-242E-CD1F-8E98-CAF61B8A8831}"/>
              </a:ext>
            </a:extLst>
          </p:cNvPr>
          <p:cNvSpPr/>
          <p:nvPr/>
        </p:nvSpPr>
        <p:spPr bwMode="auto">
          <a:xfrm>
            <a:off x="990600" y="2133600"/>
            <a:ext cx="1676400" cy="1676400"/>
          </a:xfrm>
          <a:prstGeom prst="rect">
            <a:avLst/>
          </a:prstGeom>
          <a:solidFill>
            <a:srgbClr val="BFEAFA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72A1ECF-BE63-E8C8-4C4F-B53BD505E307}"/>
              </a:ext>
            </a:extLst>
          </p:cNvPr>
          <p:cNvSpPr/>
          <p:nvPr/>
        </p:nvSpPr>
        <p:spPr bwMode="auto">
          <a:xfrm>
            <a:off x="1981200" y="2329815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3A11D9-B344-8C9B-61FC-F03D92BF64FB}"/>
              </a:ext>
            </a:extLst>
          </p:cNvPr>
          <p:cNvSpPr/>
          <p:nvPr/>
        </p:nvSpPr>
        <p:spPr bwMode="auto">
          <a:xfrm>
            <a:off x="1981200" y="2542580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6EF6B6-5349-95C8-6030-7ECEB5B790C9}"/>
              </a:ext>
            </a:extLst>
          </p:cNvPr>
          <p:cNvSpPr/>
          <p:nvPr/>
        </p:nvSpPr>
        <p:spPr bwMode="auto">
          <a:xfrm>
            <a:off x="1981200" y="2755345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F18223-2304-E5E2-34D5-76A4A845BDDA}"/>
              </a:ext>
            </a:extLst>
          </p:cNvPr>
          <p:cNvSpPr/>
          <p:nvPr/>
        </p:nvSpPr>
        <p:spPr bwMode="auto">
          <a:xfrm>
            <a:off x="1981200" y="3387686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6417E09-3C66-CE9A-29B4-8863D9EBD36D}"/>
              </a:ext>
            </a:extLst>
          </p:cNvPr>
          <p:cNvSpPr/>
          <p:nvPr/>
        </p:nvSpPr>
        <p:spPr bwMode="auto">
          <a:xfrm>
            <a:off x="1981200" y="2968110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1E4CEFE-F83B-45A5-D94D-00516A040832}"/>
              </a:ext>
            </a:extLst>
          </p:cNvPr>
          <p:cNvSpPr/>
          <p:nvPr/>
        </p:nvSpPr>
        <p:spPr bwMode="auto">
          <a:xfrm>
            <a:off x="1981200" y="3177898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F4BAB93-65EA-D166-F148-4DF3207E4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302194"/>
            <a:ext cx="457200" cy="20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0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F13610E-5CDC-8FF3-4076-F374C9325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2523511"/>
            <a:ext cx="476250" cy="20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1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9EF338D-698E-9936-2DAC-A502C0861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6390" y="2746337"/>
            <a:ext cx="476250" cy="218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2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F1F8957C-B150-23B9-8CB6-DE91A3AE6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964141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3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F73052CB-8AC7-5920-E79A-04E5EA3DB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3190955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4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5DEBC7A-CDAC-1F3D-DEC1-6183EBC68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3409832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5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marL="471487" lvl="1" indent="0" latinLnBrk="1">
              <a:buNone/>
            </a:pPr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6B275D-B1E6-BB05-F17E-226AEF4320B3}"/>
              </a:ext>
            </a:extLst>
          </p:cNvPr>
          <p:cNvSpPr txBox="1"/>
          <p:nvPr/>
        </p:nvSpPr>
        <p:spPr>
          <a:xfrm>
            <a:off x="1395412" y="1866711"/>
            <a:ext cx="866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Process A</a:t>
            </a:r>
            <a:endParaRPr lang="ko-KR" altLang="en-US" sz="11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66AE61-8945-5527-5EAB-C94140C82A05}"/>
              </a:ext>
            </a:extLst>
          </p:cNvPr>
          <p:cNvSpPr txBox="1"/>
          <p:nvPr/>
        </p:nvSpPr>
        <p:spPr>
          <a:xfrm>
            <a:off x="1208245" y="3844132"/>
            <a:ext cx="12411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</a:rPr>
              <a:t>File descriptor table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CE8F37F-751B-1A9A-17BB-9518B60B531F}"/>
              </a:ext>
            </a:extLst>
          </p:cNvPr>
          <p:cNvSpPr/>
          <p:nvPr/>
        </p:nvSpPr>
        <p:spPr bwMode="auto">
          <a:xfrm>
            <a:off x="990600" y="4267656"/>
            <a:ext cx="1676400" cy="1676400"/>
          </a:xfrm>
          <a:prstGeom prst="rect">
            <a:avLst/>
          </a:prstGeom>
          <a:solidFill>
            <a:srgbClr val="BFEAFA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742EB4F-EF4C-C0E5-8697-EC946930CF3E}"/>
              </a:ext>
            </a:extLst>
          </p:cNvPr>
          <p:cNvSpPr/>
          <p:nvPr/>
        </p:nvSpPr>
        <p:spPr bwMode="auto">
          <a:xfrm>
            <a:off x="1981200" y="4444163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98E7A96-C57B-2A33-9C34-6ACCCE2C4007}"/>
              </a:ext>
            </a:extLst>
          </p:cNvPr>
          <p:cNvSpPr/>
          <p:nvPr/>
        </p:nvSpPr>
        <p:spPr bwMode="auto">
          <a:xfrm>
            <a:off x="1981200" y="4656928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60F987A-5664-0C40-7A27-4BBDC36F167B}"/>
              </a:ext>
            </a:extLst>
          </p:cNvPr>
          <p:cNvSpPr/>
          <p:nvPr/>
        </p:nvSpPr>
        <p:spPr bwMode="auto">
          <a:xfrm>
            <a:off x="1981200" y="4869693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0ED701E-A4FE-E71E-64B7-1A03CA33F530}"/>
              </a:ext>
            </a:extLst>
          </p:cNvPr>
          <p:cNvSpPr/>
          <p:nvPr/>
        </p:nvSpPr>
        <p:spPr bwMode="auto">
          <a:xfrm>
            <a:off x="1981200" y="5502034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D2003AA-C2B4-86A6-FC08-73AF1553975C}"/>
              </a:ext>
            </a:extLst>
          </p:cNvPr>
          <p:cNvSpPr/>
          <p:nvPr/>
        </p:nvSpPr>
        <p:spPr bwMode="auto">
          <a:xfrm>
            <a:off x="1981200" y="5082458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1D2C0EF-A44E-3744-F29F-5BF1616C7992}"/>
              </a:ext>
            </a:extLst>
          </p:cNvPr>
          <p:cNvSpPr/>
          <p:nvPr/>
        </p:nvSpPr>
        <p:spPr bwMode="auto">
          <a:xfrm>
            <a:off x="1981200" y="5292246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9DA085EA-BB24-09BC-B0F6-42355B47D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416542"/>
            <a:ext cx="457200" cy="20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0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8AA6C037-88BF-528A-A4B8-A8E6D894D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4637859"/>
            <a:ext cx="476250" cy="20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1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C8D10A57-05E7-711E-C6D8-4317C77C4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6390" y="4860685"/>
            <a:ext cx="476250" cy="218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2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0EEFE9B0-9CC4-2147-CE66-9F3C29244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078489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3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707C5A39-092C-761A-5250-572EF2488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5305303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4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9" name="Rectangle 3">
            <a:extLst>
              <a:ext uri="{FF2B5EF4-FFF2-40B4-BE49-F238E27FC236}">
                <a16:creationId xmlns:a16="http://schemas.microsoft.com/office/drawing/2014/main" id="{D6DC9933-76E7-FADA-31E2-DE1321670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5524180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5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marL="471487" lvl="1" indent="0" latinLnBrk="1">
              <a:buNone/>
            </a:pPr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7AA865E-1B5D-030A-AD7E-F70A2545A1B7}"/>
              </a:ext>
            </a:extLst>
          </p:cNvPr>
          <p:cNvSpPr txBox="1"/>
          <p:nvPr/>
        </p:nvSpPr>
        <p:spPr>
          <a:xfrm>
            <a:off x="1208245" y="5958480"/>
            <a:ext cx="12411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</a:rPr>
              <a:t>File descriptor table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2019BE8-0EF4-ACCC-40B2-22C5955A1FAF}"/>
              </a:ext>
            </a:extLst>
          </p:cNvPr>
          <p:cNvSpPr/>
          <p:nvPr/>
        </p:nvSpPr>
        <p:spPr bwMode="auto">
          <a:xfrm>
            <a:off x="3810000" y="2964141"/>
            <a:ext cx="990600" cy="2114348"/>
          </a:xfrm>
          <a:prstGeom prst="rect">
            <a:avLst/>
          </a:prstGeom>
          <a:solidFill>
            <a:srgbClr val="BFEAFA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AAD68A1-BE39-8737-0A1F-60BCD0B03224}"/>
              </a:ext>
            </a:extLst>
          </p:cNvPr>
          <p:cNvSpPr/>
          <p:nvPr/>
        </p:nvSpPr>
        <p:spPr bwMode="auto">
          <a:xfrm>
            <a:off x="3861592" y="3778669"/>
            <a:ext cx="903448" cy="241220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object</a:t>
            </a:r>
            <a:endParaRPr kumimoji="0" lang="ko-KR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7E50F7F-1631-AFEA-F9DF-6CB8B37740E9}"/>
              </a:ext>
            </a:extLst>
          </p:cNvPr>
          <p:cNvSpPr/>
          <p:nvPr/>
        </p:nvSpPr>
        <p:spPr bwMode="auto">
          <a:xfrm>
            <a:off x="3861592" y="4147046"/>
            <a:ext cx="903448" cy="241220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object</a:t>
            </a:r>
            <a:endParaRPr kumimoji="0" lang="ko-KR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664" name="직사각형 241663">
            <a:extLst>
              <a:ext uri="{FF2B5EF4-FFF2-40B4-BE49-F238E27FC236}">
                <a16:creationId xmlns:a16="http://schemas.microsoft.com/office/drawing/2014/main" id="{1BD97745-1233-D507-E268-C2579B498D21}"/>
              </a:ext>
            </a:extLst>
          </p:cNvPr>
          <p:cNvSpPr/>
          <p:nvPr/>
        </p:nvSpPr>
        <p:spPr bwMode="auto">
          <a:xfrm>
            <a:off x="3861592" y="4501533"/>
            <a:ext cx="903448" cy="241220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object</a:t>
            </a:r>
            <a:endParaRPr kumimoji="0" lang="ko-KR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665" name="직사각형 241664">
            <a:extLst>
              <a:ext uri="{FF2B5EF4-FFF2-40B4-BE49-F238E27FC236}">
                <a16:creationId xmlns:a16="http://schemas.microsoft.com/office/drawing/2014/main" id="{AADB91A2-333A-2C9E-0950-663A36A20C31}"/>
              </a:ext>
            </a:extLst>
          </p:cNvPr>
          <p:cNvSpPr/>
          <p:nvPr/>
        </p:nvSpPr>
        <p:spPr bwMode="auto">
          <a:xfrm>
            <a:off x="3861592" y="3424182"/>
            <a:ext cx="903448" cy="241220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object</a:t>
            </a:r>
            <a:endParaRPr kumimoji="0" lang="ko-KR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667" name="TextBox 241666">
            <a:extLst>
              <a:ext uri="{FF2B5EF4-FFF2-40B4-BE49-F238E27FC236}">
                <a16:creationId xmlns:a16="http://schemas.microsoft.com/office/drawing/2014/main" id="{32B9A974-D91D-DDFA-98D5-EDC9EB2FF727}"/>
              </a:ext>
            </a:extLst>
          </p:cNvPr>
          <p:cNvSpPr txBox="1"/>
          <p:nvPr/>
        </p:nvSpPr>
        <p:spPr>
          <a:xfrm>
            <a:off x="3962400" y="5091482"/>
            <a:ext cx="685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</a:rPr>
              <a:t>file table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  <p:cxnSp>
        <p:nvCxnSpPr>
          <p:cNvPr id="241669" name="직선 화살표 연결선 241668">
            <a:extLst>
              <a:ext uri="{FF2B5EF4-FFF2-40B4-BE49-F238E27FC236}">
                <a16:creationId xmlns:a16="http://schemas.microsoft.com/office/drawing/2014/main" id="{041D1742-5685-8942-5FD9-B52EDCDC2892}"/>
              </a:ext>
            </a:extLst>
          </p:cNvPr>
          <p:cNvCxnSpPr>
            <a:cxnSpLocks/>
            <a:endCxn id="241665" idx="1"/>
          </p:cNvCxnSpPr>
          <p:nvPr/>
        </p:nvCxnSpPr>
        <p:spPr bwMode="auto">
          <a:xfrm>
            <a:off x="2567940" y="3047484"/>
            <a:ext cx="1293652" cy="4973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lgDash"/>
            <a:round/>
            <a:headEnd type="none" w="med" len="med"/>
            <a:tailEnd type="triangle"/>
          </a:ln>
          <a:effectLst/>
        </p:spPr>
      </p:cxnSp>
      <p:cxnSp>
        <p:nvCxnSpPr>
          <p:cNvPr id="241673" name="직선 화살표 연결선 241672">
            <a:extLst>
              <a:ext uri="{FF2B5EF4-FFF2-40B4-BE49-F238E27FC236}">
                <a16:creationId xmlns:a16="http://schemas.microsoft.com/office/drawing/2014/main" id="{ED21F42F-E57D-03BF-1E9D-DCC636D9285D}"/>
              </a:ext>
            </a:extLst>
          </p:cNvPr>
          <p:cNvCxnSpPr>
            <a:cxnSpLocks/>
            <a:endCxn id="62" idx="1"/>
          </p:cNvCxnSpPr>
          <p:nvPr/>
        </p:nvCxnSpPr>
        <p:spPr bwMode="auto">
          <a:xfrm>
            <a:off x="2542144" y="3276312"/>
            <a:ext cx="1319448" cy="6229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lgDash"/>
            <a:round/>
            <a:headEnd type="none" w="med" len="med"/>
            <a:tailEnd type="triangle"/>
          </a:ln>
          <a:effectLst/>
        </p:spPr>
      </p:cxnSp>
      <p:cxnSp>
        <p:nvCxnSpPr>
          <p:cNvPr id="241675" name="직선 화살표 연결선 241674">
            <a:extLst>
              <a:ext uri="{FF2B5EF4-FFF2-40B4-BE49-F238E27FC236}">
                <a16:creationId xmlns:a16="http://schemas.microsoft.com/office/drawing/2014/main" id="{CD1ED70A-BB2A-E191-5BDE-8B9020B2A10F}"/>
              </a:ext>
            </a:extLst>
          </p:cNvPr>
          <p:cNvCxnSpPr>
            <a:cxnSpLocks/>
            <a:endCxn id="63" idx="1"/>
          </p:cNvCxnSpPr>
          <p:nvPr/>
        </p:nvCxnSpPr>
        <p:spPr bwMode="auto">
          <a:xfrm flipV="1">
            <a:off x="2542144" y="4267656"/>
            <a:ext cx="1319448" cy="9315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lgDash"/>
            <a:round/>
            <a:headEnd type="none" w="med" len="med"/>
            <a:tailEnd type="triangle"/>
          </a:ln>
          <a:effectLst/>
        </p:spPr>
      </p:cxnSp>
      <p:cxnSp>
        <p:nvCxnSpPr>
          <p:cNvPr id="241677" name="직선 화살표 연결선 241676">
            <a:extLst>
              <a:ext uri="{FF2B5EF4-FFF2-40B4-BE49-F238E27FC236}">
                <a16:creationId xmlns:a16="http://schemas.microsoft.com/office/drawing/2014/main" id="{E4DE04E2-2892-2046-50AC-E4ABA61EB13A}"/>
              </a:ext>
            </a:extLst>
          </p:cNvPr>
          <p:cNvCxnSpPr>
            <a:cxnSpLocks/>
            <a:endCxn id="241664" idx="1"/>
          </p:cNvCxnSpPr>
          <p:nvPr/>
        </p:nvCxnSpPr>
        <p:spPr bwMode="auto">
          <a:xfrm flipV="1">
            <a:off x="2552700" y="4622143"/>
            <a:ext cx="1308892" cy="7749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lgDash"/>
            <a:round/>
            <a:headEnd type="none" w="med" len="med"/>
            <a:tailEnd type="triangle"/>
          </a:ln>
          <a:effectLst/>
        </p:spPr>
      </p:cxnSp>
      <p:sp>
        <p:nvSpPr>
          <p:cNvPr id="241679" name="직사각형 241678">
            <a:extLst>
              <a:ext uri="{FF2B5EF4-FFF2-40B4-BE49-F238E27FC236}">
                <a16:creationId xmlns:a16="http://schemas.microsoft.com/office/drawing/2014/main" id="{AEF1D4B5-8251-061A-042E-CA7B665A899D}"/>
              </a:ext>
            </a:extLst>
          </p:cNvPr>
          <p:cNvSpPr/>
          <p:nvPr/>
        </p:nvSpPr>
        <p:spPr bwMode="auto">
          <a:xfrm>
            <a:off x="5573156" y="2964140"/>
            <a:ext cx="990600" cy="2114347"/>
          </a:xfrm>
          <a:prstGeom prst="rect">
            <a:avLst/>
          </a:prstGeom>
          <a:solidFill>
            <a:srgbClr val="BFEAFA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680" name="직사각형 241679">
            <a:extLst>
              <a:ext uri="{FF2B5EF4-FFF2-40B4-BE49-F238E27FC236}">
                <a16:creationId xmlns:a16="http://schemas.microsoft.com/office/drawing/2014/main" id="{D1F3B5A5-E257-CB5F-01D1-C325CE686706}"/>
              </a:ext>
            </a:extLst>
          </p:cNvPr>
          <p:cNvSpPr/>
          <p:nvPr/>
        </p:nvSpPr>
        <p:spPr bwMode="auto">
          <a:xfrm>
            <a:off x="5750957" y="3594740"/>
            <a:ext cx="634998" cy="416339"/>
          </a:xfrm>
          <a:prstGeom prst="rect">
            <a:avLst/>
          </a:prstGeom>
          <a:solidFill>
            <a:srgbClr val="CC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inode</a:t>
            </a:r>
            <a:r>
              <a:rPr kumimoji="0" lang="en-US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 </a:t>
            </a:r>
            <a:r>
              <a:rPr lang="en-US" altLang="ko-KR" sz="1050" dirty="0"/>
              <a:t>struct</a:t>
            </a:r>
            <a:endParaRPr kumimoji="0" lang="en-US" altLang="ko-KR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682" name="직사각형 241681">
            <a:extLst>
              <a:ext uri="{FF2B5EF4-FFF2-40B4-BE49-F238E27FC236}">
                <a16:creationId xmlns:a16="http://schemas.microsoft.com/office/drawing/2014/main" id="{CEBBB03F-6E9C-8F28-3E31-DA221FE2E8E2}"/>
              </a:ext>
            </a:extLst>
          </p:cNvPr>
          <p:cNvSpPr/>
          <p:nvPr/>
        </p:nvSpPr>
        <p:spPr bwMode="auto">
          <a:xfrm>
            <a:off x="5750957" y="4256645"/>
            <a:ext cx="634998" cy="416339"/>
          </a:xfrm>
          <a:prstGeom prst="rect">
            <a:avLst/>
          </a:prstGeom>
          <a:solidFill>
            <a:srgbClr val="CC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dirty="0" err="1"/>
              <a:t>i</a:t>
            </a:r>
            <a:r>
              <a:rPr kumimoji="0" lang="en-US" altLang="ko-KR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node</a:t>
            </a:r>
            <a:r>
              <a:rPr kumimoji="0" lang="en-US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 </a:t>
            </a:r>
            <a:r>
              <a:rPr lang="en-US" altLang="ko-KR" sz="1050" dirty="0"/>
              <a:t>struct</a:t>
            </a:r>
            <a:endParaRPr kumimoji="0" lang="en-US" altLang="ko-KR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241683" name="직선 화살표 연결선 241682">
            <a:extLst>
              <a:ext uri="{FF2B5EF4-FFF2-40B4-BE49-F238E27FC236}">
                <a16:creationId xmlns:a16="http://schemas.microsoft.com/office/drawing/2014/main" id="{2666C793-A9DA-2A3B-FEF3-0B4DAF57E0D8}"/>
              </a:ext>
            </a:extLst>
          </p:cNvPr>
          <p:cNvCxnSpPr>
            <a:cxnSpLocks/>
            <a:endCxn id="241680" idx="1"/>
          </p:cNvCxnSpPr>
          <p:nvPr/>
        </p:nvCxnSpPr>
        <p:spPr bwMode="auto">
          <a:xfrm>
            <a:off x="4753413" y="3543215"/>
            <a:ext cx="997544" cy="2596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lgDash"/>
            <a:round/>
            <a:headEnd type="none" w="med" len="med"/>
            <a:tailEnd type="triangle"/>
          </a:ln>
          <a:effectLst/>
        </p:spPr>
      </p:cxnSp>
      <p:cxnSp>
        <p:nvCxnSpPr>
          <p:cNvPr id="241685" name="직선 화살표 연결선 241684">
            <a:extLst>
              <a:ext uri="{FF2B5EF4-FFF2-40B4-BE49-F238E27FC236}">
                <a16:creationId xmlns:a16="http://schemas.microsoft.com/office/drawing/2014/main" id="{AE44348F-8A5D-9729-07DE-6E32E38E0E31}"/>
              </a:ext>
            </a:extLst>
          </p:cNvPr>
          <p:cNvCxnSpPr>
            <a:cxnSpLocks/>
            <a:endCxn id="241680" idx="1"/>
          </p:cNvCxnSpPr>
          <p:nvPr/>
        </p:nvCxnSpPr>
        <p:spPr bwMode="auto">
          <a:xfrm flipV="1">
            <a:off x="4765040" y="3802910"/>
            <a:ext cx="985917" cy="887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lgDash"/>
            <a:round/>
            <a:headEnd type="none" w="med" len="med"/>
            <a:tailEnd type="triangle"/>
          </a:ln>
          <a:effectLst/>
        </p:spPr>
      </p:cxnSp>
      <p:cxnSp>
        <p:nvCxnSpPr>
          <p:cNvPr id="241687" name="직선 화살표 연결선 241686">
            <a:extLst>
              <a:ext uri="{FF2B5EF4-FFF2-40B4-BE49-F238E27FC236}">
                <a16:creationId xmlns:a16="http://schemas.microsoft.com/office/drawing/2014/main" id="{E2C2BFE3-4E8F-785E-9A51-7AF9A844D750}"/>
              </a:ext>
            </a:extLst>
          </p:cNvPr>
          <p:cNvCxnSpPr>
            <a:cxnSpLocks/>
            <a:endCxn id="241680" idx="1"/>
          </p:cNvCxnSpPr>
          <p:nvPr/>
        </p:nvCxnSpPr>
        <p:spPr bwMode="auto">
          <a:xfrm flipV="1">
            <a:off x="4799132" y="3802910"/>
            <a:ext cx="951825" cy="4639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lgDash"/>
            <a:round/>
            <a:headEnd type="none" w="med" len="med"/>
            <a:tailEnd type="triangle"/>
          </a:ln>
          <a:effectLst/>
        </p:spPr>
      </p:cxnSp>
      <p:cxnSp>
        <p:nvCxnSpPr>
          <p:cNvPr id="241689" name="직선 화살표 연결선 241688">
            <a:extLst>
              <a:ext uri="{FF2B5EF4-FFF2-40B4-BE49-F238E27FC236}">
                <a16:creationId xmlns:a16="http://schemas.microsoft.com/office/drawing/2014/main" id="{624A72B7-F9B0-AF2E-1799-735027D976BE}"/>
              </a:ext>
            </a:extLst>
          </p:cNvPr>
          <p:cNvCxnSpPr>
            <a:cxnSpLocks/>
            <a:endCxn id="241682" idx="1"/>
          </p:cNvCxnSpPr>
          <p:nvPr/>
        </p:nvCxnSpPr>
        <p:spPr bwMode="auto">
          <a:xfrm flipV="1">
            <a:off x="4776667" y="4464815"/>
            <a:ext cx="974290" cy="1573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lgDash"/>
            <a:round/>
            <a:headEnd type="none" w="med" len="med"/>
            <a:tailEnd type="triangle"/>
          </a:ln>
          <a:effectLst/>
        </p:spPr>
      </p:cxnSp>
      <p:sp>
        <p:nvSpPr>
          <p:cNvPr id="241691" name="TextBox 241690">
            <a:extLst>
              <a:ext uri="{FF2B5EF4-FFF2-40B4-BE49-F238E27FC236}">
                <a16:creationId xmlns:a16="http://schemas.microsoft.com/office/drawing/2014/main" id="{171DA8D5-D48B-96E6-39A0-217908CB6955}"/>
              </a:ext>
            </a:extLst>
          </p:cNvPr>
          <p:cNvSpPr txBox="1"/>
          <p:nvPr/>
        </p:nvSpPr>
        <p:spPr>
          <a:xfrm>
            <a:off x="5714935" y="5087591"/>
            <a:ext cx="836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>
                <a:solidFill>
                  <a:srgbClr val="0000FF"/>
                </a:solidFill>
              </a:rPr>
              <a:t>inode</a:t>
            </a:r>
            <a:r>
              <a:rPr lang="en-US" altLang="ko-KR" sz="800" dirty="0">
                <a:solidFill>
                  <a:srgbClr val="0000FF"/>
                </a:solidFill>
              </a:rPr>
              <a:t> table 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  <p:sp>
        <p:nvSpPr>
          <p:cNvPr id="241692" name="원통형 241691">
            <a:extLst>
              <a:ext uri="{FF2B5EF4-FFF2-40B4-BE49-F238E27FC236}">
                <a16:creationId xmlns:a16="http://schemas.microsoft.com/office/drawing/2014/main" id="{ADD6EB55-329F-CCA6-AF1B-989BB53DDBCB}"/>
              </a:ext>
            </a:extLst>
          </p:cNvPr>
          <p:cNvSpPr/>
          <p:nvPr/>
        </p:nvSpPr>
        <p:spPr bwMode="auto">
          <a:xfrm>
            <a:off x="7336312" y="2964139"/>
            <a:ext cx="1236188" cy="2114348"/>
          </a:xfrm>
          <a:prstGeom prst="can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241701" name="직선 화살표 연결선 241700">
            <a:extLst>
              <a:ext uri="{FF2B5EF4-FFF2-40B4-BE49-F238E27FC236}">
                <a16:creationId xmlns:a16="http://schemas.microsoft.com/office/drawing/2014/main" id="{733C0C3A-B469-6A9E-0E22-247C3DBA1DBF}"/>
              </a:ext>
            </a:extLst>
          </p:cNvPr>
          <p:cNvCxnSpPr>
            <a:cxnSpLocks/>
          </p:cNvCxnSpPr>
          <p:nvPr/>
        </p:nvCxnSpPr>
        <p:spPr bwMode="auto">
          <a:xfrm flipV="1">
            <a:off x="6397304" y="3543215"/>
            <a:ext cx="1014208" cy="26690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lgDash"/>
            <a:round/>
            <a:headEnd type="none" w="med" len="med"/>
            <a:tailEnd type="triangle"/>
          </a:ln>
          <a:effectLst/>
        </p:spPr>
      </p:cxnSp>
      <p:sp>
        <p:nvSpPr>
          <p:cNvPr id="241703" name="직사각형 241702">
            <a:extLst>
              <a:ext uri="{FF2B5EF4-FFF2-40B4-BE49-F238E27FC236}">
                <a16:creationId xmlns:a16="http://schemas.microsoft.com/office/drawing/2014/main" id="{7C0E37A3-28D9-7A8B-344F-E3318EF22D83}"/>
              </a:ext>
            </a:extLst>
          </p:cNvPr>
          <p:cNvSpPr/>
          <p:nvPr/>
        </p:nvSpPr>
        <p:spPr bwMode="auto">
          <a:xfrm>
            <a:off x="7992005" y="4097559"/>
            <a:ext cx="479522" cy="297852"/>
          </a:xfrm>
          <a:prstGeom prst="rect">
            <a:avLst/>
          </a:prstGeom>
          <a:solidFill>
            <a:srgbClr val="CC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B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/>
              <a:t>Data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704" name="직사각형 241703">
            <a:extLst>
              <a:ext uri="{FF2B5EF4-FFF2-40B4-BE49-F238E27FC236}">
                <a16:creationId xmlns:a16="http://schemas.microsoft.com/office/drawing/2014/main" id="{7519C2E6-5025-7DF1-9E33-C34DBD768630}"/>
              </a:ext>
            </a:extLst>
          </p:cNvPr>
          <p:cNvSpPr/>
          <p:nvPr/>
        </p:nvSpPr>
        <p:spPr bwMode="auto">
          <a:xfrm>
            <a:off x="7992004" y="4687163"/>
            <a:ext cx="479522" cy="297852"/>
          </a:xfrm>
          <a:prstGeom prst="rect">
            <a:avLst/>
          </a:prstGeom>
          <a:solidFill>
            <a:srgbClr val="CC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B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/>
              <a:t>Data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693" name="직사각형 241692">
            <a:extLst>
              <a:ext uri="{FF2B5EF4-FFF2-40B4-BE49-F238E27FC236}">
                <a16:creationId xmlns:a16="http://schemas.microsoft.com/office/drawing/2014/main" id="{09491E40-1AE3-1DA4-7698-65A09FEBCA4E}"/>
              </a:ext>
            </a:extLst>
          </p:cNvPr>
          <p:cNvSpPr/>
          <p:nvPr/>
        </p:nvSpPr>
        <p:spPr bwMode="auto">
          <a:xfrm>
            <a:off x="7992005" y="4391167"/>
            <a:ext cx="479522" cy="297852"/>
          </a:xfrm>
          <a:prstGeom prst="rect">
            <a:avLst/>
          </a:prstGeom>
          <a:solidFill>
            <a:srgbClr val="CC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B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/>
              <a:t>Data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709" name="직사각형 241708">
            <a:extLst>
              <a:ext uri="{FF2B5EF4-FFF2-40B4-BE49-F238E27FC236}">
                <a16:creationId xmlns:a16="http://schemas.microsoft.com/office/drawing/2014/main" id="{E897B735-229E-5328-8EEE-D16E5A983951}"/>
              </a:ext>
            </a:extLst>
          </p:cNvPr>
          <p:cNvSpPr/>
          <p:nvPr/>
        </p:nvSpPr>
        <p:spPr bwMode="auto">
          <a:xfrm>
            <a:off x="7411513" y="3359029"/>
            <a:ext cx="479522" cy="297852"/>
          </a:xfrm>
          <a:prstGeom prst="rect">
            <a:avLst/>
          </a:prstGeom>
          <a:solidFill>
            <a:srgbClr val="CC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A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/>
              <a:t>Data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710" name="직사각형 241709">
            <a:extLst>
              <a:ext uri="{FF2B5EF4-FFF2-40B4-BE49-F238E27FC236}">
                <a16:creationId xmlns:a16="http://schemas.microsoft.com/office/drawing/2014/main" id="{BA15C2BA-1E65-F3BA-1045-1FCF767EA137}"/>
              </a:ext>
            </a:extLst>
          </p:cNvPr>
          <p:cNvSpPr/>
          <p:nvPr/>
        </p:nvSpPr>
        <p:spPr bwMode="auto">
          <a:xfrm>
            <a:off x="7411512" y="3948633"/>
            <a:ext cx="479522" cy="297852"/>
          </a:xfrm>
          <a:prstGeom prst="rect">
            <a:avLst/>
          </a:prstGeom>
          <a:solidFill>
            <a:srgbClr val="CC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A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/>
              <a:t>Data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711" name="직사각형 241710">
            <a:extLst>
              <a:ext uri="{FF2B5EF4-FFF2-40B4-BE49-F238E27FC236}">
                <a16:creationId xmlns:a16="http://schemas.microsoft.com/office/drawing/2014/main" id="{0FBD065F-B977-F7A0-8437-6F3E3666C853}"/>
              </a:ext>
            </a:extLst>
          </p:cNvPr>
          <p:cNvSpPr/>
          <p:nvPr/>
        </p:nvSpPr>
        <p:spPr bwMode="auto">
          <a:xfrm>
            <a:off x="7411513" y="3652637"/>
            <a:ext cx="479522" cy="297852"/>
          </a:xfrm>
          <a:prstGeom prst="rect">
            <a:avLst/>
          </a:prstGeom>
          <a:solidFill>
            <a:srgbClr val="CC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A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/>
              <a:t>Data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241713" name="직선 화살표 연결선 241712">
            <a:extLst>
              <a:ext uri="{FF2B5EF4-FFF2-40B4-BE49-F238E27FC236}">
                <a16:creationId xmlns:a16="http://schemas.microsoft.com/office/drawing/2014/main" id="{1E0AF8AC-1129-924A-0D4F-FDE6E4D5E132}"/>
              </a:ext>
            </a:extLst>
          </p:cNvPr>
          <p:cNvCxnSpPr>
            <a:cxnSpLocks/>
            <a:endCxn id="241703" idx="1"/>
          </p:cNvCxnSpPr>
          <p:nvPr/>
        </p:nvCxnSpPr>
        <p:spPr bwMode="auto">
          <a:xfrm flipV="1">
            <a:off x="6397303" y="4246485"/>
            <a:ext cx="1594702" cy="2183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lgDash"/>
            <a:round/>
            <a:headEnd type="none" w="med" len="med"/>
            <a:tailEnd type="triangle"/>
          </a:ln>
          <a:effectLst/>
        </p:spPr>
      </p:cxnSp>
      <p:sp>
        <p:nvSpPr>
          <p:cNvPr id="241715" name="TextBox 241714">
            <a:extLst>
              <a:ext uri="{FF2B5EF4-FFF2-40B4-BE49-F238E27FC236}">
                <a16:creationId xmlns:a16="http://schemas.microsoft.com/office/drawing/2014/main" id="{ED5196EF-31D9-73E0-B3B5-17034AD2B7C8}"/>
              </a:ext>
            </a:extLst>
          </p:cNvPr>
          <p:cNvSpPr txBox="1"/>
          <p:nvPr/>
        </p:nvSpPr>
        <p:spPr>
          <a:xfrm>
            <a:off x="1395412" y="4014959"/>
            <a:ext cx="866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Process B</a:t>
            </a:r>
            <a:endParaRPr lang="ko-KR" altLang="en-US" sz="1100" dirty="0"/>
          </a:p>
        </p:txBody>
      </p:sp>
      <p:sp>
        <p:nvSpPr>
          <p:cNvPr id="241716" name="TextBox 241715">
            <a:extLst>
              <a:ext uri="{FF2B5EF4-FFF2-40B4-BE49-F238E27FC236}">
                <a16:creationId xmlns:a16="http://schemas.microsoft.com/office/drawing/2014/main" id="{150F4FEB-3C6F-42EE-02B8-FDBB81515992}"/>
              </a:ext>
            </a:extLst>
          </p:cNvPr>
          <p:cNvSpPr txBox="1"/>
          <p:nvPr/>
        </p:nvSpPr>
        <p:spPr>
          <a:xfrm>
            <a:off x="7813589" y="5087591"/>
            <a:ext cx="836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</a:rPr>
              <a:t>Disk 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266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666C5-3217-43D7-9438-7BB63832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5BE4370C-E54D-1173-E1DA-D7DD077E33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0" y="244835"/>
            <a:ext cx="8001000" cy="1216025"/>
          </a:xfrm>
        </p:spPr>
        <p:txBody>
          <a:bodyPr/>
          <a:lstStyle/>
          <a:p>
            <a:r>
              <a:rPr lang="en-US" altLang="ko-KR" sz="3600" dirty="0"/>
              <a:t>Layered File System in RTEMS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03F0757-CA99-F13B-3B5C-8DAE9B86FADB}"/>
              </a:ext>
            </a:extLst>
          </p:cNvPr>
          <p:cNvSpPr/>
          <p:nvPr/>
        </p:nvSpPr>
        <p:spPr bwMode="auto">
          <a:xfrm>
            <a:off x="3429000" y="1828800"/>
            <a:ext cx="19812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/>
              <a:t>Application</a:t>
            </a:r>
            <a:r>
              <a:rPr lang="ko-KR" altLang="en-US" sz="1600" dirty="0"/>
              <a:t> </a:t>
            </a:r>
            <a:r>
              <a:rPr lang="en-US" altLang="ko-KR" sz="1600" dirty="0"/>
              <a:t>logic</a:t>
            </a:r>
            <a:endParaRPr kumimoji="0" lang="ko-KR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5033D24-BA6B-7C6F-4F5D-850E3E303A43}"/>
              </a:ext>
            </a:extLst>
          </p:cNvPr>
          <p:cNvSpPr/>
          <p:nvPr/>
        </p:nvSpPr>
        <p:spPr bwMode="auto">
          <a:xfrm>
            <a:off x="3429000" y="2429090"/>
            <a:ext cx="1981200" cy="381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chemeClr val="tx1"/>
                </a:solidFill>
                <a:latin typeface="Verdana" pitchFamily="34" charset="0"/>
                <a:cs typeface="Arial" charset="0"/>
              </a:rPr>
              <a:t>File interface</a:t>
            </a:r>
            <a:endParaRPr kumimoji="0" lang="ko-KR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A268747-DD86-21D7-409C-EE4ADED49900}"/>
              </a:ext>
            </a:extLst>
          </p:cNvPr>
          <p:cNvSpPr/>
          <p:nvPr/>
        </p:nvSpPr>
        <p:spPr bwMode="auto">
          <a:xfrm>
            <a:off x="3429000" y="3629670"/>
            <a:ext cx="1981200" cy="381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VFS</a:t>
            </a:r>
            <a:endParaRPr kumimoji="0" lang="ko-KR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EF5F786-C429-FBFF-A636-8D945C436E66}"/>
              </a:ext>
            </a:extLst>
          </p:cNvPr>
          <p:cNvSpPr/>
          <p:nvPr/>
        </p:nvSpPr>
        <p:spPr bwMode="auto">
          <a:xfrm>
            <a:off x="3429000" y="3029380"/>
            <a:ext cx="1981200" cy="381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Logical filesystem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FC101D0-2D83-A44B-EC4A-ECC02E33B60A}"/>
              </a:ext>
            </a:extLst>
          </p:cNvPr>
          <p:cNvCxnSpPr>
            <a:stCxn id="10" idx="2"/>
            <a:endCxn id="17" idx="0"/>
          </p:cNvCxnSpPr>
          <p:nvPr/>
        </p:nvCxnSpPr>
        <p:spPr bwMode="auto">
          <a:xfrm>
            <a:off x="4419600" y="2209800"/>
            <a:ext cx="0" cy="21929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D600669-B9AF-DAF9-CE73-C3C9FC0B1D1B}"/>
              </a:ext>
            </a:extLst>
          </p:cNvPr>
          <p:cNvCxnSpPr/>
          <p:nvPr/>
        </p:nvCxnSpPr>
        <p:spPr bwMode="auto">
          <a:xfrm>
            <a:off x="4411211" y="2810090"/>
            <a:ext cx="0" cy="21929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CA002F5-C1AE-8EA6-2E2A-61F6726E9258}"/>
              </a:ext>
            </a:extLst>
          </p:cNvPr>
          <p:cNvCxnSpPr/>
          <p:nvPr/>
        </p:nvCxnSpPr>
        <p:spPr bwMode="auto">
          <a:xfrm>
            <a:off x="4419600" y="3429000"/>
            <a:ext cx="0" cy="21929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E87A97E-2E01-ACD7-514E-DED364199FD3}"/>
              </a:ext>
            </a:extLst>
          </p:cNvPr>
          <p:cNvSpPr/>
          <p:nvPr/>
        </p:nvSpPr>
        <p:spPr bwMode="auto">
          <a:xfrm>
            <a:off x="762000" y="4419600"/>
            <a:ext cx="914400" cy="533400"/>
          </a:xfrm>
          <a:prstGeom prst="round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IMFS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100" dirty="0"/>
              <a:t>M-MIMFS</a:t>
            </a:r>
            <a:endParaRPr kumimoji="0" lang="ko-KR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98EE1CC-DE5D-2226-1876-4C8448BCB5B3}"/>
              </a:ext>
            </a:extLst>
          </p:cNvPr>
          <p:cNvSpPr/>
          <p:nvPr/>
        </p:nvSpPr>
        <p:spPr bwMode="auto">
          <a:xfrm>
            <a:off x="2011254" y="4419600"/>
            <a:ext cx="914400" cy="533400"/>
          </a:xfrm>
          <a:prstGeom prst="round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YAFFS2</a:t>
            </a:r>
            <a:endParaRPr kumimoji="0" lang="ko-KR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779AFA5-C497-E4D3-D177-384AC096BC8F}"/>
              </a:ext>
            </a:extLst>
          </p:cNvPr>
          <p:cNvSpPr/>
          <p:nvPr/>
        </p:nvSpPr>
        <p:spPr bwMode="auto">
          <a:xfrm>
            <a:off x="3261904" y="4419600"/>
            <a:ext cx="914400" cy="533397"/>
          </a:xfrm>
          <a:prstGeom prst="round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600" dirty="0"/>
              <a:t>JFFS2</a:t>
            </a:r>
            <a:endParaRPr kumimoji="0" lang="ko-KR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DFCBAE3-A5C2-3D26-CEA4-57D03558F3C9}"/>
              </a:ext>
            </a:extLst>
          </p:cNvPr>
          <p:cNvSpPr/>
          <p:nvPr/>
        </p:nvSpPr>
        <p:spPr bwMode="auto">
          <a:xfrm>
            <a:off x="4506302" y="4419600"/>
            <a:ext cx="914400" cy="5333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RFS</a:t>
            </a: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976518E-31E6-C2D7-5AC3-8D3E733BEC51}"/>
              </a:ext>
            </a:extLst>
          </p:cNvPr>
          <p:cNvSpPr/>
          <p:nvPr/>
        </p:nvSpPr>
        <p:spPr bwMode="auto">
          <a:xfrm>
            <a:off x="5755556" y="4419600"/>
            <a:ext cx="914400" cy="5333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DOSFS</a:t>
            </a: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4692EFF-5EB7-0B1F-DA1E-92B44BAA083C}"/>
              </a:ext>
            </a:extLst>
          </p:cNvPr>
          <p:cNvSpPr/>
          <p:nvPr/>
        </p:nvSpPr>
        <p:spPr bwMode="auto">
          <a:xfrm>
            <a:off x="7004810" y="4419600"/>
            <a:ext cx="914400" cy="53339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DEVFS</a:t>
            </a: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0019CE89-B858-2B38-0C0E-511FDCE7A64F}"/>
              </a:ext>
            </a:extLst>
          </p:cNvPr>
          <p:cNvCxnSpPr>
            <a:cxnSpLocks/>
            <a:stCxn id="18" idx="2"/>
            <a:endCxn id="24" idx="0"/>
          </p:cNvCxnSpPr>
          <p:nvPr/>
        </p:nvCxnSpPr>
        <p:spPr bwMode="auto">
          <a:xfrm rot="5400000">
            <a:off x="2614935" y="2614935"/>
            <a:ext cx="408930" cy="3200400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연결선: 구부러짐 33">
            <a:extLst>
              <a:ext uri="{FF2B5EF4-FFF2-40B4-BE49-F238E27FC236}">
                <a16:creationId xmlns:a16="http://schemas.microsoft.com/office/drawing/2014/main" id="{2BD1DAED-9FA0-52B9-DAC7-D5840A8B0864}"/>
              </a:ext>
            </a:extLst>
          </p:cNvPr>
          <p:cNvCxnSpPr>
            <a:cxnSpLocks/>
            <a:stCxn id="18" idx="2"/>
            <a:endCxn id="25" idx="0"/>
          </p:cNvCxnSpPr>
          <p:nvPr/>
        </p:nvCxnSpPr>
        <p:spPr bwMode="auto">
          <a:xfrm rot="5400000">
            <a:off x="3239562" y="3239562"/>
            <a:ext cx="408930" cy="1951146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8E51DD52-3493-81AC-9201-39D458B04050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 bwMode="auto">
          <a:xfrm rot="5400000">
            <a:off x="3864887" y="3864887"/>
            <a:ext cx="408930" cy="700496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DF31D332-7807-5BF9-F849-A270D1C7C4A2}"/>
              </a:ext>
            </a:extLst>
          </p:cNvPr>
          <p:cNvCxnSpPr>
            <a:cxnSpLocks/>
            <a:stCxn id="18" idx="2"/>
            <a:endCxn id="27" idx="0"/>
          </p:cNvCxnSpPr>
          <p:nvPr/>
        </p:nvCxnSpPr>
        <p:spPr bwMode="auto">
          <a:xfrm rot="16200000" flipH="1">
            <a:off x="4487086" y="3943184"/>
            <a:ext cx="408930" cy="543902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402EAEBD-ADA9-F184-0E09-68E84EA67113}"/>
              </a:ext>
            </a:extLst>
          </p:cNvPr>
          <p:cNvCxnSpPr>
            <a:cxnSpLocks/>
            <a:stCxn id="18" idx="2"/>
            <a:endCxn id="28" idx="0"/>
          </p:cNvCxnSpPr>
          <p:nvPr/>
        </p:nvCxnSpPr>
        <p:spPr bwMode="auto">
          <a:xfrm rot="16200000" flipH="1">
            <a:off x="5111713" y="3318557"/>
            <a:ext cx="408930" cy="1793156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연결선: 구부러짐 42">
            <a:extLst>
              <a:ext uri="{FF2B5EF4-FFF2-40B4-BE49-F238E27FC236}">
                <a16:creationId xmlns:a16="http://schemas.microsoft.com/office/drawing/2014/main" id="{017BFE25-D9F8-C966-147C-562C76E48665}"/>
              </a:ext>
            </a:extLst>
          </p:cNvPr>
          <p:cNvCxnSpPr>
            <a:cxnSpLocks/>
            <a:stCxn id="18" idx="2"/>
            <a:endCxn id="29" idx="0"/>
          </p:cNvCxnSpPr>
          <p:nvPr/>
        </p:nvCxnSpPr>
        <p:spPr bwMode="auto">
          <a:xfrm rot="16200000" flipH="1">
            <a:off x="5736340" y="2693930"/>
            <a:ext cx="408930" cy="3042410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6D82DAE3-45D7-6509-5C5B-E148F4766DAA}"/>
              </a:ext>
            </a:extLst>
          </p:cNvPr>
          <p:cNvSpPr/>
          <p:nvPr/>
        </p:nvSpPr>
        <p:spPr bwMode="auto">
          <a:xfrm>
            <a:off x="3400676" y="5620179"/>
            <a:ext cx="1915502" cy="408930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Device driver</a:t>
            </a:r>
            <a:endParaRPr kumimoji="0" lang="ko-KR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241671" name="연결선: 구부러짐 241670">
            <a:extLst>
              <a:ext uri="{FF2B5EF4-FFF2-40B4-BE49-F238E27FC236}">
                <a16:creationId xmlns:a16="http://schemas.microsoft.com/office/drawing/2014/main" id="{E41538CF-FF67-AD60-C42D-E3649B254589}"/>
              </a:ext>
            </a:extLst>
          </p:cNvPr>
          <p:cNvCxnSpPr>
            <a:cxnSpLocks/>
            <a:stCxn id="25" idx="2"/>
            <a:endCxn id="44" idx="0"/>
          </p:cNvCxnSpPr>
          <p:nvPr/>
        </p:nvCxnSpPr>
        <p:spPr bwMode="auto">
          <a:xfrm rot="16200000" flipH="1">
            <a:off x="3079851" y="4341602"/>
            <a:ext cx="667179" cy="1889973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1674" name="연결선: 구부러짐 241673">
            <a:extLst>
              <a:ext uri="{FF2B5EF4-FFF2-40B4-BE49-F238E27FC236}">
                <a16:creationId xmlns:a16="http://schemas.microsoft.com/office/drawing/2014/main" id="{C72C75CA-8375-D3F5-48F8-2154BEBF97B7}"/>
              </a:ext>
            </a:extLst>
          </p:cNvPr>
          <p:cNvCxnSpPr>
            <a:cxnSpLocks/>
            <a:stCxn id="26" idx="2"/>
            <a:endCxn id="44" idx="0"/>
          </p:cNvCxnSpPr>
          <p:nvPr/>
        </p:nvCxnSpPr>
        <p:spPr bwMode="auto">
          <a:xfrm rot="16200000" flipH="1">
            <a:off x="3705174" y="4966926"/>
            <a:ext cx="667182" cy="639323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1678" name="연결선: 구부러짐 241677">
            <a:extLst>
              <a:ext uri="{FF2B5EF4-FFF2-40B4-BE49-F238E27FC236}">
                <a16:creationId xmlns:a16="http://schemas.microsoft.com/office/drawing/2014/main" id="{0EC5742E-263E-C525-1505-7F16E3E7906D}"/>
              </a:ext>
            </a:extLst>
          </p:cNvPr>
          <p:cNvCxnSpPr>
            <a:cxnSpLocks/>
            <a:stCxn id="29" idx="2"/>
            <a:endCxn id="44" idx="3"/>
          </p:cNvCxnSpPr>
          <p:nvPr/>
        </p:nvCxnSpPr>
        <p:spPr bwMode="auto">
          <a:xfrm rot="5400000">
            <a:off x="5953270" y="4315904"/>
            <a:ext cx="871648" cy="2145832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1686" name="사각형: 둥근 모서리 241685">
            <a:extLst>
              <a:ext uri="{FF2B5EF4-FFF2-40B4-BE49-F238E27FC236}">
                <a16:creationId xmlns:a16="http://schemas.microsoft.com/office/drawing/2014/main" id="{A1F178D2-014A-D1BB-60B1-61619345AFDB}"/>
              </a:ext>
            </a:extLst>
          </p:cNvPr>
          <p:cNvSpPr/>
          <p:nvPr/>
        </p:nvSpPr>
        <p:spPr bwMode="auto">
          <a:xfrm>
            <a:off x="6389094" y="2209799"/>
            <a:ext cx="1902543" cy="6375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 err="1"/>
              <a:t>Libbsd</a:t>
            </a:r>
            <a:r>
              <a:rPr lang="en-US" altLang="ko-KR" sz="1400" dirty="0"/>
              <a:t> network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/>
              <a:t>f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ilesystems</a:t>
            </a: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688" name="사각형: 둥근 모서리 241687">
            <a:extLst>
              <a:ext uri="{FF2B5EF4-FFF2-40B4-BE49-F238E27FC236}">
                <a16:creationId xmlns:a16="http://schemas.microsoft.com/office/drawing/2014/main" id="{132717AC-700F-BDCB-2D82-7417EA10B003}"/>
              </a:ext>
            </a:extLst>
          </p:cNvPr>
          <p:cNvSpPr/>
          <p:nvPr/>
        </p:nvSpPr>
        <p:spPr bwMode="auto">
          <a:xfrm>
            <a:off x="6400800" y="3110234"/>
            <a:ext cx="1902543" cy="6375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Libnetworking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/>
              <a:t>filesystems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241698" name="연결선: 구부러짐 241697">
            <a:extLst>
              <a:ext uri="{FF2B5EF4-FFF2-40B4-BE49-F238E27FC236}">
                <a16:creationId xmlns:a16="http://schemas.microsoft.com/office/drawing/2014/main" id="{42B2DC66-9451-FC27-4AC5-0E94000637B9}"/>
              </a:ext>
            </a:extLst>
          </p:cNvPr>
          <p:cNvCxnSpPr>
            <a:stCxn id="18" idx="3"/>
            <a:endCxn id="241688" idx="1"/>
          </p:cNvCxnSpPr>
          <p:nvPr/>
        </p:nvCxnSpPr>
        <p:spPr bwMode="auto">
          <a:xfrm flipV="1">
            <a:off x="5410200" y="3429000"/>
            <a:ext cx="990600" cy="391170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1702" name="연결선: 구부러짐 241701">
            <a:extLst>
              <a:ext uri="{FF2B5EF4-FFF2-40B4-BE49-F238E27FC236}">
                <a16:creationId xmlns:a16="http://schemas.microsoft.com/office/drawing/2014/main" id="{C16CA5D6-EDDC-9FE6-AA90-B559452A7516}"/>
              </a:ext>
            </a:extLst>
          </p:cNvPr>
          <p:cNvCxnSpPr>
            <a:stCxn id="18" idx="3"/>
            <a:endCxn id="241686" idx="1"/>
          </p:cNvCxnSpPr>
          <p:nvPr/>
        </p:nvCxnSpPr>
        <p:spPr bwMode="auto">
          <a:xfrm flipV="1">
            <a:off x="5410200" y="2528565"/>
            <a:ext cx="978894" cy="1291605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1720" name="사각형: 둥근 모서리 241719">
            <a:extLst>
              <a:ext uri="{FF2B5EF4-FFF2-40B4-BE49-F238E27FC236}">
                <a16:creationId xmlns:a16="http://schemas.microsoft.com/office/drawing/2014/main" id="{7ECFEFAB-0ED9-7C70-96A7-CEE4425D0BAF}"/>
              </a:ext>
            </a:extLst>
          </p:cNvPr>
          <p:cNvSpPr/>
          <p:nvPr/>
        </p:nvSpPr>
        <p:spPr bwMode="auto">
          <a:xfrm>
            <a:off x="4918022" y="5086782"/>
            <a:ext cx="1482778" cy="399610"/>
          </a:xfrm>
          <a:prstGeom prst="roundRect">
            <a:avLst/>
          </a:prstGeom>
          <a:solidFill>
            <a:srgbClr val="EDF0D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Buffer,cache</a:t>
            </a:r>
            <a:endParaRPr kumimoji="0" lang="ko-KR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241722" name="연결선: 구부러짐 241721">
            <a:extLst>
              <a:ext uri="{FF2B5EF4-FFF2-40B4-BE49-F238E27FC236}">
                <a16:creationId xmlns:a16="http://schemas.microsoft.com/office/drawing/2014/main" id="{D9D74294-C81D-C162-C90D-6C430BF4EFC8}"/>
              </a:ext>
            </a:extLst>
          </p:cNvPr>
          <p:cNvCxnSpPr>
            <a:stCxn id="27" idx="2"/>
            <a:endCxn id="241720" idx="0"/>
          </p:cNvCxnSpPr>
          <p:nvPr/>
        </p:nvCxnSpPr>
        <p:spPr bwMode="auto">
          <a:xfrm rot="16200000" flipH="1">
            <a:off x="5244563" y="4671934"/>
            <a:ext cx="133786" cy="695909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1724" name="연결선: 구부러짐 241723">
            <a:extLst>
              <a:ext uri="{FF2B5EF4-FFF2-40B4-BE49-F238E27FC236}">
                <a16:creationId xmlns:a16="http://schemas.microsoft.com/office/drawing/2014/main" id="{81A20EAE-DBE5-7C7B-CCE0-AB613D81FCE6}"/>
              </a:ext>
            </a:extLst>
          </p:cNvPr>
          <p:cNvCxnSpPr>
            <a:stCxn id="28" idx="2"/>
            <a:endCxn id="241720" idx="0"/>
          </p:cNvCxnSpPr>
          <p:nvPr/>
        </p:nvCxnSpPr>
        <p:spPr bwMode="auto">
          <a:xfrm rot="5400000">
            <a:off x="5869191" y="4743217"/>
            <a:ext cx="133786" cy="553345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1726" name="연결선: 구부러짐 241725">
            <a:extLst>
              <a:ext uri="{FF2B5EF4-FFF2-40B4-BE49-F238E27FC236}">
                <a16:creationId xmlns:a16="http://schemas.microsoft.com/office/drawing/2014/main" id="{00EAEE5F-E1A2-17E5-564B-1B530E53D802}"/>
              </a:ext>
            </a:extLst>
          </p:cNvPr>
          <p:cNvCxnSpPr>
            <a:stCxn id="241720" idx="2"/>
            <a:endCxn id="44" idx="3"/>
          </p:cNvCxnSpPr>
          <p:nvPr/>
        </p:nvCxnSpPr>
        <p:spPr bwMode="auto">
          <a:xfrm rot="5400000">
            <a:off x="5318669" y="5483902"/>
            <a:ext cx="338252" cy="343233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6689773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B9FAA-73D3-8E84-7631-D6C93C0D5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15722C74-5B17-6CD6-A4EE-4FBF705DE9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File descriptor table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A13C040-69E8-9D07-4142-5817403ED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7" y="1520825"/>
            <a:ext cx="8035925" cy="259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endParaRPr lang="en-US" altLang="ko-KR" sz="2400" kern="0" dirty="0"/>
          </a:p>
          <a:p>
            <a:pPr latinLnBrk="1"/>
            <a:r>
              <a:rPr lang="en-US" altLang="ko-KR" sz="1900" kern="0" dirty="0"/>
              <a:t>Add a File Descriptor Table(</a:t>
            </a:r>
            <a:r>
              <a:rPr lang="en-US" altLang="ko-KR" sz="1900" kern="0" dirty="0">
                <a:solidFill>
                  <a:srgbClr val="0070C0"/>
                </a:solidFill>
              </a:rPr>
              <a:t>FDT</a:t>
            </a:r>
            <a:r>
              <a:rPr lang="en-US" altLang="ko-KR" sz="1900" kern="0" dirty="0"/>
              <a:t>) as a member to the thread struct</a:t>
            </a:r>
          </a:p>
          <a:p>
            <a:pPr latinLnBrk="1"/>
            <a:r>
              <a:rPr lang="en-US" altLang="ko-KR" sz="1900" kern="0" dirty="0">
                <a:solidFill>
                  <a:srgbClr val="0070C0"/>
                </a:solidFill>
              </a:rPr>
              <a:t>int</a:t>
            </a:r>
            <a:r>
              <a:rPr lang="en-US" altLang="ko-KR" sz="1900" kern="0" dirty="0"/>
              <a:t> </a:t>
            </a:r>
            <a:r>
              <a:rPr lang="en-US" altLang="ko-KR" sz="1900" kern="0" dirty="0" err="1"/>
              <a:t>process_add_file</a:t>
            </a:r>
            <a:r>
              <a:rPr lang="en-US" altLang="ko-KR" sz="1900" kern="0" dirty="0"/>
              <a:t>(</a:t>
            </a:r>
            <a:r>
              <a:rPr lang="en-US" altLang="ko-KR" sz="1900" kern="0" dirty="0">
                <a:solidFill>
                  <a:srgbClr val="0070C0"/>
                </a:solidFill>
              </a:rPr>
              <a:t>struct</a:t>
            </a:r>
            <a:r>
              <a:rPr lang="en-US" altLang="ko-KR" sz="1900" kern="0" dirty="0"/>
              <a:t> file *f) : Add a file object to the FDT and returns the newly assigned file descriptor.</a:t>
            </a:r>
          </a:p>
          <a:p>
            <a:pPr latinLnBrk="1"/>
            <a:r>
              <a:rPr lang="en-US" altLang="ko-KR" sz="1900" kern="0" dirty="0">
                <a:solidFill>
                  <a:srgbClr val="0070C0"/>
                </a:solidFill>
              </a:rPr>
              <a:t>struct</a:t>
            </a:r>
            <a:r>
              <a:rPr lang="en-US" altLang="ko-KR" sz="1900" kern="0" dirty="0"/>
              <a:t> </a:t>
            </a:r>
            <a:r>
              <a:rPr lang="en-US" altLang="ko-KR" sz="1900" kern="0" dirty="0">
                <a:solidFill>
                  <a:srgbClr val="0070C0"/>
                </a:solidFill>
              </a:rPr>
              <a:t>file</a:t>
            </a:r>
            <a:r>
              <a:rPr lang="en-US" altLang="ko-KR" sz="1900" kern="0" dirty="0"/>
              <a:t>* </a:t>
            </a:r>
            <a:r>
              <a:rPr lang="en-US" altLang="ko-KR" sz="1900" kern="0" dirty="0" err="1"/>
              <a:t>process_get_file</a:t>
            </a:r>
            <a:r>
              <a:rPr lang="en-US" altLang="ko-KR" sz="1900" kern="0" dirty="0"/>
              <a:t>(</a:t>
            </a:r>
            <a:r>
              <a:rPr lang="en-US" altLang="ko-KR" sz="1900" kern="0" dirty="0">
                <a:solidFill>
                  <a:srgbClr val="0070C0"/>
                </a:solidFill>
              </a:rPr>
              <a:t>int</a:t>
            </a:r>
            <a:r>
              <a:rPr lang="en-US" altLang="ko-KR" sz="1900" kern="0" dirty="0"/>
              <a:t> </a:t>
            </a:r>
            <a:r>
              <a:rPr lang="en-US" altLang="ko-KR" sz="1900" kern="0" dirty="0" err="1"/>
              <a:t>fd</a:t>
            </a:r>
            <a:r>
              <a:rPr lang="en-US" altLang="ko-KR" sz="1900" kern="0" dirty="0"/>
              <a:t>) : Retrieves a file object from the FDT using a file </a:t>
            </a:r>
            <a:r>
              <a:rPr lang="en-US" altLang="ko-KR" sz="1900" kern="0" dirty="0" err="1"/>
              <a:t>descripor</a:t>
            </a:r>
            <a:endParaRPr lang="en-US" altLang="ko-KR" sz="1900" kern="0" dirty="0"/>
          </a:p>
          <a:p>
            <a:pPr latinLnBrk="1"/>
            <a:endParaRPr lang="en-US" altLang="ko-KR" sz="1900" kern="0" dirty="0"/>
          </a:p>
          <a:p>
            <a:pPr marL="0" indent="0" latinLnBrk="1">
              <a:buNone/>
            </a:pPr>
            <a:endParaRPr lang="en-US" altLang="ko-KR" sz="1500" kern="0" dirty="0"/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marL="471487" lvl="1" indent="0" latinLnBrk="1">
              <a:buNone/>
            </a:pPr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lvl="3" latinLnBrk="1"/>
            <a:endParaRPr lang="en-US" altLang="ko-KR" sz="800" kern="0" dirty="0"/>
          </a:p>
          <a:p>
            <a:pPr latinLnBrk="1"/>
            <a:endParaRPr lang="en-US" altLang="ko-KR" sz="2000" kern="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3F917B9-04AC-D6C3-A808-4455B5875C1A}"/>
              </a:ext>
            </a:extLst>
          </p:cNvPr>
          <p:cNvSpPr/>
          <p:nvPr/>
        </p:nvSpPr>
        <p:spPr bwMode="auto">
          <a:xfrm>
            <a:off x="569277" y="4470400"/>
            <a:ext cx="2362200" cy="1447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B050"/>
                </a:solidFill>
                <a:latin typeface="Verdana" pitchFamily="34" charset="0"/>
                <a:cs typeface="Arial" charset="0"/>
              </a:rPr>
              <a:t>struct</a:t>
            </a:r>
            <a:r>
              <a:rPr lang="en-US" altLang="ko-KR" sz="1400" dirty="0">
                <a:solidFill>
                  <a:schemeClr val="tx1"/>
                </a:solidFill>
                <a:latin typeface="Verdana" pitchFamily="34" charset="0"/>
                <a:cs typeface="Arial" charset="0"/>
              </a:rPr>
              <a:t> thread{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…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100" dirty="0">
                <a:solidFill>
                  <a:srgbClr val="0000FF"/>
                </a:solidFill>
                <a:latin typeface="Verdana" pitchFamily="34" charset="0"/>
                <a:cs typeface="Arial" charset="0"/>
              </a:rPr>
              <a:t>struct file* </a:t>
            </a:r>
            <a:r>
              <a:rPr lang="en-US" altLang="ko-KR" sz="1100" dirty="0" err="1">
                <a:solidFill>
                  <a:srgbClr val="0000FF"/>
                </a:solidFill>
                <a:latin typeface="Verdana" pitchFamily="34" charset="0"/>
                <a:cs typeface="Arial" charset="0"/>
              </a:rPr>
              <a:t>fd_table</a:t>
            </a:r>
            <a:r>
              <a:rPr lang="en-US" altLang="ko-KR" sz="1100" dirty="0">
                <a:solidFill>
                  <a:srgbClr val="0000FF"/>
                </a:solidFill>
                <a:latin typeface="Verdana" pitchFamily="34" charset="0"/>
                <a:cs typeface="Arial" charset="0"/>
              </a:rPr>
              <a:t>[FDTABLE_SIZE]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chemeClr val="tx1"/>
                </a:solidFill>
                <a:latin typeface="Verdana" pitchFamily="34" charset="0"/>
                <a:cs typeface="Arial" charset="0"/>
              </a:rPr>
              <a:t>…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}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85D288-2AB3-4E24-95FF-49F35E3DBF5B}"/>
              </a:ext>
            </a:extLst>
          </p:cNvPr>
          <p:cNvSpPr txBox="1"/>
          <p:nvPr/>
        </p:nvSpPr>
        <p:spPr>
          <a:xfrm>
            <a:off x="2169478" y="5651584"/>
            <a:ext cx="9144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err="1"/>
              <a:t>thread.h</a:t>
            </a:r>
            <a:endParaRPr lang="ko-KR" altLang="en-US" sz="1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E68039-C075-CD4B-B45A-C589562CC0BB}"/>
              </a:ext>
            </a:extLst>
          </p:cNvPr>
          <p:cNvSpPr/>
          <p:nvPr/>
        </p:nvSpPr>
        <p:spPr bwMode="auto">
          <a:xfrm>
            <a:off x="3390900" y="4465320"/>
            <a:ext cx="2362200" cy="1447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 err="1">
                <a:solidFill>
                  <a:srgbClr val="00B050"/>
                </a:solidFill>
                <a:latin typeface="Verdana" pitchFamily="34" charset="0"/>
                <a:cs typeface="Arial" charset="0"/>
              </a:rPr>
              <a:t>process_add_file</a:t>
            </a:r>
            <a:r>
              <a:rPr lang="en-US" altLang="ko-KR" sz="1400" dirty="0">
                <a:solidFill>
                  <a:schemeClr val="tx1"/>
                </a:solidFill>
                <a:latin typeface="Verdana" pitchFamily="34" charset="0"/>
                <a:cs typeface="Arial" charset="0"/>
              </a:rPr>
              <a:t>(file){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dirty="0">
                <a:solidFill>
                  <a:srgbClr val="0000FF"/>
                </a:solidFill>
                <a:latin typeface="Verdana" pitchFamily="34" charset="0"/>
                <a:cs typeface="Arial" charset="0"/>
              </a:rPr>
              <a:t>…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dirty="0">
                <a:solidFill>
                  <a:srgbClr val="0000FF"/>
                </a:solidFill>
                <a:latin typeface="Verdana" pitchFamily="34" charset="0"/>
                <a:cs typeface="Arial" charset="0"/>
              </a:rPr>
              <a:t>for(</a:t>
            </a:r>
            <a:r>
              <a:rPr lang="en-US" altLang="ko-KR" sz="1050" dirty="0" err="1">
                <a:solidFill>
                  <a:srgbClr val="0000FF"/>
                </a:solidFill>
                <a:latin typeface="Verdana" pitchFamily="34" charset="0"/>
                <a:cs typeface="Arial" charset="0"/>
              </a:rPr>
              <a:t>i</a:t>
            </a:r>
            <a:r>
              <a:rPr lang="en-US" altLang="ko-KR" sz="1050" dirty="0">
                <a:solidFill>
                  <a:srgbClr val="0000FF"/>
                </a:solidFill>
                <a:latin typeface="Verdana" pitchFamily="34" charset="0"/>
                <a:cs typeface="Arial" charset="0"/>
              </a:rPr>
              <a:t>=3, </a:t>
            </a:r>
            <a:r>
              <a:rPr lang="en-US" altLang="ko-KR" sz="1050" dirty="0" err="1">
                <a:solidFill>
                  <a:srgbClr val="0000FF"/>
                </a:solidFill>
                <a:latin typeface="Verdana" pitchFamily="34" charset="0"/>
                <a:cs typeface="Arial" charset="0"/>
              </a:rPr>
              <a:t>i</a:t>
            </a:r>
            <a:r>
              <a:rPr lang="en-US" altLang="ko-KR" sz="1050" dirty="0">
                <a:solidFill>
                  <a:srgbClr val="0000FF"/>
                </a:solidFill>
                <a:latin typeface="Verdana" pitchFamily="34" charset="0"/>
                <a:cs typeface="Arial" charset="0"/>
              </a:rPr>
              <a:t>&lt;</a:t>
            </a:r>
            <a:r>
              <a:rPr lang="en-US" altLang="ko-KR" sz="1050" dirty="0" err="1">
                <a:solidFill>
                  <a:srgbClr val="0000FF"/>
                </a:solidFill>
                <a:latin typeface="Verdana" pitchFamily="34" charset="0"/>
                <a:cs typeface="Arial" charset="0"/>
              </a:rPr>
              <a:t>FD_SIZE,i</a:t>
            </a:r>
            <a:r>
              <a:rPr lang="en-US" altLang="ko-KR" sz="1050" dirty="0">
                <a:solidFill>
                  <a:srgbClr val="0000FF"/>
                </a:solidFill>
                <a:latin typeface="Verdana" pitchFamily="34" charset="0"/>
                <a:cs typeface="Arial" charset="0"/>
              </a:rPr>
              <a:t>++){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dirty="0">
                <a:solidFill>
                  <a:srgbClr val="0000FF"/>
                </a:solidFill>
                <a:latin typeface="Verdana" pitchFamily="34" charset="0"/>
                <a:cs typeface="Arial" charset="0"/>
              </a:rPr>
              <a:t>…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dirty="0">
                <a:solidFill>
                  <a:srgbClr val="0000FF"/>
                </a:solidFill>
                <a:latin typeface="Verdana" pitchFamily="34" charset="0"/>
                <a:cs typeface="Arial" charset="0"/>
              </a:rPr>
              <a:t>if(</a:t>
            </a:r>
            <a:r>
              <a:rPr lang="en-US" altLang="ko-KR" sz="1050" dirty="0" err="1">
                <a:solidFill>
                  <a:srgbClr val="0000FF"/>
                </a:solidFill>
                <a:latin typeface="Verdana" pitchFamily="34" charset="0"/>
                <a:cs typeface="Arial" charset="0"/>
              </a:rPr>
              <a:t>fd_table</a:t>
            </a:r>
            <a:r>
              <a:rPr lang="en-US" altLang="ko-KR" sz="1050" dirty="0">
                <a:solidFill>
                  <a:srgbClr val="0000FF"/>
                </a:solidFill>
                <a:latin typeface="Verdana" pitchFamily="34" charset="0"/>
                <a:cs typeface="Arial" charset="0"/>
              </a:rPr>
              <a:t>[</a:t>
            </a:r>
            <a:r>
              <a:rPr lang="en-US" altLang="ko-KR" sz="1050" dirty="0" err="1">
                <a:solidFill>
                  <a:srgbClr val="0000FF"/>
                </a:solidFill>
                <a:latin typeface="Verdana" pitchFamily="34" charset="0"/>
                <a:cs typeface="Arial" charset="0"/>
              </a:rPr>
              <a:t>i</a:t>
            </a:r>
            <a:r>
              <a:rPr lang="en-US" altLang="ko-KR" sz="1050" dirty="0">
                <a:solidFill>
                  <a:srgbClr val="0000FF"/>
                </a:solidFill>
                <a:latin typeface="Verdana" pitchFamily="34" charset="0"/>
                <a:cs typeface="Arial" charset="0"/>
              </a:rPr>
              <a:t>]==NULL){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dirty="0" err="1">
                <a:solidFill>
                  <a:srgbClr val="0000FF"/>
                </a:solidFill>
                <a:latin typeface="Verdana" pitchFamily="34" charset="0"/>
                <a:cs typeface="Arial" charset="0"/>
              </a:rPr>
              <a:t>fd_table</a:t>
            </a:r>
            <a:r>
              <a:rPr lang="en-US" altLang="ko-KR" sz="1050" dirty="0">
                <a:solidFill>
                  <a:srgbClr val="0000FF"/>
                </a:solidFill>
                <a:latin typeface="Verdana" pitchFamily="34" charset="0"/>
                <a:cs typeface="Arial" charset="0"/>
              </a:rPr>
              <a:t>[</a:t>
            </a:r>
            <a:r>
              <a:rPr lang="en-US" altLang="ko-KR" sz="1050" dirty="0" err="1">
                <a:solidFill>
                  <a:srgbClr val="0000FF"/>
                </a:solidFill>
                <a:latin typeface="Verdana" pitchFamily="34" charset="0"/>
                <a:cs typeface="Arial" charset="0"/>
              </a:rPr>
              <a:t>i</a:t>
            </a:r>
            <a:r>
              <a:rPr lang="en-US" altLang="ko-KR" sz="1050" dirty="0">
                <a:solidFill>
                  <a:srgbClr val="0000FF"/>
                </a:solidFill>
                <a:latin typeface="Verdana" pitchFamily="34" charset="0"/>
                <a:cs typeface="Arial" charset="0"/>
              </a:rPr>
              <a:t>]=file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dirty="0">
                <a:solidFill>
                  <a:srgbClr val="FF0000"/>
                </a:solidFill>
                <a:latin typeface="Verdana" pitchFamily="34" charset="0"/>
                <a:cs typeface="Arial" charset="0"/>
              </a:rPr>
              <a:t>return </a:t>
            </a:r>
            <a:r>
              <a:rPr lang="en-US" altLang="ko-KR" sz="1050" dirty="0" err="1">
                <a:solidFill>
                  <a:srgbClr val="FF0000"/>
                </a:solidFill>
                <a:latin typeface="Verdana" pitchFamily="34" charset="0"/>
                <a:cs typeface="Arial" charset="0"/>
              </a:rPr>
              <a:t>i</a:t>
            </a:r>
            <a:endParaRPr lang="en-US" altLang="ko-KR" sz="1050" dirty="0">
              <a:solidFill>
                <a:srgbClr val="0000FF"/>
              </a:solidFill>
              <a:latin typeface="Verdana" pitchFamily="34" charset="0"/>
              <a:cs typeface="Arial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}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9B25E8-ED60-E081-578F-BD089CBF0709}"/>
              </a:ext>
            </a:extLst>
          </p:cNvPr>
          <p:cNvSpPr txBox="1"/>
          <p:nvPr/>
        </p:nvSpPr>
        <p:spPr>
          <a:xfrm>
            <a:off x="4874579" y="5689684"/>
            <a:ext cx="9144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err="1"/>
              <a:t>process.c</a:t>
            </a:r>
            <a:endParaRPr lang="ko-KR" altLang="en-US" sz="10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79644E-A9AB-19D6-3A02-EE8989A1A9AD}"/>
              </a:ext>
            </a:extLst>
          </p:cNvPr>
          <p:cNvSpPr/>
          <p:nvPr/>
        </p:nvSpPr>
        <p:spPr bwMode="auto">
          <a:xfrm>
            <a:off x="6212523" y="4465320"/>
            <a:ext cx="2362200" cy="1447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 err="1">
                <a:solidFill>
                  <a:srgbClr val="00B050"/>
                </a:solidFill>
                <a:latin typeface="Verdana" pitchFamily="34" charset="0"/>
                <a:cs typeface="Arial" charset="0"/>
              </a:rPr>
              <a:t>process_get_file</a:t>
            </a:r>
            <a:r>
              <a:rPr lang="en-US" altLang="ko-KR" sz="1400" dirty="0">
                <a:solidFill>
                  <a:schemeClr val="tx1"/>
                </a:solidFill>
                <a:latin typeface="Verdana" pitchFamily="34" charset="0"/>
                <a:cs typeface="Arial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Verdana" pitchFamily="34" charset="0"/>
                <a:cs typeface="Arial" charset="0"/>
              </a:rPr>
              <a:t>fd</a:t>
            </a:r>
            <a:r>
              <a:rPr lang="en-US" altLang="ko-KR" sz="1400" dirty="0">
                <a:solidFill>
                  <a:schemeClr val="tx1"/>
                </a:solidFill>
                <a:latin typeface="Verdana" pitchFamily="34" charset="0"/>
                <a:cs typeface="Arial" charset="0"/>
              </a:rPr>
              <a:t>){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dirty="0">
                <a:solidFill>
                  <a:srgbClr val="0000FF"/>
                </a:solidFill>
                <a:latin typeface="Verdana" pitchFamily="34" charset="0"/>
                <a:cs typeface="Arial" charset="0"/>
              </a:rPr>
              <a:t>…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dirty="0">
                <a:solidFill>
                  <a:srgbClr val="0000FF"/>
                </a:solidFill>
                <a:latin typeface="Verdana" pitchFamily="34" charset="0"/>
                <a:cs typeface="Arial" charset="0"/>
              </a:rPr>
              <a:t>Thread* t = </a:t>
            </a:r>
            <a:r>
              <a:rPr lang="en-US" altLang="ko-KR" sz="1050" dirty="0" err="1">
                <a:solidFill>
                  <a:srgbClr val="0000FF"/>
                </a:solidFill>
                <a:latin typeface="Verdana" pitchFamily="34" charset="0"/>
                <a:cs typeface="Arial" charset="0"/>
              </a:rPr>
              <a:t>thread_current</a:t>
            </a:r>
            <a:r>
              <a:rPr lang="en-US" altLang="ko-KR" sz="1050" dirty="0">
                <a:solidFill>
                  <a:srgbClr val="0000FF"/>
                </a:solidFill>
                <a:latin typeface="Verdana" pitchFamily="34" charset="0"/>
                <a:cs typeface="Arial" charset="0"/>
              </a:rPr>
              <a:t>()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dirty="0">
                <a:solidFill>
                  <a:srgbClr val="FF0000"/>
                </a:solidFill>
                <a:latin typeface="Verdana" pitchFamily="34" charset="0"/>
                <a:cs typeface="Arial" charset="0"/>
              </a:rPr>
              <a:t>return t-&gt;</a:t>
            </a:r>
            <a:r>
              <a:rPr lang="en-US" altLang="ko-KR" sz="1050" dirty="0" err="1">
                <a:solidFill>
                  <a:srgbClr val="FF0000"/>
                </a:solidFill>
                <a:latin typeface="Verdana" pitchFamily="34" charset="0"/>
                <a:cs typeface="Arial" charset="0"/>
              </a:rPr>
              <a:t>fd_table</a:t>
            </a:r>
            <a:r>
              <a:rPr lang="en-US" altLang="ko-KR" sz="1050" dirty="0">
                <a:solidFill>
                  <a:srgbClr val="FF0000"/>
                </a:solidFill>
                <a:latin typeface="Verdana" pitchFamily="34" charset="0"/>
                <a:cs typeface="Arial" charset="0"/>
              </a:rPr>
              <a:t>[</a:t>
            </a:r>
            <a:r>
              <a:rPr lang="en-US" altLang="ko-KR" sz="1050" dirty="0" err="1">
                <a:solidFill>
                  <a:srgbClr val="FF0000"/>
                </a:solidFill>
                <a:latin typeface="Verdana" pitchFamily="34" charset="0"/>
                <a:cs typeface="Arial" charset="0"/>
              </a:rPr>
              <a:t>fd</a:t>
            </a:r>
            <a:r>
              <a:rPr lang="en-US" altLang="ko-KR" sz="1050" dirty="0">
                <a:solidFill>
                  <a:srgbClr val="FF0000"/>
                </a:solidFill>
                <a:latin typeface="Verdana" pitchFamily="34" charset="0"/>
                <a:cs typeface="Arial" charset="0"/>
              </a:rPr>
              <a:t>]</a:t>
            </a:r>
            <a:endParaRPr lang="en-US" altLang="ko-KR" sz="1050" dirty="0">
              <a:solidFill>
                <a:srgbClr val="0000FF"/>
              </a:solidFill>
              <a:latin typeface="Verdana" pitchFamily="34" charset="0"/>
              <a:cs typeface="Arial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}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D9D23E-FB60-3FD7-A203-F54AAF2F5021}"/>
              </a:ext>
            </a:extLst>
          </p:cNvPr>
          <p:cNvSpPr txBox="1"/>
          <p:nvPr/>
        </p:nvSpPr>
        <p:spPr>
          <a:xfrm>
            <a:off x="7784465" y="5689684"/>
            <a:ext cx="9144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err="1"/>
              <a:t>process.c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499871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A1832-A58A-16A2-C69D-1A8BD090D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3A06F4EF-1A65-395A-5A8B-B0F1CA6133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 err="1"/>
              <a:t>filesys_lock</a:t>
            </a:r>
            <a:endParaRPr lang="en-US" altLang="ko-KR" sz="36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7BAA7D3-1525-031D-E3BB-B6C9FFF4E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7" y="1520825"/>
            <a:ext cx="8035925" cy="167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endParaRPr lang="en-US" altLang="ko-KR" sz="2400" kern="0" dirty="0"/>
          </a:p>
          <a:p>
            <a:pPr latinLnBrk="1"/>
            <a:r>
              <a:rPr lang="en-US" altLang="ko-KR" sz="1400" kern="0" dirty="0"/>
              <a:t>A single global lock, </a:t>
            </a:r>
            <a:r>
              <a:rPr lang="en-US" altLang="ko-KR" sz="1400" kern="0" dirty="0" err="1"/>
              <a:t>filesys_lock</a:t>
            </a:r>
            <a:r>
              <a:rPr lang="en-US" altLang="ko-KR" sz="1400" kern="0" dirty="0"/>
              <a:t>, protects the entire file system</a:t>
            </a:r>
          </a:p>
          <a:p>
            <a:pPr latinLnBrk="1"/>
            <a:r>
              <a:rPr lang="en-US" altLang="ko-KR" sz="1400" kern="0" dirty="0"/>
              <a:t>Every file system operation(</a:t>
            </a:r>
            <a:r>
              <a:rPr lang="en-US" altLang="ko-KR" sz="1400" kern="0" dirty="0" err="1"/>
              <a:t>open,create,write,etc</a:t>
            </a:r>
            <a:r>
              <a:rPr lang="en-US" altLang="ko-KR" sz="1400" kern="0" dirty="0"/>
              <a:t>.)must acquire this lock before proceeding.</a:t>
            </a:r>
          </a:p>
          <a:p>
            <a:pPr latinLnBrk="1"/>
            <a:r>
              <a:rPr lang="en-US" altLang="ko-KR" sz="1400" kern="0" dirty="0"/>
              <a:t>This strategy serializes all file system access, preventing any concurrent operation</a:t>
            </a:r>
            <a:endParaRPr lang="en-US" altLang="ko-KR" sz="1600" kern="0" dirty="0"/>
          </a:p>
          <a:p>
            <a:pPr latinLnBrk="1"/>
            <a:endParaRPr lang="en-US" altLang="ko-KR" sz="1900" kern="0" dirty="0"/>
          </a:p>
          <a:p>
            <a:pPr marL="0" indent="0" latinLnBrk="1">
              <a:buNone/>
            </a:pPr>
            <a:endParaRPr lang="en-US" altLang="ko-KR" sz="1500" kern="0" dirty="0"/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marL="471487" lvl="1" indent="0" latinLnBrk="1">
              <a:buNone/>
            </a:pPr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lvl="3" latinLnBrk="1"/>
            <a:endParaRPr lang="en-US" altLang="ko-KR" sz="800" kern="0" dirty="0"/>
          </a:p>
          <a:p>
            <a:pPr latinLnBrk="1"/>
            <a:endParaRPr lang="en-US" altLang="ko-KR" sz="2000" kern="0" dirty="0"/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F81D00-B42A-0210-27E7-B7EC34A54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97" y="3208019"/>
            <a:ext cx="2775904" cy="2819401"/>
          </a:xfrm>
          <a:prstGeom prst="rect">
            <a:avLst/>
          </a:prstGeom>
        </p:spPr>
      </p:pic>
      <p:pic>
        <p:nvPicPr>
          <p:cNvPr id="10" name="그림 9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1ACE82-2DEB-1B4F-CBA1-14B52AFDD5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00" y="3208020"/>
            <a:ext cx="2775904" cy="2819400"/>
          </a:xfrm>
          <a:prstGeom prst="rect">
            <a:avLst/>
          </a:prstGeom>
        </p:spPr>
      </p:pic>
      <p:pic>
        <p:nvPicPr>
          <p:cNvPr id="14" name="그림 13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F5537A-F329-17C2-411C-D4A4F8E5C3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704" y="3208019"/>
            <a:ext cx="2341562" cy="282701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95893D-3B2C-4F83-65DF-463DFA6573A9}"/>
              </a:ext>
            </a:extLst>
          </p:cNvPr>
          <p:cNvSpPr/>
          <p:nvPr/>
        </p:nvSpPr>
        <p:spPr bwMode="auto">
          <a:xfrm>
            <a:off x="613885" y="3993394"/>
            <a:ext cx="2662715" cy="19760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36131FA-B6A4-D187-B5D3-4DCE50249269}"/>
              </a:ext>
            </a:extLst>
          </p:cNvPr>
          <p:cNvSpPr/>
          <p:nvPr/>
        </p:nvSpPr>
        <p:spPr bwMode="auto">
          <a:xfrm>
            <a:off x="650875" y="4572000"/>
            <a:ext cx="2701925" cy="22860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CC19401-4251-6408-CD80-E336C3FB867D}"/>
              </a:ext>
            </a:extLst>
          </p:cNvPr>
          <p:cNvSpPr/>
          <p:nvPr/>
        </p:nvSpPr>
        <p:spPr bwMode="auto">
          <a:xfrm>
            <a:off x="613885" y="5379205"/>
            <a:ext cx="2701925" cy="22860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5E25555-FF05-DF99-5CBC-A44C5976BE80}"/>
              </a:ext>
            </a:extLst>
          </p:cNvPr>
          <p:cNvSpPr/>
          <p:nvPr/>
        </p:nvSpPr>
        <p:spPr bwMode="auto">
          <a:xfrm>
            <a:off x="3657600" y="3733800"/>
            <a:ext cx="1591056" cy="152399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186BD7F-D567-F9D0-5E35-35D5D3D458D2}"/>
              </a:ext>
            </a:extLst>
          </p:cNvPr>
          <p:cNvSpPr/>
          <p:nvPr/>
        </p:nvSpPr>
        <p:spPr bwMode="auto">
          <a:xfrm>
            <a:off x="3733800" y="4114799"/>
            <a:ext cx="1591056" cy="152399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BD474A-FD83-7736-2B8A-2BCB52461B66}"/>
              </a:ext>
            </a:extLst>
          </p:cNvPr>
          <p:cNvSpPr/>
          <p:nvPr/>
        </p:nvSpPr>
        <p:spPr bwMode="auto">
          <a:xfrm>
            <a:off x="3776471" y="4926328"/>
            <a:ext cx="1591056" cy="152399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75699C5-3BC3-DAB9-C6E2-BEF5B2CE4D87}"/>
              </a:ext>
            </a:extLst>
          </p:cNvPr>
          <p:cNvSpPr/>
          <p:nvPr/>
        </p:nvSpPr>
        <p:spPr bwMode="auto">
          <a:xfrm>
            <a:off x="3749801" y="5452108"/>
            <a:ext cx="1591056" cy="152399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8D97096-AAFB-8CC0-2867-90B00207491E}"/>
              </a:ext>
            </a:extLst>
          </p:cNvPr>
          <p:cNvSpPr/>
          <p:nvPr/>
        </p:nvSpPr>
        <p:spPr bwMode="auto">
          <a:xfrm>
            <a:off x="6585903" y="4375149"/>
            <a:ext cx="1591056" cy="22860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EAE9941-4D0A-85BC-2F33-C0CFFFAB30A1}"/>
              </a:ext>
            </a:extLst>
          </p:cNvPr>
          <p:cNvSpPr/>
          <p:nvPr/>
        </p:nvSpPr>
        <p:spPr bwMode="auto">
          <a:xfrm>
            <a:off x="6585903" y="4888227"/>
            <a:ext cx="1591056" cy="22860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2461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A5A9B-D65F-145D-4DCD-0D1539183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620B39EB-2027-58BD-83E8-EF03818D7A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0" y="244835"/>
            <a:ext cx="8001000" cy="1216025"/>
          </a:xfrm>
        </p:spPr>
        <p:txBody>
          <a:bodyPr/>
          <a:lstStyle/>
          <a:p>
            <a:r>
              <a:rPr lang="en-US" altLang="ko-KR" sz="3600" dirty="0"/>
              <a:t>synchronization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E0B6A6-7FCB-E40A-588F-186094DA169F}"/>
              </a:ext>
            </a:extLst>
          </p:cNvPr>
          <p:cNvSpPr/>
          <p:nvPr/>
        </p:nvSpPr>
        <p:spPr bwMode="auto">
          <a:xfrm>
            <a:off x="990600" y="2133600"/>
            <a:ext cx="1676400" cy="1676400"/>
          </a:xfrm>
          <a:prstGeom prst="rect">
            <a:avLst/>
          </a:prstGeom>
          <a:solidFill>
            <a:srgbClr val="BFEAFA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D46BBF-8861-C16B-AA71-E8333F55731D}"/>
              </a:ext>
            </a:extLst>
          </p:cNvPr>
          <p:cNvSpPr/>
          <p:nvPr/>
        </p:nvSpPr>
        <p:spPr bwMode="auto">
          <a:xfrm>
            <a:off x="1981200" y="2329815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5A942AB-CD0C-6FC4-A680-FE9B4BDA616A}"/>
              </a:ext>
            </a:extLst>
          </p:cNvPr>
          <p:cNvSpPr/>
          <p:nvPr/>
        </p:nvSpPr>
        <p:spPr bwMode="auto">
          <a:xfrm>
            <a:off x="1981200" y="2542580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620FB7-898B-45AB-E579-712EDE78A328}"/>
              </a:ext>
            </a:extLst>
          </p:cNvPr>
          <p:cNvSpPr/>
          <p:nvPr/>
        </p:nvSpPr>
        <p:spPr bwMode="auto">
          <a:xfrm>
            <a:off x="1981200" y="2755345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09C1221-61B4-07EE-45F6-D34AF70FE39A}"/>
              </a:ext>
            </a:extLst>
          </p:cNvPr>
          <p:cNvSpPr/>
          <p:nvPr/>
        </p:nvSpPr>
        <p:spPr bwMode="auto">
          <a:xfrm>
            <a:off x="1981200" y="3387686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1DF94D3-DCB4-AF38-BBE8-798CE8EBF2D6}"/>
              </a:ext>
            </a:extLst>
          </p:cNvPr>
          <p:cNvSpPr/>
          <p:nvPr/>
        </p:nvSpPr>
        <p:spPr bwMode="auto">
          <a:xfrm>
            <a:off x="1981200" y="2968110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58F87F1-ED4C-C57E-AF48-F5A388493AFF}"/>
              </a:ext>
            </a:extLst>
          </p:cNvPr>
          <p:cNvSpPr/>
          <p:nvPr/>
        </p:nvSpPr>
        <p:spPr bwMode="auto">
          <a:xfrm>
            <a:off x="1981200" y="3177898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51FBDEE-4C86-46DE-8899-8134EF3DC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302194"/>
            <a:ext cx="457200" cy="20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0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8C5859C-091B-3EF1-D66A-0102974D5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2523511"/>
            <a:ext cx="476250" cy="20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1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105EA80-8CAA-70D1-3475-9918721A0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6390" y="2746337"/>
            <a:ext cx="476250" cy="218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2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7A5C6418-13CE-6261-ABD9-8E41A8100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964141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3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050BDFF0-47D4-55A3-FF67-71CDE4002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3190955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4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B9BF24BD-D3AE-40F4-6AB4-F58D8F34A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3409832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5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marL="471487" lvl="1" indent="0" latinLnBrk="1">
              <a:buNone/>
            </a:pPr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CD2841-A307-D00B-3347-12AF8066369D}"/>
              </a:ext>
            </a:extLst>
          </p:cNvPr>
          <p:cNvSpPr txBox="1"/>
          <p:nvPr/>
        </p:nvSpPr>
        <p:spPr>
          <a:xfrm>
            <a:off x="1395412" y="1866711"/>
            <a:ext cx="866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Process A</a:t>
            </a:r>
            <a:endParaRPr lang="ko-KR" altLang="en-US" sz="11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DF7176-67F0-0D0A-A343-9D9D43ADB75B}"/>
              </a:ext>
            </a:extLst>
          </p:cNvPr>
          <p:cNvSpPr txBox="1"/>
          <p:nvPr/>
        </p:nvSpPr>
        <p:spPr>
          <a:xfrm>
            <a:off x="1208245" y="3844132"/>
            <a:ext cx="12411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</a:rPr>
              <a:t>File descriptor table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8AA4C40-3E8F-2465-4829-7C0B3D48934E}"/>
              </a:ext>
            </a:extLst>
          </p:cNvPr>
          <p:cNvSpPr/>
          <p:nvPr/>
        </p:nvSpPr>
        <p:spPr bwMode="auto">
          <a:xfrm>
            <a:off x="990600" y="4267656"/>
            <a:ext cx="1676400" cy="1676400"/>
          </a:xfrm>
          <a:prstGeom prst="rect">
            <a:avLst/>
          </a:prstGeom>
          <a:solidFill>
            <a:srgbClr val="BFEAFA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55BD4DB-3A34-9055-7401-99934DBAAD83}"/>
              </a:ext>
            </a:extLst>
          </p:cNvPr>
          <p:cNvSpPr/>
          <p:nvPr/>
        </p:nvSpPr>
        <p:spPr bwMode="auto">
          <a:xfrm>
            <a:off x="1981200" y="4444163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1C519B0-DCB3-9AC2-03B9-7BAF064B5B72}"/>
              </a:ext>
            </a:extLst>
          </p:cNvPr>
          <p:cNvSpPr/>
          <p:nvPr/>
        </p:nvSpPr>
        <p:spPr bwMode="auto">
          <a:xfrm>
            <a:off x="1981200" y="4656928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54C96AF-58B6-C945-ED8B-E31AAEB40CD4}"/>
              </a:ext>
            </a:extLst>
          </p:cNvPr>
          <p:cNvSpPr/>
          <p:nvPr/>
        </p:nvSpPr>
        <p:spPr bwMode="auto">
          <a:xfrm>
            <a:off x="1981200" y="4869693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8A92EE9-8E05-9DE5-BEB8-35E5CA3B0423}"/>
              </a:ext>
            </a:extLst>
          </p:cNvPr>
          <p:cNvSpPr/>
          <p:nvPr/>
        </p:nvSpPr>
        <p:spPr bwMode="auto">
          <a:xfrm>
            <a:off x="1981200" y="5502034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4E51CCA-6F4C-47C1-CBA4-50261225A5A2}"/>
              </a:ext>
            </a:extLst>
          </p:cNvPr>
          <p:cNvSpPr/>
          <p:nvPr/>
        </p:nvSpPr>
        <p:spPr bwMode="auto">
          <a:xfrm>
            <a:off x="1981200" y="5082458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432B216-85A8-D05A-425D-013CE05D0F04}"/>
              </a:ext>
            </a:extLst>
          </p:cNvPr>
          <p:cNvSpPr/>
          <p:nvPr/>
        </p:nvSpPr>
        <p:spPr bwMode="auto">
          <a:xfrm>
            <a:off x="1981200" y="5292246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CF2D6C8-3A58-A27F-D759-BFA6FD274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416542"/>
            <a:ext cx="457200" cy="20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0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3AD488F9-8B95-265F-1409-CFED6CCC6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4637859"/>
            <a:ext cx="476250" cy="20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1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EE65E122-84D3-84DA-CD24-DC539120B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6390" y="4860685"/>
            <a:ext cx="476250" cy="218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2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C937E060-4A0B-5E17-B7A5-326B665C3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078489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3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1FC0F235-DBD4-CD26-9970-D14C1E1D5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5305303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4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9" name="Rectangle 3">
            <a:extLst>
              <a:ext uri="{FF2B5EF4-FFF2-40B4-BE49-F238E27FC236}">
                <a16:creationId xmlns:a16="http://schemas.microsoft.com/office/drawing/2014/main" id="{BCAE8538-1D0A-5722-9516-FF4BEB960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5524180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5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marL="471487" lvl="1" indent="0" latinLnBrk="1">
              <a:buNone/>
            </a:pPr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0C0FE5A-A3F0-528F-DD53-19BAA7C3F74B}"/>
              </a:ext>
            </a:extLst>
          </p:cNvPr>
          <p:cNvSpPr txBox="1"/>
          <p:nvPr/>
        </p:nvSpPr>
        <p:spPr>
          <a:xfrm>
            <a:off x="1208245" y="5958480"/>
            <a:ext cx="12411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</a:rPr>
              <a:t>File descriptor table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0DA3049-0E54-8E64-0D98-E4E9E0275704}"/>
              </a:ext>
            </a:extLst>
          </p:cNvPr>
          <p:cNvSpPr/>
          <p:nvPr/>
        </p:nvSpPr>
        <p:spPr bwMode="auto">
          <a:xfrm>
            <a:off x="3810000" y="2964141"/>
            <a:ext cx="990600" cy="2114348"/>
          </a:xfrm>
          <a:prstGeom prst="rect">
            <a:avLst/>
          </a:prstGeom>
          <a:solidFill>
            <a:srgbClr val="BFEAFA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C8364D4-5A93-53E0-E47F-16D2E5260466}"/>
              </a:ext>
            </a:extLst>
          </p:cNvPr>
          <p:cNvSpPr/>
          <p:nvPr/>
        </p:nvSpPr>
        <p:spPr bwMode="auto">
          <a:xfrm>
            <a:off x="3861592" y="3778669"/>
            <a:ext cx="903448" cy="241220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object</a:t>
            </a:r>
            <a:endParaRPr kumimoji="0" lang="ko-KR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4F3DF86-BEA2-E43B-D6FE-380D554A6123}"/>
              </a:ext>
            </a:extLst>
          </p:cNvPr>
          <p:cNvSpPr/>
          <p:nvPr/>
        </p:nvSpPr>
        <p:spPr bwMode="auto">
          <a:xfrm>
            <a:off x="3861592" y="4147046"/>
            <a:ext cx="903448" cy="241220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object</a:t>
            </a:r>
            <a:endParaRPr kumimoji="0" lang="ko-KR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664" name="직사각형 241663">
            <a:extLst>
              <a:ext uri="{FF2B5EF4-FFF2-40B4-BE49-F238E27FC236}">
                <a16:creationId xmlns:a16="http://schemas.microsoft.com/office/drawing/2014/main" id="{E651BDA9-954A-40D8-81A3-E366C5E1B0D0}"/>
              </a:ext>
            </a:extLst>
          </p:cNvPr>
          <p:cNvSpPr/>
          <p:nvPr/>
        </p:nvSpPr>
        <p:spPr bwMode="auto">
          <a:xfrm>
            <a:off x="3861592" y="4501533"/>
            <a:ext cx="903448" cy="241220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object</a:t>
            </a:r>
            <a:endParaRPr kumimoji="0" lang="ko-KR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665" name="직사각형 241664">
            <a:extLst>
              <a:ext uri="{FF2B5EF4-FFF2-40B4-BE49-F238E27FC236}">
                <a16:creationId xmlns:a16="http://schemas.microsoft.com/office/drawing/2014/main" id="{E87A5129-332E-2E85-CDF5-4C6B24374A13}"/>
              </a:ext>
            </a:extLst>
          </p:cNvPr>
          <p:cNvSpPr/>
          <p:nvPr/>
        </p:nvSpPr>
        <p:spPr bwMode="auto">
          <a:xfrm>
            <a:off x="3861592" y="3424182"/>
            <a:ext cx="903448" cy="241220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object</a:t>
            </a:r>
            <a:endParaRPr kumimoji="0" lang="ko-KR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667" name="TextBox 241666">
            <a:extLst>
              <a:ext uri="{FF2B5EF4-FFF2-40B4-BE49-F238E27FC236}">
                <a16:creationId xmlns:a16="http://schemas.microsoft.com/office/drawing/2014/main" id="{F308B18C-1DB7-D25F-72FF-77538E02B9DC}"/>
              </a:ext>
            </a:extLst>
          </p:cNvPr>
          <p:cNvSpPr txBox="1"/>
          <p:nvPr/>
        </p:nvSpPr>
        <p:spPr>
          <a:xfrm>
            <a:off x="3962400" y="5091482"/>
            <a:ext cx="685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</a:rPr>
              <a:t>file table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  <p:cxnSp>
        <p:nvCxnSpPr>
          <p:cNvPr id="241669" name="직선 화살표 연결선 241668">
            <a:extLst>
              <a:ext uri="{FF2B5EF4-FFF2-40B4-BE49-F238E27FC236}">
                <a16:creationId xmlns:a16="http://schemas.microsoft.com/office/drawing/2014/main" id="{2DFD4AA5-57C1-FF2E-4DA0-2D43761DC6EF}"/>
              </a:ext>
            </a:extLst>
          </p:cNvPr>
          <p:cNvCxnSpPr>
            <a:cxnSpLocks/>
            <a:endCxn id="241665" idx="1"/>
          </p:cNvCxnSpPr>
          <p:nvPr/>
        </p:nvCxnSpPr>
        <p:spPr bwMode="auto">
          <a:xfrm>
            <a:off x="2567940" y="3047484"/>
            <a:ext cx="1293652" cy="497308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1673" name="직선 화살표 연결선 241672">
            <a:extLst>
              <a:ext uri="{FF2B5EF4-FFF2-40B4-BE49-F238E27FC236}">
                <a16:creationId xmlns:a16="http://schemas.microsoft.com/office/drawing/2014/main" id="{947B67EB-FB34-2AEA-D438-971E69DB599C}"/>
              </a:ext>
            </a:extLst>
          </p:cNvPr>
          <p:cNvCxnSpPr>
            <a:cxnSpLocks/>
            <a:endCxn id="62" idx="1"/>
          </p:cNvCxnSpPr>
          <p:nvPr/>
        </p:nvCxnSpPr>
        <p:spPr bwMode="auto">
          <a:xfrm>
            <a:off x="2542144" y="3276312"/>
            <a:ext cx="1319448" cy="6229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lgDash"/>
            <a:round/>
            <a:headEnd type="none" w="med" len="med"/>
            <a:tailEnd type="triangle"/>
          </a:ln>
          <a:effectLst/>
        </p:spPr>
      </p:cxnSp>
      <p:cxnSp>
        <p:nvCxnSpPr>
          <p:cNvPr id="241675" name="직선 화살표 연결선 241674">
            <a:extLst>
              <a:ext uri="{FF2B5EF4-FFF2-40B4-BE49-F238E27FC236}">
                <a16:creationId xmlns:a16="http://schemas.microsoft.com/office/drawing/2014/main" id="{F1F106C8-9DBE-98EA-11A2-2BBB93904632}"/>
              </a:ext>
            </a:extLst>
          </p:cNvPr>
          <p:cNvCxnSpPr>
            <a:cxnSpLocks/>
            <a:endCxn id="63" idx="1"/>
          </p:cNvCxnSpPr>
          <p:nvPr/>
        </p:nvCxnSpPr>
        <p:spPr bwMode="auto">
          <a:xfrm flipV="1">
            <a:off x="2542144" y="4267656"/>
            <a:ext cx="1319448" cy="9315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lgDash"/>
            <a:round/>
            <a:headEnd type="none" w="med" len="med"/>
            <a:tailEnd type="triangle"/>
          </a:ln>
          <a:effectLst/>
        </p:spPr>
      </p:cxnSp>
      <p:cxnSp>
        <p:nvCxnSpPr>
          <p:cNvPr id="241677" name="직선 화살표 연결선 241676">
            <a:extLst>
              <a:ext uri="{FF2B5EF4-FFF2-40B4-BE49-F238E27FC236}">
                <a16:creationId xmlns:a16="http://schemas.microsoft.com/office/drawing/2014/main" id="{D2996DCB-F2AB-CD09-55E7-248446CC8281}"/>
              </a:ext>
            </a:extLst>
          </p:cNvPr>
          <p:cNvCxnSpPr>
            <a:cxnSpLocks/>
            <a:endCxn id="241664" idx="1"/>
          </p:cNvCxnSpPr>
          <p:nvPr/>
        </p:nvCxnSpPr>
        <p:spPr bwMode="auto">
          <a:xfrm flipV="1">
            <a:off x="2552700" y="4622143"/>
            <a:ext cx="1308892" cy="7749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lgDash"/>
            <a:round/>
            <a:headEnd type="none" w="med" len="med"/>
            <a:tailEnd type="triangle"/>
          </a:ln>
          <a:effectLst/>
        </p:spPr>
      </p:cxnSp>
      <p:sp>
        <p:nvSpPr>
          <p:cNvPr id="241679" name="직사각형 241678">
            <a:extLst>
              <a:ext uri="{FF2B5EF4-FFF2-40B4-BE49-F238E27FC236}">
                <a16:creationId xmlns:a16="http://schemas.microsoft.com/office/drawing/2014/main" id="{2AA0BCFE-BD8E-E19D-9040-F7E3C13768DC}"/>
              </a:ext>
            </a:extLst>
          </p:cNvPr>
          <p:cNvSpPr/>
          <p:nvPr/>
        </p:nvSpPr>
        <p:spPr bwMode="auto">
          <a:xfrm>
            <a:off x="5573156" y="2964140"/>
            <a:ext cx="990600" cy="2114347"/>
          </a:xfrm>
          <a:prstGeom prst="rect">
            <a:avLst/>
          </a:prstGeom>
          <a:solidFill>
            <a:srgbClr val="BFEAFA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680" name="직사각형 241679">
            <a:extLst>
              <a:ext uri="{FF2B5EF4-FFF2-40B4-BE49-F238E27FC236}">
                <a16:creationId xmlns:a16="http://schemas.microsoft.com/office/drawing/2014/main" id="{227E47CC-2FE7-CD92-CE97-C488FA7971A0}"/>
              </a:ext>
            </a:extLst>
          </p:cNvPr>
          <p:cNvSpPr/>
          <p:nvPr/>
        </p:nvSpPr>
        <p:spPr bwMode="auto">
          <a:xfrm>
            <a:off x="5750957" y="3594740"/>
            <a:ext cx="634998" cy="416339"/>
          </a:xfrm>
          <a:prstGeom prst="rect">
            <a:avLst/>
          </a:prstGeom>
          <a:solidFill>
            <a:srgbClr val="CC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Inode</a:t>
            </a:r>
            <a:r>
              <a:rPr kumimoji="0" lang="en-US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 </a:t>
            </a:r>
            <a:r>
              <a:rPr lang="en-US" altLang="ko-KR" sz="1050" dirty="0"/>
              <a:t>struct</a:t>
            </a:r>
            <a:endParaRPr kumimoji="0" lang="en-US" altLang="ko-KR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682" name="직사각형 241681">
            <a:extLst>
              <a:ext uri="{FF2B5EF4-FFF2-40B4-BE49-F238E27FC236}">
                <a16:creationId xmlns:a16="http://schemas.microsoft.com/office/drawing/2014/main" id="{94EDE9E5-82C3-8B1D-2904-6C098E444B5B}"/>
              </a:ext>
            </a:extLst>
          </p:cNvPr>
          <p:cNvSpPr/>
          <p:nvPr/>
        </p:nvSpPr>
        <p:spPr bwMode="auto">
          <a:xfrm>
            <a:off x="5750957" y="4256645"/>
            <a:ext cx="634998" cy="416339"/>
          </a:xfrm>
          <a:prstGeom prst="rect">
            <a:avLst/>
          </a:prstGeom>
          <a:solidFill>
            <a:srgbClr val="CC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Inode</a:t>
            </a:r>
            <a:r>
              <a:rPr kumimoji="0" lang="en-US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 </a:t>
            </a:r>
            <a:r>
              <a:rPr lang="en-US" altLang="ko-KR" sz="1050" dirty="0"/>
              <a:t>struct</a:t>
            </a:r>
            <a:endParaRPr kumimoji="0" lang="en-US" altLang="ko-KR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241683" name="직선 화살표 연결선 241682">
            <a:extLst>
              <a:ext uri="{FF2B5EF4-FFF2-40B4-BE49-F238E27FC236}">
                <a16:creationId xmlns:a16="http://schemas.microsoft.com/office/drawing/2014/main" id="{773DC40D-13A2-AB7D-2DC7-9A22821CB2CE}"/>
              </a:ext>
            </a:extLst>
          </p:cNvPr>
          <p:cNvCxnSpPr>
            <a:cxnSpLocks/>
            <a:endCxn id="241680" idx="1"/>
          </p:cNvCxnSpPr>
          <p:nvPr/>
        </p:nvCxnSpPr>
        <p:spPr bwMode="auto">
          <a:xfrm>
            <a:off x="4753413" y="3543215"/>
            <a:ext cx="997544" cy="259695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1685" name="직선 화살표 연결선 241684">
            <a:extLst>
              <a:ext uri="{FF2B5EF4-FFF2-40B4-BE49-F238E27FC236}">
                <a16:creationId xmlns:a16="http://schemas.microsoft.com/office/drawing/2014/main" id="{E2E6A2B9-0AE0-A03E-8865-8962C1CC5290}"/>
              </a:ext>
            </a:extLst>
          </p:cNvPr>
          <p:cNvCxnSpPr>
            <a:cxnSpLocks/>
            <a:endCxn id="241680" idx="1"/>
          </p:cNvCxnSpPr>
          <p:nvPr/>
        </p:nvCxnSpPr>
        <p:spPr bwMode="auto">
          <a:xfrm flipV="1">
            <a:off x="4765040" y="3802910"/>
            <a:ext cx="985917" cy="887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lgDash"/>
            <a:round/>
            <a:headEnd type="none" w="med" len="med"/>
            <a:tailEnd type="triangle"/>
          </a:ln>
          <a:effectLst/>
        </p:spPr>
      </p:cxnSp>
      <p:cxnSp>
        <p:nvCxnSpPr>
          <p:cNvPr id="241687" name="직선 화살표 연결선 241686">
            <a:extLst>
              <a:ext uri="{FF2B5EF4-FFF2-40B4-BE49-F238E27FC236}">
                <a16:creationId xmlns:a16="http://schemas.microsoft.com/office/drawing/2014/main" id="{3F2FA981-393C-5AD9-CCDC-FE6816BF3CCA}"/>
              </a:ext>
            </a:extLst>
          </p:cNvPr>
          <p:cNvCxnSpPr>
            <a:cxnSpLocks/>
            <a:endCxn id="241680" idx="1"/>
          </p:cNvCxnSpPr>
          <p:nvPr/>
        </p:nvCxnSpPr>
        <p:spPr bwMode="auto">
          <a:xfrm flipV="1">
            <a:off x="4799132" y="3802910"/>
            <a:ext cx="951825" cy="4639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lgDash"/>
            <a:round/>
            <a:headEnd type="none" w="med" len="med"/>
            <a:tailEnd type="triangle"/>
          </a:ln>
          <a:effectLst/>
        </p:spPr>
      </p:cxnSp>
      <p:cxnSp>
        <p:nvCxnSpPr>
          <p:cNvPr id="241689" name="직선 화살표 연결선 241688">
            <a:extLst>
              <a:ext uri="{FF2B5EF4-FFF2-40B4-BE49-F238E27FC236}">
                <a16:creationId xmlns:a16="http://schemas.microsoft.com/office/drawing/2014/main" id="{5E8163E9-C837-31A4-7EE1-8EE516488556}"/>
              </a:ext>
            </a:extLst>
          </p:cNvPr>
          <p:cNvCxnSpPr>
            <a:cxnSpLocks/>
            <a:endCxn id="241682" idx="1"/>
          </p:cNvCxnSpPr>
          <p:nvPr/>
        </p:nvCxnSpPr>
        <p:spPr bwMode="auto">
          <a:xfrm flipV="1">
            <a:off x="4776667" y="4464815"/>
            <a:ext cx="974290" cy="1573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lgDash"/>
            <a:round/>
            <a:headEnd type="none" w="med" len="med"/>
            <a:tailEnd type="triangle"/>
          </a:ln>
          <a:effectLst/>
        </p:spPr>
      </p:cxnSp>
      <p:sp>
        <p:nvSpPr>
          <p:cNvPr id="241691" name="TextBox 241690">
            <a:extLst>
              <a:ext uri="{FF2B5EF4-FFF2-40B4-BE49-F238E27FC236}">
                <a16:creationId xmlns:a16="http://schemas.microsoft.com/office/drawing/2014/main" id="{EA5A4C22-9643-2977-F6B8-27CE7719F867}"/>
              </a:ext>
            </a:extLst>
          </p:cNvPr>
          <p:cNvSpPr txBox="1"/>
          <p:nvPr/>
        </p:nvSpPr>
        <p:spPr>
          <a:xfrm>
            <a:off x="5714935" y="5087591"/>
            <a:ext cx="836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>
                <a:solidFill>
                  <a:srgbClr val="0000FF"/>
                </a:solidFill>
              </a:rPr>
              <a:t>inode</a:t>
            </a:r>
            <a:r>
              <a:rPr lang="en-US" altLang="ko-KR" sz="800" dirty="0">
                <a:solidFill>
                  <a:srgbClr val="0000FF"/>
                </a:solidFill>
              </a:rPr>
              <a:t> table 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  <p:sp>
        <p:nvSpPr>
          <p:cNvPr id="241692" name="원통형 241691">
            <a:extLst>
              <a:ext uri="{FF2B5EF4-FFF2-40B4-BE49-F238E27FC236}">
                <a16:creationId xmlns:a16="http://schemas.microsoft.com/office/drawing/2014/main" id="{37199516-A827-2970-6B34-D7AC9E5B8D11}"/>
              </a:ext>
            </a:extLst>
          </p:cNvPr>
          <p:cNvSpPr/>
          <p:nvPr/>
        </p:nvSpPr>
        <p:spPr bwMode="auto">
          <a:xfrm>
            <a:off x="7336312" y="2964139"/>
            <a:ext cx="1236188" cy="2114348"/>
          </a:xfrm>
          <a:prstGeom prst="can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241701" name="직선 화살표 연결선 241700">
            <a:extLst>
              <a:ext uri="{FF2B5EF4-FFF2-40B4-BE49-F238E27FC236}">
                <a16:creationId xmlns:a16="http://schemas.microsoft.com/office/drawing/2014/main" id="{072F79C0-4DCE-4ACA-6AF8-77D99221F97F}"/>
              </a:ext>
            </a:extLst>
          </p:cNvPr>
          <p:cNvCxnSpPr>
            <a:cxnSpLocks/>
          </p:cNvCxnSpPr>
          <p:nvPr/>
        </p:nvCxnSpPr>
        <p:spPr bwMode="auto">
          <a:xfrm flipV="1">
            <a:off x="6397304" y="3543215"/>
            <a:ext cx="1014208" cy="266902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1703" name="직사각형 241702">
            <a:extLst>
              <a:ext uri="{FF2B5EF4-FFF2-40B4-BE49-F238E27FC236}">
                <a16:creationId xmlns:a16="http://schemas.microsoft.com/office/drawing/2014/main" id="{4E4D98F2-3F9D-3090-EB72-219B5EE22070}"/>
              </a:ext>
            </a:extLst>
          </p:cNvPr>
          <p:cNvSpPr/>
          <p:nvPr/>
        </p:nvSpPr>
        <p:spPr bwMode="auto">
          <a:xfrm>
            <a:off x="7992005" y="4097559"/>
            <a:ext cx="479522" cy="297852"/>
          </a:xfrm>
          <a:prstGeom prst="rect">
            <a:avLst/>
          </a:prstGeom>
          <a:solidFill>
            <a:srgbClr val="CC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B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/>
              <a:t>Data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704" name="직사각형 241703">
            <a:extLst>
              <a:ext uri="{FF2B5EF4-FFF2-40B4-BE49-F238E27FC236}">
                <a16:creationId xmlns:a16="http://schemas.microsoft.com/office/drawing/2014/main" id="{435224D4-EBD6-0966-DF32-4F9DF65ADA32}"/>
              </a:ext>
            </a:extLst>
          </p:cNvPr>
          <p:cNvSpPr/>
          <p:nvPr/>
        </p:nvSpPr>
        <p:spPr bwMode="auto">
          <a:xfrm>
            <a:off x="7992004" y="4687163"/>
            <a:ext cx="479522" cy="297852"/>
          </a:xfrm>
          <a:prstGeom prst="rect">
            <a:avLst/>
          </a:prstGeom>
          <a:solidFill>
            <a:srgbClr val="CC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B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/>
              <a:t>Data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693" name="직사각형 241692">
            <a:extLst>
              <a:ext uri="{FF2B5EF4-FFF2-40B4-BE49-F238E27FC236}">
                <a16:creationId xmlns:a16="http://schemas.microsoft.com/office/drawing/2014/main" id="{9C664614-F7C6-9C73-85E4-68A553F4D23A}"/>
              </a:ext>
            </a:extLst>
          </p:cNvPr>
          <p:cNvSpPr/>
          <p:nvPr/>
        </p:nvSpPr>
        <p:spPr bwMode="auto">
          <a:xfrm>
            <a:off x="7992005" y="4391167"/>
            <a:ext cx="479522" cy="297852"/>
          </a:xfrm>
          <a:prstGeom prst="rect">
            <a:avLst/>
          </a:prstGeom>
          <a:solidFill>
            <a:srgbClr val="CC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B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/>
              <a:t>Data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709" name="직사각형 241708">
            <a:extLst>
              <a:ext uri="{FF2B5EF4-FFF2-40B4-BE49-F238E27FC236}">
                <a16:creationId xmlns:a16="http://schemas.microsoft.com/office/drawing/2014/main" id="{2A05F814-D68C-BB8F-8EB4-69321C197D3C}"/>
              </a:ext>
            </a:extLst>
          </p:cNvPr>
          <p:cNvSpPr/>
          <p:nvPr/>
        </p:nvSpPr>
        <p:spPr bwMode="auto">
          <a:xfrm>
            <a:off x="7411513" y="3359029"/>
            <a:ext cx="479522" cy="297852"/>
          </a:xfrm>
          <a:prstGeom prst="rect">
            <a:avLst/>
          </a:prstGeom>
          <a:solidFill>
            <a:srgbClr val="CC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A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/>
              <a:t>Data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710" name="직사각형 241709">
            <a:extLst>
              <a:ext uri="{FF2B5EF4-FFF2-40B4-BE49-F238E27FC236}">
                <a16:creationId xmlns:a16="http://schemas.microsoft.com/office/drawing/2014/main" id="{C8D66326-6B48-E53B-3BA7-A3C959E1B11D}"/>
              </a:ext>
            </a:extLst>
          </p:cNvPr>
          <p:cNvSpPr/>
          <p:nvPr/>
        </p:nvSpPr>
        <p:spPr bwMode="auto">
          <a:xfrm>
            <a:off x="7411512" y="3948633"/>
            <a:ext cx="479522" cy="297852"/>
          </a:xfrm>
          <a:prstGeom prst="rect">
            <a:avLst/>
          </a:prstGeom>
          <a:solidFill>
            <a:srgbClr val="CC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A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/>
              <a:t>Data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711" name="직사각형 241710">
            <a:extLst>
              <a:ext uri="{FF2B5EF4-FFF2-40B4-BE49-F238E27FC236}">
                <a16:creationId xmlns:a16="http://schemas.microsoft.com/office/drawing/2014/main" id="{869BFCD9-38B8-9263-1ABB-4A9287F9E84B}"/>
              </a:ext>
            </a:extLst>
          </p:cNvPr>
          <p:cNvSpPr/>
          <p:nvPr/>
        </p:nvSpPr>
        <p:spPr bwMode="auto">
          <a:xfrm>
            <a:off x="7411513" y="3652637"/>
            <a:ext cx="479522" cy="297852"/>
          </a:xfrm>
          <a:prstGeom prst="rect">
            <a:avLst/>
          </a:prstGeom>
          <a:solidFill>
            <a:srgbClr val="CC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A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/>
              <a:t>Data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241713" name="직선 화살표 연결선 241712">
            <a:extLst>
              <a:ext uri="{FF2B5EF4-FFF2-40B4-BE49-F238E27FC236}">
                <a16:creationId xmlns:a16="http://schemas.microsoft.com/office/drawing/2014/main" id="{BD9F3C4D-1C10-2AEE-65D6-F6180F2307C9}"/>
              </a:ext>
            </a:extLst>
          </p:cNvPr>
          <p:cNvCxnSpPr>
            <a:cxnSpLocks/>
            <a:endCxn id="241703" idx="1"/>
          </p:cNvCxnSpPr>
          <p:nvPr/>
        </p:nvCxnSpPr>
        <p:spPr bwMode="auto">
          <a:xfrm flipV="1">
            <a:off x="6397303" y="4246485"/>
            <a:ext cx="1594702" cy="2183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lgDash"/>
            <a:round/>
            <a:headEnd type="none" w="med" len="med"/>
            <a:tailEnd type="triangle"/>
          </a:ln>
          <a:effectLst/>
        </p:spPr>
      </p:cxnSp>
      <p:sp>
        <p:nvSpPr>
          <p:cNvPr id="241715" name="TextBox 241714">
            <a:extLst>
              <a:ext uri="{FF2B5EF4-FFF2-40B4-BE49-F238E27FC236}">
                <a16:creationId xmlns:a16="http://schemas.microsoft.com/office/drawing/2014/main" id="{195C85F4-E01A-9750-D477-6C2D80947DC4}"/>
              </a:ext>
            </a:extLst>
          </p:cNvPr>
          <p:cNvSpPr txBox="1"/>
          <p:nvPr/>
        </p:nvSpPr>
        <p:spPr>
          <a:xfrm>
            <a:off x="1395412" y="4014959"/>
            <a:ext cx="866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Process B</a:t>
            </a:r>
            <a:endParaRPr lang="ko-KR" altLang="en-US" sz="1100" dirty="0"/>
          </a:p>
        </p:txBody>
      </p:sp>
      <p:sp>
        <p:nvSpPr>
          <p:cNvPr id="241716" name="TextBox 241715">
            <a:extLst>
              <a:ext uri="{FF2B5EF4-FFF2-40B4-BE49-F238E27FC236}">
                <a16:creationId xmlns:a16="http://schemas.microsoft.com/office/drawing/2014/main" id="{C149F153-09C6-7037-01D9-37B0F58EFDFF}"/>
              </a:ext>
            </a:extLst>
          </p:cNvPr>
          <p:cNvSpPr txBox="1"/>
          <p:nvPr/>
        </p:nvSpPr>
        <p:spPr>
          <a:xfrm>
            <a:off x="7813589" y="5087591"/>
            <a:ext cx="836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</a:rPr>
              <a:t>Disk 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  <p:sp>
        <p:nvSpPr>
          <p:cNvPr id="17" name="생각 풍선: 구름 모양 16">
            <a:extLst>
              <a:ext uri="{FF2B5EF4-FFF2-40B4-BE49-F238E27FC236}">
                <a16:creationId xmlns:a16="http://schemas.microsoft.com/office/drawing/2014/main" id="{B1751992-264A-AA15-4F57-A57B542F882B}"/>
              </a:ext>
            </a:extLst>
          </p:cNvPr>
          <p:cNvSpPr/>
          <p:nvPr/>
        </p:nvSpPr>
        <p:spPr bwMode="auto">
          <a:xfrm>
            <a:off x="2667000" y="2179402"/>
            <a:ext cx="1143000" cy="645271"/>
          </a:xfrm>
          <a:prstGeom prst="cloudCallout">
            <a:avLst>
              <a:gd name="adj1" fmla="val -48166"/>
              <a:gd name="adj2" fmla="val 7549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solidFill>
                  <a:schemeClr val="tx1"/>
                </a:solidFill>
                <a:latin typeface="Verdana" pitchFamily="34" charset="0"/>
                <a:cs typeface="Arial" charset="0"/>
              </a:rPr>
              <a:t>Lock</a:t>
            </a: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pic>
        <p:nvPicPr>
          <p:cNvPr id="20" name="그래픽 19" descr="닫기 단색으로 채워진">
            <a:extLst>
              <a:ext uri="{FF2B5EF4-FFF2-40B4-BE49-F238E27FC236}">
                <a16:creationId xmlns:a16="http://schemas.microsoft.com/office/drawing/2014/main" id="{74D4451A-63E9-92D1-52E9-BA7817925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091346">
            <a:off x="2606910" y="4311464"/>
            <a:ext cx="1145291" cy="114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7752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336D3-3890-F3AE-485F-754C3FC10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38BB8775-AAF5-940C-F50D-09381E7B8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0" y="244835"/>
            <a:ext cx="8001000" cy="1216025"/>
          </a:xfrm>
        </p:spPr>
        <p:txBody>
          <a:bodyPr/>
          <a:lstStyle/>
          <a:p>
            <a:r>
              <a:rPr lang="en-US" altLang="ko-KR" sz="3600" dirty="0"/>
              <a:t>synchronization(</a:t>
            </a:r>
            <a:r>
              <a:rPr lang="en-US" altLang="ko-KR" sz="3600" dirty="0" err="1"/>
              <a:t>filesys_lock</a:t>
            </a:r>
            <a:r>
              <a:rPr lang="en-US" altLang="ko-KR" sz="3600" dirty="0"/>
              <a:t>)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1AF33D7-A38B-B130-1F5B-30E2A4FCA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692" y="1752600"/>
            <a:ext cx="8112124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>
              <a:lnSpc>
                <a:spcPts val="2100"/>
              </a:lnSpc>
            </a:pPr>
            <a:r>
              <a:rPr lang="en-US" altLang="ko-KR" sz="1800" kern="0" dirty="0"/>
              <a:t>Advantage </a:t>
            </a:r>
          </a:p>
          <a:p>
            <a:pPr lvl="1" latinLnBrk="1">
              <a:lnSpc>
                <a:spcPts val="2100"/>
              </a:lnSpc>
            </a:pPr>
            <a:r>
              <a:rPr lang="en-US" altLang="ko-KR" sz="1400" kern="0" dirty="0">
                <a:solidFill>
                  <a:srgbClr val="0070C0"/>
                </a:solidFill>
              </a:rPr>
              <a:t>Simplicity of implementation</a:t>
            </a:r>
          </a:p>
          <a:p>
            <a:pPr lvl="2" latinLnBrk="1">
              <a:lnSpc>
                <a:spcPts val="2100"/>
              </a:lnSpc>
            </a:pPr>
            <a:r>
              <a:rPr lang="en-US" altLang="ko-KR" sz="1100" kern="0" dirty="0"/>
              <a:t>The code is clean and intuitive because only a global lock(</a:t>
            </a:r>
            <a:r>
              <a:rPr lang="en-US" altLang="ko-KR" sz="1100" kern="0" dirty="0" err="1"/>
              <a:t>filesys_lock</a:t>
            </a:r>
            <a:r>
              <a:rPr lang="en-US" altLang="ko-KR" sz="1100" kern="0" dirty="0"/>
              <a:t>) needs to be managed.</a:t>
            </a:r>
          </a:p>
          <a:p>
            <a:pPr lvl="1" latinLnBrk="1">
              <a:lnSpc>
                <a:spcPts val="2100"/>
              </a:lnSpc>
            </a:pPr>
            <a:r>
              <a:rPr lang="en-US" altLang="ko-KR" sz="1400" kern="0" dirty="0"/>
              <a:t>Robust safety</a:t>
            </a:r>
            <a:endParaRPr lang="en-US" altLang="ko-KR" sz="1100" kern="0" dirty="0"/>
          </a:p>
          <a:p>
            <a:pPr latinLnBrk="1">
              <a:lnSpc>
                <a:spcPts val="2100"/>
              </a:lnSpc>
            </a:pPr>
            <a:r>
              <a:rPr lang="en-US" altLang="ko-KR" sz="1800" kern="0" dirty="0"/>
              <a:t>Disadvantage</a:t>
            </a:r>
          </a:p>
          <a:p>
            <a:pPr lvl="1" latinLnBrk="1">
              <a:lnSpc>
                <a:spcPts val="2100"/>
              </a:lnSpc>
            </a:pPr>
            <a:r>
              <a:rPr lang="en-US" altLang="ko-KR" sz="1400" kern="0" dirty="0"/>
              <a:t>Performance Bottleneck</a:t>
            </a:r>
          </a:p>
          <a:p>
            <a:pPr lvl="1" latinLnBrk="1">
              <a:lnSpc>
                <a:spcPts val="2100"/>
              </a:lnSpc>
            </a:pPr>
            <a:r>
              <a:rPr lang="en-US" altLang="ko-KR" sz="1400" kern="0" dirty="0">
                <a:solidFill>
                  <a:srgbClr val="0070C0"/>
                </a:solidFill>
              </a:rPr>
              <a:t>Low Concurrency</a:t>
            </a:r>
          </a:p>
          <a:p>
            <a:pPr lvl="2" latinLnBrk="1">
              <a:lnSpc>
                <a:spcPts val="2100"/>
              </a:lnSpc>
            </a:pPr>
            <a:r>
              <a:rPr lang="en-US" altLang="ko-KR" sz="1100" kern="0" dirty="0"/>
              <a:t>Unnecessary waiting occurs even when processes access different, non-conflicting files, nullifying the benefits of a multi-process environment.</a:t>
            </a:r>
          </a:p>
          <a:p>
            <a:pPr latinLnBrk="1">
              <a:lnSpc>
                <a:spcPts val="2100"/>
              </a:lnSpc>
            </a:pPr>
            <a:r>
              <a:rPr lang="en-US" altLang="ko-KR" sz="1800" kern="0" dirty="0"/>
              <a:t>Improvement plan</a:t>
            </a:r>
          </a:p>
          <a:p>
            <a:pPr lvl="1" latinLnBrk="1">
              <a:lnSpc>
                <a:spcPts val="2100"/>
              </a:lnSpc>
            </a:pPr>
            <a:r>
              <a:rPr lang="en-US" altLang="ko-KR" sz="1400" kern="0" dirty="0"/>
              <a:t>Instead of global lock, acquire a lock on a </a:t>
            </a:r>
            <a:r>
              <a:rPr lang="en-US" altLang="ko-KR" sz="1400" kern="0" dirty="0">
                <a:solidFill>
                  <a:srgbClr val="0070C0"/>
                </a:solidFill>
              </a:rPr>
              <a:t>per-</a:t>
            </a:r>
            <a:r>
              <a:rPr lang="en-US" altLang="ko-KR" sz="1400" kern="0" dirty="0" err="1">
                <a:solidFill>
                  <a:srgbClr val="0070C0"/>
                </a:solidFill>
              </a:rPr>
              <a:t>inode</a:t>
            </a:r>
            <a:r>
              <a:rPr lang="en-US" altLang="ko-KR" sz="1400" kern="0" dirty="0">
                <a:solidFill>
                  <a:srgbClr val="0070C0"/>
                </a:solidFill>
              </a:rPr>
              <a:t> basis </a:t>
            </a:r>
            <a:r>
              <a:rPr lang="en-US" altLang="ko-KR" sz="1400" kern="0" dirty="0"/>
              <a:t>when reading or writing a file</a:t>
            </a:r>
          </a:p>
          <a:p>
            <a:pPr lvl="1" latinLnBrk="1">
              <a:lnSpc>
                <a:spcPts val="2100"/>
              </a:lnSpc>
            </a:pPr>
            <a:r>
              <a:rPr lang="en-US" altLang="ko-KR" sz="1400" kern="0" dirty="0"/>
              <a:t>Allows a concurrent operations on different files, significantly increasing system </a:t>
            </a:r>
            <a:r>
              <a:rPr lang="en-US" altLang="ko-KR" sz="1400" kern="0" dirty="0">
                <a:solidFill>
                  <a:srgbClr val="0070C0"/>
                </a:solidFill>
              </a:rPr>
              <a:t>parallelism</a:t>
            </a:r>
            <a:r>
              <a:rPr lang="en-US" altLang="ko-KR" sz="1400" kern="0" dirty="0"/>
              <a:t> and overall </a:t>
            </a:r>
            <a:r>
              <a:rPr lang="en-US" altLang="ko-KR" sz="1400" kern="0" dirty="0">
                <a:solidFill>
                  <a:srgbClr val="0070C0"/>
                </a:solidFill>
              </a:rPr>
              <a:t>throughput</a:t>
            </a:r>
          </a:p>
          <a:p>
            <a:pPr lvl="1" latinLnBrk="1">
              <a:lnSpc>
                <a:spcPts val="2100"/>
              </a:lnSpc>
            </a:pPr>
            <a:endParaRPr lang="en-US" altLang="ko-KR" sz="1400" kern="0" dirty="0"/>
          </a:p>
          <a:p>
            <a:pPr lvl="1" latinLnBrk="1">
              <a:lnSpc>
                <a:spcPts val="2100"/>
              </a:lnSpc>
            </a:pPr>
            <a:endParaRPr lang="en-US" altLang="ko-KR" sz="1400" kern="0" dirty="0"/>
          </a:p>
          <a:p>
            <a:pPr lvl="1" latinLnBrk="1">
              <a:lnSpc>
                <a:spcPts val="2100"/>
              </a:lnSpc>
            </a:pPr>
            <a:endParaRPr lang="en-US" altLang="ko-KR" sz="1400" kern="0" dirty="0"/>
          </a:p>
          <a:p>
            <a:pPr latinLnBrk="1">
              <a:lnSpc>
                <a:spcPts val="2100"/>
              </a:lnSpc>
            </a:pPr>
            <a:endParaRPr lang="en-US" altLang="ko-KR" sz="1100" kern="0" dirty="0"/>
          </a:p>
          <a:p>
            <a:pPr marL="0" indent="0" latinLnBrk="1">
              <a:lnSpc>
                <a:spcPts val="2100"/>
              </a:lnSpc>
              <a:buNone/>
            </a:pPr>
            <a:endParaRPr lang="en-US" altLang="ko-KR" sz="1800" kern="0" dirty="0"/>
          </a:p>
          <a:p>
            <a:pPr marL="0" indent="0" latinLnBrk="1">
              <a:lnSpc>
                <a:spcPts val="2100"/>
              </a:lnSpc>
              <a:buNone/>
            </a:pPr>
            <a:endParaRPr lang="en-US" altLang="ko-KR" sz="1800" kern="0" dirty="0"/>
          </a:p>
          <a:p>
            <a:pPr marL="0" indent="0" latinLnBrk="1">
              <a:lnSpc>
                <a:spcPts val="2100"/>
              </a:lnSpc>
              <a:buNone/>
            </a:pPr>
            <a:endParaRPr lang="en-US" altLang="ko-KR" sz="1800" kern="0" dirty="0"/>
          </a:p>
          <a:p>
            <a:pPr marL="0" indent="0" latinLnBrk="1">
              <a:lnSpc>
                <a:spcPts val="2100"/>
              </a:lnSpc>
              <a:buNone/>
            </a:pPr>
            <a:endParaRPr lang="en-US" altLang="ko-KR" sz="1800" kern="0" dirty="0"/>
          </a:p>
          <a:p>
            <a:pPr marL="0" indent="0" latinLnBrk="1">
              <a:lnSpc>
                <a:spcPts val="2100"/>
              </a:lnSpc>
              <a:buNone/>
            </a:pPr>
            <a:endParaRPr lang="en-US" altLang="ko-KR" sz="1800" kern="0" dirty="0"/>
          </a:p>
          <a:p>
            <a:pPr marL="0" indent="0" latinLnBrk="1">
              <a:lnSpc>
                <a:spcPts val="2100"/>
              </a:lnSpc>
              <a:buNone/>
            </a:pPr>
            <a:endParaRPr lang="en-US" altLang="ko-KR" sz="1800" kern="0" dirty="0"/>
          </a:p>
          <a:p>
            <a:pPr marL="0" indent="0" latinLnBrk="1">
              <a:lnSpc>
                <a:spcPts val="2100"/>
              </a:lnSpc>
              <a:buNone/>
            </a:pPr>
            <a:endParaRPr lang="en-US" altLang="ko-KR" sz="1800" kern="0" dirty="0"/>
          </a:p>
          <a:p>
            <a:pPr marL="0" indent="0" latinLnBrk="1">
              <a:lnSpc>
                <a:spcPts val="2100"/>
              </a:lnSpc>
              <a:buNone/>
            </a:pPr>
            <a:endParaRPr lang="en-US" altLang="ko-KR" sz="1800" kern="0" dirty="0"/>
          </a:p>
          <a:p>
            <a:pPr marL="0" indent="0" latinLnBrk="1">
              <a:lnSpc>
                <a:spcPts val="2100"/>
              </a:lnSpc>
              <a:buNone/>
            </a:pPr>
            <a:r>
              <a:rPr lang="en-US" altLang="ko-KR" sz="1800" kern="0" dirty="0"/>
              <a:t>  </a:t>
            </a:r>
          </a:p>
          <a:p>
            <a:pPr marL="0" indent="0" latinLnBrk="1">
              <a:lnSpc>
                <a:spcPts val="2100"/>
              </a:lnSpc>
              <a:buNone/>
            </a:pPr>
            <a:endParaRPr lang="en-US" altLang="ko-KR" sz="1600" kern="0" dirty="0"/>
          </a:p>
          <a:p>
            <a:pPr latinLnBrk="1">
              <a:lnSpc>
                <a:spcPts val="2100"/>
              </a:lnSpc>
            </a:pPr>
            <a:endParaRPr lang="en-US" altLang="ko-KR" sz="1600" kern="0" dirty="0"/>
          </a:p>
        </p:txBody>
      </p:sp>
    </p:spTree>
    <p:extLst>
      <p:ext uri="{BB962C8B-B14F-4D97-AF65-F5344CB8AC3E}">
        <p14:creationId xmlns:p14="http://schemas.microsoft.com/office/powerpoint/2010/main" val="19725485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65D7E-C8F8-B49D-A943-BE7226943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B782D5A5-C51E-3975-F117-8FBA2AE757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create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8888507-1E01-BFE0-0034-D342983C0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1828800"/>
            <a:ext cx="8001001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900" kern="0" dirty="0">
                <a:solidFill>
                  <a:srgbClr val="0070C0"/>
                </a:solidFill>
              </a:rPr>
              <a:t>bool</a:t>
            </a:r>
            <a:r>
              <a:rPr lang="en-US" altLang="ko-KR" sz="1900" kern="0" dirty="0"/>
              <a:t> create(</a:t>
            </a:r>
            <a:r>
              <a:rPr lang="en-US" altLang="ko-KR" sz="1900" kern="0" dirty="0">
                <a:solidFill>
                  <a:srgbClr val="0070C0"/>
                </a:solidFill>
              </a:rPr>
              <a:t>const char </a:t>
            </a:r>
            <a:r>
              <a:rPr lang="en-US" altLang="ko-KR" sz="1900" kern="0" dirty="0"/>
              <a:t>*file, </a:t>
            </a:r>
            <a:r>
              <a:rPr lang="en-US" altLang="ko-KR" sz="1900" kern="0" dirty="0">
                <a:solidFill>
                  <a:srgbClr val="0070C0"/>
                </a:solidFill>
              </a:rPr>
              <a:t>unsigned</a:t>
            </a:r>
            <a:r>
              <a:rPr lang="en-US" altLang="ko-KR" sz="1900" kern="0" dirty="0"/>
              <a:t> </a:t>
            </a:r>
            <a:r>
              <a:rPr lang="en-US" altLang="ko-KR" sz="1900" kern="0" dirty="0" err="1"/>
              <a:t>initial_size</a:t>
            </a:r>
            <a:r>
              <a:rPr lang="en-US" altLang="ko-KR" sz="1900" kern="0" dirty="0"/>
              <a:t>)</a:t>
            </a:r>
          </a:p>
          <a:p>
            <a:pPr lvl="1" latinLnBrk="1"/>
            <a:r>
              <a:rPr lang="en-US" altLang="ko-KR" sz="1500" kern="0" dirty="0"/>
              <a:t>Create file which has size of </a:t>
            </a:r>
            <a:r>
              <a:rPr lang="en-US" altLang="ko-KR" sz="1500" kern="0" dirty="0" err="1"/>
              <a:t>initial_size</a:t>
            </a:r>
            <a:endParaRPr lang="en-US" altLang="ko-KR" sz="1500" kern="0" dirty="0"/>
          </a:p>
          <a:p>
            <a:pPr lvl="1" latinLnBrk="1"/>
            <a:r>
              <a:rPr lang="en-US" altLang="ko-KR" sz="1500" kern="0" dirty="0"/>
              <a:t>Use </a:t>
            </a:r>
            <a:r>
              <a:rPr lang="en-US" altLang="ko-KR" sz="1500" kern="0" dirty="0">
                <a:solidFill>
                  <a:srgbClr val="0070C0"/>
                </a:solidFill>
              </a:rPr>
              <a:t>boo</a:t>
            </a:r>
            <a:r>
              <a:rPr lang="en-US" altLang="ko-KR" sz="1500" kern="0" dirty="0"/>
              <a:t>l </a:t>
            </a:r>
            <a:r>
              <a:rPr lang="en-US" altLang="ko-KR" sz="1500" kern="0" dirty="0" err="1"/>
              <a:t>filesys_create</a:t>
            </a:r>
            <a:r>
              <a:rPr lang="en-US" altLang="ko-KR" sz="1500" kern="0" dirty="0"/>
              <a:t>(</a:t>
            </a:r>
            <a:r>
              <a:rPr lang="en-US" altLang="ko-KR" sz="1500" kern="0" dirty="0">
                <a:solidFill>
                  <a:srgbClr val="0070C0"/>
                </a:solidFill>
              </a:rPr>
              <a:t>const char </a:t>
            </a:r>
            <a:r>
              <a:rPr lang="en-US" altLang="ko-KR" sz="1500" kern="0" dirty="0"/>
              <a:t>*name, </a:t>
            </a:r>
            <a:r>
              <a:rPr lang="en-US" altLang="ko-KR" sz="1500" kern="0" dirty="0" err="1">
                <a:solidFill>
                  <a:srgbClr val="0070C0"/>
                </a:solidFill>
              </a:rPr>
              <a:t>off_t</a:t>
            </a:r>
            <a:r>
              <a:rPr lang="en-US" altLang="ko-KR" sz="1500" kern="0" dirty="0"/>
              <a:t> </a:t>
            </a:r>
            <a:r>
              <a:rPr lang="en-US" altLang="ko-KR" sz="1500" kern="0" dirty="0" err="1"/>
              <a:t>initial_size</a:t>
            </a:r>
            <a:r>
              <a:rPr lang="en-US" altLang="ko-KR" sz="1500" kern="0" dirty="0"/>
              <a:t>)</a:t>
            </a:r>
          </a:p>
          <a:p>
            <a:pPr lvl="1" latinLnBrk="1"/>
            <a:r>
              <a:rPr lang="en-US" altLang="ko-KR" sz="1500" kern="0" dirty="0"/>
              <a:t>Return true if it is succeeded or false if it is not</a:t>
            </a:r>
          </a:p>
          <a:p>
            <a:pPr lvl="1" latinLnBrk="1"/>
            <a:r>
              <a:rPr lang="en-US" altLang="ko-KR" sz="1500" kern="0" dirty="0"/>
              <a:t>Create the file on disk only, it is not loaded into memory.</a:t>
            </a:r>
          </a:p>
          <a:p>
            <a:pPr lvl="1" latinLnBrk="1"/>
            <a:endParaRPr lang="en-US" altLang="ko-KR" sz="1500" kern="0" dirty="0"/>
          </a:p>
          <a:p>
            <a:pPr marL="0" indent="0" latinLnBrk="1">
              <a:buNone/>
            </a:pPr>
            <a:endParaRPr lang="en-US" altLang="ko-KR" sz="1500" kern="0" dirty="0"/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marL="471487" lvl="1" indent="0" latinLnBrk="1">
              <a:buNone/>
            </a:pPr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lvl="3" latinLnBrk="1"/>
            <a:endParaRPr lang="en-US" altLang="ko-KR" sz="800" kern="0" dirty="0"/>
          </a:p>
          <a:p>
            <a:pPr latinLnBrk="1"/>
            <a:endParaRPr lang="en-US" altLang="ko-KR" sz="2000" kern="0" dirty="0"/>
          </a:p>
        </p:txBody>
      </p:sp>
      <p:sp>
        <p:nvSpPr>
          <p:cNvPr id="9" name="원통형 8">
            <a:extLst>
              <a:ext uri="{FF2B5EF4-FFF2-40B4-BE49-F238E27FC236}">
                <a16:creationId xmlns:a16="http://schemas.microsoft.com/office/drawing/2014/main" id="{E85A5AF7-E9D9-8851-8702-D76E16D70D7E}"/>
              </a:ext>
            </a:extLst>
          </p:cNvPr>
          <p:cNvSpPr/>
          <p:nvPr/>
        </p:nvSpPr>
        <p:spPr bwMode="auto">
          <a:xfrm>
            <a:off x="1896508" y="3429000"/>
            <a:ext cx="1701880" cy="2295928"/>
          </a:xfrm>
          <a:prstGeom prst="can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" name="원통형 9">
            <a:extLst>
              <a:ext uri="{FF2B5EF4-FFF2-40B4-BE49-F238E27FC236}">
                <a16:creationId xmlns:a16="http://schemas.microsoft.com/office/drawing/2014/main" id="{28F517F9-1E4C-F82E-2582-B7CB27DE5479}"/>
              </a:ext>
            </a:extLst>
          </p:cNvPr>
          <p:cNvSpPr/>
          <p:nvPr/>
        </p:nvSpPr>
        <p:spPr bwMode="auto">
          <a:xfrm>
            <a:off x="5689520" y="3429000"/>
            <a:ext cx="1701880" cy="2266749"/>
          </a:xfrm>
          <a:prstGeom prst="can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E40497-1B7B-05E4-A7DE-9AFCBBC671C8}"/>
              </a:ext>
            </a:extLst>
          </p:cNvPr>
          <p:cNvSpPr txBox="1"/>
          <p:nvPr/>
        </p:nvSpPr>
        <p:spPr>
          <a:xfrm>
            <a:off x="2514600" y="5750370"/>
            <a:ext cx="9144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Disk</a:t>
            </a:r>
            <a:endParaRPr lang="ko-KR" altLang="en-US" sz="1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ABA445-4B01-CBA5-F71B-3EAC09328FBB}"/>
              </a:ext>
            </a:extLst>
          </p:cNvPr>
          <p:cNvSpPr txBox="1"/>
          <p:nvPr/>
        </p:nvSpPr>
        <p:spPr>
          <a:xfrm>
            <a:off x="6248400" y="5724928"/>
            <a:ext cx="9144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Disk</a:t>
            </a:r>
            <a:endParaRPr lang="ko-KR" altLang="en-US" sz="1000" b="1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BF29657-DD13-875B-9DD9-E340FFE4DB93}"/>
              </a:ext>
            </a:extLst>
          </p:cNvPr>
          <p:cNvCxnSpPr>
            <a:cxnSpLocks/>
          </p:cNvCxnSpPr>
          <p:nvPr/>
        </p:nvCxnSpPr>
        <p:spPr bwMode="auto">
          <a:xfrm>
            <a:off x="3598388" y="4114800"/>
            <a:ext cx="209113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804A110-AD29-CFF3-D9A2-C1B8E88839B5}"/>
              </a:ext>
            </a:extLst>
          </p:cNvPr>
          <p:cNvSpPr txBox="1"/>
          <p:nvPr/>
        </p:nvSpPr>
        <p:spPr>
          <a:xfrm>
            <a:off x="3800693" y="3804664"/>
            <a:ext cx="15426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rgbClr val="0070C0"/>
                </a:solidFill>
              </a:rPr>
              <a:t>filesys_create</a:t>
            </a:r>
            <a:r>
              <a:rPr lang="en-US" altLang="ko-KR" sz="1200" dirty="0">
                <a:solidFill>
                  <a:srgbClr val="0070C0"/>
                </a:solidFill>
              </a:rPr>
              <a:t>()</a:t>
            </a:r>
            <a:endParaRPr lang="ko-KR" altLang="en-US" sz="1200" dirty="0">
              <a:solidFill>
                <a:srgbClr val="0070C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2AE2A3DF-03D3-8451-15B8-303F8EDD162F}"/>
              </a:ext>
            </a:extLst>
          </p:cNvPr>
          <p:cNvSpPr/>
          <p:nvPr/>
        </p:nvSpPr>
        <p:spPr bwMode="auto">
          <a:xfrm>
            <a:off x="6079186" y="3991214"/>
            <a:ext cx="922547" cy="403442"/>
          </a:xfrm>
          <a:prstGeom prst="flowChartProcess">
            <a:avLst/>
          </a:prstGeom>
          <a:solidFill>
            <a:srgbClr val="CCCCFF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metadata</a:t>
            </a:r>
            <a:endParaRPr kumimoji="0" lang="ko-KR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" name="Text Box 6">
            <a:extLst>
              <a:ext uri="{FF2B5EF4-FFF2-40B4-BE49-F238E27FC236}">
                <a16:creationId xmlns:a16="http://schemas.microsoft.com/office/drawing/2014/main" id="{7345E477-6190-0C17-3A93-78ED9BAA7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0643" y="5109688"/>
            <a:ext cx="431826" cy="494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600" dirty="0"/>
              <a:t> </a:t>
            </a:r>
            <a:r>
              <a:rPr lang="en-US" altLang="ko-KR" sz="1000" dirty="0"/>
              <a:t>File</a:t>
            </a:r>
          </a:p>
          <a:p>
            <a:pPr algn="l" eaLnBrk="1" hangingPunct="1"/>
            <a:r>
              <a:rPr lang="en-US" altLang="ko-KR" sz="1000" dirty="0"/>
              <a:t>data</a:t>
            </a:r>
            <a:endParaRPr lang="en-US" altLang="ko-KR" sz="1600" dirty="0"/>
          </a:p>
        </p:txBody>
      </p:sp>
      <p:sp>
        <p:nvSpPr>
          <p:cNvPr id="25" name="Text Box 6">
            <a:extLst>
              <a:ext uri="{FF2B5EF4-FFF2-40B4-BE49-F238E27FC236}">
                <a16:creationId xmlns:a16="http://schemas.microsoft.com/office/drawing/2014/main" id="{DD3D6286-E432-B10E-B7A1-6A41C7F5B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119" y="4965477"/>
            <a:ext cx="431826" cy="494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600" dirty="0"/>
              <a:t> </a:t>
            </a:r>
            <a:r>
              <a:rPr lang="en-US" altLang="ko-KR" sz="1000" dirty="0"/>
              <a:t>File</a:t>
            </a:r>
          </a:p>
          <a:p>
            <a:pPr algn="l" eaLnBrk="1" hangingPunct="1"/>
            <a:r>
              <a:rPr lang="en-US" altLang="ko-KR" sz="1000" dirty="0"/>
              <a:t>data</a:t>
            </a:r>
            <a:endParaRPr lang="en-US" altLang="ko-KR" sz="1600" dirty="0"/>
          </a:p>
        </p:txBody>
      </p:sp>
      <p:sp>
        <p:nvSpPr>
          <p:cNvPr id="26" name="Text Box 6">
            <a:extLst>
              <a:ext uri="{FF2B5EF4-FFF2-40B4-BE49-F238E27FC236}">
                <a16:creationId xmlns:a16="http://schemas.microsoft.com/office/drawing/2014/main" id="{F6388DE1-4FBE-3A6C-6E40-FD3F22119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826" y="4813077"/>
            <a:ext cx="431826" cy="494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600" dirty="0"/>
              <a:t> </a:t>
            </a:r>
            <a:r>
              <a:rPr lang="en-US" altLang="ko-KR" sz="1000" dirty="0"/>
              <a:t>File</a:t>
            </a:r>
          </a:p>
          <a:p>
            <a:pPr algn="l" eaLnBrk="1" hangingPunct="1"/>
            <a:r>
              <a:rPr lang="en-US" altLang="ko-KR" sz="1000" dirty="0"/>
              <a:t>data</a:t>
            </a:r>
            <a:endParaRPr lang="en-US" altLang="ko-KR" sz="1600" dirty="0"/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121468E1-8746-A258-6758-D2DB509B7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8664" y="4615064"/>
            <a:ext cx="431826" cy="494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600" dirty="0"/>
              <a:t> </a:t>
            </a:r>
            <a:r>
              <a:rPr lang="en-US" altLang="ko-KR" sz="1000" dirty="0"/>
              <a:t>File</a:t>
            </a:r>
          </a:p>
          <a:p>
            <a:pPr algn="l" eaLnBrk="1" hangingPunct="1"/>
            <a:r>
              <a:rPr lang="en-US" altLang="ko-KR" sz="1000" dirty="0"/>
              <a:t>data</a:t>
            </a:r>
            <a:endParaRPr lang="en-US" altLang="ko-KR" sz="1600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FFA6392-F1BA-0C29-6CEA-87759B35179C}"/>
              </a:ext>
            </a:extLst>
          </p:cNvPr>
          <p:cNvCxnSpPr>
            <a:cxnSpLocks/>
            <a:endCxn id="23" idx="0"/>
          </p:cNvCxnSpPr>
          <p:nvPr/>
        </p:nvCxnSpPr>
        <p:spPr bwMode="auto">
          <a:xfrm flipH="1">
            <a:off x="6114577" y="4419600"/>
            <a:ext cx="425882" cy="1954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034E59D3-AC88-27F1-B213-A7FFD733F100}"/>
              </a:ext>
            </a:extLst>
          </p:cNvPr>
          <p:cNvCxnSpPr>
            <a:cxnSpLocks/>
            <a:stCxn id="22" idx="2"/>
            <a:endCxn id="26" idx="0"/>
          </p:cNvCxnSpPr>
          <p:nvPr/>
        </p:nvCxnSpPr>
        <p:spPr bwMode="auto">
          <a:xfrm flipH="1">
            <a:off x="6354739" y="4394656"/>
            <a:ext cx="185721" cy="4184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435BFF4-52A8-5F17-447D-46371E1A78D6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 bwMode="auto">
          <a:xfrm>
            <a:off x="6540460" y="4394656"/>
            <a:ext cx="104572" cy="5708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4857A2E-3FB9-A10D-CBDE-146EE8B97F18}"/>
              </a:ext>
            </a:extLst>
          </p:cNvPr>
          <p:cNvCxnSpPr>
            <a:cxnSpLocks/>
            <a:stCxn id="22" idx="2"/>
          </p:cNvCxnSpPr>
          <p:nvPr/>
        </p:nvCxnSpPr>
        <p:spPr bwMode="auto">
          <a:xfrm>
            <a:off x="6540460" y="4394656"/>
            <a:ext cx="360547" cy="6986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42" name="말풍선: 타원형 41">
            <a:extLst>
              <a:ext uri="{FF2B5EF4-FFF2-40B4-BE49-F238E27FC236}">
                <a16:creationId xmlns:a16="http://schemas.microsoft.com/office/drawing/2014/main" id="{5EB0EB2F-6DEE-4D59-A0E4-EACB95727D92}"/>
              </a:ext>
            </a:extLst>
          </p:cNvPr>
          <p:cNvSpPr/>
          <p:nvPr/>
        </p:nvSpPr>
        <p:spPr bwMode="auto">
          <a:xfrm>
            <a:off x="6720733" y="3510617"/>
            <a:ext cx="1140166" cy="314174"/>
          </a:xfrm>
          <a:prstGeom prst="wedgeEllipseCallout">
            <a:avLst>
              <a:gd name="adj1" fmla="val -21644"/>
              <a:gd name="adj2" fmla="val 156279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Create!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294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35B73-5943-4C73-0BC7-2D2C46BC0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84D23B7F-AAB5-32A2-7334-845570CF4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open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B73D22F-DA1C-4B13-7F66-E9E405096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1828800"/>
            <a:ext cx="8001001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900" kern="0" dirty="0">
                <a:solidFill>
                  <a:srgbClr val="0070C0"/>
                </a:solidFill>
              </a:rPr>
              <a:t>int</a:t>
            </a:r>
            <a:r>
              <a:rPr lang="en-US" altLang="ko-KR" sz="1900" kern="0" dirty="0"/>
              <a:t> open(</a:t>
            </a:r>
            <a:r>
              <a:rPr lang="en-US" altLang="ko-KR" sz="1900" kern="0" dirty="0">
                <a:solidFill>
                  <a:srgbClr val="0070C0"/>
                </a:solidFill>
              </a:rPr>
              <a:t>const char </a:t>
            </a:r>
            <a:r>
              <a:rPr lang="en-US" altLang="ko-KR" sz="1900" kern="0" dirty="0"/>
              <a:t>*file)</a:t>
            </a:r>
          </a:p>
          <a:p>
            <a:pPr lvl="1" latinLnBrk="1"/>
            <a:r>
              <a:rPr lang="en-US" altLang="ko-KR" sz="1500" kern="0" dirty="0"/>
              <a:t>Finds the sector number on disk where the file’s on-disk </a:t>
            </a:r>
            <a:r>
              <a:rPr lang="en-US" altLang="ko-KR" sz="1500" kern="0" dirty="0" err="1"/>
              <a:t>inode</a:t>
            </a:r>
            <a:r>
              <a:rPr lang="en-US" altLang="ko-KR" sz="1500" kern="0" dirty="0"/>
              <a:t> is stored</a:t>
            </a:r>
          </a:p>
          <a:p>
            <a:pPr lvl="1" latinLnBrk="1"/>
            <a:r>
              <a:rPr lang="en-US" altLang="ko-KR" sz="1500" kern="0" dirty="0"/>
              <a:t>Return</a:t>
            </a:r>
            <a:r>
              <a:rPr lang="ko-KR" altLang="en-US" sz="1500" kern="0" dirty="0"/>
              <a:t> </a:t>
            </a:r>
            <a:r>
              <a:rPr lang="en-US" altLang="ko-KR" sz="1500" kern="0" dirty="0" err="1"/>
              <a:t>fd</a:t>
            </a:r>
            <a:r>
              <a:rPr lang="ko-KR" altLang="en-US" sz="1500" kern="0" dirty="0"/>
              <a:t> </a:t>
            </a:r>
            <a:r>
              <a:rPr lang="en-US" altLang="ko-KR" sz="1500" kern="0" dirty="0"/>
              <a:t>using </a:t>
            </a:r>
            <a:r>
              <a:rPr lang="en-US" altLang="ko-KR" sz="1500" kern="0" dirty="0" err="1">
                <a:solidFill>
                  <a:srgbClr val="0070C0"/>
                </a:solidFill>
              </a:rPr>
              <a:t>process_add_file</a:t>
            </a:r>
            <a:r>
              <a:rPr lang="en-US" altLang="ko-KR" sz="1500" kern="0" dirty="0"/>
              <a:t>(f)</a:t>
            </a:r>
          </a:p>
          <a:p>
            <a:pPr lvl="1" latinLnBrk="1"/>
            <a:r>
              <a:rPr lang="en-US" altLang="ko-KR" sz="1500" kern="0" dirty="0"/>
              <a:t>Use </a:t>
            </a:r>
            <a:r>
              <a:rPr lang="en-US" altLang="ko-KR" sz="1500" kern="0" dirty="0">
                <a:solidFill>
                  <a:srgbClr val="0070C0"/>
                </a:solidFill>
              </a:rPr>
              <a:t>struct</a:t>
            </a:r>
            <a:r>
              <a:rPr lang="en-US" altLang="ko-KR" sz="1500" kern="0" dirty="0"/>
              <a:t> file *</a:t>
            </a:r>
            <a:r>
              <a:rPr lang="en-US" altLang="ko-KR" sz="1500" kern="0" dirty="0" err="1"/>
              <a:t>filesys_open</a:t>
            </a:r>
            <a:r>
              <a:rPr lang="en-US" altLang="ko-KR" sz="1500" kern="0" dirty="0"/>
              <a:t>(</a:t>
            </a:r>
            <a:r>
              <a:rPr lang="en-US" altLang="ko-KR" sz="1500" kern="0" dirty="0">
                <a:solidFill>
                  <a:srgbClr val="0070C0"/>
                </a:solidFill>
              </a:rPr>
              <a:t>const char </a:t>
            </a:r>
            <a:r>
              <a:rPr lang="en-US" altLang="ko-KR" sz="1500" kern="0" dirty="0"/>
              <a:t>*name).</a:t>
            </a:r>
          </a:p>
          <a:p>
            <a:pPr lvl="1" latinLnBrk="1"/>
            <a:endParaRPr lang="en-US" altLang="ko-KR" sz="1500" kern="0" dirty="0"/>
          </a:p>
          <a:p>
            <a:pPr marL="0" indent="0" latinLnBrk="1">
              <a:buNone/>
            </a:pPr>
            <a:endParaRPr lang="en-US" altLang="ko-KR" sz="1500" kern="0" dirty="0"/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marL="471487" lvl="1" indent="0" latinLnBrk="1">
              <a:buNone/>
            </a:pPr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lvl="3" latinLnBrk="1"/>
            <a:endParaRPr lang="en-US" altLang="ko-KR" sz="800" kern="0" dirty="0"/>
          </a:p>
          <a:p>
            <a:pPr latinLnBrk="1"/>
            <a:endParaRPr lang="en-US" altLang="ko-KR" sz="2000" kern="0" dirty="0"/>
          </a:p>
        </p:txBody>
      </p:sp>
      <p:sp>
        <p:nvSpPr>
          <p:cNvPr id="10" name="원통형 9">
            <a:extLst>
              <a:ext uri="{FF2B5EF4-FFF2-40B4-BE49-F238E27FC236}">
                <a16:creationId xmlns:a16="http://schemas.microsoft.com/office/drawing/2014/main" id="{474C945F-5C6F-6D24-E813-EB9762D08CBC}"/>
              </a:ext>
            </a:extLst>
          </p:cNvPr>
          <p:cNvSpPr/>
          <p:nvPr/>
        </p:nvSpPr>
        <p:spPr bwMode="auto">
          <a:xfrm>
            <a:off x="6350107" y="3358991"/>
            <a:ext cx="1701880" cy="2266749"/>
          </a:xfrm>
          <a:prstGeom prst="can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916F57-A3AE-AB22-6B98-B330F41C8FD9}"/>
              </a:ext>
            </a:extLst>
          </p:cNvPr>
          <p:cNvSpPr txBox="1"/>
          <p:nvPr/>
        </p:nvSpPr>
        <p:spPr>
          <a:xfrm>
            <a:off x="4918998" y="5707385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00FF"/>
                </a:solidFill>
              </a:rPr>
              <a:t>memory</a:t>
            </a:r>
            <a:endParaRPr lang="ko-KR" altLang="en-US" sz="1000" dirty="0">
              <a:solidFill>
                <a:srgbClr val="0000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892174-A35E-291D-7A42-B2960089E452}"/>
              </a:ext>
            </a:extLst>
          </p:cNvPr>
          <p:cNvSpPr txBox="1"/>
          <p:nvPr/>
        </p:nvSpPr>
        <p:spPr>
          <a:xfrm>
            <a:off x="6908987" y="5654919"/>
            <a:ext cx="9144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Disk</a:t>
            </a:r>
            <a:endParaRPr lang="ko-KR" altLang="en-US" sz="1000" b="1" dirty="0"/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02F79C37-FB57-E2E2-850D-0A47AD7C4CC8}"/>
              </a:ext>
            </a:extLst>
          </p:cNvPr>
          <p:cNvSpPr/>
          <p:nvPr/>
        </p:nvSpPr>
        <p:spPr bwMode="auto">
          <a:xfrm>
            <a:off x="6739773" y="3921205"/>
            <a:ext cx="922547" cy="403442"/>
          </a:xfrm>
          <a:prstGeom prst="flowChartProcess">
            <a:avLst/>
          </a:prstGeom>
          <a:solidFill>
            <a:srgbClr val="CCCCFF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metadata</a:t>
            </a:r>
            <a:endParaRPr kumimoji="0" lang="ko-KR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" name="Text Box 6">
            <a:extLst>
              <a:ext uri="{FF2B5EF4-FFF2-40B4-BE49-F238E27FC236}">
                <a16:creationId xmlns:a16="http://schemas.microsoft.com/office/drawing/2014/main" id="{90E36533-93A5-531D-C391-A7FFB2293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230" y="5039679"/>
            <a:ext cx="431826" cy="494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600" dirty="0"/>
              <a:t> </a:t>
            </a:r>
            <a:r>
              <a:rPr lang="en-US" altLang="ko-KR" sz="1000" dirty="0"/>
              <a:t>File</a:t>
            </a:r>
          </a:p>
          <a:p>
            <a:pPr algn="l" eaLnBrk="1" hangingPunct="1"/>
            <a:r>
              <a:rPr lang="en-US" altLang="ko-KR" sz="1000" dirty="0"/>
              <a:t>data</a:t>
            </a:r>
            <a:endParaRPr lang="en-US" altLang="ko-KR" sz="1600" dirty="0"/>
          </a:p>
        </p:txBody>
      </p:sp>
      <p:sp>
        <p:nvSpPr>
          <p:cNvPr id="25" name="Text Box 6">
            <a:extLst>
              <a:ext uri="{FF2B5EF4-FFF2-40B4-BE49-F238E27FC236}">
                <a16:creationId xmlns:a16="http://schemas.microsoft.com/office/drawing/2014/main" id="{E72260B3-0186-D991-DDE8-B19552446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9706" y="4895468"/>
            <a:ext cx="431826" cy="494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600" dirty="0"/>
              <a:t> </a:t>
            </a:r>
            <a:r>
              <a:rPr lang="en-US" altLang="ko-KR" sz="1000" dirty="0"/>
              <a:t>File</a:t>
            </a:r>
          </a:p>
          <a:p>
            <a:pPr algn="l" eaLnBrk="1" hangingPunct="1"/>
            <a:r>
              <a:rPr lang="en-US" altLang="ko-KR" sz="1000" dirty="0"/>
              <a:t>data</a:t>
            </a:r>
            <a:endParaRPr lang="en-US" altLang="ko-KR" sz="1600" dirty="0"/>
          </a:p>
        </p:txBody>
      </p:sp>
      <p:sp>
        <p:nvSpPr>
          <p:cNvPr id="26" name="Text Box 6">
            <a:extLst>
              <a:ext uri="{FF2B5EF4-FFF2-40B4-BE49-F238E27FC236}">
                <a16:creationId xmlns:a16="http://schemas.microsoft.com/office/drawing/2014/main" id="{F2732168-8983-7124-7BD3-761F96546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9413" y="4743068"/>
            <a:ext cx="431826" cy="494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600" dirty="0"/>
              <a:t> </a:t>
            </a:r>
            <a:r>
              <a:rPr lang="en-US" altLang="ko-KR" sz="1000" dirty="0"/>
              <a:t>File</a:t>
            </a:r>
          </a:p>
          <a:p>
            <a:pPr algn="l" eaLnBrk="1" hangingPunct="1"/>
            <a:r>
              <a:rPr lang="en-US" altLang="ko-KR" sz="1000" dirty="0"/>
              <a:t>data</a:t>
            </a:r>
            <a:endParaRPr lang="en-US" altLang="ko-KR" sz="1600" dirty="0"/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72E26A01-221C-335A-4C0C-CB4B86F1F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9251" y="4545055"/>
            <a:ext cx="431826" cy="494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600" dirty="0"/>
              <a:t> </a:t>
            </a:r>
            <a:r>
              <a:rPr lang="en-US" altLang="ko-KR" sz="1000" dirty="0"/>
              <a:t>File</a:t>
            </a:r>
          </a:p>
          <a:p>
            <a:pPr algn="l" eaLnBrk="1" hangingPunct="1"/>
            <a:r>
              <a:rPr lang="en-US" altLang="ko-KR" sz="1000" dirty="0"/>
              <a:t>data</a:t>
            </a:r>
            <a:endParaRPr lang="en-US" altLang="ko-KR" sz="1600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654A219-087A-1ABD-4C11-850845CB1C66}"/>
              </a:ext>
            </a:extLst>
          </p:cNvPr>
          <p:cNvCxnSpPr>
            <a:cxnSpLocks/>
            <a:endCxn id="23" idx="0"/>
          </p:cNvCxnSpPr>
          <p:nvPr/>
        </p:nvCxnSpPr>
        <p:spPr bwMode="auto">
          <a:xfrm flipH="1">
            <a:off x="6775164" y="4349591"/>
            <a:ext cx="425882" cy="1954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3B445FA-9528-86A6-BD3C-7A6DF53230C4}"/>
              </a:ext>
            </a:extLst>
          </p:cNvPr>
          <p:cNvCxnSpPr>
            <a:cxnSpLocks/>
            <a:stCxn id="22" idx="2"/>
            <a:endCxn id="26" idx="0"/>
          </p:cNvCxnSpPr>
          <p:nvPr/>
        </p:nvCxnSpPr>
        <p:spPr bwMode="auto">
          <a:xfrm flipH="1">
            <a:off x="7015326" y="4324647"/>
            <a:ext cx="185721" cy="4184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4AE85F78-6F53-10BC-4A55-550BBAC41088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 bwMode="auto">
          <a:xfrm>
            <a:off x="7201047" y="4324647"/>
            <a:ext cx="104572" cy="5708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015AFC3-6728-FAC1-C2CB-F368F88383D9}"/>
              </a:ext>
            </a:extLst>
          </p:cNvPr>
          <p:cNvCxnSpPr>
            <a:cxnSpLocks/>
            <a:stCxn id="22" idx="2"/>
          </p:cNvCxnSpPr>
          <p:nvPr/>
        </p:nvCxnSpPr>
        <p:spPr bwMode="auto">
          <a:xfrm>
            <a:off x="7201047" y="4324647"/>
            <a:ext cx="360547" cy="6986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C7CFCC6-0DA5-242E-937F-2E72A7235321}"/>
              </a:ext>
            </a:extLst>
          </p:cNvPr>
          <p:cNvSpPr/>
          <p:nvPr/>
        </p:nvSpPr>
        <p:spPr bwMode="auto">
          <a:xfrm>
            <a:off x="4779297" y="3381851"/>
            <a:ext cx="990600" cy="2266749"/>
          </a:xfrm>
          <a:prstGeom prst="rect">
            <a:avLst/>
          </a:prstGeom>
          <a:solidFill>
            <a:srgbClr val="BFEAFA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AD7236-FD4A-9C91-3433-663FA27F30F3}"/>
              </a:ext>
            </a:extLst>
          </p:cNvPr>
          <p:cNvSpPr/>
          <p:nvPr/>
        </p:nvSpPr>
        <p:spPr bwMode="auto">
          <a:xfrm>
            <a:off x="4918998" y="4234861"/>
            <a:ext cx="634998" cy="416339"/>
          </a:xfrm>
          <a:prstGeom prst="rect">
            <a:avLst/>
          </a:prstGeom>
          <a:solidFill>
            <a:srgbClr val="CC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inode</a:t>
            </a:r>
            <a:r>
              <a:rPr kumimoji="0" lang="en-US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 </a:t>
            </a:r>
            <a:r>
              <a:rPr lang="en-US" altLang="ko-KR" sz="1050" dirty="0"/>
              <a:t>struct</a:t>
            </a:r>
            <a:endParaRPr kumimoji="0" lang="en-US" altLang="ko-KR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2" name="말풍선: 타원형 11">
            <a:extLst>
              <a:ext uri="{FF2B5EF4-FFF2-40B4-BE49-F238E27FC236}">
                <a16:creationId xmlns:a16="http://schemas.microsoft.com/office/drawing/2014/main" id="{5A662982-A391-4706-8E16-584E1BDAF081}"/>
              </a:ext>
            </a:extLst>
          </p:cNvPr>
          <p:cNvSpPr/>
          <p:nvPr/>
        </p:nvSpPr>
        <p:spPr bwMode="auto">
          <a:xfrm>
            <a:off x="4704514" y="3610593"/>
            <a:ext cx="1140166" cy="314174"/>
          </a:xfrm>
          <a:prstGeom prst="wedgeEllipseCallout">
            <a:avLst>
              <a:gd name="adj1" fmla="val -2262"/>
              <a:gd name="adj2" fmla="val 139301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Create!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E47924-127F-066B-B63F-80EA46169DFA}"/>
              </a:ext>
            </a:extLst>
          </p:cNvPr>
          <p:cNvSpPr txBox="1"/>
          <p:nvPr/>
        </p:nvSpPr>
        <p:spPr>
          <a:xfrm>
            <a:off x="4704514" y="3469426"/>
            <a:ext cx="1236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rgbClr val="FF0000"/>
                </a:solidFill>
              </a:rPr>
              <a:t>Inode_open</a:t>
            </a:r>
            <a:r>
              <a:rPr lang="en-US" altLang="ko-KR" sz="1200" dirty="0">
                <a:solidFill>
                  <a:srgbClr val="FF0000"/>
                </a:solidFill>
              </a:rPr>
              <a:t>()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A216786-529B-41EE-E47A-0F51661F1930}"/>
              </a:ext>
            </a:extLst>
          </p:cNvPr>
          <p:cNvCxnSpPr>
            <a:cxnSpLocks/>
            <a:stCxn id="3" idx="3"/>
            <a:endCxn id="23" idx="1"/>
          </p:cNvCxnSpPr>
          <p:nvPr/>
        </p:nvCxnSpPr>
        <p:spPr bwMode="auto">
          <a:xfrm>
            <a:off x="5553996" y="4443031"/>
            <a:ext cx="1005255" cy="34933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3A2C0FA-A2FE-48D0-67A3-1BF5899436A8}"/>
              </a:ext>
            </a:extLst>
          </p:cNvPr>
          <p:cNvSpPr/>
          <p:nvPr/>
        </p:nvSpPr>
        <p:spPr bwMode="auto">
          <a:xfrm>
            <a:off x="3094517" y="3413122"/>
            <a:ext cx="990600" cy="2295928"/>
          </a:xfrm>
          <a:prstGeom prst="rect">
            <a:avLst/>
          </a:prstGeom>
          <a:solidFill>
            <a:srgbClr val="BFEAFA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A6746F8-BB21-D7D6-A744-3777394021E6}"/>
              </a:ext>
            </a:extLst>
          </p:cNvPr>
          <p:cNvSpPr/>
          <p:nvPr/>
        </p:nvSpPr>
        <p:spPr bwMode="auto">
          <a:xfrm>
            <a:off x="3137481" y="4207915"/>
            <a:ext cx="903448" cy="474556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object</a:t>
            </a:r>
            <a:endParaRPr kumimoji="0" lang="ko-KR" altLang="en-US" sz="1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5F44464-8E8B-B8DD-E46C-29151A63D72C}"/>
              </a:ext>
            </a:extLst>
          </p:cNvPr>
          <p:cNvSpPr txBox="1"/>
          <p:nvPr/>
        </p:nvSpPr>
        <p:spPr>
          <a:xfrm>
            <a:off x="3254933" y="5807707"/>
            <a:ext cx="685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</a:rPr>
              <a:t>file table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  <p:sp>
        <p:nvSpPr>
          <p:cNvPr id="38" name="말풍선: 타원형 37">
            <a:extLst>
              <a:ext uri="{FF2B5EF4-FFF2-40B4-BE49-F238E27FC236}">
                <a16:creationId xmlns:a16="http://schemas.microsoft.com/office/drawing/2014/main" id="{9914C021-CDED-0E64-A6EB-01029B5F5ADC}"/>
              </a:ext>
            </a:extLst>
          </p:cNvPr>
          <p:cNvSpPr/>
          <p:nvPr/>
        </p:nvSpPr>
        <p:spPr bwMode="auto">
          <a:xfrm>
            <a:off x="3094517" y="3595246"/>
            <a:ext cx="1140166" cy="312095"/>
          </a:xfrm>
          <a:prstGeom prst="wedgeEllipseCallout">
            <a:avLst>
              <a:gd name="adj1" fmla="val -12955"/>
              <a:gd name="adj2" fmla="val 146738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Create!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0D902CB-0D19-8571-E89E-C15B9C23C421}"/>
              </a:ext>
            </a:extLst>
          </p:cNvPr>
          <p:cNvCxnSpPr>
            <a:cxnSpLocks/>
            <a:stCxn id="33" idx="3"/>
            <a:endCxn id="3" idx="1"/>
          </p:cNvCxnSpPr>
          <p:nvPr/>
        </p:nvCxnSpPr>
        <p:spPr bwMode="auto">
          <a:xfrm flipV="1">
            <a:off x="4040929" y="4443031"/>
            <a:ext cx="878069" cy="21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56643A2-EAC3-DB71-2544-19A424CD7640}"/>
              </a:ext>
            </a:extLst>
          </p:cNvPr>
          <p:cNvSpPr/>
          <p:nvPr/>
        </p:nvSpPr>
        <p:spPr bwMode="auto">
          <a:xfrm>
            <a:off x="829200" y="3692636"/>
            <a:ext cx="1676400" cy="1676400"/>
          </a:xfrm>
          <a:prstGeom prst="rect">
            <a:avLst/>
          </a:prstGeom>
          <a:solidFill>
            <a:srgbClr val="BFEAFA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565AABF-0A83-05EE-58D6-5380AB85B26E}"/>
              </a:ext>
            </a:extLst>
          </p:cNvPr>
          <p:cNvSpPr/>
          <p:nvPr/>
        </p:nvSpPr>
        <p:spPr bwMode="auto">
          <a:xfrm>
            <a:off x="1819800" y="3888851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C6E63AB-A9F5-0BF8-1BEF-FA4B417F77DE}"/>
              </a:ext>
            </a:extLst>
          </p:cNvPr>
          <p:cNvSpPr/>
          <p:nvPr/>
        </p:nvSpPr>
        <p:spPr bwMode="auto">
          <a:xfrm>
            <a:off x="1819800" y="4101616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6225534-DDED-5081-C6BC-CD26A789DF5D}"/>
              </a:ext>
            </a:extLst>
          </p:cNvPr>
          <p:cNvSpPr/>
          <p:nvPr/>
        </p:nvSpPr>
        <p:spPr bwMode="auto">
          <a:xfrm>
            <a:off x="1819800" y="4314381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3BD9EF5-490D-9028-521D-CC6BC6F6963C}"/>
              </a:ext>
            </a:extLst>
          </p:cNvPr>
          <p:cNvSpPr/>
          <p:nvPr/>
        </p:nvSpPr>
        <p:spPr bwMode="auto">
          <a:xfrm>
            <a:off x="1819800" y="4946722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210197E-3EBB-267C-68A3-03DAD80E81DB}"/>
              </a:ext>
            </a:extLst>
          </p:cNvPr>
          <p:cNvSpPr/>
          <p:nvPr/>
        </p:nvSpPr>
        <p:spPr bwMode="auto">
          <a:xfrm>
            <a:off x="1819800" y="4527146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2751BC9-9C98-D104-D964-AB201F236973}"/>
              </a:ext>
            </a:extLst>
          </p:cNvPr>
          <p:cNvSpPr/>
          <p:nvPr/>
        </p:nvSpPr>
        <p:spPr bwMode="auto">
          <a:xfrm>
            <a:off x="1819800" y="4736934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4F7B028-460D-4D8D-D3F4-E1B9C04BD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800" y="3861230"/>
            <a:ext cx="457200" cy="20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0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E0483FE3-F02B-1B3C-03E2-8C6E702ED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9275" y="4082547"/>
            <a:ext cx="476250" cy="20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1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0" name="Rectangle 3">
            <a:extLst>
              <a:ext uri="{FF2B5EF4-FFF2-40B4-BE49-F238E27FC236}">
                <a16:creationId xmlns:a16="http://schemas.microsoft.com/office/drawing/2014/main" id="{1764B432-E86B-7AC9-7456-5E56C8575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4990" y="4305373"/>
            <a:ext cx="476250" cy="218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2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1" name="Rectangle 3">
            <a:extLst>
              <a:ext uri="{FF2B5EF4-FFF2-40B4-BE49-F238E27FC236}">
                <a16:creationId xmlns:a16="http://schemas.microsoft.com/office/drawing/2014/main" id="{7CFB72E7-5CF8-9ABE-82EC-C4D207502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800" y="4523177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3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2" name="Rectangle 3">
            <a:extLst>
              <a:ext uri="{FF2B5EF4-FFF2-40B4-BE49-F238E27FC236}">
                <a16:creationId xmlns:a16="http://schemas.microsoft.com/office/drawing/2014/main" id="{60F52CAB-17FF-A612-6A61-BBC5DD644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9275" y="4749991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4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3" name="Rectangle 3">
            <a:extLst>
              <a:ext uri="{FF2B5EF4-FFF2-40B4-BE49-F238E27FC236}">
                <a16:creationId xmlns:a16="http://schemas.microsoft.com/office/drawing/2014/main" id="{9DA30529-DF66-8EF9-37F6-E32CFF88E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9275" y="4968868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5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marL="471487" lvl="1" indent="0" latinLnBrk="1">
              <a:buNone/>
            </a:pPr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A53819-0D75-5D0E-0F64-A295947E7C23}"/>
              </a:ext>
            </a:extLst>
          </p:cNvPr>
          <p:cNvSpPr txBox="1"/>
          <p:nvPr/>
        </p:nvSpPr>
        <p:spPr>
          <a:xfrm>
            <a:off x="1234012" y="3425747"/>
            <a:ext cx="866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Process A</a:t>
            </a:r>
            <a:endParaRPr lang="ko-KR" altLang="en-US" sz="1100" dirty="0"/>
          </a:p>
        </p:txBody>
      </p:sp>
      <p:sp>
        <p:nvSpPr>
          <p:cNvPr id="241689" name="TextBox 241688">
            <a:extLst>
              <a:ext uri="{FF2B5EF4-FFF2-40B4-BE49-F238E27FC236}">
                <a16:creationId xmlns:a16="http://schemas.microsoft.com/office/drawing/2014/main" id="{90603B98-3AF8-4E8A-F1F1-693FEFD52A97}"/>
              </a:ext>
            </a:extLst>
          </p:cNvPr>
          <p:cNvSpPr txBox="1"/>
          <p:nvPr/>
        </p:nvSpPr>
        <p:spPr>
          <a:xfrm>
            <a:off x="1062029" y="5433156"/>
            <a:ext cx="12411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</a:rPr>
              <a:t>File descriptor table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  <p:cxnSp>
        <p:nvCxnSpPr>
          <p:cNvPr id="241690" name="직선 화살표 연결선 241689">
            <a:extLst>
              <a:ext uri="{FF2B5EF4-FFF2-40B4-BE49-F238E27FC236}">
                <a16:creationId xmlns:a16="http://schemas.microsoft.com/office/drawing/2014/main" id="{9F57B731-BB4F-67B9-3F84-77BBA917F79C}"/>
              </a:ext>
            </a:extLst>
          </p:cNvPr>
          <p:cNvCxnSpPr>
            <a:cxnSpLocks/>
            <a:endCxn id="33" idx="1"/>
          </p:cNvCxnSpPr>
          <p:nvPr/>
        </p:nvCxnSpPr>
        <p:spPr bwMode="auto">
          <a:xfrm flipV="1">
            <a:off x="2383956" y="4445193"/>
            <a:ext cx="753525" cy="17250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241693" name="생각 풍선: 구름 모양 241692">
            <a:extLst>
              <a:ext uri="{FF2B5EF4-FFF2-40B4-BE49-F238E27FC236}">
                <a16:creationId xmlns:a16="http://schemas.microsoft.com/office/drawing/2014/main" id="{55434C8B-EFB4-65DB-90A4-84A1705FAC78}"/>
              </a:ext>
            </a:extLst>
          </p:cNvPr>
          <p:cNvSpPr/>
          <p:nvPr/>
        </p:nvSpPr>
        <p:spPr bwMode="auto">
          <a:xfrm>
            <a:off x="1993527" y="3079825"/>
            <a:ext cx="1425446" cy="483219"/>
          </a:xfrm>
          <a:prstGeom prst="cloudCallout">
            <a:avLst>
              <a:gd name="adj1" fmla="val -4960"/>
              <a:gd name="adj2" fmla="val 245573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Connect!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694" name="생각 풍선: 구름 모양 241693">
            <a:extLst>
              <a:ext uri="{FF2B5EF4-FFF2-40B4-BE49-F238E27FC236}">
                <a16:creationId xmlns:a16="http://schemas.microsoft.com/office/drawing/2014/main" id="{74DEE139-A287-B5B3-CE02-109EFA484E96}"/>
              </a:ext>
            </a:extLst>
          </p:cNvPr>
          <p:cNvSpPr/>
          <p:nvPr/>
        </p:nvSpPr>
        <p:spPr bwMode="auto">
          <a:xfrm>
            <a:off x="3682093" y="5102861"/>
            <a:ext cx="1425446" cy="483219"/>
          </a:xfrm>
          <a:prstGeom prst="cloudCallout">
            <a:avLst>
              <a:gd name="adj1" fmla="val 3058"/>
              <a:gd name="adj2" fmla="val -175466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Connect!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695" name="생각 풍선: 구름 모양 241694">
            <a:extLst>
              <a:ext uri="{FF2B5EF4-FFF2-40B4-BE49-F238E27FC236}">
                <a16:creationId xmlns:a16="http://schemas.microsoft.com/office/drawing/2014/main" id="{5A2EC761-02AC-7E9E-3AEE-00C3095359FC}"/>
              </a:ext>
            </a:extLst>
          </p:cNvPr>
          <p:cNvSpPr/>
          <p:nvPr/>
        </p:nvSpPr>
        <p:spPr bwMode="auto">
          <a:xfrm>
            <a:off x="6275382" y="2830410"/>
            <a:ext cx="1425446" cy="483219"/>
          </a:xfrm>
          <a:prstGeom prst="cloudCallout">
            <a:avLst>
              <a:gd name="adj1" fmla="val -75524"/>
              <a:gd name="adj2" fmla="val 28972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Connect!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8826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E80-409A-4BBE-FA74-E4496812D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9F5BE89E-437A-1924-F32D-3108B6020C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read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3FF9F95-8DF9-C05A-7B31-15A4BB0A9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1828800"/>
            <a:ext cx="8001001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900" kern="0" dirty="0">
                <a:solidFill>
                  <a:srgbClr val="0070C0"/>
                </a:solidFill>
              </a:rPr>
              <a:t>int</a:t>
            </a:r>
            <a:r>
              <a:rPr lang="en-US" altLang="ko-KR" sz="1900" kern="0" dirty="0"/>
              <a:t> read(</a:t>
            </a:r>
            <a:r>
              <a:rPr lang="en-US" altLang="ko-KR" sz="1900" kern="0" dirty="0">
                <a:solidFill>
                  <a:srgbClr val="0070C0"/>
                </a:solidFill>
              </a:rPr>
              <a:t>int </a:t>
            </a:r>
            <a:r>
              <a:rPr lang="en-US" altLang="ko-KR" sz="1900" kern="0" dirty="0" err="1"/>
              <a:t>fd</a:t>
            </a:r>
            <a:r>
              <a:rPr lang="en-US" altLang="ko-KR" sz="1900" kern="0" dirty="0"/>
              <a:t>, </a:t>
            </a:r>
            <a:r>
              <a:rPr lang="en-US" altLang="ko-KR" sz="1900" kern="0" dirty="0">
                <a:solidFill>
                  <a:srgbClr val="0070C0"/>
                </a:solidFill>
              </a:rPr>
              <a:t>void</a:t>
            </a:r>
            <a:r>
              <a:rPr lang="en-US" altLang="ko-KR" sz="1900" kern="0" dirty="0"/>
              <a:t> *buffer, </a:t>
            </a:r>
            <a:r>
              <a:rPr lang="en-US" altLang="ko-KR" sz="1900" kern="0" dirty="0">
                <a:solidFill>
                  <a:srgbClr val="0070C0"/>
                </a:solidFill>
              </a:rPr>
              <a:t>unsigned</a:t>
            </a:r>
            <a:r>
              <a:rPr lang="en-US" altLang="ko-KR" sz="1900" kern="0" dirty="0"/>
              <a:t> size)</a:t>
            </a:r>
          </a:p>
          <a:p>
            <a:pPr lvl="1" latinLnBrk="1"/>
            <a:r>
              <a:rPr lang="en-US" altLang="ko-KR" sz="1500" kern="0" dirty="0"/>
              <a:t>Read size bytes from the file open as </a:t>
            </a:r>
            <a:r>
              <a:rPr lang="en-US" altLang="ko-KR" sz="1500" kern="0" dirty="0" err="1"/>
              <a:t>fd</a:t>
            </a:r>
            <a:r>
              <a:rPr lang="en-US" altLang="ko-KR" sz="1500" kern="0" dirty="0"/>
              <a:t> into buffer.</a:t>
            </a:r>
          </a:p>
          <a:p>
            <a:pPr lvl="1" latinLnBrk="1"/>
            <a:r>
              <a:rPr lang="en-US" altLang="ko-KR" sz="1500" kern="0" dirty="0"/>
              <a:t>Return</a:t>
            </a:r>
            <a:r>
              <a:rPr lang="ko-KR" altLang="en-US" sz="1500" kern="0" dirty="0"/>
              <a:t> </a:t>
            </a:r>
            <a:r>
              <a:rPr lang="en-US" altLang="ko-KR" sz="1500" kern="0" dirty="0"/>
              <a:t>the number of bytes actually read(0 at end of file), or -1 if fails</a:t>
            </a:r>
          </a:p>
          <a:p>
            <a:pPr lvl="1" latinLnBrk="1"/>
            <a:r>
              <a:rPr lang="en-US" altLang="ko-KR" sz="1500" kern="0" dirty="0"/>
              <a:t>If </a:t>
            </a:r>
            <a:r>
              <a:rPr lang="en-US" altLang="ko-KR" sz="1500" kern="0" dirty="0" err="1"/>
              <a:t>fd</a:t>
            </a:r>
            <a:r>
              <a:rPr lang="en-US" altLang="ko-KR" sz="1500" kern="0" dirty="0"/>
              <a:t> is 0, it reads from keyboard using </a:t>
            </a:r>
            <a:r>
              <a:rPr lang="en-US" altLang="ko-KR" sz="1500" b="1" kern="0" dirty="0" err="1">
                <a:solidFill>
                  <a:srgbClr val="0000FF"/>
                </a:solidFill>
              </a:rPr>
              <a:t>input_getc</a:t>
            </a:r>
            <a:r>
              <a:rPr lang="en-US" altLang="ko-KR" sz="1500" b="1" kern="0" dirty="0">
                <a:solidFill>
                  <a:srgbClr val="0000FF"/>
                </a:solidFill>
              </a:rPr>
              <a:t>(</a:t>
            </a:r>
            <a:r>
              <a:rPr lang="en-US" altLang="ko-KR" sz="1500" kern="0" dirty="0">
                <a:solidFill>
                  <a:srgbClr val="00B050"/>
                </a:solidFill>
              </a:rPr>
              <a:t>void</a:t>
            </a:r>
            <a:r>
              <a:rPr lang="en-US" altLang="ko-KR" sz="1500" b="1" kern="0" dirty="0">
                <a:solidFill>
                  <a:srgbClr val="0000FF"/>
                </a:solidFill>
              </a:rPr>
              <a:t>)</a:t>
            </a:r>
            <a:r>
              <a:rPr lang="en-US" altLang="ko-KR" sz="1500" b="1" kern="0" dirty="0"/>
              <a:t>,</a:t>
            </a:r>
            <a:r>
              <a:rPr lang="en-US" altLang="ko-KR" sz="1500" b="1" kern="0" dirty="0">
                <a:solidFill>
                  <a:srgbClr val="0000FF"/>
                </a:solidFill>
              </a:rPr>
              <a:t> </a:t>
            </a:r>
            <a:r>
              <a:rPr lang="en-US" altLang="ko-KR" sz="1500" kern="0" dirty="0"/>
              <a:t>otherwise reads from file using </a:t>
            </a:r>
            <a:r>
              <a:rPr lang="en-US" altLang="ko-KR" sz="1500" b="1" kern="0" dirty="0" err="1">
                <a:solidFill>
                  <a:srgbClr val="0000FF"/>
                </a:solidFill>
              </a:rPr>
              <a:t>file_read</a:t>
            </a:r>
            <a:r>
              <a:rPr lang="en-US" altLang="ko-KR" sz="1500" b="1" kern="0" dirty="0">
                <a:solidFill>
                  <a:srgbClr val="0000FF"/>
                </a:solidFill>
              </a:rPr>
              <a:t>(</a:t>
            </a:r>
            <a:r>
              <a:rPr lang="en-US" altLang="ko-KR" sz="1500" kern="0" dirty="0" err="1">
                <a:solidFill>
                  <a:srgbClr val="00B050"/>
                </a:solidFill>
              </a:rPr>
              <a:t>file,buffer,size</a:t>
            </a:r>
            <a:r>
              <a:rPr lang="en-US" altLang="ko-KR" sz="1500" b="1" kern="0" dirty="0">
                <a:solidFill>
                  <a:srgbClr val="0000FF"/>
                </a:solidFill>
              </a:rPr>
              <a:t>) </a:t>
            </a:r>
            <a:r>
              <a:rPr lang="en-US" altLang="ko-KR" sz="1500" kern="0" dirty="0"/>
              <a:t>function</a:t>
            </a:r>
          </a:p>
          <a:p>
            <a:pPr lvl="1" latinLnBrk="1"/>
            <a:endParaRPr lang="en-US" altLang="ko-KR" sz="1500" kern="0" dirty="0"/>
          </a:p>
          <a:p>
            <a:pPr marL="0" indent="0" latinLnBrk="1">
              <a:buNone/>
            </a:pPr>
            <a:endParaRPr lang="en-US" altLang="ko-KR" sz="1500" kern="0" dirty="0"/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marL="471487" lvl="1" indent="0" latinLnBrk="1">
              <a:buNone/>
            </a:pPr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lvl="3" latinLnBrk="1"/>
            <a:endParaRPr lang="en-US" altLang="ko-KR" sz="800" b="1" kern="0" dirty="0"/>
          </a:p>
          <a:p>
            <a:pPr latinLnBrk="1"/>
            <a:endParaRPr lang="en-US" altLang="ko-KR" sz="2000" kern="0" dirty="0"/>
          </a:p>
        </p:txBody>
      </p:sp>
      <p:sp>
        <p:nvSpPr>
          <p:cNvPr id="10" name="원통형 9">
            <a:extLst>
              <a:ext uri="{FF2B5EF4-FFF2-40B4-BE49-F238E27FC236}">
                <a16:creationId xmlns:a16="http://schemas.microsoft.com/office/drawing/2014/main" id="{CE2DDF7D-4774-E965-2AE1-4DBDC7456D45}"/>
              </a:ext>
            </a:extLst>
          </p:cNvPr>
          <p:cNvSpPr/>
          <p:nvPr/>
        </p:nvSpPr>
        <p:spPr bwMode="auto">
          <a:xfrm>
            <a:off x="5334000" y="3581401"/>
            <a:ext cx="1701880" cy="2266749"/>
          </a:xfrm>
          <a:prstGeom prst="can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4AFDA4-15F3-5039-C500-1387A9D3010E}"/>
              </a:ext>
            </a:extLst>
          </p:cNvPr>
          <p:cNvSpPr txBox="1"/>
          <p:nvPr/>
        </p:nvSpPr>
        <p:spPr>
          <a:xfrm>
            <a:off x="5971998" y="5887264"/>
            <a:ext cx="9144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Disk</a:t>
            </a:r>
            <a:endParaRPr lang="ko-KR" altLang="en-US" sz="1000" b="1" dirty="0"/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3F8F5E2C-1461-04D7-142A-244C450A0A72}"/>
              </a:ext>
            </a:extLst>
          </p:cNvPr>
          <p:cNvSpPr/>
          <p:nvPr/>
        </p:nvSpPr>
        <p:spPr bwMode="auto">
          <a:xfrm>
            <a:off x="5723666" y="4143615"/>
            <a:ext cx="922547" cy="403442"/>
          </a:xfrm>
          <a:prstGeom prst="flowChartProcess">
            <a:avLst/>
          </a:prstGeom>
          <a:solidFill>
            <a:srgbClr val="CCCCFF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metadata</a:t>
            </a:r>
            <a:endParaRPr kumimoji="0" lang="ko-KR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" name="Text Box 6">
            <a:extLst>
              <a:ext uri="{FF2B5EF4-FFF2-40B4-BE49-F238E27FC236}">
                <a16:creationId xmlns:a16="http://schemas.microsoft.com/office/drawing/2014/main" id="{B37579BE-0EFB-8789-719F-009F07C67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5123" y="5262089"/>
            <a:ext cx="431826" cy="494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600" dirty="0"/>
              <a:t> </a:t>
            </a:r>
            <a:r>
              <a:rPr lang="en-US" altLang="ko-KR" sz="1000" dirty="0"/>
              <a:t>File</a:t>
            </a:r>
          </a:p>
          <a:p>
            <a:pPr algn="l" eaLnBrk="1" hangingPunct="1"/>
            <a:r>
              <a:rPr lang="en-US" altLang="ko-KR" sz="1000" dirty="0"/>
              <a:t>data</a:t>
            </a:r>
            <a:endParaRPr lang="en-US" altLang="ko-KR" sz="1600" dirty="0"/>
          </a:p>
        </p:txBody>
      </p:sp>
      <p:sp>
        <p:nvSpPr>
          <p:cNvPr id="25" name="Text Box 6">
            <a:extLst>
              <a:ext uri="{FF2B5EF4-FFF2-40B4-BE49-F238E27FC236}">
                <a16:creationId xmlns:a16="http://schemas.microsoft.com/office/drawing/2014/main" id="{C1A866A6-0EF0-CA98-FF21-E554E8872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3599" y="5117878"/>
            <a:ext cx="431826" cy="494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600" dirty="0"/>
              <a:t> </a:t>
            </a:r>
            <a:r>
              <a:rPr lang="en-US" altLang="ko-KR" sz="1000" dirty="0"/>
              <a:t>File</a:t>
            </a:r>
          </a:p>
          <a:p>
            <a:pPr algn="l" eaLnBrk="1" hangingPunct="1"/>
            <a:r>
              <a:rPr lang="en-US" altLang="ko-KR" sz="1000" dirty="0"/>
              <a:t>data</a:t>
            </a:r>
            <a:endParaRPr lang="en-US" altLang="ko-KR" sz="1600" dirty="0"/>
          </a:p>
        </p:txBody>
      </p:sp>
      <p:sp>
        <p:nvSpPr>
          <p:cNvPr id="26" name="Text Box 6">
            <a:extLst>
              <a:ext uri="{FF2B5EF4-FFF2-40B4-BE49-F238E27FC236}">
                <a16:creationId xmlns:a16="http://schemas.microsoft.com/office/drawing/2014/main" id="{42EF22C3-9D74-9901-16CD-EA4F4926B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3306" y="4965478"/>
            <a:ext cx="431826" cy="494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600" dirty="0"/>
              <a:t> </a:t>
            </a:r>
            <a:r>
              <a:rPr lang="en-US" altLang="ko-KR" sz="1000" dirty="0"/>
              <a:t>File</a:t>
            </a:r>
          </a:p>
          <a:p>
            <a:pPr algn="l" eaLnBrk="1" hangingPunct="1"/>
            <a:r>
              <a:rPr lang="en-US" altLang="ko-KR" sz="1000" dirty="0"/>
              <a:t>data</a:t>
            </a:r>
            <a:endParaRPr lang="en-US" altLang="ko-KR" sz="1600" dirty="0"/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831DEFED-9BCC-EE90-0147-3DA4F46C1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144" y="4767465"/>
            <a:ext cx="431826" cy="494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600" dirty="0"/>
              <a:t> </a:t>
            </a:r>
            <a:r>
              <a:rPr lang="en-US" altLang="ko-KR" sz="1000" dirty="0"/>
              <a:t>File</a:t>
            </a:r>
          </a:p>
          <a:p>
            <a:pPr algn="l" eaLnBrk="1" hangingPunct="1"/>
            <a:r>
              <a:rPr lang="en-US" altLang="ko-KR" sz="1000" dirty="0"/>
              <a:t>data</a:t>
            </a:r>
            <a:endParaRPr lang="en-US" altLang="ko-KR" sz="1600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C5450F3-8C73-563E-049A-1D0E1086040E}"/>
              </a:ext>
            </a:extLst>
          </p:cNvPr>
          <p:cNvCxnSpPr>
            <a:cxnSpLocks/>
            <a:endCxn id="23" idx="0"/>
          </p:cNvCxnSpPr>
          <p:nvPr/>
        </p:nvCxnSpPr>
        <p:spPr bwMode="auto">
          <a:xfrm flipH="1">
            <a:off x="5759057" y="4572001"/>
            <a:ext cx="425882" cy="1954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1AF3DA4-75E6-0D87-30D1-4BA332B744EE}"/>
              </a:ext>
            </a:extLst>
          </p:cNvPr>
          <p:cNvCxnSpPr>
            <a:cxnSpLocks/>
            <a:stCxn id="22" idx="2"/>
            <a:endCxn id="26" idx="0"/>
          </p:cNvCxnSpPr>
          <p:nvPr/>
        </p:nvCxnSpPr>
        <p:spPr bwMode="auto">
          <a:xfrm flipH="1">
            <a:off x="5999219" y="4547057"/>
            <a:ext cx="185721" cy="4184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97F90DA-682E-E7BC-57F7-8B8A3479E647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 bwMode="auto">
          <a:xfrm>
            <a:off x="6184940" y="4547057"/>
            <a:ext cx="104572" cy="5708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DDE706E-7470-0A31-FDD7-FB9BAA4F59EA}"/>
              </a:ext>
            </a:extLst>
          </p:cNvPr>
          <p:cNvCxnSpPr>
            <a:cxnSpLocks/>
            <a:stCxn id="22" idx="2"/>
          </p:cNvCxnSpPr>
          <p:nvPr/>
        </p:nvCxnSpPr>
        <p:spPr bwMode="auto">
          <a:xfrm>
            <a:off x="6184940" y="4547057"/>
            <a:ext cx="360547" cy="6986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D9ED564-3DE3-839E-3748-E85B688F45EA}"/>
              </a:ext>
            </a:extLst>
          </p:cNvPr>
          <p:cNvCxnSpPr>
            <a:cxnSpLocks/>
            <a:stCxn id="26" idx="1"/>
            <a:endCxn id="60" idx="3"/>
          </p:cNvCxnSpPr>
          <p:nvPr/>
        </p:nvCxnSpPr>
        <p:spPr bwMode="auto">
          <a:xfrm flipH="1" flipV="1">
            <a:off x="3632138" y="4659747"/>
            <a:ext cx="2151168" cy="553043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C656B1D-B051-AB2E-1AB2-84C939033BE7}"/>
              </a:ext>
            </a:extLst>
          </p:cNvPr>
          <p:cNvSpPr/>
          <p:nvPr/>
        </p:nvSpPr>
        <p:spPr bwMode="auto">
          <a:xfrm>
            <a:off x="2410540" y="3575082"/>
            <a:ext cx="1219200" cy="231218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CAE1D5-87A8-A965-1930-18AC236F7607}"/>
              </a:ext>
            </a:extLst>
          </p:cNvPr>
          <p:cNvSpPr txBox="1"/>
          <p:nvPr/>
        </p:nvSpPr>
        <p:spPr>
          <a:xfrm>
            <a:off x="2481913" y="5920541"/>
            <a:ext cx="1150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>
                <a:solidFill>
                  <a:srgbClr val="0000FF"/>
                </a:solidFill>
              </a:rPr>
              <a:t>Vaddr</a:t>
            </a:r>
            <a:r>
              <a:rPr lang="en-US" altLang="ko-KR" sz="1000" dirty="0">
                <a:solidFill>
                  <a:srgbClr val="0000FF"/>
                </a:solidFill>
              </a:rPr>
              <a:t> space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26C771C-E0E5-5CF1-5057-B7120164A5D8}"/>
              </a:ext>
            </a:extLst>
          </p:cNvPr>
          <p:cNvCxnSpPr/>
          <p:nvPr/>
        </p:nvCxnSpPr>
        <p:spPr bwMode="auto">
          <a:xfrm>
            <a:off x="2410540" y="4229218"/>
            <a:ext cx="1224000" cy="0"/>
          </a:xfrm>
          <a:prstGeom prst="line">
            <a:avLst/>
          </a:prstGeom>
          <a:ln w="2222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2C7220A7-F287-2987-537E-DE5FA07C9CA9}"/>
              </a:ext>
            </a:extLst>
          </p:cNvPr>
          <p:cNvCxnSpPr/>
          <p:nvPr/>
        </p:nvCxnSpPr>
        <p:spPr bwMode="auto">
          <a:xfrm>
            <a:off x="2405141" y="4939311"/>
            <a:ext cx="1219200" cy="0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D4DBB589-8673-A6E9-49F6-08B45FA37516}"/>
              </a:ext>
            </a:extLst>
          </p:cNvPr>
          <p:cNvCxnSpPr>
            <a:cxnSpLocks/>
          </p:cNvCxnSpPr>
          <p:nvPr/>
        </p:nvCxnSpPr>
        <p:spPr bwMode="auto">
          <a:xfrm flipV="1">
            <a:off x="1887129" y="4965478"/>
            <a:ext cx="457199" cy="3283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63EDA71-FB70-31FB-67D1-8B17CE9C44AA}"/>
              </a:ext>
            </a:extLst>
          </p:cNvPr>
          <p:cNvSpPr txBox="1"/>
          <p:nvPr/>
        </p:nvSpPr>
        <p:spPr>
          <a:xfrm>
            <a:off x="1311930" y="5262089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u="sng" dirty="0">
                <a:solidFill>
                  <a:srgbClr val="FF0000"/>
                </a:solidFill>
              </a:rPr>
              <a:t>buffer</a:t>
            </a:r>
            <a:endParaRPr lang="ko-KR" altLang="en-US" u="sng" dirty="0">
              <a:solidFill>
                <a:srgbClr val="FF0000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D0828A9-5927-80CA-CF4A-F9F58F66F65B}"/>
              </a:ext>
            </a:extLst>
          </p:cNvPr>
          <p:cNvSpPr/>
          <p:nvPr/>
        </p:nvSpPr>
        <p:spPr bwMode="auto">
          <a:xfrm>
            <a:off x="2412939" y="4748779"/>
            <a:ext cx="1219200" cy="18498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data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B7548E3-F14C-4D6D-23F5-B8E800CE5D87}"/>
              </a:ext>
            </a:extLst>
          </p:cNvPr>
          <p:cNvSpPr/>
          <p:nvPr/>
        </p:nvSpPr>
        <p:spPr bwMode="auto">
          <a:xfrm>
            <a:off x="2412938" y="4563226"/>
            <a:ext cx="1219200" cy="193041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data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255605A-6EC1-48AC-5D87-53A0DD401AC7}"/>
              </a:ext>
            </a:extLst>
          </p:cNvPr>
          <p:cNvSpPr/>
          <p:nvPr/>
        </p:nvSpPr>
        <p:spPr bwMode="auto">
          <a:xfrm>
            <a:off x="2409511" y="4370952"/>
            <a:ext cx="1219200" cy="193041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data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664" name="TextBox 241663">
            <a:extLst>
              <a:ext uri="{FF2B5EF4-FFF2-40B4-BE49-F238E27FC236}">
                <a16:creationId xmlns:a16="http://schemas.microsoft.com/office/drawing/2014/main" id="{4BE14793-86CB-7747-DA9D-F2510CFCF3F6}"/>
              </a:ext>
            </a:extLst>
          </p:cNvPr>
          <p:cNvSpPr txBox="1"/>
          <p:nvPr/>
        </p:nvSpPr>
        <p:spPr>
          <a:xfrm>
            <a:off x="1788914" y="4494657"/>
            <a:ext cx="6536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size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cxnSp>
        <p:nvCxnSpPr>
          <p:cNvPr id="241669" name="직선 화살표 연결선 241668">
            <a:extLst>
              <a:ext uri="{FF2B5EF4-FFF2-40B4-BE49-F238E27FC236}">
                <a16:creationId xmlns:a16="http://schemas.microsoft.com/office/drawing/2014/main" id="{614D4698-8CB2-E498-B75F-1346B0BA8BF1}"/>
              </a:ext>
            </a:extLst>
          </p:cNvPr>
          <p:cNvCxnSpPr>
            <a:stCxn id="23" idx="1"/>
            <a:endCxn id="59" idx="3"/>
          </p:cNvCxnSpPr>
          <p:nvPr/>
        </p:nvCxnSpPr>
        <p:spPr bwMode="auto">
          <a:xfrm flipH="1" flipV="1">
            <a:off x="3632139" y="4841271"/>
            <a:ext cx="1911005" cy="173506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241672" name="직선 화살표 연결선 241671">
            <a:extLst>
              <a:ext uri="{FF2B5EF4-FFF2-40B4-BE49-F238E27FC236}">
                <a16:creationId xmlns:a16="http://schemas.microsoft.com/office/drawing/2014/main" id="{6B568123-823D-A110-64AF-EF49AE73B6D4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632137" y="4483767"/>
            <a:ext cx="2459942" cy="88604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241676" name="오른쪽 중괄호 241675">
            <a:extLst>
              <a:ext uri="{FF2B5EF4-FFF2-40B4-BE49-F238E27FC236}">
                <a16:creationId xmlns:a16="http://schemas.microsoft.com/office/drawing/2014/main" id="{F3A60CB0-1C3E-93B0-D6A6-2ECBF574CFDB}"/>
              </a:ext>
            </a:extLst>
          </p:cNvPr>
          <p:cNvSpPr/>
          <p:nvPr/>
        </p:nvSpPr>
        <p:spPr bwMode="auto">
          <a:xfrm rot="10800000">
            <a:off x="2212592" y="4374896"/>
            <a:ext cx="208116" cy="562806"/>
          </a:xfrm>
          <a:prstGeom prst="rightBrace">
            <a:avLst>
              <a:gd name="adj1" fmla="val 8333"/>
              <a:gd name="adj2" fmla="val 52031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1738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A5812-1E14-F9D5-C749-D3913DCF9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342BBD60-1E78-D3C6-B246-4795BAE980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write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5DA41E7-0655-CBBD-66CE-7495A017B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1828800"/>
            <a:ext cx="8001001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900" kern="0" dirty="0">
                <a:solidFill>
                  <a:srgbClr val="0070C0"/>
                </a:solidFill>
              </a:rPr>
              <a:t>int</a:t>
            </a:r>
            <a:r>
              <a:rPr lang="en-US" altLang="ko-KR" sz="1900" kern="0" dirty="0"/>
              <a:t> write(</a:t>
            </a:r>
            <a:r>
              <a:rPr lang="en-US" altLang="ko-KR" sz="1900" kern="0" dirty="0">
                <a:solidFill>
                  <a:srgbClr val="0070C0"/>
                </a:solidFill>
              </a:rPr>
              <a:t>int </a:t>
            </a:r>
            <a:r>
              <a:rPr lang="en-US" altLang="ko-KR" sz="1900" kern="0" dirty="0" err="1"/>
              <a:t>fd</a:t>
            </a:r>
            <a:r>
              <a:rPr lang="en-US" altLang="ko-KR" sz="1900" kern="0" dirty="0"/>
              <a:t>, </a:t>
            </a:r>
            <a:r>
              <a:rPr lang="en-US" altLang="ko-KR" sz="1900" kern="0" dirty="0">
                <a:solidFill>
                  <a:srgbClr val="0070C0"/>
                </a:solidFill>
              </a:rPr>
              <a:t>const</a:t>
            </a:r>
            <a:r>
              <a:rPr lang="en-US" altLang="ko-KR" sz="1900" kern="0" dirty="0"/>
              <a:t> </a:t>
            </a:r>
            <a:r>
              <a:rPr lang="en-US" altLang="ko-KR" sz="1900" kern="0" dirty="0">
                <a:solidFill>
                  <a:srgbClr val="0070C0"/>
                </a:solidFill>
              </a:rPr>
              <a:t>void</a:t>
            </a:r>
            <a:r>
              <a:rPr lang="en-US" altLang="ko-KR" sz="1900" kern="0" dirty="0"/>
              <a:t> *buffer, </a:t>
            </a:r>
            <a:r>
              <a:rPr lang="en-US" altLang="ko-KR" sz="1900" kern="0" dirty="0">
                <a:solidFill>
                  <a:srgbClr val="0070C0"/>
                </a:solidFill>
              </a:rPr>
              <a:t>unsigned</a:t>
            </a:r>
            <a:r>
              <a:rPr lang="en-US" altLang="ko-KR" sz="1900" kern="0" dirty="0"/>
              <a:t> size)</a:t>
            </a:r>
          </a:p>
          <a:p>
            <a:pPr lvl="1" latinLnBrk="1"/>
            <a:r>
              <a:rPr lang="en-US" altLang="ko-KR" sz="1500" kern="0" dirty="0"/>
              <a:t>Write size bytes from buffer to open file </a:t>
            </a:r>
            <a:r>
              <a:rPr lang="en-US" altLang="ko-KR" sz="1500" kern="0" dirty="0" err="1"/>
              <a:t>fd</a:t>
            </a:r>
            <a:r>
              <a:rPr lang="en-US" altLang="ko-KR" sz="1500" kern="0" dirty="0"/>
              <a:t>.</a:t>
            </a:r>
          </a:p>
          <a:p>
            <a:pPr lvl="1" latinLnBrk="1"/>
            <a:r>
              <a:rPr lang="en-US" altLang="ko-KR" sz="1500" kern="0" dirty="0"/>
              <a:t>Return</a:t>
            </a:r>
            <a:r>
              <a:rPr lang="ko-KR" altLang="en-US" sz="1500" kern="0" dirty="0"/>
              <a:t> </a:t>
            </a:r>
            <a:r>
              <a:rPr lang="en-US" altLang="ko-KR" sz="1500" kern="0" dirty="0"/>
              <a:t>the number of bytes actually written.</a:t>
            </a:r>
          </a:p>
          <a:p>
            <a:pPr lvl="1" latinLnBrk="1"/>
            <a:r>
              <a:rPr lang="en-US" altLang="ko-KR" sz="1500" kern="0" dirty="0"/>
              <a:t>If </a:t>
            </a:r>
            <a:r>
              <a:rPr lang="en-US" altLang="ko-KR" sz="1500" kern="0" dirty="0" err="1"/>
              <a:t>fd</a:t>
            </a:r>
            <a:r>
              <a:rPr lang="en-US" altLang="ko-KR" sz="1500" kern="0" dirty="0"/>
              <a:t> is 1, it writes to the consol using </a:t>
            </a:r>
            <a:r>
              <a:rPr lang="en-US" altLang="ko-KR" sz="1500" b="1" kern="0" dirty="0" err="1">
                <a:solidFill>
                  <a:srgbClr val="0000FF"/>
                </a:solidFill>
              </a:rPr>
              <a:t>putbuf</a:t>
            </a:r>
            <a:r>
              <a:rPr lang="en-US" altLang="ko-KR" sz="1500" b="1" kern="0" dirty="0">
                <a:solidFill>
                  <a:srgbClr val="0000FF"/>
                </a:solidFill>
              </a:rPr>
              <a:t>(</a:t>
            </a:r>
            <a:r>
              <a:rPr lang="en-US" altLang="ko-KR" sz="1500" kern="0" dirty="0" err="1">
                <a:solidFill>
                  <a:srgbClr val="00B050"/>
                </a:solidFill>
              </a:rPr>
              <a:t>buffer,size</a:t>
            </a:r>
            <a:r>
              <a:rPr lang="en-US" altLang="ko-KR" sz="1500" b="1" kern="0" dirty="0">
                <a:solidFill>
                  <a:srgbClr val="0000FF"/>
                </a:solidFill>
              </a:rPr>
              <a:t>)</a:t>
            </a:r>
            <a:r>
              <a:rPr lang="en-US" altLang="ko-KR" sz="1500" b="1" kern="0" dirty="0"/>
              <a:t>,</a:t>
            </a:r>
            <a:r>
              <a:rPr lang="en-US" altLang="ko-KR" sz="1500" b="1" kern="0" dirty="0">
                <a:solidFill>
                  <a:srgbClr val="0000FF"/>
                </a:solidFill>
              </a:rPr>
              <a:t> </a:t>
            </a:r>
            <a:r>
              <a:rPr lang="en-US" altLang="ko-KR" sz="1500" kern="0" dirty="0"/>
              <a:t>otherwise write to the file using </a:t>
            </a:r>
            <a:r>
              <a:rPr lang="en-US" altLang="ko-KR" sz="1500" b="1" kern="0" dirty="0" err="1">
                <a:solidFill>
                  <a:srgbClr val="0000FF"/>
                </a:solidFill>
              </a:rPr>
              <a:t>file_write</a:t>
            </a:r>
            <a:r>
              <a:rPr lang="en-US" altLang="ko-KR" sz="1500" b="1" kern="0" dirty="0">
                <a:solidFill>
                  <a:srgbClr val="0000FF"/>
                </a:solidFill>
              </a:rPr>
              <a:t>(</a:t>
            </a:r>
            <a:r>
              <a:rPr lang="en-US" altLang="ko-KR" sz="1500" kern="0" dirty="0" err="1">
                <a:solidFill>
                  <a:srgbClr val="00B050"/>
                </a:solidFill>
              </a:rPr>
              <a:t>file,buffer,size</a:t>
            </a:r>
            <a:r>
              <a:rPr lang="en-US" altLang="ko-KR" sz="1500" b="1" kern="0" dirty="0">
                <a:solidFill>
                  <a:srgbClr val="0000FF"/>
                </a:solidFill>
              </a:rPr>
              <a:t>) </a:t>
            </a:r>
            <a:r>
              <a:rPr lang="en-US" altLang="ko-KR" sz="1500" kern="0" dirty="0"/>
              <a:t>function</a:t>
            </a:r>
          </a:p>
          <a:p>
            <a:pPr marL="0" indent="0" latinLnBrk="1">
              <a:buNone/>
            </a:pPr>
            <a:endParaRPr lang="en-US" altLang="ko-KR" sz="1500" kern="0" dirty="0"/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marL="471487" lvl="1" indent="0" latinLnBrk="1">
              <a:buNone/>
            </a:pPr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lvl="3" latinLnBrk="1"/>
            <a:endParaRPr lang="en-US" altLang="ko-KR" sz="800" b="1" kern="0" dirty="0"/>
          </a:p>
          <a:p>
            <a:pPr latinLnBrk="1"/>
            <a:endParaRPr lang="en-US" altLang="ko-KR" sz="2000" kern="0" dirty="0"/>
          </a:p>
        </p:txBody>
      </p:sp>
      <p:sp>
        <p:nvSpPr>
          <p:cNvPr id="10" name="원통형 9">
            <a:extLst>
              <a:ext uri="{FF2B5EF4-FFF2-40B4-BE49-F238E27FC236}">
                <a16:creationId xmlns:a16="http://schemas.microsoft.com/office/drawing/2014/main" id="{F106D22B-8EEF-D619-2E7D-46D7E5695B0C}"/>
              </a:ext>
            </a:extLst>
          </p:cNvPr>
          <p:cNvSpPr/>
          <p:nvPr/>
        </p:nvSpPr>
        <p:spPr bwMode="auto">
          <a:xfrm>
            <a:off x="5334000" y="3581401"/>
            <a:ext cx="1701880" cy="2266749"/>
          </a:xfrm>
          <a:prstGeom prst="can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7E7456-7EF1-6423-A89B-5B0B11FE9295}"/>
              </a:ext>
            </a:extLst>
          </p:cNvPr>
          <p:cNvSpPr txBox="1"/>
          <p:nvPr/>
        </p:nvSpPr>
        <p:spPr>
          <a:xfrm>
            <a:off x="5971998" y="5887264"/>
            <a:ext cx="9144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Disk</a:t>
            </a:r>
            <a:endParaRPr lang="ko-KR" altLang="en-US" sz="1000" b="1" dirty="0"/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BF8F8ABF-3FD7-1883-4BC3-3DFE8C93B804}"/>
              </a:ext>
            </a:extLst>
          </p:cNvPr>
          <p:cNvSpPr/>
          <p:nvPr/>
        </p:nvSpPr>
        <p:spPr bwMode="auto">
          <a:xfrm>
            <a:off x="5723666" y="4143615"/>
            <a:ext cx="922547" cy="403442"/>
          </a:xfrm>
          <a:prstGeom prst="flowChartProcess">
            <a:avLst/>
          </a:prstGeom>
          <a:solidFill>
            <a:srgbClr val="CCCCFF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metadata</a:t>
            </a:r>
            <a:endParaRPr kumimoji="0" lang="ko-KR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" name="Text Box 6">
            <a:extLst>
              <a:ext uri="{FF2B5EF4-FFF2-40B4-BE49-F238E27FC236}">
                <a16:creationId xmlns:a16="http://schemas.microsoft.com/office/drawing/2014/main" id="{B933F1D7-1FDA-27C1-3511-57A32DA70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5123" y="5262089"/>
            <a:ext cx="431826" cy="494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600" dirty="0"/>
              <a:t> </a:t>
            </a:r>
            <a:r>
              <a:rPr lang="en-US" altLang="ko-KR" sz="1000" dirty="0"/>
              <a:t>File</a:t>
            </a:r>
          </a:p>
          <a:p>
            <a:pPr algn="l" eaLnBrk="1" hangingPunct="1"/>
            <a:r>
              <a:rPr lang="en-US" altLang="ko-KR" sz="1000" dirty="0"/>
              <a:t>data</a:t>
            </a:r>
            <a:endParaRPr lang="en-US" altLang="ko-KR" sz="1600" dirty="0"/>
          </a:p>
        </p:txBody>
      </p:sp>
      <p:sp>
        <p:nvSpPr>
          <p:cNvPr id="25" name="Text Box 6">
            <a:extLst>
              <a:ext uri="{FF2B5EF4-FFF2-40B4-BE49-F238E27FC236}">
                <a16:creationId xmlns:a16="http://schemas.microsoft.com/office/drawing/2014/main" id="{DA515B50-488A-E4ED-C09D-DC9E1A41C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3599" y="5117878"/>
            <a:ext cx="431826" cy="494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600" dirty="0"/>
              <a:t> </a:t>
            </a:r>
            <a:r>
              <a:rPr lang="en-US" altLang="ko-KR" sz="1000" dirty="0"/>
              <a:t>File</a:t>
            </a:r>
          </a:p>
          <a:p>
            <a:pPr algn="l" eaLnBrk="1" hangingPunct="1"/>
            <a:r>
              <a:rPr lang="en-US" altLang="ko-KR" sz="1000" dirty="0"/>
              <a:t>data</a:t>
            </a:r>
            <a:endParaRPr lang="en-US" altLang="ko-KR" sz="1600" dirty="0"/>
          </a:p>
        </p:txBody>
      </p:sp>
      <p:sp>
        <p:nvSpPr>
          <p:cNvPr id="26" name="Text Box 6">
            <a:extLst>
              <a:ext uri="{FF2B5EF4-FFF2-40B4-BE49-F238E27FC236}">
                <a16:creationId xmlns:a16="http://schemas.microsoft.com/office/drawing/2014/main" id="{165B4A70-841E-87A1-D5E7-FEDFC531A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3306" y="4965478"/>
            <a:ext cx="431826" cy="494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600" dirty="0"/>
              <a:t> </a:t>
            </a:r>
            <a:r>
              <a:rPr lang="en-US" altLang="ko-KR" sz="1000" dirty="0"/>
              <a:t>File</a:t>
            </a:r>
          </a:p>
          <a:p>
            <a:pPr algn="l" eaLnBrk="1" hangingPunct="1"/>
            <a:r>
              <a:rPr lang="en-US" altLang="ko-KR" sz="1000" dirty="0"/>
              <a:t>data</a:t>
            </a:r>
            <a:endParaRPr lang="en-US" altLang="ko-KR" sz="1600" dirty="0"/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6A5878CA-1419-F28E-34C4-B81CDE578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144" y="4767465"/>
            <a:ext cx="431826" cy="494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600" dirty="0"/>
              <a:t> </a:t>
            </a:r>
            <a:r>
              <a:rPr lang="en-US" altLang="ko-KR" sz="1000" dirty="0"/>
              <a:t>File</a:t>
            </a:r>
          </a:p>
          <a:p>
            <a:pPr algn="l" eaLnBrk="1" hangingPunct="1"/>
            <a:r>
              <a:rPr lang="en-US" altLang="ko-KR" sz="1000" dirty="0"/>
              <a:t>data</a:t>
            </a:r>
            <a:endParaRPr lang="en-US" altLang="ko-KR" sz="1600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C827876-E36F-5819-9FEF-FFE53DA4AFDD}"/>
              </a:ext>
            </a:extLst>
          </p:cNvPr>
          <p:cNvCxnSpPr>
            <a:cxnSpLocks/>
            <a:endCxn id="23" idx="0"/>
          </p:cNvCxnSpPr>
          <p:nvPr/>
        </p:nvCxnSpPr>
        <p:spPr bwMode="auto">
          <a:xfrm flipH="1">
            <a:off x="5759057" y="4572001"/>
            <a:ext cx="425882" cy="1954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3070091-ACA6-6781-F29B-332F43E8AC66}"/>
              </a:ext>
            </a:extLst>
          </p:cNvPr>
          <p:cNvCxnSpPr>
            <a:cxnSpLocks/>
            <a:stCxn id="22" idx="2"/>
            <a:endCxn id="26" idx="0"/>
          </p:cNvCxnSpPr>
          <p:nvPr/>
        </p:nvCxnSpPr>
        <p:spPr bwMode="auto">
          <a:xfrm flipH="1">
            <a:off x="5999219" y="4547057"/>
            <a:ext cx="185721" cy="4184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6C7B39B-96E9-BC3A-F1C1-D6F67C953519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 bwMode="auto">
          <a:xfrm>
            <a:off x="6184940" y="4547057"/>
            <a:ext cx="104572" cy="5708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C2A4C52E-E6FC-AA91-7688-791AE2395582}"/>
              </a:ext>
            </a:extLst>
          </p:cNvPr>
          <p:cNvCxnSpPr>
            <a:cxnSpLocks/>
            <a:stCxn id="22" idx="2"/>
          </p:cNvCxnSpPr>
          <p:nvPr/>
        </p:nvCxnSpPr>
        <p:spPr bwMode="auto">
          <a:xfrm>
            <a:off x="6184940" y="4547057"/>
            <a:ext cx="360547" cy="6986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CA0BD9F-40E3-788B-6C6E-453F41037D6A}"/>
              </a:ext>
            </a:extLst>
          </p:cNvPr>
          <p:cNvCxnSpPr>
            <a:cxnSpLocks/>
            <a:endCxn id="26" idx="1"/>
          </p:cNvCxnSpPr>
          <p:nvPr/>
        </p:nvCxnSpPr>
        <p:spPr bwMode="auto">
          <a:xfrm>
            <a:off x="3630769" y="4684968"/>
            <a:ext cx="2152537" cy="527822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0CFE3E-08D0-2E01-0199-627F1D22DA2B}"/>
              </a:ext>
            </a:extLst>
          </p:cNvPr>
          <p:cNvSpPr/>
          <p:nvPr/>
        </p:nvSpPr>
        <p:spPr bwMode="auto">
          <a:xfrm>
            <a:off x="2410540" y="3575082"/>
            <a:ext cx="1219200" cy="231218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80294F-3FF5-1E6A-459A-4A5EF6A7787A}"/>
              </a:ext>
            </a:extLst>
          </p:cNvPr>
          <p:cNvSpPr txBox="1"/>
          <p:nvPr/>
        </p:nvSpPr>
        <p:spPr>
          <a:xfrm>
            <a:off x="2481913" y="5920541"/>
            <a:ext cx="1150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>
                <a:solidFill>
                  <a:srgbClr val="0000FF"/>
                </a:solidFill>
              </a:rPr>
              <a:t>Vaddr</a:t>
            </a:r>
            <a:r>
              <a:rPr lang="en-US" altLang="ko-KR" sz="1000" dirty="0">
                <a:solidFill>
                  <a:srgbClr val="0000FF"/>
                </a:solidFill>
              </a:rPr>
              <a:t> space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1DA5484F-B27D-5B25-C59E-2B28C8166DBA}"/>
              </a:ext>
            </a:extLst>
          </p:cNvPr>
          <p:cNvCxnSpPr/>
          <p:nvPr/>
        </p:nvCxnSpPr>
        <p:spPr bwMode="auto">
          <a:xfrm>
            <a:off x="2410540" y="4229218"/>
            <a:ext cx="1224000" cy="0"/>
          </a:xfrm>
          <a:prstGeom prst="line">
            <a:avLst/>
          </a:prstGeom>
          <a:ln w="2222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7F4E01BE-BEE9-3471-0378-2964DD68F78E}"/>
              </a:ext>
            </a:extLst>
          </p:cNvPr>
          <p:cNvCxnSpPr/>
          <p:nvPr/>
        </p:nvCxnSpPr>
        <p:spPr bwMode="auto">
          <a:xfrm>
            <a:off x="2405141" y="4939311"/>
            <a:ext cx="1219200" cy="0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75D32125-A9A1-9836-BC8E-7DC0F7C82AEA}"/>
              </a:ext>
            </a:extLst>
          </p:cNvPr>
          <p:cNvCxnSpPr>
            <a:cxnSpLocks/>
          </p:cNvCxnSpPr>
          <p:nvPr/>
        </p:nvCxnSpPr>
        <p:spPr bwMode="auto">
          <a:xfrm flipV="1">
            <a:off x="1887129" y="4965478"/>
            <a:ext cx="457199" cy="3283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D4FAB81-3CF8-2E5F-150A-0DD9ADB9D4FC}"/>
              </a:ext>
            </a:extLst>
          </p:cNvPr>
          <p:cNvSpPr txBox="1"/>
          <p:nvPr/>
        </p:nvSpPr>
        <p:spPr>
          <a:xfrm>
            <a:off x="1311930" y="5262089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u="sng" dirty="0">
                <a:solidFill>
                  <a:srgbClr val="FF0000"/>
                </a:solidFill>
              </a:rPr>
              <a:t>buffer</a:t>
            </a:r>
            <a:endParaRPr lang="ko-KR" altLang="en-US" u="sng" dirty="0">
              <a:solidFill>
                <a:srgbClr val="FF0000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69DCBAE-71B4-6B68-17A4-904DD255897A}"/>
              </a:ext>
            </a:extLst>
          </p:cNvPr>
          <p:cNvSpPr/>
          <p:nvPr/>
        </p:nvSpPr>
        <p:spPr bwMode="auto">
          <a:xfrm>
            <a:off x="2412939" y="4748779"/>
            <a:ext cx="1219200" cy="18498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data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989B06D-3B26-A6B6-7DD5-4FF058572C92}"/>
              </a:ext>
            </a:extLst>
          </p:cNvPr>
          <p:cNvSpPr/>
          <p:nvPr/>
        </p:nvSpPr>
        <p:spPr bwMode="auto">
          <a:xfrm>
            <a:off x="2412938" y="4563226"/>
            <a:ext cx="1219200" cy="193041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data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3220CA8-C625-684B-9D13-5EE05400020E}"/>
              </a:ext>
            </a:extLst>
          </p:cNvPr>
          <p:cNvSpPr/>
          <p:nvPr/>
        </p:nvSpPr>
        <p:spPr bwMode="auto">
          <a:xfrm>
            <a:off x="2409511" y="4370952"/>
            <a:ext cx="1219200" cy="193041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data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664" name="TextBox 241663">
            <a:extLst>
              <a:ext uri="{FF2B5EF4-FFF2-40B4-BE49-F238E27FC236}">
                <a16:creationId xmlns:a16="http://schemas.microsoft.com/office/drawing/2014/main" id="{6E9D672B-5637-F021-8395-D41E5221EB45}"/>
              </a:ext>
            </a:extLst>
          </p:cNvPr>
          <p:cNvSpPr txBox="1"/>
          <p:nvPr/>
        </p:nvSpPr>
        <p:spPr>
          <a:xfrm>
            <a:off x="1788914" y="4494657"/>
            <a:ext cx="6536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size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cxnSp>
        <p:nvCxnSpPr>
          <p:cNvPr id="241669" name="직선 화살표 연결선 241668">
            <a:extLst>
              <a:ext uri="{FF2B5EF4-FFF2-40B4-BE49-F238E27FC236}">
                <a16:creationId xmlns:a16="http://schemas.microsoft.com/office/drawing/2014/main" id="{F7886907-F43D-7886-1A97-848F430939FF}"/>
              </a:ext>
            </a:extLst>
          </p:cNvPr>
          <p:cNvCxnSpPr>
            <a:cxnSpLocks/>
            <a:stCxn id="59" idx="3"/>
            <a:endCxn id="23" idx="1"/>
          </p:cNvCxnSpPr>
          <p:nvPr/>
        </p:nvCxnSpPr>
        <p:spPr bwMode="auto">
          <a:xfrm>
            <a:off x="3632139" y="4841271"/>
            <a:ext cx="1911005" cy="173506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241672" name="직선 화살표 연결선 241671">
            <a:extLst>
              <a:ext uri="{FF2B5EF4-FFF2-40B4-BE49-F238E27FC236}">
                <a16:creationId xmlns:a16="http://schemas.microsoft.com/office/drawing/2014/main" id="{4CFD89E9-3FE6-35B5-B393-C3F4183A8FD5}"/>
              </a:ext>
            </a:extLst>
          </p:cNvPr>
          <p:cNvCxnSpPr>
            <a:cxnSpLocks/>
          </p:cNvCxnSpPr>
          <p:nvPr/>
        </p:nvCxnSpPr>
        <p:spPr bwMode="auto">
          <a:xfrm>
            <a:off x="3630769" y="4510697"/>
            <a:ext cx="2606366" cy="849166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241676" name="오른쪽 중괄호 241675">
            <a:extLst>
              <a:ext uri="{FF2B5EF4-FFF2-40B4-BE49-F238E27FC236}">
                <a16:creationId xmlns:a16="http://schemas.microsoft.com/office/drawing/2014/main" id="{86270F58-3D26-3410-9FD7-404BCF421766}"/>
              </a:ext>
            </a:extLst>
          </p:cNvPr>
          <p:cNvSpPr/>
          <p:nvPr/>
        </p:nvSpPr>
        <p:spPr bwMode="auto">
          <a:xfrm rot="10800000">
            <a:off x="2212592" y="4374896"/>
            <a:ext cx="208116" cy="562806"/>
          </a:xfrm>
          <a:prstGeom prst="rightBrace">
            <a:avLst>
              <a:gd name="adj1" fmla="val 8333"/>
              <a:gd name="adj2" fmla="val 52031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9306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6084F-5E56-C58B-8978-FCBBC4393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E35D0FF5-A79B-6C0B-C167-B08285EB4A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 err="1"/>
              <a:t>filesize</a:t>
            </a:r>
            <a:r>
              <a:rPr lang="en-US" altLang="ko-KR" sz="3600" dirty="0"/>
              <a:t>, seek, tell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964F635-39AB-DBA8-006C-135004DBC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1828800"/>
            <a:ext cx="8001001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900" kern="0" dirty="0">
                <a:solidFill>
                  <a:srgbClr val="0070C0"/>
                </a:solidFill>
              </a:rPr>
              <a:t>int</a:t>
            </a:r>
            <a:r>
              <a:rPr lang="en-US" altLang="ko-KR" sz="1900" kern="0" dirty="0"/>
              <a:t> </a:t>
            </a:r>
            <a:r>
              <a:rPr lang="en-US" altLang="ko-KR" sz="1900" kern="0" dirty="0" err="1"/>
              <a:t>filesize</a:t>
            </a:r>
            <a:r>
              <a:rPr lang="en-US" altLang="ko-KR" sz="1900" kern="0" dirty="0"/>
              <a:t>(</a:t>
            </a:r>
            <a:r>
              <a:rPr lang="en-US" altLang="ko-KR" sz="1900" kern="0" dirty="0">
                <a:solidFill>
                  <a:srgbClr val="0070C0"/>
                </a:solidFill>
              </a:rPr>
              <a:t>int </a:t>
            </a:r>
            <a:r>
              <a:rPr lang="en-US" altLang="ko-KR" sz="1900" kern="0" dirty="0" err="1"/>
              <a:t>fd</a:t>
            </a:r>
            <a:r>
              <a:rPr lang="en-US" altLang="ko-KR" sz="1900" kern="0" dirty="0"/>
              <a:t>)</a:t>
            </a:r>
          </a:p>
          <a:p>
            <a:pPr lvl="1" latinLnBrk="1"/>
            <a:r>
              <a:rPr lang="en-US" altLang="ko-KR" sz="1500" kern="0" dirty="0"/>
              <a:t>Return the size, in bytes, of the file open as </a:t>
            </a:r>
            <a:r>
              <a:rPr lang="en-US" altLang="ko-KR" sz="1500" kern="0" dirty="0" err="1"/>
              <a:t>fd</a:t>
            </a:r>
            <a:r>
              <a:rPr lang="en-US" altLang="ko-KR" sz="1500" kern="0" dirty="0"/>
              <a:t>.</a:t>
            </a:r>
          </a:p>
          <a:p>
            <a:pPr lvl="1" latinLnBrk="1"/>
            <a:r>
              <a:rPr lang="en-US" altLang="ko-KR" sz="1500" kern="0" dirty="0"/>
              <a:t>Use </a:t>
            </a:r>
            <a:r>
              <a:rPr lang="en-US" altLang="ko-KR" sz="1500" kern="0" dirty="0" err="1">
                <a:solidFill>
                  <a:srgbClr val="0070C0"/>
                </a:solidFill>
              </a:rPr>
              <a:t>off_t</a:t>
            </a:r>
            <a:r>
              <a:rPr lang="en-US" altLang="ko-KR" sz="1500" kern="0" dirty="0"/>
              <a:t> </a:t>
            </a:r>
            <a:r>
              <a:rPr lang="en-US" altLang="ko-KR" sz="1500" kern="0" dirty="0" err="1"/>
              <a:t>file_length</a:t>
            </a:r>
            <a:r>
              <a:rPr lang="en-US" altLang="ko-KR" sz="1500" kern="0" dirty="0"/>
              <a:t>(</a:t>
            </a:r>
            <a:r>
              <a:rPr lang="en-US" altLang="ko-KR" sz="1500" kern="0" dirty="0">
                <a:solidFill>
                  <a:srgbClr val="0070C0"/>
                </a:solidFill>
              </a:rPr>
              <a:t>struct </a:t>
            </a:r>
            <a:r>
              <a:rPr lang="en-US" altLang="ko-KR" sz="1500" kern="0" dirty="0"/>
              <a:t>file*file)</a:t>
            </a:r>
          </a:p>
          <a:p>
            <a:pPr latinLnBrk="1"/>
            <a:endParaRPr lang="en-US" altLang="ko-KR" sz="1900" kern="0" dirty="0"/>
          </a:p>
          <a:p>
            <a:pPr latinLnBrk="1"/>
            <a:r>
              <a:rPr lang="en-US" altLang="ko-KR" sz="1900" kern="0" dirty="0">
                <a:solidFill>
                  <a:srgbClr val="0070C0"/>
                </a:solidFill>
              </a:rPr>
              <a:t>void</a:t>
            </a:r>
            <a:r>
              <a:rPr lang="en-US" altLang="ko-KR" sz="1900" kern="0" dirty="0"/>
              <a:t> seek(</a:t>
            </a:r>
            <a:r>
              <a:rPr lang="en-US" altLang="ko-KR" sz="1900" kern="0" dirty="0">
                <a:solidFill>
                  <a:srgbClr val="0070C0"/>
                </a:solidFill>
              </a:rPr>
              <a:t>int</a:t>
            </a:r>
            <a:r>
              <a:rPr lang="en-US" altLang="ko-KR" sz="1900" kern="0" dirty="0"/>
              <a:t> </a:t>
            </a:r>
            <a:r>
              <a:rPr lang="en-US" altLang="ko-KR" sz="1900" kern="0" dirty="0" err="1"/>
              <a:t>fd</a:t>
            </a:r>
            <a:r>
              <a:rPr lang="en-US" altLang="ko-KR" sz="1900" kern="0" dirty="0"/>
              <a:t>, </a:t>
            </a:r>
            <a:r>
              <a:rPr lang="en-US" altLang="ko-KR" sz="1900" kern="0" dirty="0" err="1">
                <a:solidFill>
                  <a:srgbClr val="0070C0"/>
                </a:solidFill>
              </a:rPr>
              <a:t>unsingned</a:t>
            </a:r>
            <a:r>
              <a:rPr lang="en-US" altLang="ko-KR" sz="1900" kern="0" dirty="0">
                <a:solidFill>
                  <a:srgbClr val="0070C0"/>
                </a:solidFill>
              </a:rPr>
              <a:t> int </a:t>
            </a:r>
            <a:r>
              <a:rPr lang="en-US" altLang="ko-KR" sz="1900" kern="0" dirty="0"/>
              <a:t>position)</a:t>
            </a:r>
          </a:p>
          <a:p>
            <a:pPr lvl="1" latinLnBrk="1"/>
            <a:r>
              <a:rPr lang="en-US" altLang="ko-KR" sz="1500" kern="0" dirty="0"/>
              <a:t>Change the next byte to be read or written in open file </a:t>
            </a:r>
            <a:r>
              <a:rPr lang="en-US" altLang="ko-KR" sz="1500" kern="0" dirty="0" err="1"/>
              <a:t>fd</a:t>
            </a:r>
            <a:r>
              <a:rPr lang="en-US" altLang="ko-KR" sz="1500" kern="0" dirty="0"/>
              <a:t> to position.</a:t>
            </a:r>
          </a:p>
          <a:p>
            <a:pPr lvl="1" latinLnBrk="1"/>
            <a:r>
              <a:rPr lang="en-US" altLang="ko-KR" sz="1500" kern="0" dirty="0"/>
              <a:t>Modifies the pos member within the struct file.</a:t>
            </a:r>
          </a:p>
          <a:p>
            <a:pPr lvl="1" latinLnBrk="1"/>
            <a:r>
              <a:rPr lang="en-US" altLang="ko-KR" sz="1500" kern="0" dirty="0"/>
              <a:t>Use </a:t>
            </a:r>
            <a:r>
              <a:rPr lang="en-US" altLang="ko-KR" sz="1500" kern="0" dirty="0">
                <a:solidFill>
                  <a:srgbClr val="0070C0"/>
                </a:solidFill>
              </a:rPr>
              <a:t>void</a:t>
            </a:r>
            <a:r>
              <a:rPr lang="en-US" altLang="ko-KR" sz="1500" kern="0" dirty="0"/>
              <a:t> </a:t>
            </a:r>
            <a:r>
              <a:rPr lang="en-US" altLang="ko-KR" sz="1500" kern="0" dirty="0" err="1"/>
              <a:t>file_seek</a:t>
            </a:r>
            <a:r>
              <a:rPr lang="en-US" altLang="ko-KR" sz="1500" kern="0" dirty="0"/>
              <a:t>(</a:t>
            </a:r>
            <a:r>
              <a:rPr lang="en-US" altLang="ko-KR" sz="1500" kern="0" dirty="0">
                <a:solidFill>
                  <a:srgbClr val="0070C0"/>
                </a:solidFill>
              </a:rPr>
              <a:t>struct</a:t>
            </a:r>
            <a:r>
              <a:rPr lang="en-US" altLang="ko-KR" sz="1500" kern="0" dirty="0"/>
              <a:t> file *file, </a:t>
            </a:r>
            <a:r>
              <a:rPr lang="en-US" altLang="ko-KR" sz="1500" kern="0" dirty="0" err="1">
                <a:solidFill>
                  <a:srgbClr val="0070C0"/>
                </a:solidFill>
              </a:rPr>
              <a:t>off_t</a:t>
            </a:r>
            <a:r>
              <a:rPr lang="en-US" altLang="ko-KR" sz="1500" kern="0" dirty="0"/>
              <a:t> </a:t>
            </a:r>
            <a:r>
              <a:rPr lang="en-US" altLang="ko-KR" sz="1500" kern="0" dirty="0" err="1"/>
              <a:t>new_pos</a:t>
            </a:r>
            <a:r>
              <a:rPr lang="en-US" altLang="ko-KR" sz="1500" kern="0" dirty="0"/>
              <a:t>)</a:t>
            </a:r>
          </a:p>
          <a:p>
            <a:pPr latinLnBrk="1"/>
            <a:endParaRPr lang="en-US" altLang="ko-KR" sz="1900" kern="0" dirty="0"/>
          </a:p>
          <a:p>
            <a:pPr latinLnBrk="1"/>
            <a:r>
              <a:rPr lang="en-US" altLang="ko-KR" sz="1900" kern="0" dirty="0">
                <a:solidFill>
                  <a:srgbClr val="0070C0"/>
                </a:solidFill>
              </a:rPr>
              <a:t>unsigned</a:t>
            </a:r>
            <a:r>
              <a:rPr lang="en-US" altLang="ko-KR" sz="1900" kern="0" dirty="0"/>
              <a:t> tell(</a:t>
            </a:r>
            <a:r>
              <a:rPr lang="en-US" altLang="ko-KR" sz="1900" kern="0" dirty="0">
                <a:solidFill>
                  <a:srgbClr val="0070C0"/>
                </a:solidFill>
              </a:rPr>
              <a:t>int</a:t>
            </a:r>
            <a:r>
              <a:rPr lang="en-US" altLang="ko-KR" sz="1900" kern="0" dirty="0"/>
              <a:t> </a:t>
            </a:r>
            <a:r>
              <a:rPr lang="en-US" altLang="ko-KR" sz="1900" kern="0" dirty="0" err="1"/>
              <a:t>fd</a:t>
            </a:r>
            <a:r>
              <a:rPr lang="en-US" altLang="ko-KR" sz="1900" kern="0" dirty="0"/>
              <a:t>)</a:t>
            </a:r>
          </a:p>
          <a:p>
            <a:pPr lvl="1" latinLnBrk="1"/>
            <a:r>
              <a:rPr lang="en-US" altLang="ko-KR" sz="1500" kern="0" dirty="0"/>
              <a:t>Return the position of the next byte to be read or written in open file </a:t>
            </a:r>
            <a:r>
              <a:rPr lang="en-US" altLang="ko-KR" sz="1500" kern="0" dirty="0" err="1"/>
              <a:t>fd</a:t>
            </a:r>
            <a:r>
              <a:rPr lang="en-US" altLang="ko-KR" sz="1500" kern="0" dirty="0"/>
              <a:t>.</a:t>
            </a:r>
          </a:p>
          <a:p>
            <a:pPr lvl="1" latinLnBrk="1"/>
            <a:r>
              <a:rPr lang="en-US" altLang="ko-KR" sz="1500" kern="0" dirty="0"/>
              <a:t>Use </a:t>
            </a:r>
            <a:r>
              <a:rPr lang="en-US" altLang="ko-KR" sz="1500" kern="0" dirty="0" err="1">
                <a:solidFill>
                  <a:srgbClr val="0070C0"/>
                </a:solidFill>
              </a:rPr>
              <a:t>off_t</a:t>
            </a:r>
            <a:r>
              <a:rPr lang="en-US" altLang="ko-KR" sz="1500" kern="0" dirty="0"/>
              <a:t> </a:t>
            </a:r>
            <a:r>
              <a:rPr lang="en-US" altLang="ko-KR" sz="1500" kern="0" dirty="0" err="1"/>
              <a:t>file_tell</a:t>
            </a:r>
            <a:r>
              <a:rPr lang="en-US" altLang="ko-KR" sz="1500" kern="0" dirty="0"/>
              <a:t>(</a:t>
            </a:r>
            <a:r>
              <a:rPr lang="en-US" altLang="ko-KR" sz="1500" kern="0" dirty="0">
                <a:solidFill>
                  <a:srgbClr val="0070C0"/>
                </a:solidFill>
              </a:rPr>
              <a:t>struct</a:t>
            </a:r>
            <a:r>
              <a:rPr lang="en-US" altLang="ko-KR" sz="1500" kern="0" dirty="0"/>
              <a:t> file *file)</a:t>
            </a:r>
          </a:p>
          <a:p>
            <a:pPr lvl="1" latinLnBrk="1"/>
            <a:endParaRPr lang="en-US" altLang="ko-KR" sz="1500" kern="0" dirty="0"/>
          </a:p>
          <a:p>
            <a:pPr marL="0" indent="0" latinLnBrk="1">
              <a:buNone/>
            </a:pPr>
            <a:endParaRPr lang="en-US" altLang="ko-KR" sz="1500" kern="0" dirty="0"/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marL="471487" lvl="1" indent="0" latinLnBrk="1">
              <a:buNone/>
            </a:pPr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lvl="3" latinLnBrk="1"/>
            <a:endParaRPr lang="en-US" altLang="ko-KR" sz="800" b="1" kern="0" dirty="0"/>
          </a:p>
          <a:p>
            <a:pPr latinLnBrk="1"/>
            <a:endParaRPr lang="en-US" altLang="ko-KR" sz="2000" kern="0" dirty="0"/>
          </a:p>
        </p:txBody>
      </p:sp>
    </p:spTree>
    <p:extLst>
      <p:ext uri="{BB962C8B-B14F-4D97-AF65-F5344CB8AC3E}">
        <p14:creationId xmlns:p14="http://schemas.microsoft.com/office/powerpoint/2010/main" val="1893744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94BAB-0B6C-1348-89A7-A77077309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3104D491-B36F-F919-BAB9-AEEA32929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close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D72654B-DB3F-C55B-D3D2-20C8CDA8B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1828800"/>
            <a:ext cx="8001001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900" kern="0" dirty="0">
                <a:solidFill>
                  <a:srgbClr val="0070C0"/>
                </a:solidFill>
              </a:rPr>
              <a:t>void</a:t>
            </a:r>
            <a:r>
              <a:rPr lang="en-US" altLang="ko-KR" sz="1900" kern="0" dirty="0"/>
              <a:t> close(</a:t>
            </a:r>
            <a:r>
              <a:rPr lang="en-US" altLang="ko-KR" sz="1900" kern="0" dirty="0">
                <a:solidFill>
                  <a:srgbClr val="0070C0"/>
                </a:solidFill>
              </a:rPr>
              <a:t>int </a:t>
            </a:r>
            <a:r>
              <a:rPr lang="en-US" altLang="ko-KR" sz="1900" kern="0" dirty="0" err="1"/>
              <a:t>fd</a:t>
            </a:r>
            <a:r>
              <a:rPr lang="en-US" altLang="ko-KR" sz="1900" kern="0" dirty="0"/>
              <a:t>)</a:t>
            </a:r>
          </a:p>
          <a:p>
            <a:pPr lvl="1" latinLnBrk="1"/>
            <a:r>
              <a:rPr lang="en-US" altLang="ko-KR" sz="1500" kern="0" dirty="0"/>
              <a:t>Close file descriptor </a:t>
            </a:r>
            <a:r>
              <a:rPr lang="en-US" altLang="ko-KR" sz="1500" kern="0" dirty="0" err="1"/>
              <a:t>fd</a:t>
            </a:r>
            <a:r>
              <a:rPr lang="en-US" altLang="ko-KR" sz="1500" kern="0" dirty="0"/>
              <a:t>.</a:t>
            </a:r>
          </a:p>
          <a:p>
            <a:pPr lvl="1" latinLnBrk="1"/>
            <a:r>
              <a:rPr lang="en-US" altLang="ko-KR" sz="1500" kern="0" dirty="0"/>
              <a:t>Use </a:t>
            </a:r>
            <a:r>
              <a:rPr lang="en-US" altLang="ko-KR" sz="1500" kern="0" dirty="0">
                <a:solidFill>
                  <a:srgbClr val="0070C0"/>
                </a:solidFill>
              </a:rPr>
              <a:t>void</a:t>
            </a:r>
            <a:r>
              <a:rPr lang="en-US" altLang="ko-KR" sz="1500" kern="0" dirty="0"/>
              <a:t> </a:t>
            </a:r>
            <a:r>
              <a:rPr lang="en-US" altLang="ko-KR" sz="1500" kern="0" dirty="0" err="1"/>
              <a:t>file_close</a:t>
            </a:r>
            <a:r>
              <a:rPr lang="en-US" altLang="ko-KR" sz="1500" kern="0" dirty="0"/>
              <a:t>(</a:t>
            </a:r>
            <a:r>
              <a:rPr lang="en-US" altLang="ko-KR" sz="1500" kern="0" dirty="0">
                <a:solidFill>
                  <a:srgbClr val="0070C0"/>
                </a:solidFill>
              </a:rPr>
              <a:t>struct </a:t>
            </a:r>
            <a:r>
              <a:rPr lang="en-US" altLang="ko-KR" sz="1500" kern="0" dirty="0"/>
              <a:t>file *file).</a:t>
            </a:r>
          </a:p>
          <a:p>
            <a:pPr lvl="1" latinLnBrk="1"/>
            <a:r>
              <a:rPr lang="en-US" altLang="ko-KR" sz="1500" kern="0" dirty="0"/>
              <a:t>The </a:t>
            </a:r>
            <a:r>
              <a:rPr lang="en-US" altLang="ko-KR" sz="1500" kern="0" dirty="0" err="1"/>
              <a:t>inode</a:t>
            </a:r>
            <a:r>
              <a:rPr lang="en-US" altLang="ko-KR" sz="1500" kern="0" dirty="0"/>
              <a:t> struct is deallocated only when closed by its last user.</a:t>
            </a:r>
          </a:p>
          <a:p>
            <a:pPr lvl="1" latinLnBrk="1"/>
            <a:endParaRPr lang="en-US" altLang="ko-KR" sz="1500" kern="0" dirty="0"/>
          </a:p>
          <a:p>
            <a:pPr marL="0" indent="0" latinLnBrk="1">
              <a:buNone/>
            </a:pPr>
            <a:endParaRPr lang="en-US" altLang="ko-KR" sz="1500" kern="0" dirty="0"/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marL="471487" lvl="1" indent="0" latinLnBrk="1">
              <a:buNone/>
            </a:pPr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lvl="3" latinLnBrk="1"/>
            <a:endParaRPr lang="en-US" altLang="ko-KR" sz="800" kern="0" dirty="0"/>
          </a:p>
          <a:p>
            <a:pPr latinLnBrk="1"/>
            <a:endParaRPr lang="en-US" altLang="ko-KR" sz="2000" kern="0" dirty="0"/>
          </a:p>
        </p:txBody>
      </p:sp>
      <p:sp>
        <p:nvSpPr>
          <p:cNvPr id="10" name="원통형 9">
            <a:extLst>
              <a:ext uri="{FF2B5EF4-FFF2-40B4-BE49-F238E27FC236}">
                <a16:creationId xmlns:a16="http://schemas.microsoft.com/office/drawing/2014/main" id="{36F3CB51-B4EE-F65F-018E-86842998649E}"/>
              </a:ext>
            </a:extLst>
          </p:cNvPr>
          <p:cNvSpPr/>
          <p:nvPr/>
        </p:nvSpPr>
        <p:spPr bwMode="auto">
          <a:xfrm>
            <a:off x="6350107" y="3358991"/>
            <a:ext cx="1701880" cy="2266749"/>
          </a:xfrm>
          <a:prstGeom prst="can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FA1EE3-B0FA-7B17-EC80-CA7DCFDF9F76}"/>
              </a:ext>
            </a:extLst>
          </p:cNvPr>
          <p:cNvSpPr txBox="1"/>
          <p:nvPr/>
        </p:nvSpPr>
        <p:spPr>
          <a:xfrm>
            <a:off x="4918998" y="5707385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00FF"/>
                </a:solidFill>
              </a:rPr>
              <a:t>memory</a:t>
            </a:r>
            <a:endParaRPr lang="ko-KR" altLang="en-US" sz="1000" dirty="0">
              <a:solidFill>
                <a:srgbClr val="0000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EC8CF6-C38E-AA72-2DD2-A770E0D6E92C}"/>
              </a:ext>
            </a:extLst>
          </p:cNvPr>
          <p:cNvSpPr txBox="1"/>
          <p:nvPr/>
        </p:nvSpPr>
        <p:spPr>
          <a:xfrm>
            <a:off x="6908987" y="5654919"/>
            <a:ext cx="9144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Disk</a:t>
            </a:r>
            <a:endParaRPr lang="ko-KR" altLang="en-US" sz="1000" b="1" dirty="0"/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7DCD4EAA-B09C-1056-F7D2-A8E8EA0AA83B}"/>
              </a:ext>
            </a:extLst>
          </p:cNvPr>
          <p:cNvSpPr/>
          <p:nvPr/>
        </p:nvSpPr>
        <p:spPr bwMode="auto">
          <a:xfrm>
            <a:off x="6739773" y="3921205"/>
            <a:ext cx="922547" cy="403442"/>
          </a:xfrm>
          <a:prstGeom prst="flowChartProcess">
            <a:avLst/>
          </a:prstGeom>
          <a:solidFill>
            <a:srgbClr val="CCCCFF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metadata</a:t>
            </a:r>
            <a:endParaRPr kumimoji="0" lang="ko-KR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" name="Text Box 6">
            <a:extLst>
              <a:ext uri="{FF2B5EF4-FFF2-40B4-BE49-F238E27FC236}">
                <a16:creationId xmlns:a16="http://schemas.microsoft.com/office/drawing/2014/main" id="{82D14064-1317-E01B-E0D0-2D89B9A25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230" y="5039679"/>
            <a:ext cx="431826" cy="494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600" dirty="0"/>
              <a:t> </a:t>
            </a:r>
            <a:r>
              <a:rPr lang="en-US" altLang="ko-KR" sz="1000" dirty="0"/>
              <a:t>File</a:t>
            </a:r>
          </a:p>
          <a:p>
            <a:pPr algn="l" eaLnBrk="1" hangingPunct="1"/>
            <a:r>
              <a:rPr lang="en-US" altLang="ko-KR" sz="1000" dirty="0"/>
              <a:t>data</a:t>
            </a:r>
            <a:endParaRPr lang="en-US" altLang="ko-KR" sz="1600" dirty="0"/>
          </a:p>
        </p:txBody>
      </p:sp>
      <p:sp>
        <p:nvSpPr>
          <p:cNvPr id="25" name="Text Box 6">
            <a:extLst>
              <a:ext uri="{FF2B5EF4-FFF2-40B4-BE49-F238E27FC236}">
                <a16:creationId xmlns:a16="http://schemas.microsoft.com/office/drawing/2014/main" id="{F04B8ED4-8171-6C11-0B4B-CD0E7298E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9706" y="4895468"/>
            <a:ext cx="431826" cy="494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600" dirty="0"/>
              <a:t> </a:t>
            </a:r>
            <a:r>
              <a:rPr lang="en-US" altLang="ko-KR" sz="1000" dirty="0"/>
              <a:t>File</a:t>
            </a:r>
          </a:p>
          <a:p>
            <a:pPr algn="l" eaLnBrk="1" hangingPunct="1"/>
            <a:r>
              <a:rPr lang="en-US" altLang="ko-KR" sz="1000" dirty="0"/>
              <a:t>data</a:t>
            </a:r>
            <a:endParaRPr lang="en-US" altLang="ko-KR" sz="1600" dirty="0"/>
          </a:p>
        </p:txBody>
      </p:sp>
      <p:sp>
        <p:nvSpPr>
          <p:cNvPr id="26" name="Text Box 6">
            <a:extLst>
              <a:ext uri="{FF2B5EF4-FFF2-40B4-BE49-F238E27FC236}">
                <a16:creationId xmlns:a16="http://schemas.microsoft.com/office/drawing/2014/main" id="{7BE36072-22B9-2D53-334D-55A33A911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9413" y="4743068"/>
            <a:ext cx="431826" cy="494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600" dirty="0"/>
              <a:t> </a:t>
            </a:r>
            <a:r>
              <a:rPr lang="en-US" altLang="ko-KR" sz="1000" dirty="0"/>
              <a:t>File</a:t>
            </a:r>
          </a:p>
          <a:p>
            <a:pPr algn="l" eaLnBrk="1" hangingPunct="1"/>
            <a:r>
              <a:rPr lang="en-US" altLang="ko-KR" sz="1000" dirty="0"/>
              <a:t>data</a:t>
            </a:r>
            <a:endParaRPr lang="en-US" altLang="ko-KR" sz="1600" dirty="0"/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7E3F1958-D6AD-5280-4766-2BD65FB7E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9251" y="4545055"/>
            <a:ext cx="431826" cy="494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hangingPunct="1"/>
            <a:r>
              <a:rPr lang="en-US" altLang="ko-KR" sz="1600" dirty="0"/>
              <a:t> </a:t>
            </a:r>
            <a:r>
              <a:rPr lang="en-US" altLang="ko-KR" sz="1000" dirty="0"/>
              <a:t>File</a:t>
            </a:r>
          </a:p>
          <a:p>
            <a:pPr algn="l" eaLnBrk="1" hangingPunct="1"/>
            <a:r>
              <a:rPr lang="en-US" altLang="ko-KR" sz="1000" dirty="0"/>
              <a:t>data</a:t>
            </a:r>
            <a:endParaRPr lang="en-US" altLang="ko-KR" sz="1600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AFC160B-3343-351C-26C1-93841DBD4236}"/>
              </a:ext>
            </a:extLst>
          </p:cNvPr>
          <p:cNvCxnSpPr>
            <a:cxnSpLocks/>
            <a:endCxn id="23" idx="0"/>
          </p:cNvCxnSpPr>
          <p:nvPr/>
        </p:nvCxnSpPr>
        <p:spPr bwMode="auto">
          <a:xfrm flipH="1">
            <a:off x="6775164" y="4349591"/>
            <a:ext cx="425882" cy="1954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40A7476-2019-318F-F7FF-FF2282D8BA9B}"/>
              </a:ext>
            </a:extLst>
          </p:cNvPr>
          <p:cNvCxnSpPr>
            <a:cxnSpLocks/>
            <a:stCxn id="22" idx="2"/>
            <a:endCxn id="26" idx="0"/>
          </p:cNvCxnSpPr>
          <p:nvPr/>
        </p:nvCxnSpPr>
        <p:spPr bwMode="auto">
          <a:xfrm flipH="1">
            <a:off x="7015326" y="4324647"/>
            <a:ext cx="185721" cy="4184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64EA464-7709-AA4D-7FED-6CDC25281831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 bwMode="auto">
          <a:xfrm>
            <a:off x="7201047" y="4324647"/>
            <a:ext cx="104572" cy="5708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A65936A-2EAD-828D-5257-6261153167FA}"/>
              </a:ext>
            </a:extLst>
          </p:cNvPr>
          <p:cNvCxnSpPr>
            <a:cxnSpLocks/>
            <a:stCxn id="22" idx="2"/>
          </p:cNvCxnSpPr>
          <p:nvPr/>
        </p:nvCxnSpPr>
        <p:spPr bwMode="auto">
          <a:xfrm>
            <a:off x="7201047" y="4324647"/>
            <a:ext cx="360547" cy="6986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B5BB506-508F-1716-73D3-EC0A6092476F}"/>
              </a:ext>
            </a:extLst>
          </p:cNvPr>
          <p:cNvSpPr/>
          <p:nvPr/>
        </p:nvSpPr>
        <p:spPr bwMode="auto">
          <a:xfrm>
            <a:off x="4779297" y="3381851"/>
            <a:ext cx="990600" cy="2266749"/>
          </a:xfrm>
          <a:prstGeom prst="rect">
            <a:avLst/>
          </a:prstGeom>
          <a:solidFill>
            <a:srgbClr val="BFEAFA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C0B862-557A-8D40-6459-D2301B4D664A}"/>
              </a:ext>
            </a:extLst>
          </p:cNvPr>
          <p:cNvSpPr/>
          <p:nvPr/>
        </p:nvSpPr>
        <p:spPr bwMode="auto">
          <a:xfrm>
            <a:off x="4918998" y="4234861"/>
            <a:ext cx="634998" cy="416339"/>
          </a:xfrm>
          <a:prstGeom prst="rect">
            <a:avLst/>
          </a:prstGeom>
          <a:solidFill>
            <a:srgbClr val="CC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inode</a:t>
            </a:r>
            <a:r>
              <a:rPr kumimoji="0" lang="en-US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 </a:t>
            </a:r>
            <a:r>
              <a:rPr lang="en-US" altLang="ko-KR" sz="1050" dirty="0"/>
              <a:t>struct</a:t>
            </a:r>
            <a:endParaRPr kumimoji="0" lang="en-US" altLang="ko-KR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E02F4AD-1857-2F04-A3B6-5333142EF4C3}"/>
              </a:ext>
            </a:extLst>
          </p:cNvPr>
          <p:cNvCxnSpPr>
            <a:cxnSpLocks/>
            <a:stCxn id="3" idx="3"/>
            <a:endCxn id="23" idx="1"/>
          </p:cNvCxnSpPr>
          <p:nvPr/>
        </p:nvCxnSpPr>
        <p:spPr bwMode="auto">
          <a:xfrm>
            <a:off x="5553996" y="4443031"/>
            <a:ext cx="1005255" cy="34933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182A6A8-9178-66AA-5CDF-BDC21CD770DC}"/>
              </a:ext>
            </a:extLst>
          </p:cNvPr>
          <p:cNvSpPr/>
          <p:nvPr/>
        </p:nvSpPr>
        <p:spPr bwMode="auto">
          <a:xfrm>
            <a:off x="3094517" y="3413122"/>
            <a:ext cx="990600" cy="2295928"/>
          </a:xfrm>
          <a:prstGeom prst="rect">
            <a:avLst/>
          </a:prstGeom>
          <a:solidFill>
            <a:srgbClr val="BFEAFA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5479857-2C8C-8EFC-90AB-C2CE39633D5B}"/>
              </a:ext>
            </a:extLst>
          </p:cNvPr>
          <p:cNvSpPr/>
          <p:nvPr/>
        </p:nvSpPr>
        <p:spPr bwMode="auto">
          <a:xfrm>
            <a:off x="3137481" y="4207915"/>
            <a:ext cx="903448" cy="474556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object</a:t>
            </a:r>
            <a:endParaRPr kumimoji="0" lang="ko-KR" altLang="en-US" sz="1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6D1776-C031-4A7B-35B8-DE2A57E83BEE}"/>
              </a:ext>
            </a:extLst>
          </p:cNvPr>
          <p:cNvSpPr txBox="1"/>
          <p:nvPr/>
        </p:nvSpPr>
        <p:spPr>
          <a:xfrm>
            <a:off x="3254933" y="5807707"/>
            <a:ext cx="685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</a:rPr>
              <a:t>file table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E4764F1E-A452-CC22-9D9E-9A089912BDA3}"/>
              </a:ext>
            </a:extLst>
          </p:cNvPr>
          <p:cNvCxnSpPr>
            <a:cxnSpLocks/>
            <a:stCxn id="33" idx="3"/>
            <a:endCxn id="3" idx="1"/>
          </p:cNvCxnSpPr>
          <p:nvPr/>
        </p:nvCxnSpPr>
        <p:spPr bwMode="auto">
          <a:xfrm flipV="1">
            <a:off x="4040929" y="4443031"/>
            <a:ext cx="878069" cy="21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1E8CFDE-A383-03DE-351A-5758B1167BDB}"/>
              </a:ext>
            </a:extLst>
          </p:cNvPr>
          <p:cNvSpPr/>
          <p:nvPr/>
        </p:nvSpPr>
        <p:spPr bwMode="auto">
          <a:xfrm>
            <a:off x="829200" y="3692636"/>
            <a:ext cx="1676400" cy="1676400"/>
          </a:xfrm>
          <a:prstGeom prst="rect">
            <a:avLst/>
          </a:prstGeom>
          <a:solidFill>
            <a:srgbClr val="BFEAFA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451B46F-E0FC-E0E3-7995-EB6B4A55D4A0}"/>
              </a:ext>
            </a:extLst>
          </p:cNvPr>
          <p:cNvSpPr/>
          <p:nvPr/>
        </p:nvSpPr>
        <p:spPr bwMode="auto">
          <a:xfrm>
            <a:off x="1819800" y="3888851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27B5B5B-8137-02EE-CB63-CE8CB6F1BF14}"/>
              </a:ext>
            </a:extLst>
          </p:cNvPr>
          <p:cNvSpPr/>
          <p:nvPr/>
        </p:nvSpPr>
        <p:spPr bwMode="auto">
          <a:xfrm>
            <a:off x="1819800" y="4101616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F77BA4A-5308-6DDB-E421-73E7C760737B}"/>
              </a:ext>
            </a:extLst>
          </p:cNvPr>
          <p:cNvSpPr/>
          <p:nvPr/>
        </p:nvSpPr>
        <p:spPr bwMode="auto">
          <a:xfrm>
            <a:off x="1819800" y="4314381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A27106E-0DF1-5B98-A31C-D6F7FFEA94FB}"/>
              </a:ext>
            </a:extLst>
          </p:cNvPr>
          <p:cNvSpPr/>
          <p:nvPr/>
        </p:nvSpPr>
        <p:spPr bwMode="auto">
          <a:xfrm>
            <a:off x="1819800" y="4946722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D33AC12-17ED-E52A-6824-B6D829298A69}"/>
              </a:ext>
            </a:extLst>
          </p:cNvPr>
          <p:cNvSpPr/>
          <p:nvPr/>
        </p:nvSpPr>
        <p:spPr bwMode="auto">
          <a:xfrm>
            <a:off x="1819800" y="4527146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74C764D-FA34-385C-F30B-C17BBB3BC38E}"/>
              </a:ext>
            </a:extLst>
          </p:cNvPr>
          <p:cNvSpPr/>
          <p:nvPr/>
        </p:nvSpPr>
        <p:spPr bwMode="auto">
          <a:xfrm>
            <a:off x="1819800" y="4736934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12614EAF-2FD7-069C-289D-85EFF09E3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800" y="3861230"/>
            <a:ext cx="457200" cy="20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0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54B57C9B-1131-669A-1A55-A1DA1E9C9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9275" y="4082547"/>
            <a:ext cx="476250" cy="20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1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0" name="Rectangle 3">
            <a:extLst>
              <a:ext uri="{FF2B5EF4-FFF2-40B4-BE49-F238E27FC236}">
                <a16:creationId xmlns:a16="http://schemas.microsoft.com/office/drawing/2014/main" id="{9BDA2825-C577-CFA5-649E-5D1AB2DE6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4990" y="4305373"/>
            <a:ext cx="476250" cy="218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2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1" name="Rectangle 3">
            <a:extLst>
              <a:ext uri="{FF2B5EF4-FFF2-40B4-BE49-F238E27FC236}">
                <a16:creationId xmlns:a16="http://schemas.microsoft.com/office/drawing/2014/main" id="{9D0F76E5-7698-CEAB-500B-D98195291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800" y="4523177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3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2" name="Rectangle 3">
            <a:extLst>
              <a:ext uri="{FF2B5EF4-FFF2-40B4-BE49-F238E27FC236}">
                <a16:creationId xmlns:a16="http://schemas.microsoft.com/office/drawing/2014/main" id="{EC6B2F38-F406-BFE7-DB72-252FD7A54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9275" y="4749991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4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3" name="Rectangle 3">
            <a:extLst>
              <a:ext uri="{FF2B5EF4-FFF2-40B4-BE49-F238E27FC236}">
                <a16:creationId xmlns:a16="http://schemas.microsoft.com/office/drawing/2014/main" id="{7C827A76-A01E-249D-5AC0-B3377E6C1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9275" y="4968868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5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marL="471487" lvl="1" indent="0" latinLnBrk="1">
              <a:buNone/>
            </a:pPr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3ADDB9-84E8-5D26-DB9E-5CC2036965DD}"/>
              </a:ext>
            </a:extLst>
          </p:cNvPr>
          <p:cNvSpPr txBox="1"/>
          <p:nvPr/>
        </p:nvSpPr>
        <p:spPr>
          <a:xfrm>
            <a:off x="1234012" y="3425747"/>
            <a:ext cx="866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Process A</a:t>
            </a:r>
            <a:endParaRPr lang="ko-KR" altLang="en-US" sz="1100" dirty="0"/>
          </a:p>
        </p:txBody>
      </p:sp>
      <p:sp>
        <p:nvSpPr>
          <p:cNvPr id="241689" name="TextBox 241688">
            <a:extLst>
              <a:ext uri="{FF2B5EF4-FFF2-40B4-BE49-F238E27FC236}">
                <a16:creationId xmlns:a16="http://schemas.microsoft.com/office/drawing/2014/main" id="{6B1EE104-E085-671C-13A4-24113CB01AB2}"/>
              </a:ext>
            </a:extLst>
          </p:cNvPr>
          <p:cNvSpPr txBox="1"/>
          <p:nvPr/>
        </p:nvSpPr>
        <p:spPr>
          <a:xfrm>
            <a:off x="1062029" y="5433156"/>
            <a:ext cx="12411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</a:rPr>
              <a:t>File descriptor table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  <p:cxnSp>
        <p:nvCxnSpPr>
          <p:cNvPr id="241690" name="직선 화살표 연결선 241689">
            <a:extLst>
              <a:ext uri="{FF2B5EF4-FFF2-40B4-BE49-F238E27FC236}">
                <a16:creationId xmlns:a16="http://schemas.microsoft.com/office/drawing/2014/main" id="{23AD1DA5-0974-ADA9-7718-F812CA431437}"/>
              </a:ext>
            </a:extLst>
          </p:cNvPr>
          <p:cNvCxnSpPr>
            <a:cxnSpLocks/>
            <a:endCxn id="33" idx="1"/>
          </p:cNvCxnSpPr>
          <p:nvPr/>
        </p:nvCxnSpPr>
        <p:spPr bwMode="auto">
          <a:xfrm flipV="1">
            <a:off x="2383956" y="4445193"/>
            <a:ext cx="753525" cy="17250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4" name="곱하기 기호 3">
            <a:extLst>
              <a:ext uri="{FF2B5EF4-FFF2-40B4-BE49-F238E27FC236}">
                <a16:creationId xmlns:a16="http://schemas.microsoft.com/office/drawing/2014/main" id="{9DDBCFDD-1920-112C-B00A-90AB5C4C57F1}"/>
              </a:ext>
            </a:extLst>
          </p:cNvPr>
          <p:cNvSpPr/>
          <p:nvPr/>
        </p:nvSpPr>
        <p:spPr bwMode="auto">
          <a:xfrm>
            <a:off x="2421777" y="4222944"/>
            <a:ext cx="579880" cy="644221"/>
          </a:xfrm>
          <a:prstGeom prst="mathMultiply">
            <a:avLst>
              <a:gd name="adj1" fmla="val 10379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9" name="곱하기 기호 18">
            <a:extLst>
              <a:ext uri="{FF2B5EF4-FFF2-40B4-BE49-F238E27FC236}">
                <a16:creationId xmlns:a16="http://schemas.microsoft.com/office/drawing/2014/main" id="{4B4F2D06-3E4B-518B-C669-15FB49237017}"/>
              </a:ext>
            </a:extLst>
          </p:cNvPr>
          <p:cNvSpPr/>
          <p:nvPr/>
        </p:nvSpPr>
        <p:spPr bwMode="auto">
          <a:xfrm>
            <a:off x="3154252" y="4014401"/>
            <a:ext cx="824140" cy="864175"/>
          </a:xfrm>
          <a:prstGeom prst="mathMultiply">
            <a:avLst>
              <a:gd name="adj1" fmla="val 10379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0" name="곱하기 기호 19">
            <a:extLst>
              <a:ext uri="{FF2B5EF4-FFF2-40B4-BE49-F238E27FC236}">
                <a16:creationId xmlns:a16="http://schemas.microsoft.com/office/drawing/2014/main" id="{DA3FCA98-6A27-83A9-85B4-8E6062D89BA0}"/>
              </a:ext>
            </a:extLst>
          </p:cNvPr>
          <p:cNvSpPr/>
          <p:nvPr/>
        </p:nvSpPr>
        <p:spPr bwMode="auto">
          <a:xfrm>
            <a:off x="4001522" y="4031293"/>
            <a:ext cx="824140" cy="864175"/>
          </a:xfrm>
          <a:prstGeom prst="mathMultiply">
            <a:avLst>
              <a:gd name="adj1" fmla="val 10379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6CD7CF8-4534-5762-BAD1-E4F32641687F}"/>
              </a:ext>
            </a:extLst>
          </p:cNvPr>
          <p:cNvSpPr/>
          <p:nvPr/>
        </p:nvSpPr>
        <p:spPr bwMode="auto">
          <a:xfrm>
            <a:off x="3137481" y="4893271"/>
            <a:ext cx="903448" cy="474556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File object</a:t>
            </a:r>
            <a:endParaRPr kumimoji="0" lang="ko-KR" altLang="en-US" sz="1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28B2D368-775C-A40D-7B5B-8E9E56A03F77}"/>
              </a:ext>
            </a:extLst>
          </p:cNvPr>
          <p:cNvCxnSpPr>
            <a:cxnSpLocks/>
            <a:stCxn id="35" idx="3"/>
            <a:endCxn id="3" idx="1"/>
          </p:cNvCxnSpPr>
          <p:nvPr/>
        </p:nvCxnSpPr>
        <p:spPr bwMode="auto">
          <a:xfrm flipV="1">
            <a:off x="4040929" y="4443031"/>
            <a:ext cx="878069" cy="6875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03D75561-6230-E294-CAAB-39623D2063E4}"/>
              </a:ext>
            </a:extLst>
          </p:cNvPr>
          <p:cNvCxnSpPr>
            <a:cxnSpLocks/>
            <a:endCxn id="35" idx="1"/>
          </p:cNvCxnSpPr>
          <p:nvPr/>
        </p:nvCxnSpPr>
        <p:spPr bwMode="auto">
          <a:xfrm>
            <a:off x="2400337" y="4839948"/>
            <a:ext cx="737144" cy="2906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0893347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E21C2-CCA1-8C8F-DC94-84FF43A42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BA240BBE-B8BF-3C69-41E8-4D9D39E36A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remove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0A78497-98DB-F3A5-EA8E-902A45832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1828800"/>
            <a:ext cx="8001001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900" kern="0" dirty="0">
                <a:solidFill>
                  <a:srgbClr val="0070C0"/>
                </a:solidFill>
              </a:rPr>
              <a:t>bool</a:t>
            </a:r>
            <a:r>
              <a:rPr lang="en-US" altLang="ko-KR" sz="1900" kern="0" dirty="0"/>
              <a:t> remove (</a:t>
            </a:r>
            <a:r>
              <a:rPr lang="en-US" altLang="ko-KR" sz="1900" kern="0" dirty="0">
                <a:solidFill>
                  <a:srgbClr val="0070C0"/>
                </a:solidFill>
              </a:rPr>
              <a:t>const char </a:t>
            </a:r>
            <a:r>
              <a:rPr lang="en-US" altLang="ko-KR" sz="1900" kern="0" dirty="0"/>
              <a:t>*file)</a:t>
            </a:r>
          </a:p>
          <a:p>
            <a:pPr lvl="1" latinLnBrk="1"/>
            <a:r>
              <a:rPr lang="en-US" altLang="ko-KR" sz="1500" kern="0" dirty="0"/>
              <a:t>Remove file whose name is </a:t>
            </a:r>
            <a:r>
              <a:rPr lang="en-US" altLang="ko-KR" sz="1500" i="1" kern="0" dirty="0"/>
              <a:t>file</a:t>
            </a:r>
          </a:p>
          <a:p>
            <a:pPr lvl="1" latinLnBrk="1"/>
            <a:r>
              <a:rPr lang="en-US" altLang="ko-KR" sz="1500" kern="0" dirty="0"/>
              <a:t>Use </a:t>
            </a:r>
            <a:r>
              <a:rPr lang="en-US" altLang="ko-KR" sz="1500" kern="0" dirty="0">
                <a:solidFill>
                  <a:srgbClr val="0070C0"/>
                </a:solidFill>
              </a:rPr>
              <a:t>bool</a:t>
            </a:r>
            <a:r>
              <a:rPr lang="en-US" altLang="ko-KR" sz="1500" kern="0" dirty="0"/>
              <a:t> </a:t>
            </a:r>
            <a:r>
              <a:rPr lang="en-US" altLang="ko-KR" sz="1500" kern="0" dirty="0" err="1"/>
              <a:t>filesys_remove</a:t>
            </a:r>
            <a:r>
              <a:rPr lang="en-US" altLang="ko-KR" sz="1500" kern="0" dirty="0"/>
              <a:t>(</a:t>
            </a:r>
            <a:r>
              <a:rPr lang="en-US" altLang="ko-KR" sz="1500" kern="0" dirty="0">
                <a:solidFill>
                  <a:srgbClr val="0070C0"/>
                </a:solidFill>
              </a:rPr>
              <a:t>const char </a:t>
            </a:r>
            <a:r>
              <a:rPr lang="en-US" altLang="ko-KR" sz="1500" kern="0" dirty="0"/>
              <a:t>*name).</a:t>
            </a:r>
          </a:p>
          <a:p>
            <a:pPr lvl="1" latinLnBrk="1"/>
            <a:r>
              <a:rPr lang="en-US" altLang="ko-KR" sz="1500" kern="0" dirty="0"/>
              <a:t>Return true if it is succeeded or false if it is not.</a:t>
            </a:r>
          </a:p>
          <a:p>
            <a:pPr lvl="1" latinLnBrk="1"/>
            <a:r>
              <a:rPr lang="en-US" altLang="ko-KR" sz="1500" kern="0" dirty="0"/>
              <a:t>File is removed regardless of whether it is open or closed.</a:t>
            </a:r>
          </a:p>
          <a:p>
            <a:pPr lvl="1" latinLnBrk="1"/>
            <a:endParaRPr lang="en-US" altLang="ko-KR" sz="1500" kern="0" dirty="0"/>
          </a:p>
          <a:p>
            <a:pPr marL="0" indent="0" latinLnBrk="1">
              <a:buNone/>
            </a:pPr>
            <a:endParaRPr lang="en-US" altLang="ko-KR" sz="1500" kern="0" dirty="0"/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marL="471487" lvl="1" indent="0" latinLnBrk="1">
              <a:buNone/>
            </a:pPr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lvl="3" latinLnBrk="1"/>
            <a:endParaRPr lang="en-US" altLang="ko-KR" sz="800" kern="0" dirty="0"/>
          </a:p>
          <a:p>
            <a:pPr latinLnBrk="1"/>
            <a:endParaRPr lang="en-US" altLang="ko-KR" sz="2000" kern="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1AD1383-AC1D-7739-5D09-A82A888AA4F5}"/>
              </a:ext>
            </a:extLst>
          </p:cNvPr>
          <p:cNvGrpSpPr/>
          <p:nvPr/>
        </p:nvGrpSpPr>
        <p:grpSpPr>
          <a:xfrm>
            <a:off x="2580261" y="3874119"/>
            <a:ext cx="2057400" cy="1676401"/>
            <a:chOff x="6350107" y="3358990"/>
            <a:chExt cx="1701880" cy="2549845"/>
          </a:xfrm>
        </p:grpSpPr>
        <p:sp>
          <p:nvSpPr>
            <p:cNvPr id="10" name="원통형 9">
              <a:extLst>
                <a:ext uri="{FF2B5EF4-FFF2-40B4-BE49-F238E27FC236}">
                  <a16:creationId xmlns:a16="http://schemas.microsoft.com/office/drawing/2014/main" id="{F6BD8767-8B3A-9D76-E5F7-40C1864393DD}"/>
                </a:ext>
              </a:extLst>
            </p:cNvPr>
            <p:cNvSpPr/>
            <p:nvPr/>
          </p:nvSpPr>
          <p:spPr bwMode="auto">
            <a:xfrm>
              <a:off x="6350107" y="3358990"/>
              <a:ext cx="1701880" cy="2266751"/>
            </a:xfrm>
            <a:prstGeom prst="ca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A16EFFE-13C0-E337-06DD-BBC34B199050}"/>
                </a:ext>
              </a:extLst>
            </p:cNvPr>
            <p:cNvSpPr txBox="1"/>
            <p:nvPr/>
          </p:nvSpPr>
          <p:spPr>
            <a:xfrm>
              <a:off x="6908987" y="5654919"/>
              <a:ext cx="9144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Disk</a:t>
              </a:r>
              <a:endParaRPr lang="ko-KR" altLang="en-US" sz="1000" b="1" dirty="0"/>
            </a:p>
          </p:txBody>
        </p:sp>
        <p:sp>
          <p:nvSpPr>
            <p:cNvPr id="22" name="순서도: 처리 21">
              <a:extLst>
                <a:ext uri="{FF2B5EF4-FFF2-40B4-BE49-F238E27FC236}">
                  <a16:creationId xmlns:a16="http://schemas.microsoft.com/office/drawing/2014/main" id="{D498AAE0-F0C6-81D3-7B1F-47AC0EEABBD2}"/>
                </a:ext>
              </a:extLst>
            </p:cNvPr>
            <p:cNvSpPr/>
            <p:nvPr/>
          </p:nvSpPr>
          <p:spPr bwMode="auto">
            <a:xfrm>
              <a:off x="6739773" y="3921205"/>
              <a:ext cx="922547" cy="403442"/>
            </a:xfrm>
            <a:prstGeom prst="flowChartProcess">
              <a:avLst/>
            </a:prstGeom>
            <a:solidFill>
              <a:srgbClr val="CCCCFF"/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cs typeface="Arial" charset="0"/>
                </a:rPr>
                <a:t>File metadata</a:t>
              </a:r>
              <a:endParaRPr kumimoji="0" lang="ko-KR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24" name="Text Box 6">
              <a:extLst>
                <a:ext uri="{FF2B5EF4-FFF2-40B4-BE49-F238E27FC236}">
                  <a16:creationId xmlns:a16="http://schemas.microsoft.com/office/drawing/2014/main" id="{49D8F04A-E39E-CBC1-B883-69A4C70015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1230" y="5039679"/>
              <a:ext cx="431826" cy="4946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l" eaLnBrk="1" hangingPunct="1"/>
              <a:r>
                <a:rPr lang="en-US" altLang="ko-KR" sz="1600" dirty="0"/>
                <a:t> </a:t>
              </a:r>
              <a:r>
                <a:rPr lang="en-US" altLang="ko-KR" sz="1000" dirty="0"/>
                <a:t>File</a:t>
              </a:r>
            </a:p>
            <a:p>
              <a:pPr algn="l" eaLnBrk="1" hangingPunct="1"/>
              <a:r>
                <a:rPr lang="en-US" altLang="ko-KR" sz="1000" dirty="0"/>
                <a:t>data</a:t>
              </a:r>
              <a:endParaRPr lang="en-US" altLang="ko-KR" sz="1600" dirty="0"/>
            </a:p>
          </p:txBody>
        </p:sp>
        <p:sp>
          <p:nvSpPr>
            <p:cNvPr id="25" name="Text Box 6">
              <a:extLst>
                <a:ext uri="{FF2B5EF4-FFF2-40B4-BE49-F238E27FC236}">
                  <a16:creationId xmlns:a16="http://schemas.microsoft.com/office/drawing/2014/main" id="{8215C94C-8DDF-058C-B4D1-E05A004353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9706" y="4895468"/>
              <a:ext cx="431826" cy="4946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l" eaLnBrk="1" hangingPunct="1"/>
              <a:r>
                <a:rPr lang="en-US" altLang="ko-KR" sz="1600" dirty="0"/>
                <a:t> </a:t>
              </a:r>
              <a:r>
                <a:rPr lang="en-US" altLang="ko-KR" sz="1000" dirty="0"/>
                <a:t>File</a:t>
              </a:r>
            </a:p>
            <a:p>
              <a:pPr algn="l" eaLnBrk="1" hangingPunct="1"/>
              <a:r>
                <a:rPr lang="en-US" altLang="ko-KR" sz="1000" dirty="0"/>
                <a:t>data</a:t>
              </a:r>
              <a:endParaRPr lang="en-US" altLang="ko-KR" sz="1600" dirty="0"/>
            </a:p>
          </p:txBody>
        </p:sp>
        <p:sp>
          <p:nvSpPr>
            <p:cNvPr id="26" name="Text Box 6">
              <a:extLst>
                <a:ext uri="{FF2B5EF4-FFF2-40B4-BE49-F238E27FC236}">
                  <a16:creationId xmlns:a16="http://schemas.microsoft.com/office/drawing/2014/main" id="{D86E3A97-BDA7-2D3D-C427-EC5F4F2F6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9413" y="4743068"/>
              <a:ext cx="431826" cy="4946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l" eaLnBrk="1" hangingPunct="1"/>
              <a:r>
                <a:rPr lang="en-US" altLang="ko-KR" sz="1600" dirty="0"/>
                <a:t> </a:t>
              </a:r>
              <a:r>
                <a:rPr lang="en-US" altLang="ko-KR" sz="1000" dirty="0"/>
                <a:t>File</a:t>
              </a:r>
            </a:p>
            <a:p>
              <a:pPr algn="l" eaLnBrk="1" hangingPunct="1"/>
              <a:r>
                <a:rPr lang="en-US" altLang="ko-KR" sz="1000" dirty="0"/>
                <a:t>data</a:t>
              </a:r>
              <a:endParaRPr lang="en-US" altLang="ko-KR" sz="1600" dirty="0"/>
            </a:p>
          </p:txBody>
        </p:sp>
        <p:sp>
          <p:nvSpPr>
            <p:cNvPr id="23" name="Text Box 6">
              <a:extLst>
                <a:ext uri="{FF2B5EF4-FFF2-40B4-BE49-F238E27FC236}">
                  <a16:creationId xmlns:a16="http://schemas.microsoft.com/office/drawing/2014/main" id="{B12764C1-1391-B36C-22D1-A14F5C138E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9251" y="4545055"/>
              <a:ext cx="431826" cy="4946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l" eaLnBrk="1" hangingPunct="1"/>
              <a:r>
                <a:rPr lang="en-US" altLang="ko-KR" sz="1600" dirty="0"/>
                <a:t> </a:t>
              </a:r>
              <a:r>
                <a:rPr lang="en-US" altLang="ko-KR" sz="1000" dirty="0"/>
                <a:t>File</a:t>
              </a:r>
            </a:p>
            <a:p>
              <a:pPr algn="l" eaLnBrk="1" hangingPunct="1"/>
              <a:r>
                <a:rPr lang="en-US" altLang="ko-KR" sz="1000" dirty="0"/>
                <a:t>data</a:t>
              </a:r>
              <a:endParaRPr lang="en-US" altLang="ko-KR" sz="1600" dirty="0"/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A1529C81-E7CC-7AFA-28E5-78E8B067D678}"/>
                </a:ext>
              </a:extLst>
            </p:cNvPr>
            <p:cNvCxnSpPr>
              <a:cxnSpLocks/>
              <a:endCxn id="23" idx="0"/>
            </p:cNvCxnSpPr>
            <p:nvPr/>
          </p:nvCxnSpPr>
          <p:spPr bwMode="auto">
            <a:xfrm flipH="1">
              <a:off x="6775164" y="4349591"/>
              <a:ext cx="425882" cy="1954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A8CDE2E8-C098-03AF-43B0-DB2E6D59D8DD}"/>
                </a:ext>
              </a:extLst>
            </p:cNvPr>
            <p:cNvCxnSpPr>
              <a:cxnSpLocks/>
              <a:stCxn id="22" idx="2"/>
              <a:endCxn id="26" idx="0"/>
            </p:cNvCxnSpPr>
            <p:nvPr/>
          </p:nvCxnSpPr>
          <p:spPr bwMode="auto">
            <a:xfrm flipH="1">
              <a:off x="7015326" y="4324647"/>
              <a:ext cx="185721" cy="41842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01FCA9C0-7990-25A7-BF05-5E67774973AD}"/>
                </a:ext>
              </a:extLst>
            </p:cNvPr>
            <p:cNvCxnSpPr>
              <a:cxnSpLocks/>
              <a:stCxn id="22" idx="2"/>
              <a:endCxn id="25" idx="0"/>
            </p:cNvCxnSpPr>
            <p:nvPr/>
          </p:nvCxnSpPr>
          <p:spPr bwMode="auto">
            <a:xfrm>
              <a:off x="7201047" y="4324647"/>
              <a:ext cx="104572" cy="57082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87E55454-D61B-06CE-5B1F-7A79F9865E1F}"/>
                </a:ext>
              </a:extLst>
            </p:cNvPr>
            <p:cNvCxnSpPr>
              <a:cxnSpLocks/>
              <a:stCxn id="22" idx="2"/>
            </p:cNvCxnSpPr>
            <p:nvPr/>
          </p:nvCxnSpPr>
          <p:spPr bwMode="auto">
            <a:xfrm>
              <a:off x="7201047" y="4324647"/>
              <a:ext cx="360547" cy="69865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DE6BC7F8-068E-D264-AB42-493FB0AC257F}"/>
              </a:ext>
            </a:extLst>
          </p:cNvPr>
          <p:cNvSpPr/>
          <p:nvPr/>
        </p:nvSpPr>
        <p:spPr bwMode="auto">
          <a:xfrm>
            <a:off x="578535" y="3731840"/>
            <a:ext cx="1676400" cy="1676400"/>
          </a:xfrm>
          <a:prstGeom prst="rect">
            <a:avLst/>
          </a:prstGeom>
          <a:solidFill>
            <a:srgbClr val="BFEAFA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C1F6C66-3366-56B6-8531-A708E5C18A92}"/>
              </a:ext>
            </a:extLst>
          </p:cNvPr>
          <p:cNvSpPr/>
          <p:nvPr/>
        </p:nvSpPr>
        <p:spPr bwMode="auto">
          <a:xfrm>
            <a:off x="1453668" y="4006215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7781CBD-3D9B-4E0D-DDDD-C68C15E30FE4}"/>
              </a:ext>
            </a:extLst>
          </p:cNvPr>
          <p:cNvSpPr/>
          <p:nvPr/>
        </p:nvSpPr>
        <p:spPr bwMode="auto">
          <a:xfrm>
            <a:off x="1453668" y="4218980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DCB1DC1-6A19-2035-115E-0E1840D3A541}"/>
              </a:ext>
            </a:extLst>
          </p:cNvPr>
          <p:cNvSpPr/>
          <p:nvPr/>
        </p:nvSpPr>
        <p:spPr bwMode="auto">
          <a:xfrm>
            <a:off x="1453668" y="4431745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0E64853-3139-9F07-1075-E5FC530CFDAB}"/>
              </a:ext>
            </a:extLst>
          </p:cNvPr>
          <p:cNvSpPr/>
          <p:nvPr/>
        </p:nvSpPr>
        <p:spPr bwMode="auto">
          <a:xfrm>
            <a:off x="1453668" y="5064086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524A27A-1169-B22C-ECF4-E067ED5FE4AE}"/>
              </a:ext>
            </a:extLst>
          </p:cNvPr>
          <p:cNvSpPr/>
          <p:nvPr/>
        </p:nvSpPr>
        <p:spPr bwMode="auto">
          <a:xfrm>
            <a:off x="1453668" y="4644510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4E04989-1D44-72B0-4008-822D799DF90E}"/>
              </a:ext>
            </a:extLst>
          </p:cNvPr>
          <p:cNvSpPr/>
          <p:nvPr/>
        </p:nvSpPr>
        <p:spPr bwMode="auto">
          <a:xfrm>
            <a:off x="1453668" y="4854298"/>
            <a:ext cx="571500" cy="209788"/>
          </a:xfrm>
          <a:prstGeom prst="rect">
            <a:avLst/>
          </a:prstGeom>
          <a:solidFill>
            <a:srgbClr val="A3A3E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C79A47C0-FB60-C3BF-E09E-558BF50CC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2668" y="3978594"/>
            <a:ext cx="457200" cy="20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0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B0B3E27A-29D9-E0D8-8A35-0681E0A1A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143" y="4199911"/>
            <a:ext cx="476250" cy="20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1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247C98A4-23E1-362D-19D2-D5C9B5BB2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8858" y="4422737"/>
            <a:ext cx="476250" cy="218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2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48B97D99-1FA9-694B-8781-E18DE7397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2668" y="4640541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3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3A693759-BF38-5365-4D4D-E5310932D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143" y="4867355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4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902DA8C0-4119-5419-2BA0-C47D4BAA6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143" y="5086232"/>
            <a:ext cx="476250" cy="20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altLang="ko-KR" sz="1050" kern="0" dirty="0" err="1"/>
              <a:t>fd</a:t>
            </a:r>
            <a:r>
              <a:rPr lang="en-US" altLang="ko-KR" sz="1050" kern="0" dirty="0"/>
              <a:t> 5</a:t>
            </a:r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lvl="1" latinLnBrk="1"/>
            <a:endParaRPr lang="en-US" altLang="ko-KR" sz="1200" kern="0" dirty="0"/>
          </a:p>
          <a:p>
            <a:pPr marL="471487" lvl="1" indent="0" latinLnBrk="1">
              <a:buNone/>
            </a:pPr>
            <a:endParaRPr lang="en-US" altLang="ko-KR" sz="1400" kern="0" dirty="0"/>
          </a:p>
          <a:p>
            <a:pPr marL="1306513" lvl="3" indent="0" latinLnBrk="1">
              <a:buNone/>
            </a:pPr>
            <a:endParaRPr lang="en-US" altLang="ko-KR" sz="800" kern="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150BA0-5788-F1EB-FCC1-19BBA0D5A0FA}"/>
              </a:ext>
            </a:extLst>
          </p:cNvPr>
          <p:cNvSpPr txBox="1"/>
          <p:nvPr/>
        </p:nvSpPr>
        <p:spPr>
          <a:xfrm>
            <a:off x="867880" y="3543111"/>
            <a:ext cx="866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Process A</a:t>
            </a:r>
            <a:endParaRPr lang="ko-KR" altLang="en-US" sz="11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C31B8F6-7FF6-8D1E-4B1A-6C7EDA41705F}"/>
              </a:ext>
            </a:extLst>
          </p:cNvPr>
          <p:cNvSpPr txBox="1"/>
          <p:nvPr/>
        </p:nvSpPr>
        <p:spPr>
          <a:xfrm>
            <a:off x="695897" y="5550520"/>
            <a:ext cx="12411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</a:rPr>
              <a:t>File descriptor table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BA9F1DA-E66A-A21F-5445-65D17A3FE165}"/>
              </a:ext>
            </a:extLst>
          </p:cNvPr>
          <p:cNvCxnSpPr>
            <a:cxnSpLocks/>
            <a:endCxn id="23" idx="1"/>
          </p:cNvCxnSpPr>
          <p:nvPr/>
        </p:nvCxnSpPr>
        <p:spPr bwMode="auto">
          <a:xfrm>
            <a:off x="2024001" y="4757856"/>
            <a:ext cx="809094" cy="586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1C731046-8912-E241-A997-D8C4B1CC5D0E}"/>
              </a:ext>
            </a:extLst>
          </p:cNvPr>
          <p:cNvSpPr txBox="1"/>
          <p:nvPr/>
        </p:nvSpPr>
        <p:spPr>
          <a:xfrm>
            <a:off x="2171027" y="5737328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</a:rPr>
              <a:t>Case 1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241678" name="TextBox 241677">
            <a:extLst>
              <a:ext uri="{FF2B5EF4-FFF2-40B4-BE49-F238E27FC236}">
                <a16:creationId xmlns:a16="http://schemas.microsoft.com/office/drawing/2014/main" id="{858E3191-EE99-400B-C70C-56B7F33454DE}"/>
              </a:ext>
            </a:extLst>
          </p:cNvPr>
          <p:cNvSpPr txBox="1"/>
          <p:nvPr/>
        </p:nvSpPr>
        <p:spPr>
          <a:xfrm>
            <a:off x="6487102" y="5658242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</a:rPr>
              <a:t>Case 2</a:t>
            </a:r>
            <a:endParaRPr lang="ko-KR" altLang="en-US" dirty="0">
              <a:solidFill>
                <a:srgbClr val="C00000"/>
              </a:solidFill>
            </a:endParaRPr>
          </a:p>
        </p:txBody>
      </p:sp>
      <p:grpSp>
        <p:nvGrpSpPr>
          <p:cNvPr id="241679" name="그룹 241678">
            <a:extLst>
              <a:ext uri="{FF2B5EF4-FFF2-40B4-BE49-F238E27FC236}">
                <a16:creationId xmlns:a16="http://schemas.microsoft.com/office/drawing/2014/main" id="{367EA686-F719-A111-299E-672350592247}"/>
              </a:ext>
            </a:extLst>
          </p:cNvPr>
          <p:cNvGrpSpPr/>
          <p:nvPr/>
        </p:nvGrpSpPr>
        <p:grpSpPr>
          <a:xfrm>
            <a:off x="5944272" y="3815699"/>
            <a:ext cx="2057400" cy="1676401"/>
            <a:chOff x="6350107" y="3358990"/>
            <a:chExt cx="1701880" cy="2549845"/>
          </a:xfrm>
        </p:grpSpPr>
        <p:sp>
          <p:nvSpPr>
            <p:cNvPr id="241680" name="원통형 241679">
              <a:extLst>
                <a:ext uri="{FF2B5EF4-FFF2-40B4-BE49-F238E27FC236}">
                  <a16:creationId xmlns:a16="http://schemas.microsoft.com/office/drawing/2014/main" id="{CBDDBCA4-D611-B09D-C58E-5653399ED4B2}"/>
                </a:ext>
              </a:extLst>
            </p:cNvPr>
            <p:cNvSpPr/>
            <p:nvPr/>
          </p:nvSpPr>
          <p:spPr bwMode="auto">
            <a:xfrm>
              <a:off x="6350107" y="3358990"/>
              <a:ext cx="1701880" cy="2266751"/>
            </a:xfrm>
            <a:prstGeom prst="ca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241681" name="TextBox 241680">
              <a:extLst>
                <a:ext uri="{FF2B5EF4-FFF2-40B4-BE49-F238E27FC236}">
                  <a16:creationId xmlns:a16="http://schemas.microsoft.com/office/drawing/2014/main" id="{EAE3F79F-3921-37B4-9AC5-4B05E1867CB0}"/>
                </a:ext>
              </a:extLst>
            </p:cNvPr>
            <p:cNvSpPr txBox="1"/>
            <p:nvPr/>
          </p:nvSpPr>
          <p:spPr>
            <a:xfrm>
              <a:off x="6908987" y="5654919"/>
              <a:ext cx="9144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Disk</a:t>
              </a:r>
              <a:endParaRPr lang="ko-KR" altLang="en-US" sz="1000" b="1" dirty="0"/>
            </a:p>
          </p:txBody>
        </p:sp>
        <p:sp>
          <p:nvSpPr>
            <p:cNvPr id="241682" name="순서도: 처리 241681">
              <a:extLst>
                <a:ext uri="{FF2B5EF4-FFF2-40B4-BE49-F238E27FC236}">
                  <a16:creationId xmlns:a16="http://schemas.microsoft.com/office/drawing/2014/main" id="{BBFA2205-0400-C2F4-8661-0068BD6F7565}"/>
                </a:ext>
              </a:extLst>
            </p:cNvPr>
            <p:cNvSpPr/>
            <p:nvPr/>
          </p:nvSpPr>
          <p:spPr bwMode="auto">
            <a:xfrm>
              <a:off x="6739773" y="3921205"/>
              <a:ext cx="922547" cy="403442"/>
            </a:xfrm>
            <a:prstGeom prst="flowChartProcess">
              <a:avLst/>
            </a:prstGeom>
            <a:solidFill>
              <a:srgbClr val="CCCCFF"/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cs typeface="Arial" charset="0"/>
                </a:rPr>
                <a:t>File metadata</a:t>
              </a:r>
              <a:endParaRPr kumimoji="0" lang="ko-KR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241683" name="Text Box 6">
              <a:extLst>
                <a:ext uri="{FF2B5EF4-FFF2-40B4-BE49-F238E27FC236}">
                  <a16:creationId xmlns:a16="http://schemas.microsoft.com/office/drawing/2014/main" id="{1F29C32A-C6D2-6B53-898A-EF861DEBDD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1230" y="5039679"/>
              <a:ext cx="431826" cy="4946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l" eaLnBrk="1" hangingPunct="1"/>
              <a:r>
                <a:rPr lang="en-US" altLang="ko-KR" sz="1600" dirty="0"/>
                <a:t> </a:t>
              </a:r>
              <a:r>
                <a:rPr lang="en-US" altLang="ko-KR" sz="1000" dirty="0"/>
                <a:t>File</a:t>
              </a:r>
            </a:p>
            <a:p>
              <a:pPr algn="l" eaLnBrk="1" hangingPunct="1"/>
              <a:r>
                <a:rPr lang="en-US" altLang="ko-KR" sz="1000" dirty="0"/>
                <a:t>data</a:t>
              </a:r>
              <a:endParaRPr lang="en-US" altLang="ko-KR" sz="1600" dirty="0"/>
            </a:p>
          </p:txBody>
        </p:sp>
        <p:sp>
          <p:nvSpPr>
            <p:cNvPr id="241684" name="Text Box 6">
              <a:extLst>
                <a:ext uri="{FF2B5EF4-FFF2-40B4-BE49-F238E27FC236}">
                  <a16:creationId xmlns:a16="http://schemas.microsoft.com/office/drawing/2014/main" id="{B1782FB5-4649-E686-0A87-982B1D76CB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9706" y="4895468"/>
              <a:ext cx="431826" cy="4946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l" eaLnBrk="1" hangingPunct="1"/>
              <a:r>
                <a:rPr lang="en-US" altLang="ko-KR" sz="1600" dirty="0"/>
                <a:t> </a:t>
              </a:r>
              <a:r>
                <a:rPr lang="en-US" altLang="ko-KR" sz="1000" dirty="0"/>
                <a:t>File</a:t>
              </a:r>
            </a:p>
            <a:p>
              <a:pPr algn="l" eaLnBrk="1" hangingPunct="1"/>
              <a:r>
                <a:rPr lang="en-US" altLang="ko-KR" sz="1000" dirty="0"/>
                <a:t>data</a:t>
              </a:r>
              <a:endParaRPr lang="en-US" altLang="ko-KR" sz="1600" dirty="0"/>
            </a:p>
          </p:txBody>
        </p:sp>
        <p:sp>
          <p:nvSpPr>
            <p:cNvPr id="241685" name="Text Box 6">
              <a:extLst>
                <a:ext uri="{FF2B5EF4-FFF2-40B4-BE49-F238E27FC236}">
                  <a16:creationId xmlns:a16="http://schemas.microsoft.com/office/drawing/2014/main" id="{9A29FFE5-AF7D-85A5-3E44-5D848A6A72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9413" y="4743068"/>
              <a:ext cx="431826" cy="4946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l" eaLnBrk="1" hangingPunct="1"/>
              <a:r>
                <a:rPr lang="en-US" altLang="ko-KR" sz="1600" dirty="0"/>
                <a:t> </a:t>
              </a:r>
              <a:r>
                <a:rPr lang="en-US" altLang="ko-KR" sz="1000" dirty="0"/>
                <a:t>File</a:t>
              </a:r>
            </a:p>
            <a:p>
              <a:pPr algn="l" eaLnBrk="1" hangingPunct="1"/>
              <a:r>
                <a:rPr lang="en-US" altLang="ko-KR" sz="1000" dirty="0"/>
                <a:t>data</a:t>
              </a:r>
              <a:endParaRPr lang="en-US" altLang="ko-KR" sz="1600" dirty="0"/>
            </a:p>
          </p:txBody>
        </p:sp>
        <p:sp>
          <p:nvSpPr>
            <p:cNvPr id="241686" name="Text Box 6">
              <a:extLst>
                <a:ext uri="{FF2B5EF4-FFF2-40B4-BE49-F238E27FC236}">
                  <a16:creationId xmlns:a16="http://schemas.microsoft.com/office/drawing/2014/main" id="{7DA76036-55DC-34A7-4729-317AD4624F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9251" y="4545055"/>
              <a:ext cx="431826" cy="4946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l" eaLnBrk="1" hangingPunct="1"/>
              <a:r>
                <a:rPr lang="en-US" altLang="ko-KR" sz="1600" dirty="0"/>
                <a:t> </a:t>
              </a:r>
              <a:r>
                <a:rPr lang="en-US" altLang="ko-KR" sz="1000" dirty="0"/>
                <a:t>File</a:t>
              </a:r>
            </a:p>
            <a:p>
              <a:pPr algn="l" eaLnBrk="1" hangingPunct="1"/>
              <a:r>
                <a:rPr lang="en-US" altLang="ko-KR" sz="1000" dirty="0"/>
                <a:t>data</a:t>
              </a:r>
              <a:endParaRPr lang="en-US" altLang="ko-KR" sz="1600" dirty="0"/>
            </a:p>
          </p:txBody>
        </p:sp>
        <p:cxnSp>
          <p:nvCxnSpPr>
            <p:cNvPr id="241687" name="직선 화살표 연결선 241686">
              <a:extLst>
                <a:ext uri="{FF2B5EF4-FFF2-40B4-BE49-F238E27FC236}">
                  <a16:creationId xmlns:a16="http://schemas.microsoft.com/office/drawing/2014/main" id="{ED553A16-0AF7-9FAD-2615-99590D02C6F0}"/>
                </a:ext>
              </a:extLst>
            </p:cNvPr>
            <p:cNvCxnSpPr>
              <a:cxnSpLocks/>
              <a:endCxn id="241686" idx="0"/>
            </p:cNvCxnSpPr>
            <p:nvPr/>
          </p:nvCxnSpPr>
          <p:spPr bwMode="auto">
            <a:xfrm flipH="1">
              <a:off x="6775164" y="4349591"/>
              <a:ext cx="425882" cy="1954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1688" name="직선 화살표 연결선 241687">
              <a:extLst>
                <a:ext uri="{FF2B5EF4-FFF2-40B4-BE49-F238E27FC236}">
                  <a16:creationId xmlns:a16="http://schemas.microsoft.com/office/drawing/2014/main" id="{435497BD-C876-68DB-7E7F-89BC50CF4B0E}"/>
                </a:ext>
              </a:extLst>
            </p:cNvPr>
            <p:cNvCxnSpPr>
              <a:cxnSpLocks/>
              <a:stCxn id="241682" idx="2"/>
              <a:endCxn id="241685" idx="0"/>
            </p:cNvCxnSpPr>
            <p:nvPr/>
          </p:nvCxnSpPr>
          <p:spPr bwMode="auto">
            <a:xfrm flipH="1">
              <a:off x="7015326" y="4324647"/>
              <a:ext cx="185721" cy="41842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1691" name="직선 화살표 연결선 241690">
              <a:extLst>
                <a:ext uri="{FF2B5EF4-FFF2-40B4-BE49-F238E27FC236}">
                  <a16:creationId xmlns:a16="http://schemas.microsoft.com/office/drawing/2014/main" id="{24BFAE4C-B215-60F0-5F1D-FE9172636D60}"/>
                </a:ext>
              </a:extLst>
            </p:cNvPr>
            <p:cNvCxnSpPr>
              <a:cxnSpLocks/>
              <a:stCxn id="241682" idx="2"/>
              <a:endCxn id="241684" idx="0"/>
            </p:cNvCxnSpPr>
            <p:nvPr/>
          </p:nvCxnSpPr>
          <p:spPr bwMode="auto">
            <a:xfrm>
              <a:off x="7201047" y="4324647"/>
              <a:ext cx="104572" cy="57082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1692" name="직선 화살표 연결선 241691">
              <a:extLst>
                <a:ext uri="{FF2B5EF4-FFF2-40B4-BE49-F238E27FC236}">
                  <a16:creationId xmlns:a16="http://schemas.microsoft.com/office/drawing/2014/main" id="{DA1FA0B3-8F79-0E91-3F05-BFF8E5FD25F9}"/>
                </a:ext>
              </a:extLst>
            </p:cNvPr>
            <p:cNvCxnSpPr>
              <a:cxnSpLocks/>
              <a:stCxn id="241682" idx="2"/>
            </p:cNvCxnSpPr>
            <p:nvPr/>
          </p:nvCxnSpPr>
          <p:spPr bwMode="auto">
            <a:xfrm>
              <a:off x="7201047" y="4324647"/>
              <a:ext cx="360547" cy="69865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41693" name="곱하기 기호 241692">
            <a:extLst>
              <a:ext uri="{FF2B5EF4-FFF2-40B4-BE49-F238E27FC236}">
                <a16:creationId xmlns:a16="http://schemas.microsoft.com/office/drawing/2014/main" id="{D523DECF-4D6F-97AF-B225-B4DB1E61FA7F}"/>
              </a:ext>
            </a:extLst>
          </p:cNvPr>
          <p:cNvSpPr/>
          <p:nvPr/>
        </p:nvSpPr>
        <p:spPr bwMode="auto">
          <a:xfrm>
            <a:off x="6400954" y="4185328"/>
            <a:ext cx="1076917" cy="990380"/>
          </a:xfrm>
          <a:prstGeom prst="mathMultiply">
            <a:avLst>
              <a:gd name="adj1" fmla="val 3864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Verdan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5049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6742C-217C-8514-AB3A-852A1EBCE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DF741A00-6F84-120F-75E1-8B08B3CC4C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Test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FBED4B1-0A48-0052-D023-E762F9A95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828800"/>
            <a:ext cx="5375276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atinLnBrk="1"/>
            <a:r>
              <a:rPr lang="en-US" altLang="ko-KR" sz="1900" kern="0" dirty="0"/>
              <a:t>Process management test</a:t>
            </a:r>
          </a:p>
          <a:p>
            <a:pPr lvl="1" latinLnBrk="1"/>
            <a:r>
              <a:rPr lang="en-US" altLang="ko-KR" sz="1500" kern="0" dirty="0">
                <a:solidFill>
                  <a:srgbClr val="0070C0"/>
                </a:solidFill>
              </a:rPr>
              <a:t>exec-once</a:t>
            </a:r>
            <a:r>
              <a:rPr lang="en-US" altLang="ko-KR" sz="1500" kern="0" dirty="0"/>
              <a:t> : verifies that a single child process can run and exit correctly.</a:t>
            </a:r>
          </a:p>
          <a:p>
            <a:pPr lvl="1" latinLnBrk="1"/>
            <a:r>
              <a:rPr lang="en-US" altLang="ko-KR" sz="1500" kern="0" dirty="0">
                <a:solidFill>
                  <a:srgbClr val="0070C0"/>
                </a:solidFill>
              </a:rPr>
              <a:t>wait-simple</a:t>
            </a:r>
            <a:r>
              <a:rPr lang="en-US" altLang="ko-KR" sz="1500" kern="0" dirty="0"/>
              <a:t> : checks that a parent can wait for a child and get its correct exit code.</a:t>
            </a:r>
          </a:p>
          <a:p>
            <a:pPr lvl="1" latinLnBrk="1"/>
            <a:endParaRPr lang="en-US" altLang="ko-KR" sz="1900" kern="0" dirty="0"/>
          </a:p>
          <a:p>
            <a:pPr latinLnBrk="1"/>
            <a:r>
              <a:rPr lang="en-US" altLang="ko-KR" sz="1900" kern="0" dirty="0"/>
              <a:t>File management test</a:t>
            </a:r>
          </a:p>
          <a:p>
            <a:pPr lvl="1" latinLnBrk="1"/>
            <a:r>
              <a:rPr lang="en-US" altLang="ko-KR" sz="1500" kern="0" dirty="0">
                <a:solidFill>
                  <a:srgbClr val="0070C0"/>
                </a:solidFill>
              </a:rPr>
              <a:t>open-normal</a:t>
            </a:r>
            <a:r>
              <a:rPr lang="en-US" altLang="ko-KR" sz="1500" kern="0" dirty="0"/>
              <a:t> : tests the successful opening of an existing file.</a:t>
            </a:r>
          </a:p>
          <a:p>
            <a:pPr lvl="1" latinLnBrk="1"/>
            <a:r>
              <a:rPr lang="en-US" altLang="ko-KR" sz="1500" kern="0" dirty="0">
                <a:solidFill>
                  <a:srgbClr val="0070C0"/>
                </a:solidFill>
              </a:rPr>
              <a:t>read-normal</a:t>
            </a:r>
            <a:r>
              <a:rPr lang="en-US" altLang="ko-KR" sz="1500" kern="0" dirty="0"/>
              <a:t> : checks that reading from a file returns the correct data.</a:t>
            </a:r>
          </a:p>
          <a:p>
            <a:pPr lvl="1" latinLnBrk="1"/>
            <a:r>
              <a:rPr lang="en-US" altLang="ko-KR" sz="1500" kern="0" dirty="0">
                <a:solidFill>
                  <a:srgbClr val="0070C0"/>
                </a:solidFill>
              </a:rPr>
              <a:t>write-normal</a:t>
            </a:r>
            <a:r>
              <a:rPr lang="en-US" altLang="ko-KR" sz="1500" kern="0" dirty="0"/>
              <a:t> : confirms that writing to a file and reading it back works 		        correctly</a:t>
            </a:r>
          </a:p>
          <a:p>
            <a:pPr lvl="1" latinLnBrk="1"/>
            <a:endParaRPr lang="en-US" altLang="ko-KR" sz="1500" kern="0" dirty="0"/>
          </a:p>
          <a:p>
            <a:pPr lvl="1" latinLnBrk="1"/>
            <a:endParaRPr lang="en-US" altLang="ko-KR" sz="1500" kern="0" dirty="0"/>
          </a:p>
          <a:p>
            <a:pPr marL="0" indent="0" latinLnBrk="1">
              <a:buNone/>
            </a:pPr>
            <a:endParaRPr lang="en-US" altLang="ko-KR" sz="1500" kern="0" dirty="0"/>
          </a:p>
          <a:p>
            <a:pPr lvl="1" latinLnBrk="1"/>
            <a:endParaRPr lang="en-US" altLang="ko-KR" sz="1500" kern="0" dirty="0"/>
          </a:p>
          <a:p>
            <a:pPr lvl="2" latinLnBrk="1"/>
            <a:endParaRPr lang="en-US" altLang="ko-KR" sz="1100" kern="0" dirty="0"/>
          </a:p>
          <a:p>
            <a:pPr marL="471487" lvl="1" indent="0" latinLnBrk="1">
              <a:buNone/>
            </a:pPr>
            <a:endParaRPr lang="en-US" altLang="ko-KR" sz="1200" kern="0" dirty="0"/>
          </a:p>
          <a:p>
            <a:pPr lvl="1" latinLnBrk="1"/>
            <a:endParaRPr lang="en-US" altLang="ko-KR" sz="1400" kern="0" dirty="0"/>
          </a:p>
          <a:p>
            <a:pPr lvl="3" latinLnBrk="1"/>
            <a:endParaRPr lang="en-US" altLang="ko-KR" sz="800" b="1" kern="0" dirty="0"/>
          </a:p>
          <a:p>
            <a:pPr latinLnBrk="1"/>
            <a:endParaRPr lang="en-US" altLang="ko-KR" sz="2000" kern="0" dirty="0"/>
          </a:p>
        </p:txBody>
      </p:sp>
      <p:pic>
        <p:nvPicPr>
          <p:cNvPr id="10" name="그림 9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B4F2ED-F051-F090-2CFF-6918A4EAC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74" y="1828800"/>
            <a:ext cx="2701925" cy="41910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11A398D4-8135-B1DC-3B79-2A624A012F4A}"/>
              </a:ext>
            </a:extLst>
          </p:cNvPr>
          <p:cNvSpPr/>
          <p:nvPr/>
        </p:nvSpPr>
        <p:spPr bwMode="auto">
          <a:xfrm>
            <a:off x="521970" y="5715000"/>
            <a:ext cx="1535430" cy="304800"/>
          </a:xfrm>
          <a:prstGeom prst="rect">
            <a:avLst/>
          </a:prstGeom>
          <a:noFill/>
          <a:ln w="38100"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076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A56B4-5D5F-60E4-3144-8A79C4A47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Thank You!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C2CBBA-B85B-29A1-67D5-0606F2478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648464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35950</TotalTime>
  <Words>3594</Words>
  <Application>Microsoft Office PowerPoint</Application>
  <PresentationFormat>화면 슬라이드 쇼(4:3)</PresentationFormat>
  <Paragraphs>1180</Paragraphs>
  <Slides>36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5" baseType="lpstr">
      <vt:lpstr>UD Digi Kyokasho N-B</vt:lpstr>
      <vt:lpstr>굴림</vt:lpstr>
      <vt:lpstr>Arial</vt:lpstr>
      <vt:lpstr>Cambria Math</vt:lpstr>
      <vt:lpstr>Consolas</vt:lpstr>
      <vt:lpstr>Verdana</vt:lpstr>
      <vt:lpstr>Wingdings</vt:lpstr>
      <vt:lpstr>맑은 고딕</vt:lpstr>
      <vt:lpstr>Profile</vt:lpstr>
      <vt:lpstr> System Calls for File and Process Management</vt:lpstr>
      <vt:lpstr>Contents</vt:lpstr>
      <vt:lpstr>Contents</vt:lpstr>
      <vt:lpstr>Default Virtual Address Space Layout</vt:lpstr>
      <vt:lpstr>Process Execution - Load ELF </vt:lpstr>
      <vt:lpstr>x86 (IA-32) Memory Protection</vt:lpstr>
      <vt:lpstr>Mode Switch for System Call (1/5)</vt:lpstr>
      <vt:lpstr>Mode Switch for System Call (2/5)</vt:lpstr>
      <vt:lpstr>Mode Switch for System Call (3/5)</vt:lpstr>
      <vt:lpstr>Mode Switch for System Call (4/5)</vt:lpstr>
      <vt:lpstr>Mode Switch for System Call (5/5)</vt:lpstr>
      <vt:lpstr>Validate pointers passed from user</vt:lpstr>
      <vt:lpstr>Validate pointers passed from user</vt:lpstr>
      <vt:lpstr>EXEC System Call</vt:lpstr>
      <vt:lpstr>Synchronization for EXEC Syscall</vt:lpstr>
      <vt:lpstr>Implementation EXEC Syscall</vt:lpstr>
      <vt:lpstr>Implementation EXEC Syscall</vt:lpstr>
      <vt:lpstr>WAIT, EXIT System Call</vt:lpstr>
      <vt:lpstr>Synchronization for WAIT, EXIT Syscall</vt:lpstr>
      <vt:lpstr>Implementation WAIT, EXIT Syscall</vt:lpstr>
      <vt:lpstr>Implementation WAIT, EXIT Syscall</vt:lpstr>
      <vt:lpstr>File management</vt:lpstr>
      <vt:lpstr>Layered File System in RTEMS</vt:lpstr>
      <vt:lpstr>File descriptor table</vt:lpstr>
      <vt:lpstr>filesys_lock</vt:lpstr>
      <vt:lpstr>synchronization</vt:lpstr>
      <vt:lpstr>synchronization(filesys_lock)</vt:lpstr>
      <vt:lpstr>create</vt:lpstr>
      <vt:lpstr>open</vt:lpstr>
      <vt:lpstr>read</vt:lpstr>
      <vt:lpstr>write</vt:lpstr>
      <vt:lpstr>filesize, seek, tell</vt:lpstr>
      <vt:lpstr>close</vt:lpstr>
      <vt:lpstr>remove</vt:lpstr>
      <vt:lpstr>Test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지반함몰 및 액상화에 관한 지하안전 위험도 평가 고도화 기술</dc:title>
  <dc:creator>Jinman Jung</dc:creator>
  <cp:lastModifiedBy>이태우</cp:lastModifiedBy>
  <cp:revision>633</cp:revision>
  <dcterms:created xsi:type="dcterms:W3CDTF">2007-01-20T18:57:48Z</dcterms:created>
  <dcterms:modified xsi:type="dcterms:W3CDTF">2025-08-16T10:46:31Z</dcterms:modified>
</cp:coreProperties>
</file>