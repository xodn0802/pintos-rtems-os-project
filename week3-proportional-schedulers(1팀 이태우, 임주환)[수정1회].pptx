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2"/>
  </p:notesMasterIdLst>
  <p:handoutMasterIdLst>
    <p:handoutMasterId r:id="rId33"/>
  </p:handoutMasterIdLst>
  <p:sldIdLst>
    <p:sldId id="2354" r:id="rId2"/>
    <p:sldId id="2416" r:id="rId3"/>
    <p:sldId id="2418" r:id="rId4"/>
    <p:sldId id="2419" r:id="rId5"/>
    <p:sldId id="2386" r:id="rId6"/>
    <p:sldId id="2387" r:id="rId7"/>
    <p:sldId id="2388" r:id="rId8"/>
    <p:sldId id="2389" r:id="rId9"/>
    <p:sldId id="2391" r:id="rId10"/>
    <p:sldId id="2390" r:id="rId11"/>
    <p:sldId id="2392" r:id="rId12"/>
    <p:sldId id="2393" r:id="rId13"/>
    <p:sldId id="2396" r:id="rId14"/>
    <p:sldId id="2394" r:id="rId15"/>
    <p:sldId id="2402" r:id="rId16"/>
    <p:sldId id="2397" r:id="rId17"/>
    <p:sldId id="2399" r:id="rId18"/>
    <p:sldId id="2395" r:id="rId19"/>
    <p:sldId id="2417" r:id="rId20"/>
    <p:sldId id="2401" r:id="rId21"/>
    <p:sldId id="2415" r:id="rId22"/>
    <p:sldId id="2414" r:id="rId23"/>
    <p:sldId id="2404" r:id="rId24"/>
    <p:sldId id="2405" r:id="rId25"/>
    <p:sldId id="2406" r:id="rId26"/>
    <p:sldId id="2407" r:id="rId27"/>
    <p:sldId id="2411" r:id="rId28"/>
    <p:sldId id="2412" r:id="rId29"/>
    <p:sldId id="2413" r:id="rId30"/>
    <p:sldId id="2400" r:id="rId31"/>
  </p:sldIdLst>
  <p:sldSz cx="9144000" cy="6858000" type="screen4x3"/>
  <p:notesSz cx="6797675" cy="9874250"/>
  <p:defaultTextStyle>
    <a:defPPr>
      <a:defRPr lang="en-US"/>
    </a:defPPr>
    <a:lvl1pPr algn="l" rtl="0" fontAlgn="base">
      <a:spcBef>
        <a:spcPct val="0"/>
      </a:spcBef>
      <a:spcAft>
        <a:spcPct val="0"/>
      </a:spcAft>
      <a:defRPr kern="1200">
        <a:solidFill>
          <a:schemeClr val="tx1"/>
        </a:solidFill>
        <a:latin typeface="Verdana" pitchFamily="34" charset="0"/>
        <a:ea typeface="+mn-ea"/>
        <a:cs typeface="Arial" charset="0"/>
      </a:defRPr>
    </a:lvl1pPr>
    <a:lvl2pPr marL="457200" algn="l" rtl="0" fontAlgn="base">
      <a:spcBef>
        <a:spcPct val="0"/>
      </a:spcBef>
      <a:spcAft>
        <a:spcPct val="0"/>
      </a:spcAft>
      <a:defRPr kern="1200">
        <a:solidFill>
          <a:schemeClr val="tx1"/>
        </a:solidFill>
        <a:latin typeface="Verdana" pitchFamily="34" charset="0"/>
        <a:ea typeface="+mn-ea"/>
        <a:cs typeface="Arial" charset="0"/>
      </a:defRPr>
    </a:lvl2pPr>
    <a:lvl3pPr marL="914400" algn="l" rtl="0" fontAlgn="base">
      <a:spcBef>
        <a:spcPct val="0"/>
      </a:spcBef>
      <a:spcAft>
        <a:spcPct val="0"/>
      </a:spcAft>
      <a:defRPr kern="1200">
        <a:solidFill>
          <a:schemeClr val="tx1"/>
        </a:solidFill>
        <a:latin typeface="Verdana" pitchFamily="34" charset="0"/>
        <a:ea typeface="+mn-ea"/>
        <a:cs typeface="Arial" charset="0"/>
      </a:defRPr>
    </a:lvl3pPr>
    <a:lvl4pPr marL="1371600" algn="l" rtl="0" fontAlgn="base">
      <a:spcBef>
        <a:spcPct val="0"/>
      </a:spcBef>
      <a:spcAft>
        <a:spcPct val="0"/>
      </a:spcAft>
      <a:defRPr kern="1200">
        <a:solidFill>
          <a:schemeClr val="tx1"/>
        </a:solidFill>
        <a:latin typeface="Verdana" pitchFamily="34" charset="0"/>
        <a:ea typeface="+mn-ea"/>
        <a:cs typeface="Arial" charset="0"/>
      </a:defRPr>
    </a:lvl4pPr>
    <a:lvl5pPr marL="1828800" algn="l" rtl="0" fontAlgn="base">
      <a:spcBef>
        <a:spcPct val="0"/>
      </a:spcBef>
      <a:spcAft>
        <a:spcPct val="0"/>
      </a:spcAft>
      <a:defRPr kern="1200">
        <a:solidFill>
          <a:schemeClr val="tx1"/>
        </a:solidFill>
        <a:latin typeface="Verdana" pitchFamily="34" charset="0"/>
        <a:ea typeface="+mn-ea"/>
        <a:cs typeface="Arial" charset="0"/>
      </a:defRPr>
    </a:lvl5pPr>
    <a:lvl6pPr marL="2286000" algn="l" defTabSz="914400" rtl="0" eaLnBrk="1" latinLnBrk="1" hangingPunct="1">
      <a:defRPr kern="1200">
        <a:solidFill>
          <a:schemeClr val="tx1"/>
        </a:solidFill>
        <a:latin typeface="Verdana" pitchFamily="34" charset="0"/>
        <a:ea typeface="+mn-ea"/>
        <a:cs typeface="Arial" charset="0"/>
      </a:defRPr>
    </a:lvl6pPr>
    <a:lvl7pPr marL="2743200" algn="l" defTabSz="914400" rtl="0" eaLnBrk="1" latinLnBrk="1" hangingPunct="1">
      <a:defRPr kern="1200">
        <a:solidFill>
          <a:schemeClr val="tx1"/>
        </a:solidFill>
        <a:latin typeface="Verdana" pitchFamily="34" charset="0"/>
        <a:ea typeface="+mn-ea"/>
        <a:cs typeface="Arial" charset="0"/>
      </a:defRPr>
    </a:lvl7pPr>
    <a:lvl8pPr marL="3200400" algn="l" defTabSz="914400" rtl="0" eaLnBrk="1" latinLnBrk="1" hangingPunct="1">
      <a:defRPr kern="1200">
        <a:solidFill>
          <a:schemeClr val="tx1"/>
        </a:solidFill>
        <a:latin typeface="Verdana" pitchFamily="34" charset="0"/>
        <a:ea typeface="+mn-ea"/>
        <a:cs typeface="Arial" charset="0"/>
      </a:defRPr>
    </a:lvl8pPr>
    <a:lvl9pPr marL="3657600" algn="l" defTabSz="914400" rtl="0" eaLnBrk="1" latinLnBrk="1" hangingPunct="1">
      <a:defRPr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CC"/>
    <a:srgbClr val="9966FF"/>
    <a:srgbClr val="BFEAFA"/>
    <a:srgbClr val="A3A3E0"/>
    <a:srgbClr val="FFFF00"/>
    <a:srgbClr val="FFFF66"/>
    <a:srgbClr val="CCFFFF"/>
    <a:srgbClr val="CCCCFF"/>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CFC82E-4B89-44D6-A186-8551CB011877}" v="79" dt="2022-10-30T03:48:26.381"/>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보통 스타일 4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밝은 스타일 1 - 강조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5758FB7-9AC5-4552-8A53-C91805E547FA}" styleName="테마 스타일 1 - 강조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5244" autoAdjust="0"/>
  </p:normalViewPr>
  <p:slideViewPr>
    <p:cSldViewPr>
      <p:cViewPr varScale="1">
        <p:scale>
          <a:sx n="82" d="100"/>
          <a:sy n="82" d="100"/>
        </p:scale>
        <p:origin x="1795"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824"/>
    </p:cViewPr>
  </p:sorterViewPr>
  <p:notesViewPr>
    <p:cSldViewPr>
      <p:cViewPr varScale="1">
        <p:scale>
          <a:sx n="72" d="100"/>
          <a:sy n="72" d="100"/>
        </p:scale>
        <p:origin x="-3378" y="-108"/>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smtClean="0">
                <a:cs typeface="Arial" pitchFamily="34" charset="0"/>
              </a:defRPr>
            </a:lvl1pPr>
          </a:lstStyle>
          <a:p>
            <a:pPr>
              <a:defRPr/>
            </a:pPr>
            <a:endParaRPr lang="ko-KR" altLang="en-US"/>
          </a:p>
        </p:txBody>
      </p:sp>
      <p:sp>
        <p:nvSpPr>
          <p:cNvPr id="3" name="날짜 개체 틀 2"/>
          <p:cNvSpPr>
            <a:spLocks noGrp="1"/>
          </p:cNvSpPr>
          <p:nvPr>
            <p:ph type="dt" sz="quarter" idx="1"/>
          </p:nvPr>
        </p:nvSpPr>
        <p:spPr>
          <a:xfrm>
            <a:off x="3849688" y="0"/>
            <a:ext cx="2946400" cy="493713"/>
          </a:xfrm>
          <a:prstGeom prst="rect">
            <a:avLst/>
          </a:prstGeom>
        </p:spPr>
        <p:txBody>
          <a:bodyPr vert="horz" lIns="91440" tIns="45720" rIns="91440" bIns="45720" rtlCol="0"/>
          <a:lstStyle>
            <a:lvl1pPr algn="r">
              <a:defRPr sz="1200" smtClean="0">
                <a:cs typeface="Arial" pitchFamily="34" charset="0"/>
              </a:defRPr>
            </a:lvl1pPr>
          </a:lstStyle>
          <a:p>
            <a:pPr>
              <a:defRPr/>
            </a:pPr>
            <a:fld id="{211E80FD-51A1-4138-B9E7-C62E4F374115}" type="datetimeFigureOut">
              <a:rPr lang="ko-KR" altLang="en-US"/>
              <a:pPr>
                <a:defRPr/>
              </a:pPr>
              <a:t>2025-07-18</a:t>
            </a:fld>
            <a:endParaRPr lang="ko-KR" altLang="en-US"/>
          </a:p>
        </p:txBody>
      </p:sp>
      <p:sp>
        <p:nvSpPr>
          <p:cNvPr id="4" name="바닥글 개체 틀 3"/>
          <p:cNvSpPr>
            <a:spLocks noGrp="1"/>
          </p:cNvSpPr>
          <p:nvPr>
            <p:ph type="ftr" sz="quarter" idx="2"/>
          </p:nvPr>
        </p:nvSpPr>
        <p:spPr>
          <a:xfrm>
            <a:off x="0" y="9378950"/>
            <a:ext cx="2946400" cy="493713"/>
          </a:xfrm>
          <a:prstGeom prst="rect">
            <a:avLst/>
          </a:prstGeom>
        </p:spPr>
        <p:txBody>
          <a:bodyPr vert="horz" lIns="91440" tIns="45720" rIns="91440" bIns="45720" rtlCol="0" anchor="b"/>
          <a:lstStyle>
            <a:lvl1pPr algn="l">
              <a:defRPr sz="1200" smtClean="0">
                <a:cs typeface="Arial" pitchFamily="34" charset="0"/>
              </a:defRPr>
            </a:lvl1pPr>
          </a:lstStyle>
          <a:p>
            <a:pPr>
              <a:defRPr/>
            </a:pPr>
            <a:endParaRPr lang="ko-KR" altLang="en-US"/>
          </a:p>
        </p:txBody>
      </p:sp>
      <p:sp>
        <p:nvSpPr>
          <p:cNvPr id="5" name="슬라이드 번호 개체 틀 4"/>
          <p:cNvSpPr>
            <a:spLocks noGrp="1"/>
          </p:cNvSpPr>
          <p:nvPr>
            <p:ph type="sldNum" sz="quarter" idx="3"/>
          </p:nvPr>
        </p:nvSpPr>
        <p:spPr>
          <a:xfrm>
            <a:off x="3849688" y="9378950"/>
            <a:ext cx="2946400" cy="493713"/>
          </a:xfrm>
          <a:prstGeom prst="rect">
            <a:avLst/>
          </a:prstGeom>
        </p:spPr>
        <p:txBody>
          <a:bodyPr vert="horz" lIns="91440" tIns="45720" rIns="91440" bIns="45720" rtlCol="0" anchor="b"/>
          <a:lstStyle>
            <a:lvl1pPr algn="r">
              <a:defRPr sz="1200" smtClean="0">
                <a:cs typeface="Arial" pitchFamily="34" charset="0"/>
              </a:defRPr>
            </a:lvl1pPr>
          </a:lstStyle>
          <a:p>
            <a:pPr>
              <a:defRPr/>
            </a:pPr>
            <a:fld id="{F21F901A-645F-4CDB-97C3-785B6AEAA970}" type="slidenum">
              <a:rPr lang="ko-KR" altLang="en-US"/>
              <a:pPr>
                <a:defRPr/>
              </a:pPr>
              <a:t>‹#›</a:t>
            </a:fld>
            <a:endParaRPr lang="ko-KR" altLang="en-US"/>
          </a:p>
        </p:txBody>
      </p:sp>
    </p:spTree>
    <p:extLst>
      <p:ext uri="{BB962C8B-B14F-4D97-AF65-F5344CB8AC3E}">
        <p14:creationId xmlns:p14="http://schemas.microsoft.com/office/powerpoint/2010/main" val="3274498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defRPr sz="1200">
                <a:latin typeface="Arial" charset="0"/>
                <a:ea typeface="굴림" charset="-127"/>
                <a:cs typeface="Arial" charset="0"/>
              </a:defRPr>
            </a:lvl1pPr>
          </a:lstStyle>
          <a:p>
            <a:pPr>
              <a:defRPr/>
            </a:pPr>
            <a:endParaRPr lang="en-US" altLang="ko-KR"/>
          </a:p>
        </p:txBody>
      </p:sp>
      <p:sp>
        <p:nvSpPr>
          <p:cNvPr id="6147"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a:latin typeface="Arial" charset="0"/>
                <a:ea typeface="굴림" charset="-127"/>
                <a:cs typeface="Arial" charset="0"/>
              </a:defRPr>
            </a:lvl1pPr>
          </a:lstStyle>
          <a:p>
            <a:pPr>
              <a:defRPr/>
            </a:pPr>
            <a:endParaRPr lang="en-US" altLang="ko-KR"/>
          </a:p>
        </p:txBody>
      </p:sp>
      <p:sp>
        <p:nvSpPr>
          <p:cNvPr id="41988" name="Rectangle 4"/>
          <p:cNvSpPr>
            <a:spLocks noGrp="1" noRot="1" noChangeAspect="1" noChangeArrowheads="1" noTextEdit="1"/>
          </p:cNvSpPr>
          <p:nvPr>
            <p:ph type="sldImg" idx="2"/>
          </p:nvPr>
        </p:nvSpPr>
        <p:spPr bwMode="auto">
          <a:xfrm>
            <a:off x="930275" y="739775"/>
            <a:ext cx="4937125" cy="37036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681038" y="4691063"/>
            <a:ext cx="5435600" cy="4443412"/>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6150"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defRPr sz="1200">
                <a:latin typeface="Arial" charset="0"/>
                <a:ea typeface="굴림" charset="-127"/>
                <a:cs typeface="Arial" charset="0"/>
              </a:defRPr>
            </a:lvl1pPr>
          </a:lstStyle>
          <a:p>
            <a:pPr>
              <a:defRPr/>
            </a:pPr>
            <a:endParaRPr lang="en-US" altLang="ko-KR"/>
          </a:p>
        </p:txBody>
      </p:sp>
      <p:sp>
        <p:nvSpPr>
          <p:cNvPr id="6151"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a:latin typeface="Arial" charset="0"/>
                <a:ea typeface="굴림" charset="-127"/>
                <a:cs typeface="Arial" charset="0"/>
              </a:defRPr>
            </a:lvl1pPr>
          </a:lstStyle>
          <a:p>
            <a:pPr>
              <a:defRPr/>
            </a:pPr>
            <a:fld id="{3034C4DD-B5F0-4D19-90EF-C93D91509D9D}" type="slidenum">
              <a:rPr lang="en-US" altLang="ko-KR"/>
              <a:pPr>
                <a:defRPr/>
              </a:pPr>
              <a:t>‹#›</a:t>
            </a:fld>
            <a:endParaRPr lang="en-US" altLang="ko-KR"/>
          </a:p>
        </p:txBody>
      </p:sp>
    </p:spTree>
    <p:extLst>
      <p:ext uri="{BB962C8B-B14F-4D97-AF65-F5344CB8AC3E}">
        <p14:creationId xmlns:p14="http://schemas.microsoft.com/office/powerpoint/2010/main" val="40822757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버츄얼박스와 우분투를 설치 데모영상입니다</a:t>
            </a:r>
            <a:r>
              <a:rPr lang="en-US" altLang="ko-KR"/>
              <a:t>.</a:t>
            </a:r>
            <a:endParaRPr lang="ko-KR" altLang="en-US" dirty="0"/>
          </a:p>
        </p:txBody>
      </p:sp>
      <p:sp>
        <p:nvSpPr>
          <p:cNvPr id="4" name="슬라이드 번호 개체 틀 3"/>
          <p:cNvSpPr>
            <a:spLocks noGrp="1"/>
          </p:cNvSpPr>
          <p:nvPr>
            <p:ph type="sldNum" sz="quarter" idx="10"/>
          </p:nvPr>
        </p:nvSpPr>
        <p:spPr/>
        <p:txBody>
          <a:bodyPr/>
          <a:lstStyle/>
          <a:p>
            <a:pPr>
              <a:defRPr/>
            </a:pPr>
            <a:fld id="{3034C4DD-B5F0-4D19-90EF-C93D91509D9D}" type="slidenum">
              <a:rPr lang="en-US" altLang="ko-KR" smtClean="0"/>
              <a:pPr>
                <a:defRPr/>
              </a:pPr>
              <a:t>1</a:t>
            </a:fld>
            <a:endParaRPr lang="en-US" altLang="ko-KR" dirty="0"/>
          </a:p>
        </p:txBody>
      </p:sp>
    </p:spTree>
    <p:extLst>
      <p:ext uri="{BB962C8B-B14F-4D97-AF65-F5344CB8AC3E}">
        <p14:creationId xmlns:p14="http://schemas.microsoft.com/office/powerpoint/2010/main" val="867785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FADEA-DC5B-3DD8-3C22-280985C1B5B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379E9F7-7DED-FF77-1FFE-81D8CBEE1EF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7081F6F-0637-BCC6-87EB-78894E23C032}"/>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C5BA19D-2D8D-BFEB-4991-3981F04C3945}"/>
              </a:ext>
            </a:extLst>
          </p:cNvPr>
          <p:cNvSpPr>
            <a:spLocks noGrp="1"/>
          </p:cNvSpPr>
          <p:nvPr>
            <p:ph type="sldNum" sz="quarter" idx="5"/>
          </p:nvPr>
        </p:nvSpPr>
        <p:spPr/>
        <p:txBody>
          <a:bodyPr/>
          <a:lstStyle/>
          <a:p>
            <a:pPr>
              <a:defRPr/>
            </a:pPr>
            <a:fld id="{3034C4DD-B5F0-4D19-90EF-C93D91509D9D}" type="slidenum">
              <a:rPr lang="en-US" altLang="ko-KR" smtClean="0"/>
              <a:pPr>
                <a:defRPr/>
              </a:pPr>
              <a:t>2</a:t>
            </a:fld>
            <a:endParaRPr lang="en-US" altLang="ko-KR"/>
          </a:p>
        </p:txBody>
      </p:sp>
    </p:spTree>
    <p:extLst>
      <p:ext uri="{BB962C8B-B14F-4D97-AF65-F5344CB8AC3E}">
        <p14:creationId xmlns:p14="http://schemas.microsoft.com/office/powerpoint/2010/main" val="927561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C7899-70D1-DBEA-BAF4-1600DA9C1B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B500BA-BD8F-4AEC-35F9-D8E310CB4B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737166C-A2DA-424F-94A1-062DA3D81BB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A26419C-584A-2D5E-711E-6D30BBB8B82C}"/>
              </a:ext>
            </a:extLst>
          </p:cNvPr>
          <p:cNvSpPr>
            <a:spLocks noGrp="1"/>
          </p:cNvSpPr>
          <p:nvPr>
            <p:ph type="sldNum" sz="quarter" idx="5"/>
          </p:nvPr>
        </p:nvSpPr>
        <p:spPr/>
        <p:txBody>
          <a:bodyPr/>
          <a:lstStyle/>
          <a:p>
            <a:pPr>
              <a:defRPr/>
            </a:pPr>
            <a:fld id="{3034C4DD-B5F0-4D19-90EF-C93D91509D9D}" type="slidenum">
              <a:rPr lang="en-US" altLang="ko-KR" smtClean="0"/>
              <a:pPr>
                <a:defRPr/>
              </a:pPr>
              <a:t>3</a:t>
            </a:fld>
            <a:endParaRPr lang="en-US" altLang="ko-KR"/>
          </a:p>
        </p:txBody>
      </p:sp>
    </p:spTree>
    <p:extLst>
      <p:ext uri="{BB962C8B-B14F-4D97-AF65-F5344CB8AC3E}">
        <p14:creationId xmlns:p14="http://schemas.microsoft.com/office/powerpoint/2010/main" val="3000931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a:defRPr/>
            </a:pPr>
            <a:fld id="{3034C4DD-B5F0-4D19-90EF-C93D91509D9D}" type="slidenum">
              <a:rPr lang="en-US" altLang="ko-KR" smtClean="0"/>
              <a:pPr>
                <a:defRPr/>
              </a:pPr>
              <a:t>9</a:t>
            </a:fld>
            <a:endParaRPr lang="en-US" altLang="ko-KR"/>
          </a:p>
        </p:txBody>
      </p:sp>
    </p:spTree>
    <p:extLst>
      <p:ext uri="{BB962C8B-B14F-4D97-AF65-F5344CB8AC3E}">
        <p14:creationId xmlns:p14="http://schemas.microsoft.com/office/powerpoint/2010/main" val="587433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B376F-55D4-EBF5-DB05-C382400EA17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EB7E373-76DA-A595-6A5E-37F64F910C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85AAB5F-C798-2345-84EA-3CCF0E0F0CD6}"/>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0257D199-E56B-D9D9-101B-B16674C10ABF}"/>
              </a:ext>
            </a:extLst>
          </p:cNvPr>
          <p:cNvSpPr>
            <a:spLocks noGrp="1"/>
          </p:cNvSpPr>
          <p:nvPr>
            <p:ph type="sldNum" sz="quarter" idx="5"/>
          </p:nvPr>
        </p:nvSpPr>
        <p:spPr/>
        <p:txBody>
          <a:bodyPr/>
          <a:lstStyle/>
          <a:p>
            <a:pPr>
              <a:defRPr/>
            </a:pPr>
            <a:fld id="{3034C4DD-B5F0-4D19-90EF-C93D91509D9D}" type="slidenum">
              <a:rPr lang="en-US" altLang="ko-KR" smtClean="0"/>
              <a:pPr>
                <a:defRPr/>
              </a:pPr>
              <a:t>11</a:t>
            </a:fld>
            <a:endParaRPr lang="en-US" altLang="ko-KR"/>
          </a:p>
        </p:txBody>
      </p:sp>
    </p:spTree>
    <p:extLst>
      <p:ext uri="{BB962C8B-B14F-4D97-AF65-F5344CB8AC3E}">
        <p14:creationId xmlns:p14="http://schemas.microsoft.com/office/powerpoint/2010/main" val="293387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7B4E0-518D-0A40-2679-6DF2653C71C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B79E60-12FE-89E9-6EBC-E9ECBC60F5B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721874C-9A0B-43D0-DB7B-E1D34FCD5DBF}"/>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52AD5219-683F-BB99-BAD9-63A530EB3C3E}"/>
              </a:ext>
            </a:extLst>
          </p:cNvPr>
          <p:cNvSpPr>
            <a:spLocks noGrp="1"/>
          </p:cNvSpPr>
          <p:nvPr>
            <p:ph type="sldNum" sz="quarter" idx="5"/>
          </p:nvPr>
        </p:nvSpPr>
        <p:spPr/>
        <p:txBody>
          <a:bodyPr/>
          <a:lstStyle/>
          <a:p>
            <a:pPr>
              <a:defRPr/>
            </a:pPr>
            <a:fld id="{3034C4DD-B5F0-4D19-90EF-C93D91509D9D}" type="slidenum">
              <a:rPr lang="en-US" altLang="ko-KR" smtClean="0"/>
              <a:pPr>
                <a:defRPr/>
              </a:pPr>
              <a:t>12</a:t>
            </a:fld>
            <a:endParaRPr lang="en-US" altLang="ko-KR"/>
          </a:p>
        </p:txBody>
      </p:sp>
    </p:spTree>
    <p:extLst>
      <p:ext uri="{BB962C8B-B14F-4D97-AF65-F5344CB8AC3E}">
        <p14:creationId xmlns:p14="http://schemas.microsoft.com/office/powerpoint/2010/main" val="4142804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80CE8-99D0-76C8-F5B5-3E3F44B2048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293010A-E8E2-C899-82B4-D5470619775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D6DB540-5F1F-94A5-6CC3-9BE6902F65A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9B968F62-4453-2332-686B-A9D86FB85082}"/>
              </a:ext>
            </a:extLst>
          </p:cNvPr>
          <p:cNvSpPr>
            <a:spLocks noGrp="1"/>
          </p:cNvSpPr>
          <p:nvPr>
            <p:ph type="sldNum" sz="quarter" idx="5"/>
          </p:nvPr>
        </p:nvSpPr>
        <p:spPr/>
        <p:txBody>
          <a:bodyPr/>
          <a:lstStyle/>
          <a:p>
            <a:pPr>
              <a:defRPr/>
            </a:pPr>
            <a:fld id="{3034C4DD-B5F0-4D19-90EF-C93D91509D9D}" type="slidenum">
              <a:rPr lang="en-US" altLang="ko-KR" smtClean="0"/>
              <a:pPr>
                <a:defRPr/>
              </a:pPr>
              <a:t>13</a:t>
            </a:fld>
            <a:endParaRPr lang="en-US" altLang="ko-KR"/>
          </a:p>
        </p:txBody>
      </p:sp>
    </p:spTree>
    <p:extLst>
      <p:ext uri="{BB962C8B-B14F-4D97-AF65-F5344CB8AC3E}">
        <p14:creationId xmlns:p14="http://schemas.microsoft.com/office/powerpoint/2010/main" val="4126580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20222-A190-E9A8-63E7-38AF9586C7A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33C857B-7DE7-7495-FBBD-12D5F6F0E8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6089E6B-76B8-FEE9-E4DF-11D9129CB4D6}"/>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34A905C2-D1D3-9D57-A9D6-AE55D8D10CE2}"/>
              </a:ext>
            </a:extLst>
          </p:cNvPr>
          <p:cNvSpPr>
            <a:spLocks noGrp="1"/>
          </p:cNvSpPr>
          <p:nvPr>
            <p:ph type="sldNum" sz="quarter" idx="5"/>
          </p:nvPr>
        </p:nvSpPr>
        <p:spPr/>
        <p:txBody>
          <a:bodyPr/>
          <a:lstStyle/>
          <a:p>
            <a:pPr>
              <a:defRPr/>
            </a:pPr>
            <a:fld id="{3034C4DD-B5F0-4D19-90EF-C93D91509D9D}" type="slidenum">
              <a:rPr lang="en-US" altLang="ko-KR" smtClean="0"/>
              <a:pPr>
                <a:defRPr/>
              </a:pPr>
              <a:t>14</a:t>
            </a:fld>
            <a:endParaRPr lang="en-US" altLang="ko-KR"/>
          </a:p>
        </p:txBody>
      </p:sp>
    </p:spTree>
    <p:extLst>
      <p:ext uri="{BB962C8B-B14F-4D97-AF65-F5344CB8AC3E}">
        <p14:creationId xmlns:p14="http://schemas.microsoft.com/office/powerpoint/2010/main" val="524844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CC93-D97B-E641-8904-C7FF0CDFCD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7F7639-75C1-F525-0B94-412ED56719C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C0BF348-A90C-31EF-23EA-067D95B36F6E}"/>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7FF91AE8-7A7F-863B-623F-B69EE4B08D49}"/>
              </a:ext>
            </a:extLst>
          </p:cNvPr>
          <p:cNvSpPr>
            <a:spLocks noGrp="1"/>
          </p:cNvSpPr>
          <p:nvPr>
            <p:ph type="sldNum" sz="quarter" idx="5"/>
          </p:nvPr>
        </p:nvSpPr>
        <p:spPr/>
        <p:txBody>
          <a:bodyPr/>
          <a:lstStyle/>
          <a:p>
            <a:pPr>
              <a:defRPr/>
            </a:pPr>
            <a:fld id="{3034C4DD-B5F0-4D19-90EF-C93D91509D9D}" type="slidenum">
              <a:rPr lang="en-US" altLang="ko-KR" smtClean="0"/>
              <a:pPr>
                <a:defRPr/>
              </a:pPr>
              <a:t>15</a:t>
            </a:fld>
            <a:endParaRPr lang="en-US" altLang="ko-KR"/>
          </a:p>
        </p:txBody>
      </p:sp>
    </p:spTree>
    <p:extLst>
      <p:ext uri="{BB962C8B-B14F-4D97-AF65-F5344CB8AC3E}">
        <p14:creationId xmlns:p14="http://schemas.microsoft.com/office/powerpoint/2010/main" val="687013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a:defRPr/>
            </a:pPr>
            <a:fld id="{3034C4DD-B5F0-4D19-90EF-C93D91509D9D}" type="slidenum">
              <a:rPr lang="en-US" altLang="ko-KR" smtClean="0"/>
              <a:pPr>
                <a:defRPr/>
              </a:pPr>
              <a:t>16</a:t>
            </a:fld>
            <a:endParaRPr lang="en-US" altLang="ko-KR"/>
          </a:p>
        </p:txBody>
      </p:sp>
    </p:spTree>
    <p:extLst>
      <p:ext uri="{BB962C8B-B14F-4D97-AF65-F5344CB8AC3E}">
        <p14:creationId xmlns:p14="http://schemas.microsoft.com/office/powerpoint/2010/main" val="298146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FC58E-A79F-9156-4187-319DF13D25E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4AA6061-2350-8C36-3F19-FBA998CB58E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383356E-8D25-E2E6-26DA-EB3D4E5FE90A}"/>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76D3F6B4-117B-6821-371F-572072F0566F}"/>
              </a:ext>
            </a:extLst>
          </p:cNvPr>
          <p:cNvSpPr>
            <a:spLocks noGrp="1"/>
          </p:cNvSpPr>
          <p:nvPr>
            <p:ph type="sldNum" sz="quarter" idx="5"/>
          </p:nvPr>
        </p:nvSpPr>
        <p:spPr/>
        <p:txBody>
          <a:bodyPr/>
          <a:lstStyle/>
          <a:p>
            <a:pPr>
              <a:defRPr/>
            </a:pPr>
            <a:fld id="{3034C4DD-B5F0-4D19-90EF-C93D91509D9D}" type="slidenum">
              <a:rPr lang="en-US" altLang="ko-KR" smtClean="0"/>
              <a:pPr>
                <a:defRPr/>
              </a:pPr>
              <a:t>17</a:t>
            </a:fld>
            <a:endParaRPr lang="en-US" altLang="ko-KR"/>
          </a:p>
        </p:txBody>
      </p:sp>
    </p:spTree>
    <p:extLst>
      <p:ext uri="{BB962C8B-B14F-4D97-AF65-F5344CB8AC3E}">
        <p14:creationId xmlns:p14="http://schemas.microsoft.com/office/powerpoint/2010/main" val="1877951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82EA-456B-D1F8-6167-3D8F09804FC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67E629A-E02F-6175-7931-CEE6404E153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AC282C4-3D6A-AB23-8EE8-CFE310C1251E}"/>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F2508FEF-444B-03A6-BE1F-E483CC538204}"/>
              </a:ext>
            </a:extLst>
          </p:cNvPr>
          <p:cNvSpPr>
            <a:spLocks noGrp="1"/>
          </p:cNvSpPr>
          <p:nvPr>
            <p:ph type="sldNum" sz="quarter" idx="5"/>
          </p:nvPr>
        </p:nvSpPr>
        <p:spPr/>
        <p:txBody>
          <a:bodyPr/>
          <a:lstStyle/>
          <a:p>
            <a:pPr>
              <a:defRPr/>
            </a:pPr>
            <a:fld id="{3034C4DD-B5F0-4D19-90EF-C93D91509D9D}" type="slidenum">
              <a:rPr lang="en-US" altLang="ko-KR" smtClean="0"/>
              <a:pPr>
                <a:defRPr/>
              </a:pPr>
              <a:t>18</a:t>
            </a:fld>
            <a:endParaRPr lang="en-US" altLang="ko-KR"/>
          </a:p>
        </p:txBody>
      </p:sp>
    </p:spTree>
    <p:extLst>
      <p:ext uri="{BB962C8B-B14F-4D97-AF65-F5344CB8AC3E}">
        <p14:creationId xmlns:p14="http://schemas.microsoft.com/office/powerpoint/2010/main" val="3875193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92C3B-DC97-6AF2-1ABB-C397B20E21E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D122092-F4BC-9955-5BCB-4A2CBA4FD86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C0D8B1-E81A-86D9-E766-E2B9EF733212}"/>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9557429B-6114-BF37-4F8C-D1213916C045}"/>
              </a:ext>
            </a:extLst>
          </p:cNvPr>
          <p:cNvSpPr>
            <a:spLocks noGrp="1"/>
          </p:cNvSpPr>
          <p:nvPr>
            <p:ph type="sldNum" sz="quarter" idx="5"/>
          </p:nvPr>
        </p:nvSpPr>
        <p:spPr/>
        <p:txBody>
          <a:bodyPr/>
          <a:lstStyle/>
          <a:p>
            <a:pPr>
              <a:defRPr/>
            </a:pPr>
            <a:fld id="{3034C4DD-B5F0-4D19-90EF-C93D91509D9D}" type="slidenum">
              <a:rPr lang="en-US" altLang="ko-KR" smtClean="0"/>
              <a:pPr>
                <a:defRPr/>
              </a:pPr>
              <a:t>19</a:t>
            </a:fld>
            <a:endParaRPr lang="en-US" altLang="ko-KR"/>
          </a:p>
        </p:txBody>
      </p:sp>
    </p:spTree>
    <p:extLst>
      <p:ext uri="{BB962C8B-B14F-4D97-AF65-F5344CB8AC3E}">
        <p14:creationId xmlns:p14="http://schemas.microsoft.com/office/powerpoint/2010/main" val="2763938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EDA24-F5EA-D337-B860-52D0B212167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7FEB239-9117-4D49-6323-481E51EE530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F9EFEC1-6C3E-7055-9F83-96F13BDF8F29}"/>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16199E61-E72D-B7C5-7ACB-EB67B90062F2}"/>
              </a:ext>
            </a:extLst>
          </p:cNvPr>
          <p:cNvSpPr>
            <a:spLocks noGrp="1"/>
          </p:cNvSpPr>
          <p:nvPr>
            <p:ph type="sldNum" sz="quarter" idx="5"/>
          </p:nvPr>
        </p:nvSpPr>
        <p:spPr/>
        <p:txBody>
          <a:bodyPr/>
          <a:lstStyle/>
          <a:p>
            <a:pPr>
              <a:defRPr/>
            </a:pPr>
            <a:fld id="{3034C4DD-B5F0-4D19-90EF-C93D91509D9D}" type="slidenum">
              <a:rPr lang="en-US" altLang="ko-KR" smtClean="0"/>
              <a:pPr>
                <a:defRPr/>
              </a:pPr>
              <a:t>20</a:t>
            </a:fld>
            <a:endParaRPr lang="en-US" altLang="ko-KR"/>
          </a:p>
        </p:txBody>
      </p:sp>
    </p:spTree>
    <p:extLst>
      <p:ext uri="{BB962C8B-B14F-4D97-AF65-F5344CB8AC3E}">
        <p14:creationId xmlns:p14="http://schemas.microsoft.com/office/powerpoint/2010/main" val="3704079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E271-308B-0E26-158B-C74089F377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F8D6196-0DB7-1DB6-980B-A6E22D2B040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B27BF22-F2CE-1CE2-AEB5-5C6B4568D57C}"/>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6AA4DF2-2781-7F6F-89FC-716688E30805}"/>
              </a:ext>
            </a:extLst>
          </p:cNvPr>
          <p:cNvSpPr>
            <a:spLocks noGrp="1"/>
          </p:cNvSpPr>
          <p:nvPr>
            <p:ph type="sldNum" sz="quarter" idx="5"/>
          </p:nvPr>
        </p:nvSpPr>
        <p:spPr/>
        <p:txBody>
          <a:bodyPr/>
          <a:lstStyle/>
          <a:p>
            <a:pPr>
              <a:defRPr/>
            </a:pPr>
            <a:fld id="{3034C4DD-B5F0-4D19-90EF-C93D91509D9D}" type="slidenum">
              <a:rPr lang="en-US" altLang="ko-KR" smtClean="0"/>
              <a:pPr>
                <a:defRPr/>
              </a:pPr>
              <a:t>21</a:t>
            </a:fld>
            <a:endParaRPr lang="en-US" altLang="ko-KR"/>
          </a:p>
        </p:txBody>
      </p:sp>
    </p:spTree>
    <p:extLst>
      <p:ext uri="{BB962C8B-B14F-4D97-AF65-F5344CB8AC3E}">
        <p14:creationId xmlns:p14="http://schemas.microsoft.com/office/powerpoint/2010/main" val="4050876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381B-1D31-333C-59B6-4985AC56EAC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FEB8D0E-19F7-B401-D60B-403F63151AF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35E67A-4CA1-8F92-A052-CCE18FA379F4}"/>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EF1E2521-5E92-7BD1-D217-7B6D7BED2501}"/>
              </a:ext>
            </a:extLst>
          </p:cNvPr>
          <p:cNvSpPr>
            <a:spLocks noGrp="1"/>
          </p:cNvSpPr>
          <p:nvPr>
            <p:ph type="sldNum" sz="quarter" idx="5"/>
          </p:nvPr>
        </p:nvSpPr>
        <p:spPr/>
        <p:txBody>
          <a:bodyPr/>
          <a:lstStyle/>
          <a:p>
            <a:pPr>
              <a:defRPr/>
            </a:pPr>
            <a:fld id="{3034C4DD-B5F0-4D19-90EF-C93D91509D9D}" type="slidenum">
              <a:rPr lang="en-US" altLang="ko-KR" smtClean="0"/>
              <a:pPr>
                <a:defRPr/>
              </a:pPr>
              <a:t>22</a:t>
            </a:fld>
            <a:endParaRPr lang="en-US" altLang="ko-KR"/>
          </a:p>
        </p:txBody>
      </p:sp>
    </p:spTree>
    <p:extLst>
      <p:ext uri="{BB962C8B-B14F-4D97-AF65-F5344CB8AC3E}">
        <p14:creationId xmlns:p14="http://schemas.microsoft.com/office/powerpoint/2010/main" val="488893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C7F7C-E5DD-9601-8AD7-68626CEA7ED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5A1E800-E46C-DEFF-144C-3E6314609C6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1CA2AA3-7441-4036-EE61-550669B6120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2677AE0A-999D-9DD2-F094-4A86F37A5282}"/>
              </a:ext>
            </a:extLst>
          </p:cNvPr>
          <p:cNvSpPr>
            <a:spLocks noGrp="1"/>
          </p:cNvSpPr>
          <p:nvPr>
            <p:ph type="sldNum" sz="quarter" idx="5"/>
          </p:nvPr>
        </p:nvSpPr>
        <p:spPr/>
        <p:txBody>
          <a:bodyPr/>
          <a:lstStyle/>
          <a:p>
            <a:pPr>
              <a:defRPr/>
            </a:pPr>
            <a:fld id="{3034C4DD-B5F0-4D19-90EF-C93D91509D9D}" type="slidenum">
              <a:rPr lang="en-US" altLang="ko-KR" smtClean="0"/>
              <a:pPr>
                <a:defRPr/>
              </a:pPr>
              <a:t>26</a:t>
            </a:fld>
            <a:endParaRPr lang="en-US" altLang="ko-KR"/>
          </a:p>
        </p:txBody>
      </p:sp>
    </p:spTree>
    <p:extLst>
      <p:ext uri="{BB962C8B-B14F-4D97-AF65-F5344CB8AC3E}">
        <p14:creationId xmlns:p14="http://schemas.microsoft.com/office/powerpoint/2010/main" val="36462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4F586-120A-822A-56FC-7E36036B6CE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766AA2-16C1-4C95-F19E-A36626BA007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5F8968E-7CB1-C546-BBEA-4C773E3B43D5}"/>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71A04567-DEAC-0035-F9DD-91375A4B8BF2}"/>
              </a:ext>
            </a:extLst>
          </p:cNvPr>
          <p:cNvSpPr>
            <a:spLocks noGrp="1"/>
          </p:cNvSpPr>
          <p:nvPr>
            <p:ph type="sldNum" sz="quarter" idx="5"/>
          </p:nvPr>
        </p:nvSpPr>
        <p:spPr/>
        <p:txBody>
          <a:bodyPr/>
          <a:lstStyle/>
          <a:p>
            <a:pPr>
              <a:defRPr/>
            </a:pPr>
            <a:fld id="{3034C4DD-B5F0-4D19-90EF-C93D91509D9D}" type="slidenum">
              <a:rPr lang="en-US" altLang="ko-KR" smtClean="0"/>
              <a:pPr>
                <a:defRPr/>
              </a:pPr>
              <a:t>27</a:t>
            </a:fld>
            <a:endParaRPr lang="en-US" altLang="ko-KR"/>
          </a:p>
        </p:txBody>
      </p:sp>
    </p:spTree>
    <p:extLst>
      <p:ext uri="{BB962C8B-B14F-4D97-AF65-F5344CB8AC3E}">
        <p14:creationId xmlns:p14="http://schemas.microsoft.com/office/powerpoint/2010/main" val="388123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EF7EA-B968-1601-95E5-A5EE00E3F32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65FF626-EBEA-AAA6-2BE9-717C1D71A08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FB64C2-AA9F-145C-AE04-E368DB0E89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24568FAB-6568-5ECD-8011-4E64F4625FC1}"/>
              </a:ext>
            </a:extLst>
          </p:cNvPr>
          <p:cNvSpPr>
            <a:spLocks noGrp="1"/>
          </p:cNvSpPr>
          <p:nvPr>
            <p:ph type="sldNum" sz="quarter" idx="5"/>
          </p:nvPr>
        </p:nvSpPr>
        <p:spPr/>
        <p:txBody>
          <a:bodyPr/>
          <a:lstStyle/>
          <a:p>
            <a:pPr>
              <a:defRPr/>
            </a:pPr>
            <a:fld id="{3034C4DD-B5F0-4D19-90EF-C93D91509D9D}" type="slidenum">
              <a:rPr lang="en-US" altLang="ko-KR" smtClean="0"/>
              <a:pPr>
                <a:defRPr/>
              </a:pPr>
              <a:t>28</a:t>
            </a:fld>
            <a:endParaRPr lang="en-US" altLang="ko-KR"/>
          </a:p>
        </p:txBody>
      </p:sp>
    </p:spTree>
    <p:extLst>
      <p:ext uri="{BB962C8B-B14F-4D97-AF65-F5344CB8AC3E}">
        <p14:creationId xmlns:p14="http://schemas.microsoft.com/office/powerpoint/2010/main" val="3187822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5F5C-F12F-4968-A52B-92C378F98B4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0666E6-80FB-2A0A-4D24-4B3C3845AA0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944E858-E448-B4E0-D2F9-7602605B86FE}"/>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A84B175F-3ED7-4CA6-845A-8BB1F17654BF}"/>
              </a:ext>
            </a:extLst>
          </p:cNvPr>
          <p:cNvSpPr>
            <a:spLocks noGrp="1"/>
          </p:cNvSpPr>
          <p:nvPr>
            <p:ph type="sldNum" sz="quarter" idx="5"/>
          </p:nvPr>
        </p:nvSpPr>
        <p:spPr/>
        <p:txBody>
          <a:bodyPr/>
          <a:lstStyle/>
          <a:p>
            <a:pPr>
              <a:defRPr/>
            </a:pPr>
            <a:fld id="{3034C4DD-B5F0-4D19-90EF-C93D91509D9D}" type="slidenum">
              <a:rPr lang="en-US" altLang="ko-KR" smtClean="0"/>
              <a:pPr>
                <a:defRPr/>
              </a:pPr>
              <a:t>29</a:t>
            </a:fld>
            <a:endParaRPr lang="en-US" altLang="ko-KR"/>
          </a:p>
        </p:txBody>
      </p:sp>
    </p:spTree>
    <p:extLst>
      <p:ext uri="{BB962C8B-B14F-4D97-AF65-F5344CB8AC3E}">
        <p14:creationId xmlns:p14="http://schemas.microsoft.com/office/powerpoint/2010/main" val="2206269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3167063"/>
            <a:ext cx="7772400" cy="109537"/>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99330" name="Rectangle 2"/>
          <p:cNvSpPr>
            <a:spLocks noGrp="1" noChangeArrowheads="1"/>
          </p:cNvSpPr>
          <p:nvPr>
            <p:ph type="ctrTitle"/>
          </p:nvPr>
        </p:nvSpPr>
        <p:spPr>
          <a:xfrm>
            <a:off x="685800" y="990600"/>
            <a:ext cx="7772400" cy="2057400"/>
          </a:xfrm>
        </p:spPr>
        <p:txBody>
          <a:bodyPr/>
          <a:lstStyle>
            <a:lvl1pPr>
              <a:defRPr sz="4000"/>
            </a:lvl1pPr>
          </a:lstStyle>
          <a:p>
            <a:r>
              <a:rPr lang="en-US" altLang="ko-KR" dirty="0"/>
              <a:t>Click to edit Master title style</a:t>
            </a:r>
          </a:p>
        </p:txBody>
      </p:sp>
      <p:sp>
        <p:nvSpPr>
          <p:cNvPr id="99331"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ltLang="ko-KR"/>
              <a:t>Click to edit Master subtitle style</a:t>
            </a:r>
          </a:p>
        </p:txBody>
      </p:sp>
      <p:sp>
        <p:nvSpPr>
          <p:cNvPr id="2" name="날짜 개체 틀 1"/>
          <p:cNvSpPr>
            <a:spLocks noGrp="1"/>
          </p:cNvSpPr>
          <p:nvPr>
            <p:ph type="dt" sz="half" idx="10"/>
          </p:nvPr>
        </p:nvSpPr>
        <p:spPr/>
        <p:txBody>
          <a:bodyPr/>
          <a:lstStyle/>
          <a:p>
            <a:pPr>
              <a:defRPr/>
            </a:pPr>
            <a:endParaRPr lang="en-US" altLang="ko-KR"/>
          </a:p>
        </p:txBody>
      </p:sp>
      <p:sp>
        <p:nvSpPr>
          <p:cNvPr id="3" name="바닥글 개체 틀 2"/>
          <p:cNvSpPr>
            <a:spLocks noGrp="1"/>
          </p:cNvSpPr>
          <p:nvPr>
            <p:ph type="ftr" sz="quarter" idx="11"/>
          </p:nvPr>
        </p:nvSpPr>
        <p:spPr/>
        <p:txBody>
          <a:bodyPr/>
          <a:lstStyle/>
          <a:p>
            <a:pPr>
              <a:defRPr/>
            </a:pPr>
            <a:endParaRPr lang="en-US" altLang="ko-KR"/>
          </a:p>
        </p:txBody>
      </p:sp>
      <p:sp>
        <p:nvSpPr>
          <p:cNvPr id="11"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56584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197968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4167597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429098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8"/>
          <p:cNvSpPr>
            <a:spLocks noGrp="1" noChangeArrowheads="1"/>
          </p:cNvSpPr>
          <p:nvPr>
            <p:ph type="sldNum" sz="quarter" idx="12"/>
          </p:nvPr>
        </p:nvSpPr>
        <p:spPr>
          <a:ln/>
        </p:spPr>
        <p:txBody>
          <a:bodyPr/>
          <a:lstStyle>
            <a:lvl1pPr>
              <a:defRPr/>
            </a:lvl1pPr>
          </a:lstStyle>
          <a:p>
            <a:pPr>
              <a:defRPr/>
            </a:pPr>
            <a:fld id="{25C4F442-0702-4871-9EAF-8F0C083906AB}" type="slidenum">
              <a:rPr lang="en-US" altLang="ko-KR"/>
              <a:pPr>
                <a:defRPr/>
              </a:pPr>
              <a:t>‹#›</a:t>
            </a:fld>
            <a:endParaRPr lang="en-US" altLang="ko-KR"/>
          </a:p>
        </p:txBody>
      </p:sp>
    </p:spTree>
    <p:extLst>
      <p:ext uri="{BB962C8B-B14F-4D97-AF65-F5344CB8AC3E}">
        <p14:creationId xmlns:p14="http://schemas.microsoft.com/office/powerpoint/2010/main" val="11787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3025324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264030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142926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12"/>
          </p:nvPr>
        </p:nvSpPr>
        <p:spPr>
          <a:ln/>
        </p:spPr>
        <p:txBody>
          <a:bodyPr/>
          <a:lstStyle>
            <a:lvl1pPr>
              <a:defRPr/>
            </a:lvl1pPr>
          </a:lstStyle>
          <a:p>
            <a:pPr>
              <a:defRPr/>
            </a:pPr>
            <a:fld id="{E474D9A6-73D7-4A68-816A-D2C18F85EA66}" type="slidenum">
              <a:rPr lang="en-US" altLang="ko-KR"/>
              <a:pPr>
                <a:defRPr/>
              </a:pPr>
              <a:t>‹#›</a:t>
            </a:fld>
            <a:endParaRPr lang="en-US" altLang="ko-KR"/>
          </a:p>
        </p:txBody>
      </p:sp>
    </p:spTree>
    <p:extLst>
      <p:ext uri="{BB962C8B-B14F-4D97-AF65-F5344CB8AC3E}">
        <p14:creationId xmlns:p14="http://schemas.microsoft.com/office/powerpoint/2010/main" val="64494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7DECF23F-13E4-46CA-AA3A-B4A7B1C0ECB0}" type="slidenum">
              <a:rPr lang="en-US" altLang="ko-KR"/>
              <a:pPr>
                <a:defRPr/>
              </a:pPr>
              <a:t>‹#›</a:t>
            </a:fld>
            <a:endParaRPr lang="en-US" altLang="ko-KR"/>
          </a:p>
        </p:txBody>
      </p:sp>
    </p:spTree>
    <p:extLst>
      <p:ext uri="{BB962C8B-B14F-4D97-AF65-F5344CB8AC3E}">
        <p14:creationId xmlns:p14="http://schemas.microsoft.com/office/powerpoint/2010/main" val="2094489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73838" y="304800"/>
            <a:ext cx="2001837" cy="57150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66738" y="304800"/>
            <a:ext cx="5854700" cy="57150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A85ABB9B-3F09-4AA4-9D80-FA51D0ADB248}" type="slidenum">
              <a:rPr lang="en-US" altLang="ko-KR"/>
              <a:pPr>
                <a:defRPr/>
              </a:pPr>
              <a:t>‹#›</a:t>
            </a:fld>
            <a:endParaRPr lang="en-US" altLang="ko-KR"/>
          </a:p>
        </p:txBody>
      </p:sp>
    </p:spTree>
    <p:extLst>
      <p:ext uri="{BB962C8B-B14F-4D97-AF65-F5344CB8AC3E}">
        <p14:creationId xmlns:p14="http://schemas.microsoft.com/office/powerpoint/2010/main" val="28099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내용">
    <p:spTree>
      <p:nvGrpSpPr>
        <p:cNvPr id="1" name=""/>
        <p:cNvGrpSpPr/>
        <p:nvPr/>
      </p:nvGrpSpPr>
      <p:grpSpPr>
        <a:xfrm>
          <a:off x="0" y="0"/>
          <a:ext cx="0" cy="0"/>
          <a:chOff x="0" y="0"/>
          <a:chExt cx="0" cy="0"/>
        </a:xfrm>
      </p:grpSpPr>
      <p:sp>
        <p:nvSpPr>
          <p:cNvPr id="2" name="내용 개체 틀 1"/>
          <p:cNvSpPr>
            <a:spLocks noGrp="1"/>
          </p:cNvSpPr>
          <p:nvPr>
            <p:ph/>
          </p:nvPr>
        </p:nvSpPr>
        <p:spPr>
          <a:xfrm>
            <a:off x="566738" y="304800"/>
            <a:ext cx="8008937" cy="5715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8"/>
          <p:cNvSpPr>
            <a:spLocks noGrp="1" noChangeArrowheads="1"/>
          </p:cNvSpPr>
          <p:nvPr>
            <p:ph type="sldNum" sz="quarter" idx="12"/>
          </p:nvPr>
        </p:nvSpPr>
        <p:spPr>
          <a:ln/>
        </p:spPr>
        <p:txBody>
          <a:bodyPr/>
          <a:lstStyle>
            <a:lvl1pPr>
              <a:defRPr/>
            </a:lvl1pPr>
          </a:lstStyle>
          <a:p>
            <a:pPr>
              <a:defRPr/>
            </a:pPr>
            <a:fld id="{7957972A-6669-4AFE-901C-0750805E26F2}" type="slidenum">
              <a:rPr lang="en-US" altLang="ko-KR"/>
              <a:pPr>
                <a:defRPr/>
              </a:pPr>
              <a:t>‹#›</a:t>
            </a:fld>
            <a:endParaRPr lang="en-US" altLang="ko-KR"/>
          </a:p>
        </p:txBody>
      </p:sp>
    </p:spTree>
    <p:extLst>
      <p:ext uri="{BB962C8B-B14F-4D97-AF65-F5344CB8AC3E}">
        <p14:creationId xmlns:p14="http://schemas.microsoft.com/office/powerpoint/2010/main" val="3177337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574675" y="304800"/>
            <a:ext cx="8001000" cy="1216025"/>
          </a:xfrm>
        </p:spPr>
        <p:txBody>
          <a:bodyPr/>
          <a:lstStyle/>
          <a:p>
            <a:r>
              <a:rPr lang="ko-KR" altLang="en-US"/>
              <a:t>마스터 제목 스타일 편집</a:t>
            </a:r>
          </a:p>
        </p:txBody>
      </p:sp>
      <p:sp>
        <p:nvSpPr>
          <p:cNvPr id="3" name="표 개체 틀 2"/>
          <p:cNvSpPr>
            <a:spLocks noGrp="1"/>
          </p:cNvSpPr>
          <p:nvPr>
            <p:ph type="tbl" idx="1"/>
          </p:nvPr>
        </p:nvSpPr>
        <p:spPr>
          <a:xfrm>
            <a:off x="566738" y="1752600"/>
            <a:ext cx="8001000" cy="4267200"/>
          </a:xfrm>
        </p:spPr>
        <p:txBody>
          <a:bodyPr/>
          <a:lstStyle/>
          <a:p>
            <a:pPr lvl="0"/>
            <a:endParaRPr lang="ko-KR" altLang="en-US"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78492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574675" y="304800"/>
            <a:ext cx="8001000" cy="1216025"/>
          </a:xfrm>
        </p:spPr>
        <p:txBody>
          <a:bodyPr/>
          <a:lstStyle/>
          <a:p>
            <a:r>
              <a:rPr lang="ko-KR" altLang="en-US"/>
              <a:t>마스터 제목 스타일 편집</a:t>
            </a:r>
          </a:p>
        </p:txBody>
      </p:sp>
      <p:sp>
        <p:nvSpPr>
          <p:cNvPr id="7" name="AutoShape 7"/>
          <p:cNvSpPr>
            <a:spLocks noChangeArrowheads="1"/>
          </p:cNvSpPr>
          <p:nvPr userDrawn="1"/>
        </p:nvSpPr>
        <p:spPr bwMode="auto">
          <a:xfrm>
            <a:off x="600456" y="1563624"/>
            <a:ext cx="7772400" cy="109537"/>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8" name="내용 개체 틀 1"/>
          <p:cNvSpPr>
            <a:spLocks noGrp="1"/>
          </p:cNvSpPr>
          <p:nvPr>
            <p:ph idx="10"/>
          </p:nvPr>
        </p:nvSpPr>
        <p:spPr>
          <a:xfrm>
            <a:off x="566738" y="1752600"/>
            <a:ext cx="8008937" cy="42672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9" name="Rectangle 8"/>
          <p:cNvSpPr>
            <a:spLocks noGrp="1" noChangeArrowheads="1"/>
          </p:cNvSpPr>
          <p:nvPr>
            <p:ph type="sldNum" sz="quarter" idx="12"/>
          </p:nvPr>
        </p:nvSpPr>
        <p:spPr>
          <a:xfrm>
            <a:off x="6553200" y="6245225"/>
            <a:ext cx="1981200" cy="476250"/>
          </a:xfrm>
          <a:ln/>
        </p:spPr>
        <p:txBody>
          <a:bodyPr/>
          <a:lstStyle>
            <a:lvl1pPr>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67560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ko-KR"/>
              <a:t>Click to edit Master title style</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4655511 w 1000"/>
              <a:gd name="T3" fmla="*/ 0 h 1000"/>
              <a:gd name="T4" fmla="*/ 4655511 w 1000"/>
              <a:gd name="T5" fmla="*/ 109537 h 1000"/>
              <a:gd name="T6" fmla="*/ 0 w 1000"/>
              <a:gd name="T7" fmla="*/ 109537 h 1000"/>
              <a:gd name="T8" fmla="*/ 0 w 1000"/>
              <a:gd name="T9" fmla="*/ 0 h 1000"/>
              <a:gd name="T10" fmla="*/ 7958138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1029" name="Line 5"/>
          <p:cNvSpPr>
            <a:spLocks noChangeShapeType="1"/>
          </p:cNvSpPr>
          <p:nvPr/>
        </p:nvSpPr>
        <p:spPr bwMode="auto">
          <a:xfrm flipV="1">
            <a:off x="609600" y="6172200"/>
            <a:ext cx="7924800"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8310"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굴림" charset="-127"/>
                <a:cs typeface="Arial" charset="0"/>
              </a:defRPr>
            </a:lvl1pPr>
          </a:lstStyle>
          <a:p>
            <a:pPr>
              <a:defRPr/>
            </a:pPr>
            <a:endParaRPr lang="en-US" altLang="ko-KR"/>
          </a:p>
        </p:txBody>
      </p:sp>
      <p:sp>
        <p:nvSpPr>
          <p:cNvPr id="98311"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ea typeface="굴림" charset="-127"/>
                <a:cs typeface="Arial" charset="0"/>
              </a:defRPr>
            </a:lvl1pPr>
          </a:lstStyle>
          <a:p>
            <a:pPr>
              <a:defRPr/>
            </a:pPr>
            <a:endParaRPr lang="en-US" altLang="ko-KR"/>
          </a:p>
        </p:txBody>
      </p:sp>
      <p:sp>
        <p:nvSpPr>
          <p:cNvPr id="98312"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cSld>
  <p:clrMap bg1="lt1" tx1="dk1" bg2="lt2" tx2="dk2" accent1="accent1" accent2="accent2" accent3="accent3" accent4="accent4" accent5="accent5" accent6="accent6" hlink="hlink" folHlink="folHlink"/>
  <p:sldLayoutIdLst>
    <p:sldLayoutId id="2147483762"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3" r:id="rId14"/>
  </p:sldLayoutIdLst>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cs typeface="Arial" charset="0"/>
        </a:defRPr>
      </a:lvl2pPr>
      <a:lvl3pPr algn="l" rtl="0" eaLnBrk="0" fontAlgn="base" hangingPunct="0">
        <a:spcBef>
          <a:spcPct val="0"/>
        </a:spcBef>
        <a:spcAft>
          <a:spcPct val="0"/>
        </a:spcAft>
        <a:defRPr sz="3800">
          <a:solidFill>
            <a:schemeClr val="tx2"/>
          </a:solidFill>
          <a:latin typeface="Verdana" pitchFamily="34" charset="0"/>
          <a:cs typeface="Arial" charset="0"/>
        </a:defRPr>
      </a:lvl3pPr>
      <a:lvl4pPr algn="l" rtl="0" eaLnBrk="0" fontAlgn="base" hangingPunct="0">
        <a:spcBef>
          <a:spcPct val="0"/>
        </a:spcBef>
        <a:spcAft>
          <a:spcPct val="0"/>
        </a:spcAft>
        <a:defRPr sz="3800">
          <a:solidFill>
            <a:schemeClr val="tx2"/>
          </a:solidFill>
          <a:latin typeface="Verdana" pitchFamily="34" charset="0"/>
          <a:cs typeface="Arial" charset="0"/>
        </a:defRPr>
      </a:lvl4pPr>
      <a:lvl5pPr algn="l" rtl="0" eaLnBrk="0" fontAlgn="base" hangingPunct="0">
        <a:spcBef>
          <a:spcPct val="0"/>
        </a:spcBef>
        <a:spcAft>
          <a:spcPct val="0"/>
        </a:spcAft>
        <a:defRPr sz="3800">
          <a:solidFill>
            <a:schemeClr val="tx2"/>
          </a:solidFill>
          <a:latin typeface="Verdana" pitchFamily="34" charset="0"/>
          <a:cs typeface="Arial" charset="0"/>
        </a:defRPr>
      </a:lvl5pPr>
      <a:lvl6pPr marL="457200" algn="l" rtl="0" fontAlgn="base">
        <a:spcBef>
          <a:spcPct val="0"/>
        </a:spcBef>
        <a:spcAft>
          <a:spcPct val="0"/>
        </a:spcAft>
        <a:defRPr sz="3800">
          <a:solidFill>
            <a:schemeClr val="tx2"/>
          </a:solidFill>
          <a:latin typeface="Verdana" pitchFamily="34" charset="0"/>
          <a:cs typeface="Arial" charset="0"/>
        </a:defRPr>
      </a:lvl6pPr>
      <a:lvl7pPr marL="914400" algn="l" rtl="0" fontAlgn="base">
        <a:spcBef>
          <a:spcPct val="0"/>
        </a:spcBef>
        <a:spcAft>
          <a:spcPct val="0"/>
        </a:spcAft>
        <a:defRPr sz="3800">
          <a:solidFill>
            <a:schemeClr val="tx2"/>
          </a:solidFill>
          <a:latin typeface="Verdana" pitchFamily="34" charset="0"/>
          <a:cs typeface="Arial" charset="0"/>
        </a:defRPr>
      </a:lvl7pPr>
      <a:lvl8pPr marL="1371600" algn="l" rtl="0" fontAlgn="base">
        <a:spcBef>
          <a:spcPct val="0"/>
        </a:spcBef>
        <a:spcAft>
          <a:spcPct val="0"/>
        </a:spcAft>
        <a:defRPr sz="3800">
          <a:solidFill>
            <a:schemeClr val="tx2"/>
          </a:solidFill>
          <a:latin typeface="Verdana" pitchFamily="34" charset="0"/>
          <a:cs typeface="Arial" charset="0"/>
        </a:defRPr>
      </a:lvl8pPr>
      <a:lvl9pPr marL="1828800" algn="l" rtl="0" fontAlgn="base">
        <a:spcBef>
          <a:spcPct val="0"/>
        </a:spcBef>
        <a:spcAft>
          <a:spcPct val="0"/>
        </a:spcAft>
        <a:defRPr sz="3800">
          <a:solidFill>
            <a:schemeClr val="tx2"/>
          </a:solidFill>
          <a:latin typeface="Verdana" pitchFamily="34" charset="0"/>
          <a:cs typeface="Arial" charset="0"/>
        </a:defRPr>
      </a:lvl9pPr>
    </p:titleStyle>
    <p:body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gif"/><Relationship Id="rId4" Type="http://schemas.openxmlformats.org/officeDocument/2006/relationships/image" Target="../media/image9.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838200" y="3581400"/>
            <a:ext cx="7467600" cy="2895600"/>
          </a:xfrm>
        </p:spPr>
        <p:txBody>
          <a:bodyPr/>
          <a:lstStyle/>
          <a:p>
            <a:pPr algn="ctr" eaLnBrk="1" hangingPunct="1"/>
            <a:r>
              <a:rPr lang="en-US" altLang="ko-KR" sz="2000" b="1">
                <a:ea typeface="굴림" pitchFamily="50" charset="-127"/>
              </a:rPr>
              <a:t>team 1</a:t>
            </a:r>
          </a:p>
          <a:p>
            <a:pPr algn="ctr" eaLnBrk="1" hangingPunct="1"/>
            <a:r>
              <a:rPr lang="en-US" altLang="ko-KR" sz="2000" b="1">
                <a:ea typeface="굴림" pitchFamily="50" charset="-127"/>
              </a:rPr>
              <a:t>21 </a:t>
            </a:r>
            <a:r>
              <a:rPr lang="ko-KR" altLang="en-US" sz="2000" b="1">
                <a:ea typeface="굴림" pitchFamily="50" charset="-127"/>
              </a:rPr>
              <a:t>이태우</a:t>
            </a:r>
            <a:endParaRPr lang="en-US" altLang="ko-KR" sz="2000" b="1">
              <a:ea typeface="굴림" pitchFamily="50" charset="-127"/>
            </a:endParaRPr>
          </a:p>
          <a:p>
            <a:pPr algn="ctr" eaLnBrk="1" hangingPunct="1"/>
            <a:r>
              <a:rPr lang="en-US" altLang="ko-KR" sz="2000" b="1">
                <a:ea typeface="굴림" pitchFamily="50" charset="-127"/>
              </a:rPr>
              <a:t>21 </a:t>
            </a:r>
            <a:r>
              <a:rPr lang="ko-KR" altLang="en-US" sz="2000" b="1">
                <a:ea typeface="굴림" pitchFamily="50" charset="-127"/>
              </a:rPr>
              <a:t>임주환</a:t>
            </a:r>
            <a:endParaRPr lang="en-US" altLang="ko-KR" sz="2000" b="1" dirty="0">
              <a:ea typeface="굴림" pitchFamily="50" charset="-127"/>
            </a:endParaRPr>
          </a:p>
        </p:txBody>
      </p:sp>
      <p:pic>
        <p:nvPicPr>
          <p:cNvPr id="4" name="Picture 2" descr="인하대학교 - 위키백과, 우리 모두의 백과사전">
            <a:extLst>
              <a:ext uri="{FF2B5EF4-FFF2-40B4-BE49-F238E27FC236}">
                <a16:creationId xmlns:a16="http://schemas.microsoft.com/office/drawing/2014/main" id="{A5F3B9C5-6384-42D3-ABB0-138DFCFF6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76" y="1250749"/>
            <a:ext cx="1629251" cy="1754579"/>
          </a:xfrm>
          <a:prstGeom prst="rect">
            <a:avLst/>
          </a:prstGeom>
          <a:noFill/>
          <a:extLst>
            <a:ext uri="{909E8E84-426E-40DD-AFC4-6F175D3DCCD1}">
              <a14:hiddenFill xmlns:a14="http://schemas.microsoft.com/office/drawing/2010/main">
                <a:solidFill>
                  <a:srgbClr val="FFFFFF"/>
                </a:solidFill>
              </a14:hiddenFill>
            </a:ext>
          </a:extLst>
        </p:spPr>
      </p:pic>
      <p:sp>
        <p:nvSpPr>
          <p:cNvPr id="3074" name="Rectangle 2"/>
          <p:cNvSpPr>
            <a:spLocks noGrp="1" noChangeArrowheads="1"/>
          </p:cNvSpPr>
          <p:nvPr>
            <p:ph type="ctrTitle"/>
          </p:nvPr>
        </p:nvSpPr>
        <p:spPr>
          <a:xfrm>
            <a:off x="685800" y="914400"/>
            <a:ext cx="8001000" cy="2057400"/>
          </a:xfrm>
        </p:spPr>
        <p:txBody>
          <a:bodyPr/>
          <a:lstStyle/>
          <a:p>
            <a:pPr algn="ctr" eaLnBrk="1" hangingPunct="1"/>
            <a:br>
              <a:rPr lang="en-US" altLang="ko-KR" sz="2400" b="1">
                <a:ea typeface="굴림" pitchFamily="50" charset="-127"/>
              </a:rPr>
            </a:br>
            <a:r>
              <a:rPr lang="en-US" altLang="ko-KR" sz="3200" b="1">
                <a:ea typeface="굴림" pitchFamily="50" charset="-127"/>
              </a:rPr>
              <a:t>Implementation and Evaluation</a:t>
            </a:r>
            <a:br>
              <a:rPr lang="en-US" altLang="ko-KR" sz="3200" b="1">
                <a:ea typeface="굴림" pitchFamily="50" charset="-127"/>
              </a:rPr>
            </a:br>
            <a:r>
              <a:rPr lang="en-US" altLang="ko-KR" sz="3200" b="1">
                <a:ea typeface="굴림" pitchFamily="50" charset="-127"/>
              </a:rPr>
              <a:t>of Proportional Schedulers</a:t>
            </a:r>
            <a:endParaRPr lang="en-US" altLang="ko-KR" sz="3200" b="1" dirty="0">
              <a:ea typeface="굴림" pitchFamily="50"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ED632-BD43-49F1-C7BD-EED37F85ABC0}"/>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7C82F416-6F51-9A48-09D3-C138FBE58519}"/>
              </a:ext>
            </a:extLst>
          </p:cNvPr>
          <p:cNvSpPr>
            <a:spLocks noGrp="1" noChangeArrowheads="1"/>
          </p:cNvSpPr>
          <p:nvPr>
            <p:ph type="title"/>
          </p:nvPr>
        </p:nvSpPr>
        <p:spPr/>
        <p:txBody>
          <a:bodyPr/>
          <a:lstStyle/>
          <a:p>
            <a:r>
              <a:rPr lang="en-US" altLang="ko-KR" sz="3600"/>
              <a:t>Overall Contents</a:t>
            </a:r>
            <a:endParaRPr lang="en-US" altLang="ko-KR" sz="3600" dirty="0"/>
          </a:p>
        </p:txBody>
      </p:sp>
      <p:sp>
        <p:nvSpPr>
          <p:cNvPr id="7" name="Rectangle 3">
            <a:extLst>
              <a:ext uri="{FF2B5EF4-FFF2-40B4-BE49-F238E27FC236}">
                <a16:creationId xmlns:a16="http://schemas.microsoft.com/office/drawing/2014/main" id="{9F4BAB93-65EA-D166-F148-4DF3207E400D}"/>
              </a:ext>
            </a:extLst>
          </p:cNvPr>
          <p:cNvSpPr txBox="1">
            <a:spLocks noChangeArrowheads="1"/>
          </p:cNvSpPr>
          <p:nvPr/>
        </p:nvSpPr>
        <p:spPr bwMode="auto">
          <a:xfrm>
            <a:off x="554037" y="1600200"/>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2400" kern="0" dirty="0"/>
              <a:t>1</a:t>
            </a:r>
            <a:r>
              <a:rPr lang="en-US" altLang="ko-KR" sz="2400" kern="0"/>
              <a:t>. Stride Scheduler</a:t>
            </a:r>
          </a:p>
          <a:p>
            <a:pPr lvl="1" latinLnBrk="1"/>
            <a:r>
              <a:rPr lang="en-US" altLang="ko-KR" sz="1600" kern="0"/>
              <a:t>Introduction</a:t>
            </a:r>
          </a:p>
          <a:p>
            <a:pPr lvl="1" latinLnBrk="1"/>
            <a:r>
              <a:rPr lang="en-US" altLang="ko-KR" sz="1600" kern="0"/>
              <a:t>Implementation</a:t>
            </a:r>
          </a:p>
          <a:p>
            <a:pPr lvl="1" latinLnBrk="1"/>
            <a:r>
              <a:rPr lang="en-US" altLang="ko-KR" sz="1600" kern="0"/>
              <a:t>Analysis</a:t>
            </a:r>
          </a:p>
          <a:p>
            <a:pPr lvl="1" latinLnBrk="1"/>
            <a:r>
              <a:rPr lang="en-US" altLang="ko-KR" sz="1600" kern="0"/>
              <a:t>Conclusion</a:t>
            </a:r>
          </a:p>
          <a:p>
            <a:pPr lvl="1" latinLnBrk="1"/>
            <a:endParaRPr lang="en-US" altLang="ko-KR" sz="1600" kern="0"/>
          </a:p>
          <a:p>
            <a:pPr lvl="1" latinLnBrk="1"/>
            <a:endParaRPr lang="en-US" altLang="ko-KR" sz="1600" kern="0"/>
          </a:p>
          <a:p>
            <a:pPr latinLnBrk="1"/>
            <a:r>
              <a:rPr lang="en-US" altLang="ko-KR" sz="2400" kern="0"/>
              <a:t>2. Lottery Scheduler</a:t>
            </a:r>
          </a:p>
          <a:p>
            <a:pPr lvl="1" latinLnBrk="1"/>
            <a:r>
              <a:rPr lang="en-US" altLang="ko-KR" sz="1600" kern="0"/>
              <a:t>Introduction</a:t>
            </a:r>
          </a:p>
          <a:p>
            <a:pPr lvl="1" latinLnBrk="1"/>
            <a:r>
              <a:rPr lang="en-US" altLang="ko-KR" sz="1600" kern="0"/>
              <a:t>Implementation</a:t>
            </a:r>
          </a:p>
          <a:p>
            <a:pPr lvl="1" latinLnBrk="1"/>
            <a:r>
              <a:rPr lang="en-US" altLang="ko-KR" sz="1600" kern="0"/>
              <a:t>Analysis</a:t>
            </a:r>
          </a:p>
          <a:p>
            <a:pPr lvl="1" latinLnBrk="1"/>
            <a:r>
              <a:rPr lang="en-US" altLang="ko-KR" sz="1600" kern="0"/>
              <a:t>Conclusion</a:t>
            </a:r>
          </a:p>
          <a:p>
            <a:pPr marL="0" indent="0" latinLnBrk="1">
              <a:buNone/>
            </a:pPr>
            <a:endParaRPr lang="en-US" altLang="ko-KR" sz="1500" kern="0" dirty="0"/>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2564266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B9FAA-73D3-8E84-7631-D6C93C0D5836}"/>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15722C74-5B17-6CD6-A4EE-4FBF705DE9FA}"/>
              </a:ext>
            </a:extLst>
          </p:cNvPr>
          <p:cNvSpPr>
            <a:spLocks noGrp="1" noChangeArrowheads="1"/>
          </p:cNvSpPr>
          <p:nvPr>
            <p:ph type="title"/>
          </p:nvPr>
        </p:nvSpPr>
        <p:spPr/>
        <p:txBody>
          <a:bodyPr/>
          <a:lstStyle/>
          <a:p>
            <a:r>
              <a:rPr lang="en-US" altLang="ko-KR" sz="3600"/>
              <a:t>1. Stride</a:t>
            </a:r>
            <a:r>
              <a:rPr lang="ko-KR" altLang="en-US" sz="3600"/>
              <a:t> </a:t>
            </a:r>
            <a:r>
              <a:rPr lang="en-US" altLang="ko-KR" sz="3600"/>
              <a:t>Scheduler</a:t>
            </a:r>
            <a:r>
              <a:rPr lang="ko-KR" altLang="en-US" sz="3600"/>
              <a:t> </a:t>
            </a:r>
            <a:r>
              <a:rPr lang="en-US" altLang="ko-KR" sz="3600"/>
              <a:t>Contents</a:t>
            </a:r>
            <a:endParaRPr lang="en-US" altLang="ko-KR" sz="3600" dirty="0"/>
          </a:p>
        </p:txBody>
      </p:sp>
      <p:sp>
        <p:nvSpPr>
          <p:cNvPr id="7" name="Rectangle 3">
            <a:extLst>
              <a:ext uri="{FF2B5EF4-FFF2-40B4-BE49-F238E27FC236}">
                <a16:creationId xmlns:a16="http://schemas.microsoft.com/office/drawing/2014/main" id="{7A13C040-69E8-9D07-4142-5817403ED21D}"/>
              </a:ext>
            </a:extLst>
          </p:cNvPr>
          <p:cNvSpPr txBox="1">
            <a:spLocks noChangeArrowheads="1"/>
          </p:cNvSpPr>
          <p:nvPr/>
        </p:nvSpPr>
        <p:spPr bwMode="auto">
          <a:xfrm>
            <a:off x="554037" y="1520825"/>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2000" kern="0" dirty="0"/>
              <a:t>1</a:t>
            </a:r>
            <a:r>
              <a:rPr lang="en-US" altLang="ko-KR" sz="2000" kern="0"/>
              <a:t>. Implementation of Stride Scheduler.</a:t>
            </a:r>
          </a:p>
          <a:p>
            <a:pPr lvl="1" latinLnBrk="1"/>
            <a:r>
              <a:rPr lang="en-US" altLang="ko-KR" sz="1600" kern="0"/>
              <a:t>Review stride scheduler</a:t>
            </a:r>
            <a:endParaRPr lang="en-US" altLang="ko-KR" sz="1600" kern="0" dirty="0"/>
          </a:p>
          <a:p>
            <a:pPr lvl="1" latinLnBrk="1"/>
            <a:r>
              <a:rPr lang="en-US" altLang="ko-KR" sz="1600" kern="0"/>
              <a:t>Interface</a:t>
            </a:r>
          </a:p>
          <a:p>
            <a:pPr lvl="1" latinLnBrk="1"/>
            <a:r>
              <a:rPr lang="en-US" altLang="ko-KR" sz="1600" kern="0"/>
              <a:t>Implementation Specifics</a:t>
            </a:r>
          </a:p>
          <a:p>
            <a:pPr lvl="1" latinLnBrk="1"/>
            <a:endParaRPr lang="en-US" altLang="ko-KR" sz="1600" kern="0" dirty="0"/>
          </a:p>
          <a:p>
            <a:pPr latinLnBrk="1"/>
            <a:r>
              <a:rPr lang="en-US" altLang="ko-KR" sz="2000" kern="0" dirty="0"/>
              <a:t>2</a:t>
            </a:r>
            <a:r>
              <a:rPr lang="en-US" altLang="ko-KR" sz="2000" kern="0"/>
              <a:t>. Analysis Fairness Metrics</a:t>
            </a:r>
            <a:endParaRPr lang="en-US" altLang="ko-KR" sz="2000" kern="0" dirty="0"/>
          </a:p>
          <a:p>
            <a:pPr lvl="1" latinLnBrk="1"/>
            <a:r>
              <a:rPr lang="en-US" altLang="ko-KR" sz="1500" kern="0"/>
              <a:t>Why we need</a:t>
            </a:r>
            <a:r>
              <a:rPr lang="ko-KR" altLang="en-US" sz="1500" kern="0"/>
              <a:t> </a:t>
            </a:r>
            <a:r>
              <a:rPr lang="en-US" altLang="ko-KR" sz="1500" kern="0"/>
              <a:t>to use window</a:t>
            </a:r>
          </a:p>
          <a:p>
            <a:pPr lvl="1" latinLnBrk="1"/>
            <a:r>
              <a:rPr lang="en-US" altLang="ko-KR" sz="1500" kern="0"/>
              <a:t>Analysis Fairness (Various Ratio, Periodicity)</a:t>
            </a:r>
          </a:p>
          <a:p>
            <a:pPr marL="471487" lvl="1" indent="0" latinLnBrk="1">
              <a:buNone/>
            </a:pPr>
            <a:endParaRPr lang="en-US" altLang="ko-KR" sz="1500" kern="0" dirty="0"/>
          </a:p>
          <a:p>
            <a:pPr latinLnBrk="1"/>
            <a:r>
              <a:rPr lang="en-US" altLang="ko-KR" sz="1900" kern="0" dirty="0"/>
              <a:t>3</a:t>
            </a:r>
            <a:r>
              <a:rPr lang="en-US" altLang="ko-KR" sz="1900" kern="0"/>
              <a:t>. Conclusion</a:t>
            </a:r>
          </a:p>
          <a:p>
            <a:pPr lvl="1" latinLnBrk="1"/>
            <a:r>
              <a:rPr lang="en-US" altLang="ko-KR" sz="1500" kern="0"/>
              <a:t>Fairness</a:t>
            </a:r>
          </a:p>
          <a:p>
            <a:pPr lvl="1" latinLnBrk="1"/>
            <a:r>
              <a:rPr lang="en-US" altLang="ko-KR" sz="1500" kern="0"/>
              <a:t>Periodicity</a:t>
            </a:r>
          </a:p>
          <a:p>
            <a:pPr lvl="1" latinLnBrk="1"/>
            <a:endParaRPr lang="en-US" altLang="ko-KR" sz="1500" kern="0"/>
          </a:p>
          <a:p>
            <a:pPr marL="0" indent="0" latinLnBrk="1">
              <a:buNone/>
            </a:pPr>
            <a:endParaRPr lang="en-US" altLang="ko-KR" sz="1500" kern="0" dirty="0"/>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249987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5ECAAB1-A073-CEB5-A416-411BC5E13C73}"/>
              </a:ext>
            </a:extLst>
          </p:cNvPr>
          <p:cNvSpPr>
            <a:spLocks noGrp="1"/>
          </p:cNvSpPr>
          <p:nvPr>
            <p:ph type="title"/>
          </p:nvPr>
        </p:nvSpPr>
        <p:spPr/>
        <p:txBody>
          <a:bodyPr/>
          <a:lstStyle/>
          <a:p>
            <a:r>
              <a:rPr lang="en-US" altLang="ko-KR"/>
              <a:t>Stride</a:t>
            </a:r>
            <a:r>
              <a:rPr lang="ko-KR" altLang="en-US"/>
              <a:t> </a:t>
            </a:r>
            <a:r>
              <a:rPr lang="en-US" altLang="ko-KR"/>
              <a:t>Scheduler</a:t>
            </a:r>
            <a:r>
              <a:rPr lang="ko-KR" altLang="en-US"/>
              <a:t> </a:t>
            </a:r>
            <a:r>
              <a:rPr lang="en-US" altLang="ko-KR"/>
              <a:t>Review</a:t>
            </a:r>
            <a:endParaRPr lang="ko-KR" altLang="en-US"/>
          </a:p>
        </p:txBody>
      </p:sp>
      <p:graphicFrame>
        <p:nvGraphicFramePr>
          <p:cNvPr id="45" name="표 44">
            <a:extLst>
              <a:ext uri="{FF2B5EF4-FFF2-40B4-BE49-F238E27FC236}">
                <a16:creationId xmlns:a16="http://schemas.microsoft.com/office/drawing/2014/main" id="{D93414E7-890A-1CA7-B82A-228F1A9759AA}"/>
              </a:ext>
            </a:extLst>
          </p:cNvPr>
          <p:cNvGraphicFramePr>
            <a:graphicFrameLocks noGrp="1"/>
          </p:cNvGraphicFramePr>
          <p:nvPr>
            <p:extLst>
              <p:ext uri="{D42A27DB-BD31-4B8C-83A1-F6EECF244321}">
                <p14:modId xmlns:p14="http://schemas.microsoft.com/office/powerpoint/2010/main" val="2041181841"/>
              </p:ext>
            </p:extLst>
          </p:nvPr>
        </p:nvGraphicFramePr>
        <p:xfrm>
          <a:off x="762000" y="2290735"/>
          <a:ext cx="3810000" cy="1514380"/>
        </p:xfrm>
        <a:graphic>
          <a:graphicData uri="http://schemas.openxmlformats.org/drawingml/2006/table">
            <a:tbl>
              <a:tblPr firstRow="1" bandRow="1">
                <a:tableStyleId>{8799B23B-EC83-4686-B30A-512413B5E67A}</a:tableStyleId>
              </a:tblPr>
              <a:tblGrid>
                <a:gridCol w="1270000">
                  <a:extLst>
                    <a:ext uri="{9D8B030D-6E8A-4147-A177-3AD203B41FA5}">
                      <a16:colId xmlns:a16="http://schemas.microsoft.com/office/drawing/2014/main" val="526956687"/>
                    </a:ext>
                  </a:extLst>
                </a:gridCol>
                <a:gridCol w="1270000">
                  <a:extLst>
                    <a:ext uri="{9D8B030D-6E8A-4147-A177-3AD203B41FA5}">
                      <a16:colId xmlns:a16="http://schemas.microsoft.com/office/drawing/2014/main" val="1232125295"/>
                    </a:ext>
                  </a:extLst>
                </a:gridCol>
                <a:gridCol w="1270000">
                  <a:extLst>
                    <a:ext uri="{9D8B030D-6E8A-4147-A177-3AD203B41FA5}">
                      <a16:colId xmlns:a16="http://schemas.microsoft.com/office/drawing/2014/main" val="853875666"/>
                    </a:ext>
                  </a:extLst>
                </a:gridCol>
              </a:tblGrid>
              <a:tr h="378595">
                <a:tc>
                  <a:txBody>
                    <a:bodyPr/>
                    <a:lstStyle/>
                    <a:p>
                      <a:pPr algn="ctr" latinLnBrk="1"/>
                      <a:r>
                        <a:rPr lang="en-US" altLang="ko-KR" b="0"/>
                        <a:t>process</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b="0"/>
                        <a:t>tickets</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b="0"/>
                        <a:t>stride</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76496199"/>
                  </a:ext>
                </a:extLst>
              </a:tr>
              <a:tr h="378595">
                <a:tc>
                  <a:txBody>
                    <a:bodyPr/>
                    <a:lstStyle/>
                    <a:p>
                      <a:pPr algn="ctr" latinLnBrk="1"/>
                      <a:r>
                        <a:rPr lang="en-US" altLang="ko-KR" b="0"/>
                        <a:t>A</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b="0"/>
                        <a:t>50</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b="0"/>
                        <a:t>20</a:t>
                      </a:r>
                      <a:endParaRPr lang="ko-KR" altLang="en-US" b="0">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9911191"/>
                  </a:ext>
                </a:extLst>
              </a:tr>
              <a:tr h="378595">
                <a:tc>
                  <a:txBody>
                    <a:bodyPr/>
                    <a:lstStyle/>
                    <a:p>
                      <a:pPr algn="ctr" latinLnBrk="1"/>
                      <a:r>
                        <a:rPr lang="en-US" altLang="ko-KR"/>
                        <a:t>B</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a:t>100</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a:t>10</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9489694"/>
                  </a:ext>
                </a:extLst>
              </a:tr>
              <a:tr h="378595">
                <a:tc>
                  <a:txBody>
                    <a:bodyPr/>
                    <a:lstStyle/>
                    <a:p>
                      <a:pPr algn="ctr" latinLnBrk="1"/>
                      <a:r>
                        <a:rPr lang="en-US" altLang="ko-KR"/>
                        <a:t>C</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a:t>250</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a:t>4</a:t>
                      </a:r>
                      <a:endParaRPr lang="ko-KR" altLang="en-US">
                        <a:latin typeface="Arial" panose="020B0604020202020204" pitchFamily="34" charset="0"/>
                        <a:ea typeface="문체부 돋음체" panose="020B0609000101010101" pitchFamily="49" charset="-127"/>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4526332"/>
                  </a:ext>
                </a:extLst>
              </a:tr>
            </a:tbl>
          </a:graphicData>
        </a:graphic>
      </p:graphicFrame>
      <p:cxnSp>
        <p:nvCxnSpPr>
          <p:cNvPr id="46" name="직선 화살표 연결선 45">
            <a:extLst>
              <a:ext uri="{FF2B5EF4-FFF2-40B4-BE49-F238E27FC236}">
                <a16:creationId xmlns:a16="http://schemas.microsoft.com/office/drawing/2014/main" id="{19508E21-5751-052E-05F5-664FA5FD3F8D}"/>
              </a:ext>
            </a:extLst>
          </p:cNvPr>
          <p:cNvCxnSpPr>
            <a:cxnSpLocks/>
          </p:cNvCxnSpPr>
          <p:nvPr/>
        </p:nvCxnSpPr>
        <p:spPr bwMode="auto">
          <a:xfrm flipV="1">
            <a:off x="5116882" y="1981200"/>
            <a:ext cx="0" cy="2166450"/>
          </a:xfrm>
          <a:prstGeom prst="straightConnector1">
            <a:avLst/>
          </a:prstGeom>
          <a:solidFill>
            <a:schemeClr val="accent1"/>
          </a:solidFill>
          <a:ln w="19050" cap="flat" cmpd="sng" algn="ctr">
            <a:solidFill>
              <a:schemeClr val="tx1"/>
            </a:solidFill>
            <a:prstDash val="solid"/>
            <a:round/>
            <a:headEnd type="none" w="lg" len="lg"/>
            <a:tailEnd type="triangle" w="lg" len="lg"/>
          </a:ln>
          <a:effectLst/>
        </p:spPr>
      </p:cxnSp>
      <p:sp>
        <p:nvSpPr>
          <p:cNvPr id="47" name="TextBox 46">
            <a:extLst>
              <a:ext uri="{FF2B5EF4-FFF2-40B4-BE49-F238E27FC236}">
                <a16:creationId xmlns:a16="http://schemas.microsoft.com/office/drawing/2014/main" id="{BAB71928-4776-2BBF-4053-23B944E1A22B}"/>
              </a:ext>
            </a:extLst>
          </p:cNvPr>
          <p:cNvSpPr txBox="1"/>
          <p:nvPr/>
        </p:nvSpPr>
        <p:spPr>
          <a:xfrm rot="5400000">
            <a:off x="4575045" y="2340435"/>
            <a:ext cx="864339" cy="461665"/>
          </a:xfrm>
          <a:prstGeom prst="rect">
            <a:avLst/>
          </a:prstGeom>
          <a:noFill/>
        </p:spPr>
        <p:txBody>
          <a:bodyPr wrap="none" rtlCol="0">
            <a:spAutoFit/>
          </a:bodyPr>
          <a:lstStyle/>
          <a:p>
            <a:r>
              <a:rPr lang="en-US" altLang="ko-KR" sz="2400">
                <a:latin typeface="Consolas" panose="020B0609020204030204" pitchFamily="49" charset="0"/>
              </a:rPr>
              <a:t>pass</a:t>
            </a:r>
            <a:endParaRPr lang="ko-KR" altLang="en-US" sz="2400">
              <a:latin typeface="Consolas" panose="020B0609020204030204" pitchFamily="49" charset="0"/>
            </a:endParaRPr>
          </a:p>
        </p:txBody>
      </p:sp>
      <p:sp>
        <p:nvSpPr>
          <p:cNvPr id="48" name="TextBox 47">
            <a:extLst>
              <a:ext uri="{FF2B5EF4-FFF2-40B4-BE49-F238E27FC236}">
                <a16:creationId xmlns:a16="http://schemas.microsoft.com/office/drawing/2014/main" id="{BCEA386C-47F8-8740-BF72-807BCE6B79C2}"/>
              </a:ext>
            </a:extLst>
          </p:cNvPr>
          <p:cNvSpPr txBox="1"/>
          <p:nvPr/>
        </p:nvSpPr>
        <p:spPr>
          <a:xfrm>
            <a:off x="5574082" y="4147650"/>
            <a:ext cx="341760" cy="461665"/>
          </a:xfrm>
          <a:prstGeom prst="rect">
            <a:avLst/>
          </a:prstGeom>
          <a:noFill/>
        </p:spPr>
        <p:txBody>
          <a:bodyPr wrap="square" rtlCol="0">
            <a:spAutoFit/>
          </a:bodyPr>
          <a:lstStyle/>
          <a:p>
            <a:r>
              <a:rPr lang="en-US" altLang="ko-KR" sz="2400">
                <a:latin typeface="Consolas" panose="020B0609020204030204" pitchFamily="49" charset="0"/>
              </a:rPr>
              <a:t>A</a:t>
            </a:r>
            <a:endParaRPr lang="ko-KR" altLang="en-US" sz="2400">
              <a:latin typeface="Consolas" panose="020B0609020204030204" pitchFamily="49" charset="0"/>
            </a:endParaRPr>
          </a:p>
        </p:txBody>
      </p:sp>
      <p:sp>
        <p:nvSpPr>
          <p:cNvPr id="49" name="TextBox 48">
            <a:extLst>
              <a:ext uri="{FF2B5EF4-FFF2-40B4-BE49-F238E27FC236}">
                <a16:creationId xmlns:a16="http://schemas.microsoft.com/office/drawing/2014/main" id="{796DCA31-E556-39DA-785C-21C18EC5282C}"/>
              </a:ext>
            </a:extLst>
          </p:cNvPr>
          <p:cNvSpPr txBox="1"/>
          <p:nvPr/>
        </p:nvSpPr>
        <p:spPr>
          <a:xfrm>
            <a:off x="6702309" y="4147650"/>
            <a:ext cx="341760" cy="461665"/>
          </a:xfrm>
          <a:prstGeom prst="rect">
            <a:avLst/>
          </a:prstGeom>
          <a:noFill/>
        </p:spPr>
        <p:txBody>
          <a:bodyPr wrap="square" rtlCol="0">
            <a:spAutoFit/>
          </a:bodyPr>
          <a:lstStyle/>
          <a:p>
            <a:r>
              <a:rPr lang="en-US" altLang="ko-KR" sz="2400">
                <a:latin typeface="Consolas" panose="020B0609020204030204" pitchFamily="49" charset="0"/>
              </a:rPr>
              <a:t>B</a:t>
            </a:r>
            <a:endParaRPr lang="ko-KR" altLang="en-US" sz="2400">
              <a:latin typeface="Consolas" panose="020B0609020204030204" pitchFamily="49" charset="0"/>
            </a:endParaRPr>
          </a:p>
        </p:txBody>
      </p:sp>
      <p:sp>
        <p:nvSpPr>
          <p:cNvPr id="50" name="TextBox 49">
            <a:extLst>
              <a:ext uri="{FF2B5EF4-FFF2-40B4-BE49-F238E27FC236}">
                <a16:creationId xmlns:a16="http://schemas.microsoft.com/office/drawing/2014/main" id="{66E01547-A78B-01D5-0557-5D256DFA12D9}"/>
              </a:ext>
            </a:extLst>
          </p:cNvPr>
          <p:cNvSpPr txBox="1"/>
          <p:nvPr/>
        </p:nvSpPr>
        <p:spPr>
          <a:xfrm>
            <a:off x="7823176" y="4147650"/>
            <a:ext cx="341760" cy="461665"/>
          </a:xfrm>
          <a:prstGeom prst="rect">
            <a:avLst/>
          </a:prstGeom>
          <a:noFill/>
        </p:spPr>
        <p:txBody>
          <a:bodyPr wrap="square" rtlCol="0">
            <a:spAutoFit/>
          </a:bodyPr>
          <a:lstStyle/>
          <a:p>
            <a:r>
              <a:rPr lang="en-US" altLang="ko-KR" sz="2400">
                <a:latin typeface="Consolas" panose="020B0609020204030204" pitchFamily="49" charset="0"/>
              </a:rPr>
              <a:t>C</a:t>
            </a:r>
            <a:endParaRPr lang="ko-KR" altLang="en-US" sz="2400">
              <a:latin typeface="Consolas" panose="020B0609020204030204" pitchFamily="49" charset="0"/>
            </a:endParaRPr>
          </a:p>
        </p:txBody>
      </p:sp>
      <p:sp>
        <p:nvSpPr>
          <p:cNvPr id="51" name="직사각형 50">
            <a:extLst>
              <a:ext uri="{FF2B5EF4-FFF2-40B4-BE49-F238E27FC236}">
                <a16:creationId xmlns:a16="http://schemas.microsoft.com/office/drawing/2014/main" id="{DE88FC3A-97B1-A207-5EB2-6CCD28C5A679}"/>
              </a:ext>
            </a:extLst>
          </p:cNvPr>
          <p:cNvSpPr/>
          <p:nvPr/>
        </p:nvSpPr>
        <p:spPr bwMode="auto">
          <a:xfrm>
            <a:off x="5486583" y="2707649"/>
            <a:ext cx="550508" cy="144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0</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cxnSp>
        <p:nvCxnSpPr>
          <p:cNvPr id="52" name="직선 화살표 연결선 51">
            <a:extLst>
              <a:ext uri="{FF2B5EF4-FFF2-40B4-BE49-F238E27FC236}">
                <a16:creationId xmlns:a16="http://schemas.microsoft.com/office/drawing/2014/main" id="{DDE8A85F-F905-53C2-4131-C7B6F2E2F125}"/>
              </a:ext>
            </a:extLst>
          </p:cNvPr>
          <p:cNvCxnSpPr>
            <a:cxnSpLocks/>
          </p:cNvCxnSpPr>
          <p:nvPr/>
        </p:nvCxnSpPr>
        <p:spPr bwMode="auto">
          <a:xfrm>
            <a:off x="1894162" y="5347488"/>
            <a:ext cx="5479947" cy="0"/>
          </a:xfrm>
          <a:prstGeom prst="straightConnector1">
            <a:avLst/>
          </a:prstGeom>
          <a:solidFill>
            <a:schemeClr val="accent1"/>
          </a:solidFill>
          <a:ln w="19050" cap="flat" cmpd="sng" algn="ctr">
            <a:solidFill>
              <a:schemeClr val="tx1"/>
            </a:solidFill>
            <a:prstDash val="solid"/>
            <a:round/>
            <a:headEnd type="none" w="lg" len="lg"/>
            <a:tailEnd type="triangle" w="lg" len="lg"/>
          </a:ln>
          <a:effectLst/>
        </p:spPr>
      </p:cxnSp>
      <p:sp>
        <p:nvSpPr>
          <p:cNvPr id="53" name="직사각형 52">
            <a:extLst>
              <a:ext uri="{FF2B5EF4-FFF2-40B4-BE49-F238E27FC236}">
                <a16:creationId xmlns:a16="http://schemas.microsoft.com/office/drawing/2014/main" id="{350131A9-0E69-3B27-DDD2-DA57239AB4A5}"/>
              </a:ext>
            </a:extLst>
          </p:cNvPr>
          <p:cNvSpPr/>
          <p:nvPr/>
        </p:nvSpPr>
        <p:spPr bwMode="auto">
          <a:xfrm>
            <a:off x="6607861" y="3427650"/>
            <a:ext cx="550508" cy="72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1</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54" name="직사각형 53">
            <a:extLst>
              <a:ext uri="{FF2B5EF4-FFF2-40B4-BE49-F238E27FC236}">
                <a16:creationId xmlns:a16="http://schemas.microsoft.com/office/drawing/2014/main" id="{CA546219-000D-FD25-007C-335099EBF8EA}"/>
              </a:ext>
            </a:extLst>
          </p:cNvPr>
          <p:cNvSpPr/>
          <p:nvPr/>
        </p:nvSpPr>
        <p:spPr bwMode="auto">
          <a:xfrm>
            <a:off x="7718802" y="3859650"/>
            <a:ext cx="550508" cy="288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2</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55" name="TextBox 54">
            <a:extLst>
              <a:ext uri="{FF2B5EF4-FFF2-40B4-BE49-F238E27FC236}">
                <a16:creationId xmlns:a16="http://schemas.microsoft.com/office/drawing/2014/main" id="{94106013-570D-D073-B4B8-3070E69196EF}"/>
              </a:ext>
            </a:extLst>
          </p:cNvPr>
          <p:cNvSpPr txBox="1"/>
          <p:nvPr/>
        </p:nvSpPr>
        <p:spPr>
          <a:xfrm>
            <a:off x="679574" y="3805115"/>
            <a:ext cx="3810000" cy="307777"/>
          </a:xfrm>
          <a:prstGeom prst="rect">
            <a:avLst/>
          </a:prstGeom>
          <a:noFill/>
        </p:spPr>
        <p:txBody>
          <a:bodyPr wrap="square" rtlCol="0">
            <a:spAutoFit/>
          </a:bodyPr>
          <a:lstStyle/>
          <a:p>
            <a:r>
              <a:rPr lang="en-US" altLang="ko-KR" sz="1400">
                <a:latin typeface="Arial" panose="020B0604020202020204" pitchFamily="34" charset="0"/>
                <a:ea typeface="문체부 돋음체" panose="020B0609000101010101" pitchFamily="49" charset="-127"/>
                <a:cs typeface="Arial" panose="020B0604020202020204" pitchFamily="34" charset="0"/>
              </a:rPr>
              <a:t>* Let, (stride) = </a:t>
            </a:r>
            <a:r>
              <a:rPr lang="en-US" altLang="ko-KR" sz="1400" b="1">
                <a:latin typeface="Arial" panose="020B0604020202020204" pitchFamily="34" charset="0"/>
                <a:ea typeface="문체부 돋음체" panose="020B0609000101010101" pitchFamily="49" charset="-127"/>
                <a:cs typeface="Arial" panose="020B0604020202020204" pitchFamily="34" charset="0"/>
              </a:rPr>
              <a:t>1000</a:t>
            </a:r>
            <a:r>
              <a:rPr lang="en-US" altLang="ko-KR" sz="1400">
                <a:latin typeface="Arial" panose="020B0604020202020204" pitchFamily="34" charset="0"/>
                <a:ea typeface="문체부 돋음체" panose="020B0609000101010101" pitchFamily="49" charset="-127"/>
                <a:cs typeface="Arial" panose="020B0604020202020204" pitchFamily="34" charset="0"/>
              </a:rPr>
              <a:t>/(tickets)</a:t>
            </a:r>
            <a:endParaRPr lang="ko-KR" altLang="en-US" sz="1400">
              <a:latin typeface="Arial" panose="020B0604020202020204" pitchFamily="34" charset="0"/>
              <a:ea typeface="문체부 돋음체" panose="020B0609000101010101" pitchFamily="49" charset="-127"/>
              <a:cs typeface="Arial" panose="020B0604020202020204" pitchFamily="34" charset="0"/>
            </a:endParaRPr>
          </a:p>
        </p:txBody>
      </p:sp>
      <p:sp>
        <p:nvSpPr>
          <p:cNvPr id="56" name="TextBox 55">
            <a:extLst>
              <a:ext uri="{FF2B5EF4-FFF2-40B4-BE49-F238E27FC236}">
                <a16:creationId xmlns:a16="http://schemas.microsoft.com/office/drawing/2014/main" id="{D5E736E7-83D0-A907-ECCC-29794489AA7B}"/>
              </a:ext>
            </a:extLst>
          </p:cNvPr>
          <p:cNvSpPr txBox="1"/>
          <p:nvPr/>
        </p:nvSpPr>
        <p:spPr>
          <a:xfrm>
            <a:off x="7010400" y="5400130"/>
            <a:ext cx="1030731" cy="307777"/>
          </a:xfrm>
          <a:prstGeom prst="rect">
            <a:avLst/>
          </a:prstGeom>
          <a:noFill/>
        </p:spPr>
        <p:txBody>
          <a:bodyPr wrap="none" rtlCol="0">
            <a:spAutoFit/>
          </a:bodyPr>
          <a:lstStyle/>
          <a:p>
            <a:r>
              <a:rPr lang="en-US" altLang="ko-KR" sz="1400">
                <a:latin typeface="Arial" panose="020B0604020202020204" pitchFamily="34" charset="0"/>
                <a:ea typeface="문체부 제목 돋음체" panose="020B0609000101010101" pitchFamily="49" charset="-127"/>
                <a:cs typeface="Arial" panose="020B0604020202020204" pitchFamily="34" charset="0"/>
              </a:rPr>
              <a:t>Unit Times</a:t>
            </a:r>
            <a:endParaRPr lang="ko-KR" altLang="en-US" sz="1400">
              <a:latin typeface="Arial" panose="020B0604020202020204" pitchFamily="34" charset="0"/>
              <a:ea typeface="문체부 제목 돋음체" panose="020B0609000101010101" pitchFamily="49" charset="-127"/>
              <a:cs typeface="Arial" panose="020B0604020202020204" pitchFamily="34" charset="0"/>
            </a:endParaRPr>
          </a:p>
        </p:txBody>
      </p:sp>
      <p:cxnSp>
        <p:nvCxnSpPr>
          <p:cNvPr id="57" name="직선 연결선 56">
            <a:extLst>
              <a:ext uri="{FF2B5EF4-FFF2-40B4-BE49-F238E27FC236}">
                <a16:creationId xmlns:a16="http://schemas.microsoft.com/office/drawing/2014/main" id="{34B583D8-7755-C426-8194-75A7E3539368}"/>
              </a:ext>
            </a:extLst>
          </p:cNvPr>
          <p:cNvCxnSpPr>
            <a:cxnSpLocks/>
          </p:cNvCxnSpPr>
          <p:nvPr/>
        </p:nvCxnSpPr>
        <p:spPr bwMode="auto">
          <a:xfrm>
            <a:off x="1894162"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58" name="TextBox 57">
            <a:extLst>
              <a:ext uri="{FF2B5EF4-FFF2-40B4-BE49-F238E27FC236}">
                <a16:creationId xmlns:a16="http://schemas.microsoft.com/office/drawing/2014/main" id="{860EF254-3DCD-5816-99D4-2FB36C6C05F4}"/>
              </a:ext>
            </a:extLst>
          </p:cNvPr>
          <p:cNvSpPr txBox="1"/>
          <p:nvPr/>
        </p:nvSpPr>
        <p:spPr>
          <a:xfrm>
            <a:off x="1752136"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0</a:t>
            </a:r>
            <a:endParaRPr lang="ko-KR" altLang="en-US" sz="1400">
              <a:latin typeface="Consolas" panose="020B0609020204030204" pitchFamily="49" charset="0"/>
              <a:ea typeface="문체부 제목 돋음체" panose="020B0609000101010101" pitchFamily="49" charset="-127"/>
            </a:endParaRPr>
          </a:p>
        </p:txBody>
      </p:sp>
      <p:cxnSp>
        <p:nvCxnSpPr>
          <p:cNvPr id="59" name="직선 연결선 58">
            <a:extLst>
              <a:ext uri="{FF2B5EF4-FFF2-40B4-BE49-F238E27FC236}">
                <a16:creationId xmlns:a16="http://schemas.microsoft.com/office/drawing/2014/main" id="{3CA3AA7F-9A55-F484-685E-256922D425FD}"/>
              </a:ext>
            </a:extLst>
          </p:cNvPr>
          <p:cNvCxnSpPr>
            <a:cxnSpLocks/>
          </p:cNvCxnSpPr>
          <p:nvPr/>
        </p:nvCxnSpPr>
        <p:spPr bwMode="auto">
          <a:xfrm>
            <a:off x="2497309"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0" name="TextBox 59">
            <a:extLst>
              <a:ext uri="{FF2B5EF4-FFF2-40B4-BE49-F238E27FC236}">
                <a16:creationId xmlns:a16="http://schemas.microsoft.com/office/drawing/2014/main" id="{434DC1C7-3D64-3E44-A297-6F289C9F1BCA}"/>
              </a:ext>
            </a:extLst>
          </p:cNvPr>
          <p:cNvSpPr txBox="1"/>
          <p:nvPr/>
        </p:nvSpPr>
        <p:spPr>
          <a:xfrm>
            <a:off x="2355283"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1</a:t>
            </a:r>
            <a:endParaRPr lang="ko-KR" altLang="en-US" sz="1400">
              <a:latin typeface="Consolas" panose="020B0609020204030204" pitchFamily="49" charset="0"/>
              <a:ea typeface="문체부 제목 돋음체" panose="020B0609000101010101" pitchFamily="49" charset="-127"/>
            </a:endParaRPr>
          </a:p>
        </p:txBody>
      </p:sp>
      <p:cxnSp>
        <p:nvCxnSpPr>
          <p:cNvPr id="61" name="직선 연결선 60">
            <a:extLst>
              <a:ext uri="{FF2B5EF4-FFF2-40B4-BE49-F238E27FC236}">
                <a16:creationId xmlns:a16="http://schemas.microsoft.com/office/drawing/2014/main" id="{11DEBD4B-494D-061C-ED6F-209903C45040}"/>
              </a:ext>
            </a:extLst>
          </p:cNvPr>
          <p:cNvCxnSpPr>
            <a:cxnSpLocks/>
          </p:cNvCxnSpPr>
          <p:nvPr/>
        </p:nvCxnSpPr>
        <p:spPr bwMode="auto">
          <a:xfrm>
            <a:off x="3100455"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2" name="TextBox 61">
            <a:extLst>
              <a:ext uri="{FF2B5EF4-FFF2-40B4-BE49-F238E27FC236}">
                <a16:creationId xmlns:a16="http://schemas.microsoft.com/office/drawing/2014/main" id="{9C1E8AF6-6D5C-7CBF-1439-077058603C18}"/>
              </a:ext>
            </a:extLst>
          </p:cNvPr>
          <p:cNvSpPr txBox="1"/>
          <p:nvPr/>
        </p:nvSpPr>
        <p:spPr>
          <a:xfrm>
            <a:off x="2958429"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2</a:t>
            </a:r>
            <a:endParaRPr lang="ko-KR" altLang="en-US" sz="1400">
              <a:latin typeface="Consolas" panose="020B0609020204030204" pitchFamily="49" charset="0"/>
              <a:ea typeface="문체부 제목 돋음체" panose="020B0609000101010101" pitchFamily="49" charset="-127"/>
            </a:endParaRPr>
          </a:p>
        </p:txBody>
      </p:sp>
      <p:cxnSp>
        <p:nvCxnSpPr>
          <p:cNvPr id="63" name="직선 연결선 62">
            <a:extLst>
              <a:ext uri="{FF2B5EF4-FFF2-40B4-BE49-F238E27FC236}">
                <a16:creationId xmlns:a16="http://schemas.microsoft.com/office/drawing/2014/main" id="{EC44D1CC-F4A4-90AD-153C-1A195908C970}"/>
              </a:ext>
            </a:extLst>
          </p:cNvPr>
          <p:cNvCxnSpPr>
            <a:cxnSpLocks/>
          </p:cNvCxnSpPr>
          <p:nvPr/>
        </p:nvCxnSpPr>
        <p:spPr bwMode="auto">
          <a:xfrm>
            <a:off x="3703601"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4" name="TextBox 63">
            <a:extLst>
              <a:ext uri="{FF2B5EF4-FFF2-40B4-BE49-F238E27FC236}">
                <a16:creationId xmlns:a16="http://schemas.microsoft.com/office/drawing/2014/main" id="{FD8DAFFA-91CA-2A57-4C9D-25BE29E13CE7}"/>
              </a:ext>
            </a:extLst>
          </p:cNvPr>
          <p:cNvSpPr txBox="1"/>
          <p:nvPr/>
        </p:nvSpPr>
        <p:spPr>
          <a:xfrm>
            <a:off x="3561575"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3</a:t>
            </a:r>
            <a:endParaRPr lang="ko-KR" altLang="en-US" sz="1400">
              <a:latin typeface="Consolas" panose="020B0609020204030204" pitchFamily="49" charset="0"/>
              <a:ea typeface="문체부 제목 돋음체" panose="020B0609000101010101" pitchFamily="49" charset="-127"/>
            </a:endParaRPr>
          </a:p>
        </p:txBody>
      </p:sp>
      <p:cxnSp>
        <p:nvCxnSpPr>
          <p:cNvPr id="65" name="직선 연결선 64">
            <a:extLst>
              <a:ext uri="{FF2B5EF4-FFF2-40B4-BE49-F238E27FC236}">
                <a16:creationId xmlns:a16="http://schemas.microsoft.com/office/drawing/2014/main" id="{92B03443-6DE6-180C-9C92-F0A71C446DEC}"/>
              </a:ext>
            </a:extLst>
          </p:cNvPr>
          <p:cNvCxnSpPr>
            <a:cxnSpLocks/>
          </p:cNvCxnSpPr>
          <p:nvPr/>
        </p:nvCxnSpPr>
        <p:spPr bwMode="auto">
          <a:xfrm>
            <a:off x="4300651"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6" name="TextBox 65">
            <a:extLst>
              <a:ext uri="{FF2B5EF4-FFF2-40B4-BE49-F238E27FC236}">
                <a16:creationId xmlns:a16="http://schemas.microsoft.com/office/drawing/2014/main" id="{73C249F0-761D-BCBB-3ECB-BE16AD3C8C2C}"/>
              </a:ext>
            </a:extLst>
          </p:cNvPr>
          <p:cNvSpPr txBox="1"/>
          <p:nvPr/>
        </p:nvSpPr>
        <p:spPr>
          <a:xfrm>
            <a:off x="4158625"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4</a:t>
            </a:r>
            <a:endParaRPr lang="ko-KR" altLang="en-US" sz="1400">
              <a:latin typeface="Consolas" panose="020B0609020204030204" pitchFamily="49" charset="0"/>
              <a:ea typeface="문체부 제목 돋음체" panose="020B0609000101010101" pitchFamily="49" charset="-127"/>
            </a:endParaRPr>
          </a:p>
        </p:txBody>
      </p:sp>
      <p:cxnSp>
        <p:nvCxnSpPr>
          <p:cNvPr id="67" name="직선 연결선 66">
            <a:extLst>
              <a:ext uri="{FF2B5EF4-FFF2-40B4-BE49-F238E27FC236}">
                <a16:creationId xmlns:a16="http://schemas.microsoft.com/office/drawing/2014/main" id="{4C51518A-E2C3-AFA5-BB49-550181AD53D6}"/>
              </a:ext>
            </a:extLst>
          </p:cNvPr>
          <p:cNvCxnSpPr>
            <a:cxnSpLocks/>
          </p:cNvCxnSpPr>
          <p:nvPr/>
        </p:nvCxnSpPr>
        <p:spPr bwMode="auto">
          <a:xfrm>
            <a:off x="4903797"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68" name="TextBox 67">
            <a:extLst>
              <a:ext uri="{FF2B5EF4-FFF2-40B4-BE49-F238E27FC236}">
                <a16:creationId xmlns:a16="http://schemas.microsoft.com/office/drawing/2014/main" id="{B71C263B-CB9B-6E5A-E037-076E9BB5551C}"/>
              </a:ext>
            </a:extLst>
          </p:cNvPr>
          <p:cNvSpPr txBox="1"/>
          <p:nvPr/>
        </p:nvSpPr>
        <p:spPr>
          <a:xfrm>
            <a:off x="4761771"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5</a:t>
            </a:r>
            <a:endParaRPr lang="ko-KR" altLang="en-US" sz="1400">
              <a:latin typeface="Consolas" panose="020B0609020204030204" pitchFamily="49" charset="0"/>
              <a:ea typeface="문체부 제목 돋음체" panose="020B0609000101010101" pitchFamily="49" charset="-127"/>
            </a:endParaRPr>
          </a:p>
        </p:txBody>
      </p:sp>
      <p:cxnSp>
        <p:nvCxnSpPr>
          <p:cNvPr id="69" name="직선 연결선 68">
            <a:extLst>
              <a:ext uri="{FF2B5EF4-FFF2-40B4-BE49-F238E27FC236}">
                <a16:creationId xmlns:a16="http://schemas.microsoft.com/office/drawing/2014/main" id="{737A3AAA-E001-0A27-9D0A-3C6F555CA81F}"/>
              </a:ext>
            </a:extLst>
          </p:cNvPr>
          <p:cNvCxnSpPr>
            <a:cxnSpLocks/>
          </p:cNvCxnSpPr>
          <p:nvPr/>
        </p:nvCxnSpPr>
        <p:spPr bwMode="auto">
          <a:xfrm>
            <a:off x="5506943"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70" name="TextBox 69">
            <a:extLst>
              <a:ext uri="{FF2B5EF4-FFF2-40B4-BE49-F238E27FC236}">
                <a16:creationId xmlns:a16="http://schemas.microsoft.com/office/drawing/2014/main" id="{E8FFEA8F-3CF9-2F9A-785D-5874DA8AEA5C}"/>
              </a:ext>
            </a:extLst>
          </p:cNvPr>
          <p:cNvSpPr txBox="1"/>
          <p:nvPr/>
        </p:nvSpPr>
        <p:spPr>
          <a:xfrm>
            <a:off x="5364917"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6</a:t>
            </a:r>
            <a:endParaRPr lang="ko-KR" altLang="en-US" sz="1400">
              <a:latin typeface="Consolas" panose="020B0609020204030204" pitchFamily="49" charset="0"/>
              <a:ea typeface="문체부 제목 돋음체" panose="020B0609000101010101" pitchFamily="49" charset="-127"/>
            </a:endParaRPr>
          </a:p>
        </p:txBody>
      </p:sp>
      <p:cxnSp>
        <p:nvCxnSpPr>
          <p:cNvPr id="71" name="직선 연결선 70">
            <a:extLst>
              <a:ext uri="{FF2B5EF4-FFF2-40B4-BE49-F238E27FC236}">
                <a16:creationId xmlns:a16="http://schemas.microsoft.com/office/drawing/2014/main" id="{EECA1773-719F-D0C4-E781-A788D2EEE070}"/>
              </a:ext>
            </a:extLst>
          </p:cNvPr>
          <p:cNvCxnSpPr>
            <a:cxnSpLocks/>
          </p:cNvCxnSpPr>
          <p:nvPr/>
        </p:nvCxnSpPr>
        <p:spPr bwMode="auto">
          <a:xfrm>
            <a:off x="6113705"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72" name="TextBox 71">
            <a:extLst>
              <a:ext uri="{FF2B5EF4-FFF2-40B4-BE49-F238E27FC236}">
                <a16:creationId xmlns:a16="http://schemas.microsoft.com/office/drawing/2014/main" id="{A0D1A4D6-ABCE-B275-4F01-90A65DC466B9}"/>
              </a:ext>
            </a:extLst>
          </p:cNvPr>
          <p:cNvSpPr txBox="1"/>
          <p:nvPr/>
        </p:nvSpPr>
        <p:spPr>
          <a:xfrm>
            <a:off x="5971679"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7</a:t>
            </a:r>
            <a:endParaRPr lang="ko-KR" altLang="en-US" sz="1400">
              <a:latin typeface="Consolas" panose="020B0609020204030204" pitchFamily="49" charset="0"/>
              <a:ea typeface="문체부 제목 돋음체" panose="020B0609000101010101" pitchFamily="49" charset="-127"/>
            </a:endParaRPr>
          </a:p>
        </p:txBody>
      </p:sp>
      <p:cxnSp>
        <p:nvCxnSpPr>
          <p:cNvPr id="73" name="직선 연결선 72">
            <a:extLst>
              <a:ext uri="{FF2B5EF4-FFF2-40B4-BE49-F238E27FC236}">
                <a16:creationId xmlns:a16="http://schemas.microsoft.com/office/drawing/2014/main" id="{20190D0D-4E79-AC26-949E-AD1C69472D43}"/>
              </a:ext>
            </a:extLst>
          </p:cNvPr>
          <p:cNvCxnSpPr>
            <a:cxnSpLocks/>
          </p:cNvCxnSpPr>
          <p:nvPr/>
        </p:nvCxnSpPr>
        <p:spPr bwMode="auto">
          <a:xfrm>
            <a:off x="6716851" y="4745433"/>
            <a:ext cx="0" cy="663016"/>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74" name="TextBox 73">
            <a:extLst>
              <a:ext uri="{FF2B5EF4-FFF2-40B4-BE49-F238E27FC236}">
                <a16:creationId xmlns:a16="http://schemas.microsoft.com/office/drawing/2014/main" id="{8BD7ACC7-DE30-924E-B79D-2549525E1688}"/>
              </a:ext>
            </a:extLst>
          </p:cNvPr>
          <p:cNvSpPr txBox="1"/>
          <p:nvPr/>
        </p:nvSpPr>
        <p:spPr>
          <a:xfrm>
            <a:off x="6574825" y="5400131"/>
            <a:ext cx="284052" cy="307777"/>
          </a:xfrm>
          <a:prstGeom prst="rect">
            <a:avLst/>
          </a:prstGeom>
          <a:noFill/>
        </p:spPr>
        <p:txBody>
          <a:bodyPr wrap="none" rtlCol="0">
            <a:spAutoFit/>
          </a:bodyPr>
          <a:lstStyle/>
          <a:p>
            <a:r>
              <a:rPr lang="en-US" altLang="ko-KR" sz="1400">
                <a:latin typeface="Consolas" panose="020B0609020204030204" pitchFamily="49" charset="0"/>
                <a:ea typeface="문체부 제목 돋음체" panose="020B0609000101010101" pitchFamily="49" charset="-127"/>
              </a:rPr>
              <a:t>8</a:t>
            </a:r>
            <a:endParaRPr lang="ko-KR" altLang="en-US" sz="1400">
              <a:latin typeface="Consolas" panose="020B0609020204030204" pitchFamily="49" charset="0"/>
              <a:ea typeface="문체부 제목 돋음체" panose="020B0609000101010101" pitchFamily="49" charset="-127"/>
            </a:endParaRPr>
          </a:p>
        </p:txBody>
      </p:sp>
      <p:sp>
        <p:nvSpPr>
          <p:cNvPr id="75" name="직사각형 74">
            <a:extLst>
              <a:ext uri="{FF2B5EF4-FFF2-40B4-BE49-F238E27FC236}">
                <a16:creationId xmlns:a16="http://schemas.microsoft.com/office/drawing/2014/main" id="{34A52D47-47E5-68A0-CD5E-356B5C33B23C}"/>
              </a:ext>
            </a:extLst>
          </p:cNvPr>
          <p:cNvSpPr/>
          <p:nvPr/>
        </p:nvSpPr>
        <p:spPr bwMode="auto">
          <a:xfrm>
            <a:off x="1894162"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6" name="직사각형 75">
            <a:extLst>
              <a:ext uri="{FF2B5EF4-FFF2-40B4-BE49-F238E27FC236}">
                <a16:creationId xmlns:a16="http://schemas.microsoft.com/office/drawing/2014/main" id="{712445E8-7864-C319-5FCE-C14F41F0B02A}"/>
              </a:ext>
            </a:extLst>
          </p:cNvPr>
          <p:cNvSpPr/>
          <p:nvPr/>
        </p:nvSpPr>
        <p:spPr bwMode="auto">
          <a:xfrm>
            <a:off x="2499112"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B</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7" name="직사각형 76">
            <a:extLst>
              <a:ext uri="{FF2B5EF4-FFF2-40B4-BE49-F238E27FC236}">
                <a16:creationId xmlns:a16="http://schemas.microsoft.com/office/drawing/2014/main" id="{B6E0ADFB-7A6C-A6B3-6157-683F30D927C3}"/>
              </a:ext>
            </a:extLst>
          </p:cNvPr>
          <p:cNvSpPr/>
          <p:nvPr/>
        </p:nvSpPr>
        <p:spPr bwMode="auto">
          <a:xfrm>
            <a:off x="1897124"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A</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8" name="직사각형 77">
            <a:extLst>
              <a:ext uri="{FF2B5EF4-FFF2-40B4-BE49-F238E27FC236}">
                <a16:creationId xmlns:a16="http://schemas.microsoft.com/office/drawing/2014/main" id="{0EC688BE-7B61-3187-F0AF-8DBB25FEA33E}"/>
              </a:ext>
            </a:extLst>
          </p:cNvPr>
          <p:cNvSpPr/>
          <p:nvPr/>
        </p:nvSpPr>
        <p:spPr bwMode="auto">
          <a:xfrm>
            <a:off x="3692667"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C</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9" name="직사각형 78">
            <a:extLst>
              <a:ext uri="{FF2B5EF4-FFF2-40B4-BE49-F238E27FC236}">
                <a16:creationId xmlns:a16="http://schemas.microsoft.com/office/drawing/2014/main" id="{B5498CC4-5742-5923-4422-8C4EF9C783C2}"/>
              </a:ext>
            </a:extLst>
          </p:cNvPr>
          <p:cNvSpPr/>
          <p:nvPr/>
        </p:nvSpPr>
        <p:spPr bwMode="auto">
          <a:xfrm>
            <a:off x="3090679"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C</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0" name="직사각형 79">
            <a:extLst>
              <a:ext uri="{FF2B5EF4-FFF2-40B4-BE49-F238E27FC236}">
                <a16:creationId xmlns:a16="http://schemas.microsoft.com/office/drawing/2014/main" id="{B8639695-6A31-839F-DFF6-1530269EEDEB}"/>
              </a:ext>
            </a:extLst>
          </p:cNvPr>
          <p:cNvSpPr/>
          <p:nvPr/>
        </p:nvSpPr>
        <p:spPr bwMode="auto">
          <a:xfrm>
            <a:off x="4902575"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B</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1" name="직사각형 80">
            <a:extLst>
              <a:ext uri="{FF2B5EF4-FFF2-40B4-BE49-F238E27FC236}">
                <a16:creationId xmlns:a16="http://schemas.microsoft.com/office/drawing/2014/main" id="{D049E6C9-1D5F-3AF3-1779-1E1A407A2AEA}"/>
              </a:ext>
            </a:extLst>
          </p:cNvPr>
          <p:cNvSpPr/>
          <p:nvPr/>
        </p:nvSpPr>
        <p:spPr bwMode="auto">
          <a:xfrm>
            <a:off x="4300587"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C</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2" name="직사각형 81">
            <a:extLst>
              <a:ext uri="{FF2B5EF4-FFF2-40B4-BE49-F238E27FC236}">
                <a16:creationId xmlns:a16="http://schemas.microsoft.com/office/drawing/2014/main" id="{E958CAC5-FAB4-E4D0-72D3-39E3F8851A56}"/>
              </a:ext>
            </a:extLst>
          </p:cNvPr>
          <p:cNvSpPr/>
          <p:nvPr/>
        </p:nvSpPr>
        <p:spPr bwMode="auto">
          <a:xfrm>
            <a:off x="6110096"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C</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3" name="직사각형 82">
            <a:extLst>
              <a:ext uri="{FF2B5EF4-FFF2-40B4-BE49-F238E27FC236}">
                <a16:creationId xmlns:a16="http://schemas.microsoft.com/office/drawing/2014/main" id="{4D6254F2-6D4B-84A8-BD3A-49A1C162F678}"/>
              </a:ext>
            </a:extLst>
          </p:cNvPr>
          <p:cNvSpPr/>
          <p:nvPr/>
        </p:nvSpPr>
        <p:spPr bwMode="auto">
          <a:xfrm>
            <a:off x="5508108" y="4926789"/>
            <a:ext cx="606755" cy="30777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chemeClr val="tx1"/>
                </a:solidFill>
                <a:effectLst/>
                <a:latin typeface="Verdana" pitchFamily="34" charset="0"/>
                <a:cs typeface="Arial" charset="0"/>
              </a:rPr>
              <a:t>C</a:t>
            </a: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4" name="직사각형 83">
            <a:extLst>
              <a:ext uri="{FF2B5EF4-FFF2-40B4-BE49-F238E27FC236}">
                <a16:creationId xmlns:a16="http://schemas.microsoft.com/office/drawing/2014/main" id="{EF4692CA-E70D-289E-8816-ED59456FFBA5}"/>
              </a:ext>
            </a:extLst>
          </p:cNvPr>
          <p:cNvSpPr/>
          <p:nvPr/>
        </p:nvSpPr>
        <p:spPr bwMode="auto">
          <a:xfrm>
            <a:off x="7718802" y="3574697"/>
            <a:ext cx="550508" cy="288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3</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85" name="직사각형 84">
            <a:extLst>
              <a:ext uri="{FF2B5EF4-FFF2-40B4-BE49-F238E27FC236}">
                <a16:creationId xmlns:a16="http://schemas.microsoft.com/office/drawing/2014/main" id="{223CDF55-F123-83E2-2094-676BC0E853BD}"/>
              </a:ext>
            </a:extLst>
          </p:cNvPr>
          <p:cNvSpPr/>
          <p:nvPr/>
        </p:nvSpPr>
        <p:spPr bwMode="auto">
          <a:xfrm>
            <a:off x="7718802" y="3291378"/>
            <a:ext cx="550508" cy="288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4</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86" name="직사각형 85">
            <a:extLst>
              <a:ext uri="{FF2B5EF4-FFF2-40B4-BE49-F238E27FC236}">
                <a16:creationId xmlns:a16="http://schemas.microsoft.com/office/drawing/2014/main" id="{E50C0B3A-7004-D859-758D-19FCF361BA6B}"/>
              </a:ext>
            </a:extLst>
          </p:cNvPr>
          <p:cNvSpPr/>
          <p:nvPr/>
        </p:nvSpPr>
        <p:spPr bwMode="auto">
          <a:xfrm>
            <a:off x="6607861" y="2707649"/>
            <a:ext cx="550508" cy="72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5</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87" name="직사각형 86">
            <a:extLst>
              <a:ext uri="{FF2B5EF4-FFF2-40B4-BE49-F238E27FC236}">
                <a16:creationId xmlns:a16="http://schemas.microsoft.com/office/drawing/2014/main" id="{B35CE25C-2C88-5C4F-0235-59D38AEBF8FD}"/>
              </a:ext>
            </a:extLst>
          </p:cNvPr>
          <p:cNvSpPr/>
          <p:nvPr/>
        </p:nvSpPr>
        <p:spPr bwMode="auto">
          <a:xfrm>
            <a:off x="7718802" y="2997189"/>
            <a:ext cx="550508" cy="288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6</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88" name="직사각형 87">
            <a:extLst>
              <a:ext uri="{FF2B5EF4-FFF2-40B4-BE49-F238E27FC236}">
                <a16:creationId xmlns:a16="http://schemas.microsoft.com/office/drawing/2014/main" id="{6A7C6BB8-0CB8-A92C-6FC6-D9454DAB7AE6}"/>
              </a:ext>
            </a:extLst>
          </p:cNvPr>
          <p:cNvSpPr/>
          <p:nvPr/>
        </p:nvSpPr>
        <p:spPr bwMode="auto">
          <a:xfrm>
            <a:off x="7718802" y="2711467"/>
            <a:ext cx="550508" cy="288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100" b="0" i="0" u="none" strike="noStrike" cap="none" normalizeH="0" baseline="0">
                <a:ln>
                  <a:noFill/>
                </a:ln>
                <a:solidFill>
                  <a:schemeClr val="tx1"/>
                </a:solidFill>
                <a:effectLst/>
                <a:latin typeface="Verdana" pitchFamily="34" charset="0"/>
                <a:cs typeface="Arial" charset="0"/>
              </a:rPr>
              <a:t>7</a:t>
            </a:r>
            <a:endParaRPr kumimoji="0" lang="ko-KR" altLang="en-US" sz="1100" b="0" i="0" u="none" strike="noStrike" cap="none" normalizeH="0" baseline="0">
              <a:ln>
                <a:noFill/>
              </a:ln>
              <a:solidFill>
                <a:schemeClr val="tx1"/>
              </a:solidFill>
              <a:effectLst/>
              <a:latin typeface="Verdana" pitchFamily="34" charset="0"/>
              <a:cs typeface="Arial" charset="0"/>
            </a:endParaRPr>
          </a:p>
        </p:txBody>
      </p:sp>
      <p:sp>
        <p:nvSpPr>
          <p:cNvPr id="89" name="TextBox 88">
            <a:extLst>
              <a:ext uri="{FF2B5EF4-FFF2-40B4-BE49-F238E27FC236}">
                <a16:creationId xmlns:a16="http://schemas.microsoft.com/office/drawing/2014/main" id="{2AC50C62-6F1B-352F-003F-E2ADC7F2E72F}"/>
              </a:ext>
            </a:extLst>
          </p:cNvPr>
          <p:cNvSpPr txBox="1"/>
          <p:nvPr/>
        </p:nvSpPr>
        <p:spPr>
          <a:xfrm>
            <a:off x="3497643" y="5713837"/>
            <a:ext cx="2528256" cy="369332"/>
          </a:xfrm>
          <a:prstGeom prst="rect">
            <a:avLst/>
          </a:prstGeom>
          <a:noFill/>
        </p:spPr>
        <p:txBody>
          <a:bodyPr wrap="none" rtlCol="0">
            <a:spAutoFit/>
          </a:bodyPr>
          <a:lstStyle/>
          <a:p>
            <a:r>
              <a:rPr lang="en-US" altLang="ko-KR" i="1" u="sng"/>
              <a:t>A : B : C = 1 : 2 : 5</a:t>
            </a:r>
            <a:endParaRPr lang="ko-KR" altLang="en-US" i="1" u="sng"/>
          </a:p>
        </p:txBody>
      </p:sp>
      <p:cxnSp>
        <p:nvCxnSpPr>
          <p:cNvPr id="90" name="직선 연결선 89">
            <a:extLst>
              <a:ext uri="{FF2B5EF4-FFF2-40B4-BE49-F238E27FC236}">
                <a16:creationId xmlns:a16="http://schemas.microsoft.com/office/drawing/2014/main" id="{9B6BB763-065F-6515-E322-D8A57161937D}"/>
              </a:ext>
            </a:extLst>
          </p:cNvPr>
          <p:cNvCxnSpPr/>
          <p:nvPr/>
        </p:nvCxnSpPr>
        <p:spPr bwMode="auto">
          <a:xfrm>
            <a:off x="5116882" y="4147650"/>
            <a:ext cx="3429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16258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3" grpId="0" animBg="1"/>
      <p:bldP spid="54"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14E647-0F1A-938E-ED05-F40B42BE88D5}"/>
              </a:ext>
            </a:extLst>
          </p:cNvPr>
          <p:cNvSpPr>
            <a:spLocks noGrp="1"/>
          </p:cNvSpPr>
          <p:nvPr>
            <p:ph type="title"/>
          </p:nvPr>
        </p:nvSpPr>
        <p:spPr/>
        <p:txBody>
          <a:bodyPr/>
          <a:lstStyle/>
          <a:p>
            <a:r>
              <a:rPr lang="en-US" altLang="ko-KR"/>
              <a:t>Stride Scheduler Interface </a:t>
            </a:r>
            <a:r>
              <a:rPr lang="en-US" altLang="ko-KR" sz="2800"/>
              <a:t>(1/4)</a:t>
            </a:r>
            <a:endParaRPr lang="ko-KR" altLang="en-US" sz="2800"/>
          </a:p>
        </p:txBody>
      </p:sp>
      <p:grpSp>
        <p:nvGrpSpPr>
          <p:cNvPr id="67" name="그룹 66">
            <a:extLst>
              <a:ext uri="{FF2B5EF4-FFF2-40B4-BE49-F238E27FC236}">
                <a16:creationId xmlns:a16="http://schemas.microsoft.com/office/drawing/2014/main" id="{DE2A395D-DFF9-F939-C03A-9855D242B4E7}"/>
              </a:ext>
            </a:extLst>
          </p:cNvPr>
          <p:cNvGrpSpPr/>
          <p:nvPr/>
        </p:nvGrpSpPr>
        <p:grpSpPr>
          <a:xfrm>
            <a:off x="76200" y="2133600"/>
            <a:ext cx="6164399" cy="3794760"/>
            <a:chOff x="895098" y="1885447"/>
            <a:chExt cx="7005312" cy="4312420"/>
          </a:xfrm>
        </p:grpSpPr>
        <p:sp>
          <p:nvSpPr>
            <p:cNvPr id="68" name="직사각형 67">
              <a:extLst>
                <a:ext uri="{FF2B5EF4-FFF2-40B4-BE49-F238E27FC236}">
                  <a16:creationId xmlns:a16="http://schemas.microsoft.com/office/drawing/2014/main" id="{34B55E46-F68C-5457-F270-6F7D14AB958A}"/>
                </a:ext>
              </a:extLst>
            </p:cNvPr>
            <p:cNvSpPr/>
            <p:nvPr/>
          </p:nvSpPr>
          <p:spPr bwMode="auto">
            <a:xfrm>
              <a:off x="2552678" y="1905000"/>
              <a:ext cx="3352809" cy="1942103"/>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69" name="직선 연결선 68">
              <a:extLst>
                <a:ext uri="{FF2B5EF4-FFF2-40B4-BE49-F238E27FC236}">
                  <a16:creationId xmlns:a16="http://schemas.microsoft.com/office/drawing/2014/main" id="{795D7017-C4C9-86E0-A171-C8BF443427B3}"/>
                </a:ext>
              </a:extLst>
            </p:cNvPr>
            <p:cNvCxnSpPr>
              <a:cxnSpLocks/>
            </p:cNvCxnSpPr>
            <p:nvPr/>
          </p:nvCxnSpPr>
          <p:spPr bwMode="auto">
            <a:xfrm>
              <a:off x="2552678"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0" name="직선 연결선 69">
              <a:extLst>
                <a:ext uri="{FF2B5EF4-FFF2-40B4-BE49-F238E27FC236}">
                  <a16:creationId xmlns:a16="http://schemas.microsoft.com/office/drawing/2014/main" id="{18713EE9-D983-92EA-A0B0-483DB4745A90}"/>
                </a:ext>
              </a:extLst>
            </p:cNvPr>
            <p:cNvCxnSpPr>
              <a:cxnSpLocks/>
            </p:cNvCxnSpPr>
            <p:nvPr/>
          </p:nvCxnSpPr>
          <p:spPr bwMode="auto">
            <a:xfrm flipH="1">
              <a:off x="2552678" y="3847104"/>
              <a:ext cx="335280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1" name="직선 연결선 70">
              <a:extLst>
                <a:ext uri="{FF2B5EF4-FFF2-40B4-BE49-F238E27FC236}">
                  <a16:creationId xmlns:a16="http://schemas.microsoft.com/office/drawing/2014/main" id="{5C8CA90E-B6AC-2B99-DB67-B1BA061FD63D}"/>
                </a:ext>
              </a:extLst>
            </p:cNvPr>
            <p:cNvCxnSpPr>
              <a:cxnSpLocks/>
            </p:cNvCxnSpPr>
            <p:nvPr/>
          </p:nvCxnSpPr>
          <p:spPr bwMode="auto">
            <a:xfrm>
              <a:off x="5905487"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2" name="직사각형 71">
              <a:extLst>
                <a:ext uri="{FF2B5EF4-FFF2-40B4-BE49-F238E27FC236}">
                  <a16:creationId xmlns:a16="http://schemas.microsoft.com/office/drawing/2014/main" id="{5206FA3A-0456-29A5-9137-5F29BBB7BEA3}"/>
                </a:ext>
              </a:extLst>
            </p:cNvPr>
            <p:cNvSpPr/>
            <p:nvPr/>
          </p:nvSpPr>
          <p:spPr bwMode="auto">
            <a:xfrm>
              <a:off x="4234458" y="3688167"/>
              <a:ext cx="1366242" cy="3238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scheduling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3" name="직사각형 72">
              <a:extLst>
                <a:ext uri="{FF2B5EF4-FFF2-40B4-BE49-F238E27FC236}">
                  <a16:creationId xmlns:a16="http://schemas.microsoft.com/office/drawing/2014/main" id="{55EC72F8-03EB-E8D5-112D-D2ECC05176E4}"/>
                </a:ext>
              </a:extLst>
            </p:cNvPr>
            <p:cNvSpPr/>
            <p:nvPr/>
          </p:nvSpPr>
          <p:spPr bwMode="auto">
            <a:xfrm rot="5400000">
              <a:off x="1841276" y="2754709"/>
              <a:ext cx="1422805" cy="380994"/>
            </a:xfrm>
            <a:prstGeom prst="rect">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4" name="직사각형 73">
              <a:extLst>
                <a:ext uri="{FF2B5EF4-FFF2-40B4-BE49-F238E27FC236}">
                  <a16:creationId xmlns:a16="http://schemas.microsoft.com/office/drawing/2014/main" id="{E3A25E68-E6D6-9B94-F8EB-40E8ACBF6D42}"/>
                </a:ext>
              </a:extLst>
            </p:cNvPr>
            <p:cNvSpPr/>
            <p:nvPr/>
          </p:nvSpPr>
          <p:spPr bwMode="auto">
            <a:xfrm rot="16200000">
              <a:off x="5196631" y="2754703"/>
              <a:ext cx="1422806" cy="38099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300" b="0" i="0" u="none" strike="noStrike" cap="none" normalizeH="0" baseline="0">
                  <a:ln>
                    <a:noFill/>
                  </a:ln>
                  <a:solidFill>
                    <a:schemeClr val="tx1"/>
                  </a:solidFill>
                  <a:effectLst/>
                  <a:latin typeface="Verdana" pitchFamily="34" charset="0"/>
                  <a:cs typeface="Arial" charset="0"/>
                </a:rPr>
                <a:t>unregister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5" name="평행 사변형 74">
              <a:extLst>
                <a:ext uri="{FF2B5EF4-FFF2-40B4-BE49-F238E27FC236}">
                  <a16:creationId xmlns:a16="http://schemas.microsoft.com/office/drawing/2014/main" id="{11F59CFC-E2B1-E10B-9934-7F17F84F6DEC}"/>
                </a:ext>
              </a:extLst>
            </p:cNvPr>
            <p:cNvSpPr/>
            <p:nvPr/>
          </p:nvSpPr>
          <p:spPr bwMode="auto">
            <a:xfrm>
              <a:off x="29451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6" name="평행 사변형 75">
              <a:extLst>
                <a:ext uri="{FF2B5EF4-FFF2-40B4-BE49-F238E27FC236}">
                  <a16:creationId xmlns:a16="http://schemas.microsoft.com/office/drawing/2014/main" id="{E59E2B13-7B2D-A2C1-78EB-92420E74610C}"/>
                </a:ext>
              </a:extLst>
            </p:cNvPr>
            <p:cNvSpPr/>
            <p:nvPr/>
          </p:nvSpPr>
          <p:spPr bwMode="auto">
            <a:xfrm>
              <a:off x="32499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7" name="평행 사변형 76">
              <a:extLst>
                <a:ext uri="{FF2B5EF4-FFF2-40B4-BE49-F238E27FC236}">
                  <a16:creationId xmlns:a16="http://schemas.microsoft.com/office/drawing/2014/main" id="{E163466B-CDFB-D3BB-5227-E347F1BD2077}"/>
                </a:ext>
              </a:extLst>
            </p:cNvPr>
            <p:cNvSpPr/>
            <p:nvPr/>
          </p:nvSpPr>
          <p:spPr bwMode="auto">
            <a:xfrm>
              <a:off x="35547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8" name="평행 사변형 77">
              <a:extLst>
                <a:ext uri="{FF2B5EF4-FFF2-40B4-BE49-F238E27FC236}">
                  <a16:creationId xmlns:a16="http://schemas.microsoft.com/office/drawing/2014/main" id="{73A04779-6913-47EA-7C58-F4F0766972C7}"/>
                </a:ext>
              </a:extLst>
            </p:cNvPr>
            <p:cNvSpPr/>
            <p:nvPr/>
          </p:nvSpPr>
          <p:spPr bwMode="auto">
            <a:xfrm>
              <a:off x="38595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9" name="평행 사변형 78">
              <a:extLst>
                <a:ext uri="{FF2B5EF4-FFF2-40B4-BE49-F238E27FC236}">
                  <a16:creationId xmlns:a16="http://schemas.microsoft.com/office/drawing/2014/main" id="{D47FF666-7A53-CBED-8176-43CFA5C28032}"/>
                </a:ext>
              </a:extLst>
            </p:cNvPr>
            <p:cNvSpPr/>
            <p:nvPr/>
          </p:nvSpPr>
          <p:spPr bwMode="auto">
            <a:xfrm>
              <a:off x="5154947"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0" name="평행 사변형 79">
              <a:extLst>
                <a:ext uri="{FF2B5EF4-FFF2-40B4-BE49-F238E27FC236}">
                  <a16:creationId xmlns:a16="http://schemas.microsoft.com/office/drawing/2014/main" id="{5C147C31-00CE-7E10-44FE-11184B9B2020}"/>
                </a:ext>
              </a:extLst>
            </p:cNvPr>
            <p:cNvSpPr/>
            <p:nvPr/>
          </p:nvSpPr>
          <p:spPr bwMode="auto">
            <a:xfrm>
              <a:off x="33642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1" name="평행 사변형 80">
              <a:extLst>
                <a:ext uri="{FF2B5EF4-FFF2-40B4-BE49-F238E27FC236}">
                  <a16:creationId xmlns:a16="http://schemas.microsoft.com/office/drawing/2014/main" id="{0FCC42E5-38D5-0DA2-60EE-7100DB8F6D60}"/>
                </a:ext>
              </a:extLst>
            </p:cNvPr>
            <p:cNvSpPr/>
            <p:nvPr/>
          </p:nvSpPr>
          <p:spPr bwMode="auto">
            <a:xfrm>
              <a:off x="36690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2" name="평행 사변형 81">
              <a:extLst>
                <a:ext uri="{FF2B5EF4-FFF2-40B4-BE49-F238E27FC236}">
                  <a16:creationId xmlns:a16="http://schemas.microsoft.com/office/drawing/2014/main" id="{AA9A7653-39C5-C167-CD3E-0B330C663D0F}"/>
                </a:ext>
              </a:extLst>
            </p:cNvPr>
            <p:cNvSpPr/>
            <p:nvPr/>
          </p:nvSpPr>
          <p:spPr bwMode="auto">
            <a:xfrm>
              <a:off x="39738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3" name="평행 사변형 82">
              <a:extLst>
                <a:ext uri="{FF2B5EF4-FFF2-40B4-BE49-F238E27FC236}">
                  <a16:creationId xmlns:a16="http://schemas.microsoft.com/office/drawing/2014/main" id="{2486C55D-FA49-5201-F0AA-B12089170997}"/>
                </a:ext>
              </a:extLst>
            </p:cNvPr>
            <p:cNvSpPr/>
            <p:nvPr/>
          </p:nvSpPr>
          <p:spPr bwMode="auto">
            <a:xfrm>
              <a:off x="42786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4" name="평행 사변형 83">
              <a:extLst>
                <a:ext uri="{FF2B5EF4-FFF2-40B4-BE49-F238E27FC236}">
                  <a16:creationId xmlns:a16="http://schemas.microsoft.com/office/drawing/2014/main" id="{412346A2-8D07-4124-9025-4CD7FC8EE931}"/>
                </a:ext>
              </a:extLst>
            </p:cNvPr>
            <p:cNvSpPr/>
            <p:nvPr/>
          </p:nvSpPr>
          <p:spPr bwMode="auto">
            <a:xfrm>
              <a:off x="458343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5" name="원호 84">
              <a:extLst>
                <a:ext uri="{FF2B5EF4-FFF2-40B4-BE49-F238E27FC236}">
                  <a16:creationId xmlns:a16="http://schemas.microsoft.com/office/drawing/2014/main" id="{9222E9E1-E071-CF84-4535-6956B9EEED7E}"/>
                </a:ext>
              </a:extLst>
            </p:cNvPr>
            <p:cNvSpPr/>
            <p:nvPr/>
          </p:nvSpPr>
          <p:spPr bwMode="auto">
            <a:xfrm rot="5400000">
              <a:off x="1097250" y="4000485"/>
              <a:ext cx="647714" cy="647714"/>
            </a:xfrm>
            <a:prstGeom prst="arc">
              <a:avLst/>
            </a:prstGeom>
            <a:noFill/>
            <a:ln w="12700"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6" name="직선 화살표 연결선 85">
              <a:extLst>
                <a:ext uri="{FF2B5EF4-FFF2-40B4-BE49-F238E27FC236}">
                  <a16:creationId xmlns:a16="http://schemas.microsoft.com/office/drawing/2014/main" id="{FC0B790D-E2DC-AF58-8F0E-65973228FDE9}"/>
                </a:ext>
              </a:extLst>
            </p:cNvPr>
            <p:cNvCxnSpPr>
              <a:cxnSpLocks/>
              <a:stCxn id="85" idx="2"/>
            </p:cNvCxnSpPr>
            <p:nvPr/>
          </p:nvCxnSpPr>
          <p:spPr bwMode="auto">
            <a:xfrm>
              <a:off x="1421107" y="4648199"/>
              <a:ext cx="1474500" cy="1"/>
            </a:xfrm>
            <a:prstGeom prst="straightConnector1">
              <a:avLst/>
            </a:prstGeom>
            <a:solidFill>
              <a:schemeClr val="accent1"/>
            </a:solidFill>
            <a:ln w="12700" cap="flat" cmpd="sng" algn="ctr">
              <a:solidFill>
                <a:srgbClr val="9966FF"/>
              </a:solidFill>
              <a:prstDash val="solid"/>
              <a:round/>
              <a:headEnd type="none" w="med" len="med"/>
              <a:tailEnd type="triangle"/>
            </a:ln>
            <a:effectLst/>
          </p:spPr>
        </p:cxnSp>
        <p:cxnSp>
          <p:nvCxnSpPr>
            <p:cNvPr id="87" name="직선 연결선 86">
              <a:extLst>
                <a:ext uri="{FF2B5EF4-FFF2-40B4-BE49-F238E27FC236}">
                  <a16:creationId xmlns:a16="http://schemas.microsoft.com/office/drawing/2014/main" id="{D996572C-EE5F-AFDB-F5F6-74504CEFDADC}"/>
                </a:ext>
              </a:extLst>
            </p:cNvPr>
            <p:cNvCxnSpPr>
              <a:cxnSpLocks/>
              <a:stCxn id="85" idx="0"/>
            </p:cNvCxnSpPr>
            <p:nvPr/>
          </p:nvCxnSpPr>
          <p:spPr bwMode="auto">
            <a:xfrm flipV="1">
              <a:off x="1744964" y="2964444"/>
              <a:ext cx="471" cy="1359898"/>
            </a:xfrm>
            <a:prstGeom prst="line">
              <a:avLst/>
            </a:prstGeom>
            <a:solidFill>
              <a:schemeClr val="accent1"/>
            </a:solidFill>
            <a:ln w="12700" cap="flat" cmpd="sng" algn="ctr">
              <a:solidFill>
                <a:srgbClr val="9966FF"/>
              </a:solidFill>
              <a:prstDash val="solid"/>
              <a:round/>
              <a:headEnd type="none" w="med" len="med"/>
              <a:tailEnd type="none" w="med" len="med"/>
            </a:ln>
            <a:effectLst/>
          </p:spPr>
        </p:cxnSp>
        <p:sp>
          <p:nvSpPr>
            <p:cNvPr id="88" name="원호 87">
              <a:extLst>
                <a:ext uri="{FF2B5EF4-FFF2-40B4-BE49-F238E27FC236}">
                  <a16:creationId xmlns:a16="http://schemas.microsoft.com/office/drawing/2014/main" id="{3FFCD53A-AA84-34C6-97CC-029F6F3DF2D7}"/>
                </a:ext>
              </a:extLst>
            </p:cNvPr>
            <p:cNvSpPr/>
            <p:nvPr/>
          </p:nvSpPr>
          <p:spPr bwMode="auto">
            <a:xfrm rot="16200000">
              <a:off x="1744975" y="2640588"/>
              <a:ext cx="647714" cy="647714"/>
            </a:xfrm>
            <a:prstGeom prst="arc">
              <a:avLst/>
            </a:prstGeom>
            <a:noFill/>
            <a:ln w="12700"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9" name="직선 화살표 연결선 88">
              <a:extLst>
                <a:ext uri="{FF2B5EF4-FFF2-40B4-BE49-F238E27FC236}">
                  <a16:creationId xmlns:a16="http://schemas.microsoft.com/office/drawing/2014/main" id="{033C3152-A13D-F265-5920-ABE51B1DE49A}"/>
                </a:ext>
              </a:extLst>
            </p:cNvPr>
            <p:cNvCxnSpPr>
              <a:cxnSpLocks/>
            </p:cNvCxnSpPr>
            <p:nvPr/>
          </p:nvCxnSpPr>
          <p:spPr bwMode="auto">
            <a:xfrm>
              <a:off x="2064967" y="2642439"/>
              <a:ext cx="1261187" cy="0"/>
            </a:xfrm>
            <a:prstGeom prst="straightConnector1">
              <a:avLst/>
            </a:prstGeom>
            <a:solidFill>
              <a:schemeClr val="accent1"/>
            </a:solidFill>
            <a:ln w="12700" cap="flat" cmpd="sng" algn="ctr">
              <a:solidFill>
                <a:srgbClr val="9966FF"/>
              </a:solidFill>
              <a:prstDash val="solid"/>
              <a:round/>
              <a:headEnd type="none" w="med" len="med"/>
              <a:tailEnd type="triangle"/>
            </a:ln>
            <a:effectLst/>
          </p:spPr>
        </p:cxnSp>
        <p:cxnSp>
          <p:nvCxnSpPr>
            <p:cNvPr id="90" name="직선 화살표 연결선 89">
              <a:extLst>
                <a:ext uri="{FF2B5EF4-FFF2-40B4-BE49-F238E27FC236}">
                  <a16:creationId xmlns:a16="http://schemas.microsoft.com/office/drawing/2014/main" id="{0184766E-730F-3F31-49E3-C141FC353103}"/>
                </a:ext>
              </a:extLst>
            </p:cNvPr>
            <p:cNvCxnSpPr>
              <a:cxnSpLocks/>
            </p:cNvCxnSpPr>
            <p:nvPr/>
          </p:nvCxnSpPr>
          <p:spPr bwMode="auto">
            <a:xfrm>
              <a:off x="4278647" y="4648199"/>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91" name="원호 90">
              <a:extLst>
                <a:ext uri="{FF2B5EF4-FFF2-40B4-BE49-F238E27FC236}">
                  <a16:creationId xmlns:a16="http://schemas.microsoft.com/office/drawing/2014/main" id="{DF023664-4188-9481-F330-E511BF0AE864}"/>
                </a:ext>
              </a:extLst>
            </p:cNvPr>
            <p:cNvSpPr/>
            <p:nvPr/>
          </p:nvSpPr>
          <p:spPr bwMode="auto">
            <a:xfrm>
              <a:off x="4674863" y="2810132"/>
              <a:ext cx="647714" cy="647714"/>
            </a:xfrm>
            <a:prstGeom prst="arc">
              <a:avLst/>
            </a:prstGeom>
            <a:noFill/>
            <a:ln w="9525" cap="flat" cmpd="sng" algn="ctr">
              <a:solidFill>
                <a:srgbClr val="00B05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2" name="직선 화살표 연결선 91">
              <a:extLst>
                <a:ext uri="{FF2B5EF4-FFF2-40B4-BE49-F238E27FC236}">
                  <a16:creationId xmlns:a16="http://schemas.microsoft.com/office/drawing/2014/main" id="{417EBC56-2C6F-3DA3-BF3C-27A9C871820D}"/>
                </a:ext>
              </a:extLst>
            </p:cNvPr>
            <p:cNvCxnSpPr>
              <a:cxnSpLocks/>
            </p:cNvCxnSpPr>
            <p:nvPr/>
          </p:nvCxnSpPr>
          <p:spPr bwMode="auto">
            <a:xfrm>
              <a:off x="5322577" y="3119726"/>
              <a:ext cx="0" cy="1375078"/>
            </a:xfrm>
            <a:prstGeom prst="straightConnector1">
              <a:avLst/>
            </a:prstGeom>
            <a:solidFill>
              <a:schemeClr val="accent1"/>
            </a:solidFill>
            <a:ln w="9525" cap="flat" cmpd="sng" algn="ctr">
              <a:solidFill>
                <a:srgbClr val="00B050"/>
              </a:solidFill>
              <a:prstDash val="dashDot"/>
              <a:round/>
              <a:headEnd type="none" w="med" len="med"/>
              <a:tailEnd type="triangle"/>
            </a:ln>
            <a:effectLst/>
          </p:spPr>
        </p:cxnSp>
        <p:cxnSp>
          <p:nvCxnSpPr>
            <p:cNvPr id="93" name="직선 연결선 92">
              <a:extLst>
                <a:ext uri="{FF2B5EF4-FFF2-40B4-BE49-F238E27FC236}">
                  <a16:creationId xmlns:a16="http://schemas.microsoft.com/office/drawing/2014/main" id="{247EB985-E3C2-5211-2530-79EC557F8346}"/>
                </a:ext>
              </a:extLst>
            </p:cNvPr>
            <p:cNvCxnSpPr>
              <a:cxnSpLocks/>
            </p:cNvCxnSpPr>
            <p:nvPr/>
          </p:nvCxnSpPr>
          <p:spPr bwMode="auto">
            <a:xfrm>
              <a:off x="4998720" y="2667000"/>
              <a:ext cx="1667731"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94" name="원호 93">
              <a:extLst>
                <a:ext uri="{FF2B5EF4-FFF2-40B4-BE49-F238E27FC236}">
                  <a16:creationId xmlns:a16="http://schemas.microsoft.com/office/drawing/2014/main" id="{3DCE6D70-5010-C97E-5986-F7412E427155}"/>
                </a:ext>
              </a:extLst>
            </p:cNvPr>
            <p:cNvSpPr/>
            <p:nvPr/>
          </p:nvSpPr>
          <p:spPr bwMode="auto">
            <a:xfrm>
              <a:off x="6326188" y="2667000"/>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5" name="직선 연결선 94">
              <a:extLst>
                <a:ext uri="{FF2B5EF4-FFF2-40B4-BE49-F238E27FC236}">
                  <a16:creationId xmlns:a16="http://schemas.microsoft.com/office/drawing/2014/main" id="{43AC9AFD-E7D2-6043-37C5-4426037C29E2}"/>
                </a:ext>
              </a:extLst>
            </p:cNvPr>
            <p:cNvCxnSpPr>
              <a:cxnSpLocks/>
              <a:endCxn id="94" idx="2"/>
            </p:cNvCxnSpPr>
            <p:nvPr/>
          </p:nvCxnSpPr>
          <p:spPr bwMode="auto">
            <a:xfrm flipH="1" flipV="1">
              <a:off x="6973902" y="2990857"/>
              <a:ext cx="7369" cy="2380259"/>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96" name="평행 사변형 95">
              <a:extLst>
                <a:ext uri="{FF2B5EF4-FFF2-40B4-BE49-F238E27FC236}">
                  <a16:creationId xmlns:a16="http://schemas.microsoft.com/office/drawing/2014/main" id="{AA3C7FF0-237D-CB36-7A24-0FC35E7D40AF}"/>
                </a:ext>
              </a:extLst>
            </p:cNvPr>
            <p:cNvSpPr/>
            <p:nvPr/>
          </p:nvSpPr>
          <p:spPr bwMode="auto">
            <a:xfrm>
              <a:off x="29390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7" name="평행 사변형 96">
              <a:extLst>
                <a:ext uri="{FF2B5EF4-FFF2-40B4-BE49-F238E27FC236}">
                  <a16:creationId xmlns:a16="http://schemas.microsoft.com/office/drawing/2014/main" id="{C8DACA4A-1658-10DD-BE19-7978654433EE}"/>
                </a:ext>
              </a:extLst>
            </p:cNvPr>
            <p:cNvSpPr/>
            <p:nvPr/>
          </p:nvSpPr>
          <p:spPr bwMode="auto">
            <a:xfrm>
              <a:off x="32438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8" name="평행 사변형 97">
              <a:extLst>
                <a:ext uri="{FF2B5EF4-FFF2-40B4-BE49-F238E27FC236}">
                  <a16:creationId xmlns:a16="http://schemas.microsoft.com/office/drawing/2014/main" id="{9A89BE01-BE1A-BDBF-561C-11FD45633638}"/>
                </a:ext>
              </a:extLst>
            </p:cNvPr>
            <p:cNvSpPr/>
            <p:nvPr/>
          </p:nvSpPr>
          <p:spPr bwMode="auto">
            <a:xfrm>
              <a:off x="35486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9" name="평행 사변형 98">
              <a:extLst>
                <a:ext uri="{FF2B5EF4-FFF2-40B4-BE49-F238E27FC236}">
                  <a16:creationId xmlns:a16="http://schemas.microsoft.com/office/drawing/2014/main" id="{4C855881-782F-4576-6D3A-F21BCB278025}"/>
                </a:ext>
              </a:extLst>
            </p:cNvPr>
            <p:cNvSpPr/>
            <p:nvPr/>
          </p:nvSpPr>
          <p:spPr bwMode="auto">
            <a:xfrm>
              <a:off x="38534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0" name="원호 99">
              <a:extLst>
                <a:ext uri="{FF2B5EF4-FFF2-40B4-BE49-F238E27FC236}">
                  <a16:creationId xmlns:a16="http://schemas.microsoft.com/office/drawing/2014/main" id="{E5AAA1AB-820E-3A19-B4C5-FC2FAAB95E8B}"/>
                </a:ext>
              </a:extLst>
            </p:cNvPr>
            <p:cNvSpPr/>
            <p:nvPr/>
          </p:nvSpPr>
          <p:spPr bwMode="auto">
            <a:xfrm rot="5400000">
              <a:off x="4675929" y="5047246"/>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1" name="직선 연결선 100">
              <a:extLst>
                <a:ext uri="{FF2B5EF4-FFF2-40B4-BE49-F238E27FC236}">
                  <a16:creationId xmlns:a16="http://schemas.microsoft.com/office/drawing/2014/main" id="{8FB82C5F-6C68-9672-3AEB-721A088C7DC7}"/>
                </a:ext>
              </a:extLst>
            </p:cNvPr>
            <p:cNvCxnSpPr>
              <a:cxnSpLocks/>
            </p:cNvCxnSpPr>
            <p:nvPr/>
          </p:nvCxnSpPr>
          <p:spPr bwMode="auto">
            <a:xfrm flipV="1">
              <a:off x="5322577" y="4952004"/>
              <a:ext cx="0" cy="419099"/>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02" name="직선 화살표 연결선 101">
              <a:extLst>
                <a:ext uri="{FF2B5EF4-FFF2-40B4-BE49-F238E27FC236}">
                  <a16:creationId xmlns:a16="http://schemas.microsoft.com/office/drawing/2014/main" id="{8EF0D3D4-933F-3FCE-EAC1-1E6F8F2E21D1}"/>
                </a:ext>
              </a:extLst>
            </p:cNvPr>
            <p:cNvCxnSpPr>
              <a:cxnSpLocks/>
              <a:stCxn id="103" idx="2"/>
            </p:cNvCxnSpPr>
            <p:nvPr/>
          </p:nvCxnSpPr>
          <p:spPr bwMode="auto">
            <a:xfrm flipH="1">
              <a:off x="4278647" y="5694973"/>
              <a:ext cx="2378767"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103" name="원호 102">
              <a:extLst>
                <a:ext uri="{FF2B5EF4-FFF2-40B4-BE49-F238E27FC236}">
                  <a16:creationId xmlns:a16="http://schemas.microsoft.com/office/drawing/2014/main" id="{EB1B60A8-7C59-C690-7E82-CD45195ABD2A}"/>
                </a:ext>
              </a:extLst>
            </p:cNvPr>
            <p:cNvSpPr/>
            <p:nvPr/>
          </p:nvSpPr>
          <p:spPr bwMode="auto">
            <a:xfrm rot="5400000">
              <a:off x="6333557" y="5047259"/>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4" name="원호 103">
              <a:extLst>
                <a:ext uri="{FF2B5EF4-FFF2-40B4-BE49-F238E27FC236}">
                  <a16:creationId xmlns:a16="http://schemas.microsoft.com/office/drawing/2014/main" id="{3341C77A-CD9C-27FE-31EC-CD0CFD57A128}"/>
                </a:ext>
              </a:extLst>
            </p:cNvPr>
            <p:cNvSpPr/>
            <p:nvPr/>
          </p:nvSpPr>
          <p:spPr bwMode="auto">
            <a:xfrm rot="10800000">
              <a:off x="2035665" y="5047246"/>
              <a:ext cx="647714" cy="647714"/>
            </a:xfrm>
            <a:prstGeom prst="arc">
              <a:avLst/>
            </a:prstGeom>
            <a:noFill/>
            <a:ln w="127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5" name="원호 104">
              <a:extLst>
                <a:ext uri="{FF2B5EF4-FFF2-40B4-BE49-F238E27FC236}">
                  <a16:creationId xmlns:a16="http://schemas.microsoft.com/office/drawing/2014/main" id="{6C0E7304-AF07-E1CE-01A8-C9F94BEAF539}"/>
                </a:ext>
              </a:extLst>
            </p:cNvPr>
            <p:cNvSpPr/>
            <p:nvPr/>
          </p:nvSpPr>
          <p:spPr bwMode="auto">
            <a:xfrm rot="16200000">
              <a:off x="2036433" y="2808288"/>
              <a:ext cx="647714" cy="647714"/>
            </a:xfrm>
            <a:prstGeom prst="arc">
              <a:avLst/>
            </a:prstGeom>
            <a:noFill/>
            <a:ln w="127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6" name="직선 연결선 105">
              <a:extLst>
                <a:ext uri="{FF2B5EF4-FFF2-40B4-BE49-F238E27FC236}">
                  <a16:creationId xmlns:a16="http://schemas.microsoft.com/office/drawing/2014/main" id="{F8668D16-A4D3-42AC-F92A-4A9449824752}"/>
                </a:ext>
              </a:extLst>
            </p:cNvPr>
            <p:cNvCxnSpPr>
              <a:cxnSpLocks/>
            </p:cNvCxnSpPr>
            <p:nvPr/>
          </p:nvCxnSpPr>
          <p:spPr bwMode="auto">
            <a:xfrm flipV="1">
              <a:off x="2036433" y="3119726"/>
              <a:ext cx="0" cy="2251377"/>
            </a:xfrm>
            <a:prstGeom prst="line">
              <a:avLst/>
            </a:prstGeom>
            <a:solidFill>
              <a:schemeClr val="accent1"/>
            </a:solidFill>
            <a:ln w="12700" cap="flat" cmpd="sng" algn="ctr">
              <a:solidFill>
                <a:srgbClr val="00B0F0"/>
              </a:solidFill>
              <a:prstDash val="solid"/>
              <a:round/>
              <a:headEnd type="none" w="med" len="med"/>
              <a:tailEnd type="none" w="med" len="med"/>
            </a:ln>
            <a:effectLst/>
          </p:spPr>
        </p:cxnSp>
        <p:cxnSp>
          <p:nvCxnSpPr>
            <p:cNvPr id="107" name="직선 연결선 106">
              <a:extLst>
                <a:ext uri="{FF2B5EF4-FFF2-40B4-BE49-F238E27FC236}">
                  <a16:creationId xmlns:a16="http://schemas.microsoft.com/office/drawing/2014/main" id="{FB343CF0-1740-9AF4-CD69-AD2BD384979C}"/>
                </a:ext>
              </a:extLst>
            </p:cNvPr>
            <p:cNvCxnSpPr>
              <a:cxnSpLocks/>
              <a:stCxn id="104" idx="0"/>
            </p:cNvCxnSpPr>
            <p:nvPr/>
          </p:nvCxnSpPr>
          <p:spPr bwMode="auto">
            <a:xfrm>
              <a:off x="2359522" y="5694960"/>
              <a:ext cx="536085" cy="44"/>
            </a:xfrm>
            <a:prstGeom prst="line">
              <a:avLst/>
            </a:prstGeom>
            <a:solidFill>
              <a:schemeClr val="accent1"/>
            </a:solidFill>
            <a:ln w="12700" cap="flat" cmpd="sng" algn="ctr">
              <a:solidFill>
                <a:srgbClr val="00B0F0"/>
              </a:solidFill>
              <a:prstDash val="solid"/>
              <a:round/>
              <a:headEnd type="none" w="med" len="med"/>
              <a:tailEnd type="none" w="med" len="med"/>
            </a:ln>
            <a:effectLst/>
          </p:spPr>
        </p:cxnSp>
        <p:cxnSp>
          <p:nvCxnSpPr>
            <p:cNvPr id="108" name="직선 화살표 연결선 107">
              <a:extLst>
                <a:ext uri="{FF2B5EF4-FFF2-40B4-BE49-F238E27FC236}">
                  <a16:creationId xmlns:a16="http://schemas.microsoft.com/office/drawing/2014/main" id="{B3F20AF8-7635-1B25-B430-BDA28CFADB27}"/>
                </a:ext>
              </a:extLst>
            </p:cNvPr>
            <p:cNvCxnSpPr>
              <a:cxnSpLocks/>
            </p:cNvCxnSpPr>
            <p:nvPr/>
          </p:nvCxnSpPr>
          <p:spPr bwMode="auto">
            <a:xfrm>
              <a:off x="5600727" y="4723404"/>
              <a:ext cx="1714473"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sp>
          <p:nvSpPr>
            <p:cNvPr id="109" name="원호 108">
              <a:extLst>
                <a:ext uri="{FF2B5EF4-FFF2-40B4-BE49-F238E27FC236}">
                  <a16:creationId xmlns:a16="http://schemas.microsoft.com/office/drawing/2014/main" id="{F31AC78F-75D4-2F09-65BE-BD06FE875EFD}"/>
                </a:ext>
              </a:extLst>
            </p:cNvPr>
            <p:cNvSpPr/>
            <p:nvPr/>
          </p:nvSpPr>
          <p:spPr bwMode="auto">
            <a:xfrm rot="10800000">
              <a:off x="6480569" y="4075689"/>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10" name="직선 연결선 109">
              <a:extLst>
                <a:ext uri="{FF2B5EF4-FFF2-40B4-BE49-F238E27FC236}">
                  <a16:creationId xmlns:a16="http://schemas.microsoft.com/office/drawing/2014/main" id="{9A0D2B19-3558-5EFD-611C-3BCE42F39490}"/>
                </a:ext>
              </a:extLst>
            </p:cNvPr>
            <p:cNvCxnSpPr>
              <a:cxnSpLocks/>
            </p:cNvCxnSpPr>
            <p:nvPr/>
          </p:nvCxnSpPr>
          <p:spPr bwMode="auto">
            <a:xfrm>
              <a:off x="4998720" y="2743200"/>
              <a:ext cx="1173480" cy="0"/>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111" name="원호 110">
              <a:extLst>
                <a:ext uri="{FF2B5EF4-FFF2-40B4-BE49-F238E27FC236}">
                  <a16:creationId xmlns:a16="http://schemas.microsoft.com/office/drawing/2014/main" id="{02BD0D12-DFB4-2D16-2D1F-F204704CA65F}"/>
                </a:ext>
              </a:extLst>
            </p:cNvPr>
            <p:cNvSpPr/>
            <p:nvPr/>
          </p:nvSpPr>
          <p:spPr bwMode="auto">
            <a:xfrm>
              <a:off x="5832855" y="2742608"/>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12" name="직선 연결선 111">
              <a:extLst>
                <a:ext uri="{FF2B5EF4-FFF2-40B4-BE49-F238E27FC236}">
                  <a16:creationId xmlns:a16="http://schemas.microsoft.com/office/drawing/2014/main" id="{DC318F23-8E15-7016-BA2D-E1214534C65B}"/>
                </a:ext>
              </a:extLst>
            </p:cNvPr>
            <p:cNvCxnSpPr>
              <a:cxnSpLocks/>
              <a:stCxn id="109" idx="2"/>
              <a:endCxn id="111" idx="2"/>
            </p:cNvCxnSpPr>
            <p:nvPr/>
          </p:nvCxnSpPr>
          <p:spPr bwMode="auto">
            <a:xfrm flipV="1">
              <a:off x="6480569" y="3066465"/>
              <a:ext cx="0" cy="1333081"/>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113" name="TextBox 112">
              <a:extLst>
                <a:ext uri="{FF2B5EF4-FFF2-40B4-BE49-F238E27FC236}">
                  <a16:creationId xmlns:a16="http://schemas.microsoft.com/office/drawing/2014/main" id="{5458C079-A77E-983D-656D-1FB2A5DC938A}"/>
                </a:ext>
              </a:extLst>
            </p:cNvPr>
            <p:cNvSpPr txBox="1"/>
            <p:nvPr/>
          </p:nvSpPr>
          <p:spPr>
            <a:xfrm>
              <a:off x="2652818" y="1885447"/>
              <a:ext cx="2056466" cy="350495"/>
            </a:xfrm>
            <a:prstGeom prst="rect">
              <a:avLst/>
            </a:prstGeom>
            <a:noFill/>
          </p:spPr>
          <p:txBody>
            <a:bodyPr wrap="none" rtlCol="0">
              <a:spAutoFit/>
            </a:bodyPr>
            <a:lstStyle/>
            <a:p>
              <a:r>
                <a:rPr lang="en-US" altLang="ko-KR" sz="1300" i="1" u="sng"/>
                <a:t>stride_scheduler.c</a:t>
              </a:r>
              <a:endParaRPr lang="ko-KR" altLang="en-US" sz="1300" i="1" u="sng"/>
            </a:p>
          </p:txBody>
        </p:sp>
        <p:sp>
          <p:nvSpPr>
            <p:cNvPr id="114" name="TextBox 113">
              <a:extLst>
                <a:ext uri="{FF2B5EF4-FFF2-40B4-BE49-F238E27FC236}">
                  <a16:creationId xmlns:a16="http://schemas.microsoft.com/office/drawing/2014/main" id="{E1338330-294A-D66A-91CB-1812B985D11E}"/>
                </a:ext>
              </a:extLst>
            </p:cNvPr>
            <p:cNvSpPr txBox="1"/>
            <p:nvPr/>
          </p:nvSpPr>
          <p:spPr>
            <a:xfrm>
              <a:off x="2974214" y="4241889"/>
              <a:ext cx="1476152" cy="350495"/>
            </a:xfrm>
            <a:prstGeom prst="rect">
              <a:avLst/>
            </a:prstGeom>
            <a:noFill/>
          </p:spPr>
          <p:txBody>
            <a:bodyPr wrap="none" rtlCol="0">
              <a:spAutoFit/>
            </a:bodyPr>
            <a:lstStyle/>
            <a:p>
              <a:r>
                <a:rPr lang="en-US" altLang="ko-KR" sz="1300"/>
                <a:t>ready queue</a:t>
              </a:r>
              <a:endParaRPr lang="ko-KR" altLang="en-US" sz="1300"/>
            </a:p>
          </p:txBody>
        </p:sp>
        <p:sp>
          <p:nvSpPr>
            <p:cNvPr id="115" name="TextBox 114">
              <a:extLst>
                <a:ext uri="{FF2B5EF4-FFF2-40B4-BE49-F238E27FC236}">
                  <a16:creationId xmlns:a16="http://schemas.microsoft.com/office/drawing/2014/main" id="{D2A11137-D2D3-7848-444D-51B77F1A7958}"/>
                </a:ext>
              </a:extLst>
            </p:cNvPr>
            <p:cNvSpPr txBox="1"/>
            <p:nvPr/>
          </p:nvSpPr>
          <p:spPr>
            <a:xfrm>
              <a:off x="2974214" y="5847372"/>
              <a:ext cx="1324348" cy="350495"/>
            </a:xfrm>
            <a:prstGeom prst="rect">
              <a:avLst/>
            </a:prstGeom>
            <a:noFill/>
          </p:spPr>
          <p:txBody>
            <a:bodyPr wrap="none" rtlCol="0">
              <a:spAutoFit/>
            </a:bodyPr>
            <a:lstStyle/>
            <a:p>
              <a:r>
                <a:rPr lang="en-US" altLang="ko-KR" sz="1300"/>
                <a:t>wait queue</a:t>
              </a:r>
              <a:endParaRPr lang="ko-KR" altLang="en-US" sz="1300"/>
            </a:p>
          </p:txBody>
        </p:sp>
        <p:sp>
          <p:nvSpPr>
            <p:cNvPr id="116" name="TextBox 115">
              <a:extLst>
                <a:ext uri="{FF2B5EF4-FFF2-40B4-BE49-F238E27FC236}">
                  <a16:creationId xmlns:a16="http://schemas.microsoft.com/office/drawing/2014/main" id="{13BF0155-C84B-A3A3-68FC-412EB5959AF9}"/>
                </a:ext>
              </a:extLst>
            </p:cNvPr>
            <p:cNvSpPr txBox="1"/>
            <p:nvPr/>
          </p:nvSpPr>
          <p:spPr>
            <a:xfrm>
              <a:off x="3209430" y="2846612"/>
              <a:ext cx="2198662" cy="350495"/>
            </a:xfrm>
            <a:prstGeom prst="rect">
              <a:avLst/>
            </a:prstGeom>
            <a:noFill/>
          </p:spPr>
          <p:txBody>
            <a:bodyPr wrap="none" rtlCol="0">
              <a:spAutoFit/>
            </a:bodyPr>
            <a:lstStyle/>
            <a:p>
              <a:r>
                <a:rPr lang="en-US" altLang="ko-KR" sz="1300"/>
                <a:t>sched_contexts_list</a:t>
              </a:r>
              <a:endParaRPr lang="ko-KR" altLang="en-US" sz="1300"/>
            </a:p>
          </p:txBody>
        </p:sp>
        <p:sp>
          <p:nvSpPr>
            <p:cNvPr id="117" name="TextBox 116">
              <a:extLst>
                <a:ext uri="{FF2B5EF4-FFF2-40B4-BE49-F238E27FC236}">
                  <a16:creationId xmlns:a16="http://schemas.microsoft.com/office/drawing/2014/main" id="{AC3FB2FE-5EBC-3DEC-D9F4-864B65D1626D}"/>
                </a:ext>
              </a:extLst>
            </p:cNvPr>
            <p:cNvSpPr txBox="1"/>
            <p:nvPr/>
          </p:nvSpPr>
          <p:spPr>
            <a:xfrm>
              <a:off x="5294295" y="4874621"/>
              <a:ext cx="993837" cy="350495"/>
            </a:xfrm>
            <a:prstGeom prst="rect">
              <a:avLst/>
            </a:prstGeom>
            <a:noFill/>
          </p:spPr>
          <p:txBody>
            <a:bodyPr wrap="none" rtlCol="0">
              <a:spAutoFit/>
            </a:bodyPr>
            <a:lstStyle/>
            <a:p>
              <a:r>
                <a:rPr lang="en-US" altLang="ko-KR" sz="1300"/>
                <a:t>running</a:t>
              </a:r>
              <a:endParaRPr lang="ko-KR" altLang="en-US" sz="1300"/>
            </a:p>
          </p:txBody>
        </p:sp>
        <p:sp>
          <p:nvSpPr>
            <p:cNvPr id="118" name="TextBox 117">
              <a:extLst>
                <a:ext uri="{FF2B5EF4-FFF2-40B4-BE49-F238E27FC236}">
                  <a16:creationId xmlns:a16="http://schemas.microsoft.com/office/drawing/2014/main" id="{7E23C9C6-8D8F-2F04-AC59-F76A031D6D4B}"/>
                </a:ext>
              </a:extLst>
            </p:cNvPr>
            <p:cNvSpPr txBox="1"/>
            <p:nvPr/>
          </p:nvSpPr>
          <p:spPr>
            <a:xfrm>
              <a:off x="4723990" y="4079312"/>
              <a:ext cx="1248213" cy="288554"/>
            </a:xfrm>
            <a:prstGeom prst="rect">
              <a:avLst/>
            </a:prstGeom>
            <a:noFill/>
          </p:spPr>
          <p:txBody>
            <a:bodyPr wrap="none" rtlCol="0">
              <a:spAutoFit/>
            </a:bodyPr>
            <a:lstStyle/>
            <a:p>
              <a:r>
                <a:rPr lang="en-US" altLang="ko-KR" sz="1050" i="1"/>
                <a:t>return by ref.</a:t>
              </a:r>
              <a:endParaRPr lang="ko-KR" altLang="en-US" sz="1050" i="1"/>
            </a:p>
          </p:txBody>
        </p:sp>
        <p:sp>
          <p:nvSpPr>
            <p:cNvPr id="119" name="타원 118">
              <a:extLst>
                <a:ext uri="{FF2B5EF4-FFF2-40B4-BE49-F238E27FC236}">
                  <a16:creationId xmlns:a16="http://schemas.microsoft.com/office/drawing/2014/main" id="{63482BC3-48B4-B82F-468A-EA894961528C}"/>
                </a:ext>
              </a:extLst>
            </p:cNvPr>
            <p:cNvSpPr/>
            <p:nvPr/>
          </p:nvSpPr>
          <p:spPr bwMode="auto">
            <a:xfrm>
              <a:off x="1038680"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20" name="타원 119">
              <a:extLst>
                <a:ext uri="{FF2B5EF4-FFF2-40B4-BE49-F238E27FC236}">
                  <a16:creationId xmlns:a16="http://schemas.microsoft.com/office/drawing/2014/main" id="{0D1DAD45-5DA3-FC31-A073-45BCBDD4E878}"/>
                </a:ext>
              </a:extLst>
            </p:cNvPr>
            <p:cNvSpPr/>
            <p:nvPr/>
          </p:nvSpPr>
          <p:spPr bwMode="auto">
            <a:xfrm>
              <a:off x="7393153"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21" name="TextBox 120">
              <a:extLst>
                <a:ext uri="{FF2B5EF4-FFF2-40B4-BE49-F238E27FC236}">
                  <a16:creationId xmlns:a16="http://schemas.microsoft.com/office/drawing/2014/main" id="{68B80B21-5679-404A-160B-BCCD5F678FDD}"/>
                </a:ext>
              </a:extLst>
            </p:cNvPr>
            <p:cNvSpPr txBox="1"/>
            <p:nvPr/>
          </p:nvSpPr>
          <p:spPr>
            <a:xfrm>
              <a:off x="895098" y="4874621"/>
              <a:ext cx="686386" cy="350495"/>
            </a:xfrm>
            <a:prstGeom prst="rect">
              <a:avLst/>
            </a:prstGeom>
            <a:noFill/>
          </p:spPr>
          <p:txBody>
            <a:bodyPr wrap="none" rtlCol="0">
              <a:spAutoFit/>
            </a:bodyPr>
            <a:lstStyle/>
            <a:p>
              <a:r>
                <a:rPr lang="en-US" altLang="ko-KR" sz="1300"/>
                <a:t>start</a:t>
              </a:r>
              <a:endParaRPr lang="ko-KR" altLang="en-US" sz="1300"/>
            </a:p>
          </p:txBody>
        </p:sp>
        <p:sp>
          <p:nvSpPr>
            <p:cNvPr id="122" name="TextBox 121">
              <a:extLst>
                <a:ext uri="{FF2B5EF4-FFF2-40B4-BE49-F238E27FC236}">
                  <a16:creationId xmlns:a16="http://schemas.microsoft.com/office/drawing/2014/main" id="{80B9CB49-28D6-428F-C42B-EA451FF6AA17}"/>
                </a:ext>
              </a:extLst>
            </p:cNvPr>
            <p:cNvSpPr txBox="1"/>
            <p:nvPr/>
          </p:nvSpPr>
          <p:spPr>
            <a:xfrm>
              <a:off x="7306259" y="4874621"/>
              <a:ext cx="594151" cy="350495"/>
            </a:xfrm>
            <a:prstGeom prst="rect">
              <a:avLst/>
            </a:prstGeom>
            <a:noFill/>
          </p:spPr>
          <p:txBody>
            <a:bodyPr wrap="none" rtlCol="0">
              <a:spAutoFit/>
            </a:bodyPr>
            <a:lstStyle/>
            <a:p>
              <a:r>
                <a:rPr lang="en-US" altLang="ko-KR" sz="1300"/>
                <a:t>exit</a:t>
              </a:r>
              <a:endParaRPr lang="ko-KR" altLang="en-US" sz="1300"/>
            </a:p>
          </p:txBody>
        </p:sp>
        <p:cxnSp>
          <p:nvCxnSpPr>
            <p:cNvPr id="123" name="직선 화살표 연결선 122">
              <a:extLst>
                <a:ext uri="{FF2B5EF4-FFF2-40B4-BE49-F238E27FC236}">
                  <a16:creationId xmlns:a16="http://schemas.microsoft.com/office/drawing/2014/main" id="{3ADFB78D-DC16-7E94-F20C-483AFF45B167}"/>
                </a:ext>
              </a:extLst>
            </p:cNvPr>
            <p:cNvCxnSpPr>
              <a:cxnSpLocks/>
            </p:cNvCxnSpPr>
            <p:nvPr/>
          </p:nvCxnSpPr>
          <p:spPr bwMode="auto">
            <a:xfrm>
              <a:off x="2360290" y="2808290"/>
              <a:ext cx="965864" cy="0"/>
            </a:xfrm>
            <a:prstGeom prst="straightConnector1">
              <a:avLst/>
            </a:prstGeom>
            <a:solidFill>
              <a:schemeClr val="accent1"/>
            </a:solidFill>
            <a:ln w="12700" cap="flat" cmpd="sng" algn="ctr">
              <a:solidFill>
                <a:srgbClr val="00B0F0"/>
              </a:solidFill>
              <a:prstDash val="solid"/>
              <a:round/>
              <a:headEnd type="none" w="med" len="med"/>
              <a:tailEnd type="triangle"/>
            </a:ln>
            <a:effectLst/>
          </p:spPr>
        </p:cxnSp>
        <p:sp>
          <p:nvSpPr>
            <p:cNvPr id="124" name="원호 123">
              <a:extLst>
                <a:ext uri="{FF2B5EF4-FFF2-40B4-BE49-F238E27FC236}">
                  <a16:creationId xmlns:a16="http://schemas.microsoft.com/office/drawing/2014/main" id="{ABD2CF55-E9B5-3CA6-6EC2-5F34AF0AD025}"/>
                </a:ext>
              </a:extLst>
            </p:cNvPr>
            <p:cNvSpPr/>
            <p:nvPr/>
          </p:nvSpPr>
          <p:spPr bwMode="auto">
            <a:xfrm rot="16200000">
              <a:off x="2036685" y="4756324"/>
              <a:ext cx="647714" cy="647714"/>
            </a:xfrm>
            <a:prstGeom prst="arc">
              <a:avLst/>
            </a:prstGeom>
            <a:noFill/>
            <a:ln w="127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25" name="직선 화살표 연결선 124">
              <a:extLst>
                <a:ext uri="{FF2B5EF4-FFF2-40B4-BE49-F238E27FC236}">
                  <a16:creationId xmlns:a16="http://schemas.microsoft.com/office/drawing/2014/main" id="{2ECFBB6A-D33E-A45D-8AB0-AF3480D64AFC}"/>
                </a:ext>
              </a:extLst>
            </p:cNvPr>
            <p:cNvCxnSpPr>
              <a:cxnSpLocks/>
            </p:cNvCxnSpPr>
            <p:nvPr/>
          </p:nvCxnSpPr>
          <p:spPr bwMode="auto">
            <a:xfrm>
              <a:off x="2359521" y="4756324"/>
              <a:ext cx="536086" cy="0"/>
            </a:xfrm>
            <a:prstGeom prst="straightConnector1">
              <a:avLst/>
            </a:prstGeom>
            <a:solidFill>
              <a:schemeClr val="accent1"/>
            </a:solidFill>
            <a:ln w="12700" cap="flat" cmpd="sng" algn="ctr">
              <a:solidFill>
                <a:srgbClr val="00B0F0"/>
              </a:solidFill>
              <a:prstDash val="solid"/>
              <a:round/>
              <a:headEnd type="none" w="med" len="med"/>
              <a:tailEnd type="triangle"/>
            </a:ln>
            <a:effectLst/>
          </p:spPr>
        </p:cxnSp>
        <p:cxnSp>
          <p:nvCxnSpPr>
            <p:cNvPr id="127" name="직선 화살표 연결선 126">
              <a:extLst>
                <a:ext uri="{FF2B5EF4-FFF2-40B4-BE49-F238E27FC236}">
                  <a16:creationId xmlns:a16="http://schemas.microsoft.com/office/drawing/2014/main" id="{9E4CB889-5049-1FC7-B682-D4B04ABD72A4}"/>
                </a:ext>
              </a:extLst>
            </p:cNvPr>
            <p:cNvCxnSpPr>
              <a:cxnSpLocks/>
            </p:cNvCxnSpPr>
            <p:nvPr/>
          </p:nvCxnSpPr>
          <p:spPr bwMode="auto">
            <a:xfrm flipH="1">
              <a:off x="4278647" y="4795930"/>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grpSp>
      <p:sp>
        <p:nvSpPr>
          <p:cNvPr id="126" name="Rectangle 3">
            <a:extLst>
              <a:ext uri="{FF2B5EF4-FFF2-40B4-BE49-F238E27FC236}">
                <a16:creationId xmlns:a16="http://schemas.microsoft.com/office/drawing/2014/main" id="{223693C9-2C17-E6BD-887A-C5EB590D77FA}"/>
              </a:ext>
            </a:extLst>
          </p:cNvPr>
          <p:cNvSpPr txBox="1">
            <a:spLocks noChangeArrowheads="1"/>
          </p:cNvSpPr>
          <p:nvPr/>
        </p:nvSpPr>
        <p:spPr bwMode="auto">
          <a:xfrm>
            <a:off x="5870236" y="1752600"/>
            <a:ext cx="319756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a:t>Three Major Interfaces</a:t>
            </a:r>
          </a:p>
          <a:p>
            <a:pPr lvl="1" latinLnBrk="1"/>
            <a:r>
              <a:rPr lang="en-US" altLang="ko-KR" sz="1600" kern="0"/>
              <a:t>register ()</a:t>
            </a:r>
          </a:p>
          <a:p>
            <a:pPr lvl="1" latinLnBrk="1"/>
            <a:r>
              <a:rPr lang="en-US" altLang="ko-KR" sz="1600" kern="0"/>
              <a:t>scheduling ()</a:t>
            </a:r>
          </a:p>
          <a:p>
            <a:pPr lvl="1" latinLnBrk="1"/>
            <a:r>
              <a:rPr lang="en-US" altLang="ko-KR" sz="1600" kern="0"/>
              <a:t>unregister ()</a:t>
            </a:r>
            <a:endParaRPr lang="en-US" altLang="ko-KR" sz="1800" kern="0"/>
          </a:p>
          <a:p>
            <a:pPr latinLnBrk="1"/>
            <a:endParaRPr lang="en-US" altLang="ko-KR" sz="1800" kern="0"/>
          </a:p>
          <a:p>
            <a:pPr latinLnBrk="1"/>
            <a:r>
              <a:rPr lang="en-US" altLang="ko-KR" sz="1800"/>
              <a:t>Modify scheduler’s logic and data structure with minimal changes</a:t>
            </a:r>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spTree>
    <p:extLst>
      <p:ext uri="{BB962C8B-B14F-4D97-AF65-F5344CB8AC3E}">
        <p14:creationId xmlns:p14="http://schemas.microsoft.com/office/powerpoint/2010/main" val="164607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F88A-82F1-89B0-D082-707E9A809C0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C916A70-5DD3-9C65-6783-531B8040B619}"/>
              </a:ext>
            </a:extLst>
          </p:cNvPr>
          <p:cNvSpPr>
            <a:spLocks noGrp="1"/>
          </p:cNvSpPr>
          <p:nvPr>
            <p:ph type="title"/>
          </p:nvPr>
        </p:nvSpPr>
        <p:spPr/>
        <p:txBody>
          <a:bodyPr/>
          <a:lstStyle/>
          <a:p>
            <a:r>
              <a:rPr lang="en-US" altLang="ko-KR"/>
              <a:t>Stride Scheduler Interface </a:t>
            </a:r>
            <a:r>
              <a:rPr lang="en-US" altLang="ko-KR" sz="2800"/>
              <a:t>(2/4)</a:t>
            </a:r>
            <a:endParaRPr lang="ko-KR" altLang="en-US" sz="2800"/>
          </a:p>
        </p:txBody>
      </p:sp>
      <p:sp>
        <p:nvSpPr>
          <p:cNvPr id="6" name="Rectangle 3">
            <a:extLst>
              <a:ext uri="{FF2B5EF4-FFF2-40B4-BE49-F238E27FC236}">
                <a16:creationId xmlns:a16="http://schemas.microsoft.com/office/drawing/2014/main" id="{9065983E-04CC-0E9E-CAF7-7471E79B6B43}"/>
              </a:ext>
            </a:extLst>
          </p:cNvPr>
          <p:cNvSpPr txBox="1">
            <a:spLocks noChangeArrowheads="1"/>
          </p:cNvSpPr>
          <p:nvPr/>
        </p:nvSpPr>
        <p:spPr bwMode="auto">
          <a:xfrm>
            <a:off x="5870236" y="1752600"/>
            <a:ext cx="3273764"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a:t>register (</a:t>
            </a:r>
            <a:r>
              <a:rPr lang="en-US" altLang="ko-KR" sz="1800" i="1" kern="0"/>
              <a:t>thread</a:t>
            </a:r>
            <a:r>
              <a:rPr lang="en-US" altLang="ko-KR" sz="1800" kern="0"/>
              <a:t>)</a:t>
            </a:r>
          </a:p>
          <a:p>
            <a:pPr lvl="1" latinLnBrk="1"/>
            <a:r>
              <a:rPr lang="en-US" altLang="ko-KR" sz="1600" kern="0"/>
              <a:t>Apply given thread to the scheduler so that the scheduler can select it.</a:t>
            </a:r>
          </a:p>
          <a:p>
            <a:pPr lvl="1" latinLnBrk="1"/>
            <a:endParaRPr lang="en-US" altLang="ko-KR" sz="1800" kern="0"/>
          </a:p>
          <a:p>
            <a:pPr latinLnBrk="1"/>
            <a:r>
              <a:rPr lang="en-US" altLang="ko-KR" sz="1800" kern="0"/>
              <a:t>When you must call register ()</a:t>
            </a:r>
          </a:p>
          <a:p>
            <a:pPr lvl="1" latinLnBrk="1"/>
            <a:r>
              <a:rPr lang="en-US" altLang="ko-KR" sz="1600" kern="0"/>
              <a:t>thread creation</a:t>
            </a:r>
          </a:p>
          <a:p>
            <a:pPr lvl="1" latinLnBrk="1"/>
            <a:r>
              <a:rPr lang="en-US" altLang="ko-KR" sz="1600" kern="0"/>
              <a:t>thread unblocking</a:t>
            </a:r>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grpSp>
        <p:nvGrpSpPr>
          <p:cNvPr id="184" name="그룹 183">
            <a:extLst>
              <a:ext uri="{FF2B5EF4-FFF2-40B4-BE49-F238E27FC236}">
                <a16:creationId xmlns:a16="http://schemas.microsoft.com/office/drawing/2014/main" id="{EE0AEF2E-7049-0B16-BC45-F04F5DFFF641}"/>
              </a:ext>
            </a:extLst>
          </p:cNvPr>
          <p:cNvGrpSpPr/>
          <p:nvPr/>
        </p:nvGrpSpPr>
        <p:grpSpPr>
          <a:xfrm>
            <a:off x="76200" y="2133600"/>
            <a:ext cx="6164399" cy="3794760"/>
            <a:chOff x="895098" y="1885447"/>
            <a:chExt cx="7005312" cy="4312420"/>
          </a:xfrm>
        </p:grpSpPr>
        <p:sp>
          <p:nvSpPr>
            <p:cNvPr id="185" name="직사각형 184">
              <a:extLst>
                <a:ext uri="{FF2B5EF4-FFF2-40B4-BE49-F238E27FC236}">
                  <a16:creationId xmlns:a16="http://schemas.microsoft.com/office/drawing/2014/main" id="{077B2920-BCBB-9458-735E-B0ABE8C81D97}"/>
                </a:ext>
              </a:extLst>
            </p:cNvPr>
            <p:cNvSpPr/>
            <p:nvPr/>
          </p:nvSpPr>
          <p:spPr bwMode="auto">
            <a:xfrm>
              <a:off x="2552678" y="1905000"/>
              <a:ext cx="3352809" cy="1942103"/>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86" name="직선 연결선 185">
              <a:extLst>
                <a:ext uri="{FF2B5EF4-FFF2-40B4-BE49-F238E27FC236}">
                  <a16:creationId xmlns:a16="http://schemas.microsoft.com/office/drawing/2014/main" id="{51458630-93A3-A261-0CC1-8061818C00AE}"/>
                </a:ext>
              </a:extLst>
            </p:cNvPr>
            <p:cNvCxnSpPr>
              <a:cxnSpLocks/>
            </p:cNvCxnSpPr>
            <p:nvPr/>
          </p:nvCxnSpPr>
          <p:spPr bwMode="auto">
            <a:xfrm>
              <a:off x="2552678"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7" name="직선 연결선 186">
              <a:extLst>
                <a:ext uri="{FF2B5EF4-FFF2-40B4-BE49-F238E27FC236}">
                  <a16:creationId xmlns:a16="http://schemas.microsoft.com/office/drawing/2014/main" id="{A04FF5DE-8F60-0310-C0F5-0423C174BBED}"/>
                </a:ext>
              </a:extLst>
            </p:cNvPr>
            <p:cNvCxnSpPr>
              <a:cxnSpLocks/>
            </p:cNvCxnSpPr>
            <p:nvPr/>
          </p:nvCxnSpPr>
          <p:spPr bwMode="auto">
            <a:xfrm flipH="1">
              <a:off x="2552678" y="3847104"/>
              <a:ext cx="335280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8" name="직선 연결선 187">
              <a:extLst>
                <a:ext uri="{FF2B5EF4-FFF2-40B4-BE49-F238E27FC236}">
                  <a16:creationId xmlns:a16="http://schemas.microsoft.com/office/drawing/2014/main" id="{0C47FCE2-AB4B-1DE9-60AC-300C998E147C}"/>
                </a:ext>
              </a:extLst>
            </p:cNvPr>
            <p:cNvCxnSpPr>
              <a:cxnSpLocks/>
            </p:cNvCxnSpPr>
            <p:nvPr/>
          </p:nvCxnSpPr>
          <p:spPr bwMode="auto">
            <a:xfrm>
              <a:off x="5905487"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9" name="직사각형 188">
              <a:extLst>
                <a:ext uri="{FF2B5EF4-FFF2-40B4-BE49-F238E27FC236}">
                  <a16:creationId xmlns:a16="http://schemas.microsoft.com/office/drawing/2014/main" id="{D2931CDF-5C81-2AAF-8C49-40C8D925F06E}"/>
                </a:ext>
              </a:extLst>
            </p:cNvPr>
            <p:cNvSpPr/>
            <p:nvPr/>
          </p:nvSpPr>
          <p:spPr bwMode="auto">
            <a:xfrm>
              <a:off x="4234458" y="3688167"/>
              <a:ext cx="1366242" cy="3238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scheduling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0" name="직사각형 189">
              <a:extLst>
                <a:ext uri="{FF2B5EF4-FFF2-40B4-BE49-F238E27FC236}">
                  <a16:creationId xmlns:a16="http://schemas.microsoft.com/office/drawing/2014/main" id="{C6508D92-726F-CA80-B1F8-9CCA42EF3D8D}"/>
                </a:ext>
              </a:extLst>
            </p:cNvPr>
            <p:cNvSpPr/>
            <p:nvPr/>
          </p:nvSpPr>
          <p:spPr bwMode="auto">
            <a:xfrm rot="5400000">
              <a:off x="1841276" y="2754709"/>
              <a:ext cx="1422805" cy="380994"/>
            </a:xfrm>
            <a:prstGeom prst="rect">
              <a:avLst/>
            </a:prstGeom>
            <a:solidFill>
              <a:schemeClr val="bg1"/>
            </a:solidFill>
            <a:ln w="38100"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1" name="직사각형 190">
              <a:extLst>
                <a:ext uri="{FF2B5EF4-FFF2-40B4-BE49-F238E27FC236}">
                  <a16:creationId xmlns:a16="http://schemas.microsoft.com/office/drawing/2014/main" id="{A86F51B1-DCD5-4092-F0C7-69AED36E9D79}"/>
                </a:ext>
              </a:extLst>
            </p:cNvPr>
            <p:cNvSpPr/>
            <p:nvPr/>
          </p:nvSpPr>
          <p:spPr bwMode="auto">
            <a:xfrm rot="16200000">
              <a:off x="5196631" y="2754703"/>
              <a:ext cx="1422806" cy="38099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300" b="0" i="0" u="none" strike="noStrike" cap="none" normalizeH="0" baseline="0">
                  <a:ln>
                    <a:noFill/>
                  </a:ln>
                  <a:solidFill>
                    <a:schemeClr val="tx1"/>
                  </a:solidFill>
                  <a:effectLst/>
                  <a:latin typeface="Verdana" pitchFamily="34" charset="0"/>
                  <a:cs typeface="Arial" charset="0"/>
                </a:rPr>
                <a:t>unregister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2" name="평행 사변형 191">
              <a:extLst>
                <a:ext uri="{FF2B5EF4-FFF2-40B4-BE49-F238E27FC236}">
                  <a16:creationId xmlns:a16="http://schemas.microsoft.com/office/drawing/2014/main" id="{5ED93F06-AFCD-5A0D-0CB6-59CE7635902D}"/>
                </a:ext>
              </a:extLst>
            </p:cNvPr>
            <p:cNvSpPr/>
            <p:nvPr/>
          </p:nvSpPr>
          <p:spPr bwMode="auto">
            <a:xfrm>
              <a:off x="29451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3" name="평행 사변형 192">
              <a:extLst>
                <a:ext uri="{FF2B5EF4-FFF2-40B4-BE49-F238E27FC236}">
                  <a16:creationId xmlns:a16="http://schemas.microsoft.com/office/drawing/2014/main" id="{86FC32E3-CDE3-79F4-7D26-77D16E38B289}"/>
                </a:ext>
              </a:extLst>
            </p:cNvPr>
            <p:cNvSpPr/>
            <p:nvPr/>
          </p:nvSpPr>
          <p:spPr bwMode="auto">
            <a:xfrm>
              <a:off x="32499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4" name="평행 사변형 193">
              <a:extLst>
                <a:ext uri="{FF2B5EF4-FFF2-40B4-BE49-F238E27FC236}">
                  <a16:creationId xmlns:a16="http://schemas.microsoft.com/office/drawing/2014/main" id="{94F58869-38D4-999F-D232-8926BB892D0A}"/>
                </a:ext>
              </a:extLst>
            </p:cNvPr>
            <p:cNvSpPr/>
            <p:nvPr/>
          </p:nvSpPr>
          <p:spPr bwMode="auto">
            <a:xfrm>
              <a:off x="35547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5" name="평행 사변형 194">
              <a:extLst>
                <a:ext uri="{FF2B5EF4-FFF2-40B4-BE49-F238E27FC236}">
                  <a16:creationId xmlns:a16="http://schemas.microsoft.com/office/drawing/2014/main" id="{06F9207B-7326-CD06-22A0-C9AE09DA9E96}"/>
                </a:ext>
              </a:extLst>
            </p:cNvPr>
            <p:cNvSpPr/>
            <p:nvPr/>
          </p:nvSpPr>
          <p:spPr bwMode="auto">
            <a:xfrm>
              <a:off x="38595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6" name="평행 사변형 195">
              <a:extLst>
                <a:ext uri="{FF2B5EF4-FFF2-40B4-BE49-F238E27FC236}">
                  <a16:creationId xmlns:a16="http://schemas.microsoft.com/office/drawing/2014/main" id="{36B1B391-53DA-0C4E-DAFD-758993CA215F}"/>
                </a:ext>
              </a:extLst>
            </p:cNvPr>
            <p:cNvSpPr/>
            <p:nvPr/>
          </p:nvSpPr>
          <p:spPr bwMode="auto">
            <a:xfrm>
              <a:off x="5154947"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7" name="평행 사변형 196">
              <a:extLst>
                <a:ext uri="{FF2B5EF4-FFF2-40B4-BE49-F238E27FC236}">
                  <a16:creationId xmlns:a16="http://schemas.microsoft.com/office/drawing/2014/main" id="{224BAE34-F543-59CC-3D32-3E736E1F3428}"/>
                </a:ext>
              </a:extLst>
            </p:cNvPr>
            <p:cNvSpPr/>
            <p:nvPr/>
          </p:nvSpPr>
          <p:spPr bwMode="auto">
            <a:xfrm>
              <a:off x="33642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8" name="평행 사변형 197">
              <a:extLst>
                <a:ext uri="{FF2B5EF4-FFF2-40B4-BE49-F238E27FC236}">
                  <a16:creationId xmlns:a16="http://schemas.microsoft.com/office/drawing/2014/main" id="{6C128CB1-5759-08B6-0310-54B64C0AD40D}"/>
                </a:ext>
              </a:extLst>
            </p:cNvPr>
            <p:cNvSpPr/>
            <p:nvPr/>
          </p:nvSpPr>
          <p:spPr bwMode="auto">
            <a:xfrm>
              <a:off x="36690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99" name="평행 사변형 198">
              <a:extLst>
                <a:ext uri="{FF2B5EF4-FFF2-40B4-BE49-F238E27FC236}">
                  <a16:creationId xmlns:a16="http://schemas.microsoft.com/office/drawing/2014/main" id="{BEFC9A4D-C784-BA4D-EC56-16417423CE51}"/>
                </a:ext>
              </a:extLst>
            </p:cNvPr>
            <p:cNvSpPr/>
            <p:nvPr/>
          </p:nvSpPr>
          <p:spPr bwMode="auto">
            <a:xfrm>
              <a:off x="39738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00" name="평행 사변형 199">
              <a:extLst>
                <a:ext uri="{FF2B5EF4-FFF2-40B4-BE49-F238E27FC236}">
                  <a16:creationId xmlns:a16="http://schemas.microsoft.com/office/drawing/2014/main" id="{B6F6EADC-DA74-9205-CB9A-A6B740D61D6B}"/>
                </a:ext>
              </a:extLst>
            </p:cNvPr>
            <p:cNvSpPr/>
            <p:nvPr/>
          </p:nvSpPr>
          <p:spPr bwMode="auto">
            <a:xfrm>
              <a:off x="42786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01" name="평행 사변형 200">
              <a:extLst>
                <a:ext uri="{FF2B5EF4-FFF2-40B4-BE49-F238E27FC236}">
                  <a16:creationId xmlns:a16="http://schemas.microsoft.com/office/drawing/2014/main" id="{5B9AA2FB-ECE7-F8E4-04EE-1A8789DEB60D}"/>
                </a:ext>
              </a:extLst>
            </p:cNvPr>
            <p:cNvSpPr/>
            <p:nvPr/>
          </p:nvSpPr>
          <p:spPr bwMode="auto">
            <a:xfrm>
              <a:off x="458343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02" name="원호 201">
              <a:extLst>
                <a:ext uri="{FF2B5EF4-FFF2-40B4-BE49-F238E27FC236}">
                  <a16:creationId xmlns:a16="http://schemas.microsoft.com/office/drawing/2014/main" id="{163D692C-10D1-A597-480A-7A33C6ACAA17}"/>
                </a:ext>
              </a:extLst>
            </p:cNvPr>
            <p:cNvSpPr/>
            <p:nvPr/>
          </p:nvSpPr>
          <p:spPr bwMode="auto">
            <a:xfrm rot="5400000">
              <a:off x="1097250" y="4000485"/>
              <a:ext cx="647714" cy="647714"/>
            </a:xfrm>
            <a:prstGeom prst="arc">
              <a:avLst/>
            </a:prstGeom>
            <a:noFill/>
            <a:ln w="38100" cap="flat" cmpd="sng" algn="ctr">
              <a:solidFill>
                <a:srgbClr val="9966FF"/>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03" name="직선 화살표 연결선 202">
              <a:extLst>
                <a:ext uri="{FF2B5EF4-FFF2-40B4-BE49-F238E27FC236}">
                  <a16:creationId xmlns:a16="http://schemas.microsoft.com/office/drawing/2014/main" id="{0895A3BE-3944-1455-E5E4-9C1F43E72802}"/>
                </a:ext>
              </a:extLst>
            </p:cNvPr>
            <p:cNvCxnSpPr>
              <a:cxnSpLocks/>
              <a:stCxn id="202" idx="2"/>
            </p:cNvCxnSpPr>
            <p:nvPr/>
          </p:nvCxnSpPr>
          <p:spPr bwMode="auto">
            <a:xfrm>
              <a:off x="1421107" y="4648199"/>
              <a:ext cx="1474500" cy="1"/>
            </a:xfrm>
            <a:prstGeom prst="straightConnector1">
              <a:avLst/>
            </a:prstGeom>
            <a:solidFill>
              <a:schemeClr val="accent1"/>
            </a:solidFill>
            <a:ln w="38100" cap="flat" cmpd="sng" algn="ctr">
              <a:solidFill>
                <a:srgbClr val="9966FF"/>
              </a:solidFill>
              <a:prstDash val="solid"/>
              <a:round/>
              <a:headEnd type="none" w="med" len="med"/>
              <a:tailEnd type="triangle"/>
            </a:ln>
            <a:effectLst>
              <a:outerShdw blurRad="50800" dist="38100" dir="5400000" algn="t" rotWithShape="0">
                <a:prstClr val="black">
                  <a:alpha val="40000"/>
                </a:prstClr>
              </a:outerShdw>
            </a:effectLst>
          </p:spPr>
        </p:cxnSp>
        <p:cxnSp>
          <p:nvCxnSpPr>
            <p:cNvPr id="204" name="직선 연결선 203">
              <a:extLst>
                <a:ext uri="{FF2B5EF4-FFF2-40B4-BE49-F238E27FC236}">
                  <a16:creationId xmlns:a16="http://schemas.microsoft.com/office/drawing/2014/main" id="{2427A7A2-7CD9-9397-4DE4-13A72B9504B5}"/>
                </a:ext>
              </a:extLst>
            </p:cNvPr>
            <p:cNvCxnSpPr>
              <a:cxnSpLocks/>
              <a:stCxn id="202" idx="0"/>
            </p:cNvCxnSpPr>
            <p:nvPr/>
          </p:nvCxnSpPr>
          <p:spPr bwMode="auto">
            <a:xfrm flipV="1">
              <a:off x="1744964" y="2964444"/>
              <a:ext cx="471" cy="1359898"/>
            </a:xfrm>
            <a:prstGeom prst="line">
              <a:avLst/>
            </a:prstGeom>
            <a:solidFill>
              <a:schemeClr val="accent1"/>
            </a:solidFill>
            <a:ln w="38100" cap="flat" cmpd="sng" algn="ctr">
              <a:solidFill>
                <a:srgbClr val="9966FF"/>
              </a:solidFill>
              <a:prstDash val="solid"/>
              <a:round/>
              <a:headEnd type="none" w="med" len="med"/>
              <a:tailEnd type="none" w="med" len="med"/>
            </a:ln>
            <a:effectLst>
              <a:outerShdw blurRad="50800" dist="38100" dir="5400000" algn="t" rotWithShape="0">
                <a:prstClr val="black">
                  <a:alpha val="40000"/>
                </a:prstClr>
              </a:outerShdw>
            </a:effectLst>
          </p:spPr>
        </p:cxnSp>
        <p:sp>
          <p:nvSpPr>
            <p:cNvPr id="205" name="원호 204">
              <a:extLst>
                <a:ext uri="{FF2B5EF4-FFF2-40B4-BE49-F238E27FC236}">
                  <a16:creationId xmlns:a16="http://schemas.microsoft.com/office/drawing/2014/main" id="{575E3142-E98A-7F5A-F9A1-DFF5B8D132FA}"/>
                </a:ext>
              </a:extLst>
            </p:cNvPr>
            <p:cNvSpPr/>
            <p:nvPr/>
          </p:nvSpPr>
          <p:spPr bwMode="auto">
            <a:xfrm rot="16200000">
              <a:off x="1744975" y="2640588"/>
              <a:ext cx="647714" cy="647714"/>
            </a:xfrm>
            <a:prstGeom prst="arc">
              <a:avLst/>
            </a:prstGeom>
            <a:noFill/>
            <a:ln w="38100" cap="flat" cmpd="sng" algn="ctr">
              <a:solidFill>
                <a:srgbClr val="9966FF"/>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06" name="직선 화살표 연결선 205">
              <a:extLst>
                <a:ext uri="{FF2B5EF4-FFF2-40B4-BE49-F238E27FC236}">
                  <a16:creationId xmlns:a16="http://schemas.microsoft.com/office/drawing/2014/main" id="{9F8A4EBB-6032-8A17-2546-209FC5866841}"/>
                </a:ext>
              </a:extLst>
            </p:cNvPr>
            <p:cNvCxnSpPr>
              <a:cxnSpLocks/>
            </p:cNvCxnSpPr>
            <p:nvPr/>
          </p:nvCxnSpPr>
          <p:spPr bwMode="auto">
            <a:xfrm>
              <a:off x="2064967" y="2642439"/>
              <a:ext cx="1261187" cy="0"/>
            </a:xfrm>
            <a:prstGeom prst="straightConnector1">
              <a:avLst/>
            </a:prstGeom>
            <a:solidFill>
              <a:schemeClr val="accent1"/>
            </a:solidFill>
            <a:ln w="38100" cap="flat" cmpd="sng" algn="ctr">
              <a:solidFill>
                <a:srgbClr val="9966FF"/>
              </a:solidFill>
              <a:prstDash val="solid"/>
              <a:round/>
              <a:headEnd type="none" w="med" len="med"/>
              <a:tailEnd type="triangle"/>
            </a:ln>
            <a:effectLst>
              <a:outerShdw blurRad="50800" dist="38100" dir="5400000" algn="t" rotWithShape="0">
                <a:prstClr val="black">
                  <a:alpha val="40000"/>
                </a:prstClr>
              </a:outerShdw>
            </a:effectLst>
          </p:spPr>
        </p:cxnSp>
        <p:cxnSp>
          <p:nvCxnSpPr>
            <p:cNvPr id="207" name="직선 화살표 연결선 206">
              <a:extLst>
                <a:ext uri="{FF2B5EF4-FFF2-40B4-BE49-F238E27FC236}">
                  <a16:creationId xmlns:a16="http://schemas.microsoft.com/office/drawing/2014/main" id="{4B11D4DC-E434-2C10-F1A4-355A3C151848}"/>
                </a:ext>
              </a:extLst>
            </p:cNvPr>
            <p:cNvCxnSpPr>
              <a:cxnSpLocks/>
            </p:cNvCxnSpPr>
            <p:nvPr/>
          </p:nvCxnSpPr>
          <p:spPr bwMode="auto">
            <a:xfrm>
              <a:off x="4278647" y="4648199"/>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208" name="원호 207">
              <a:extLst>
                <a:ext uri="{FF2B5EF4-FFF2-40B4-BE49-F238E27FC236}">
                  <a16:creationId xmlns:a16="http://schemas.microsoft.com/office/drawing/2014/main" id="{DA0B4129-F2EF-9BFF-8723-5DD3B3A63AE7}"/>
                </a:ext>
              </a:extLst>
            </p:cNvPr>
            <p:cNvSpPr/>
            <p:nvPr/>
          </p:nvSpPr>
          <p:spPr bwMode="auto">
            <a:xfrm>
              <a:off x="4674863" y="2810132"/>
              <a:ext cx="647714" cy="647714"/>
            </a:xfrm>
            <a:prstGeom prst="arc">
              <a:avLst/>
            </a:prstGeom>
            <a:noFill/>
            <a:ln w="9525" cap="flat" cmpd="sng" algn="ctr">
              <a:solidFill>
                <a:srgbClr val="00B05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09" name="직선 화살표 연결선 208">
              <a:extLst>
                <a:ext uri="{FF2B5EF4-FFF2-40B4-BE49-F238E27FC236}">
                  <a16:creationId xmlns:a16="http://schemas.microsoft.com/office/drawing/2014/main" id="{E29CDDE9-EC21-FC59-78AA-451328E74FF8}"/>
                </a:ext>
              </a:extLst>
            </p:cNvPr>
            <p:cNvCxnSpPr>
              <a:cxnSpLocks/>
            </p:cNvCxnSpPr>
            <p:nvPr/>
          </p:nvCxnSpPr>
          <p:spPr bwMode="auto">
            <a:xfrm>
              <a:off x="5322577" y="3119726"/>
              <a:ext cx="0" cy="1375078"/>
            </a:xfrm>
            <a:prstGeom prst="straightConnector1">
              <a:avLst/>
            </a:prstGeom>
            <a:solidFill>
              <a:schemeClr val="accent1"/>
            </a:solidFill>
            <a:ln w="9525" cap="flat" cmpd="sng" algn="ctr">
              <a:solidFill>
                <a:srgbClr val="00B050"/>
              </a:solidFill>
              <a:prstDash val="dashDot"/>
              <a:round/>
              <a:headEnd type="none" w="med" len="med"/>
              <a:tailEnd type="triangle"/>
            </a:ln>
            <a:effectLst/>
          </p:spPr>
        </p:cxnSp>
        <p:cxnSp>
          <p:nvCxnSpPr>
            <p:cNvPr id="210" name="직선 연결선 209">
              <a:extLst>
                <a:ext uri="{FF2B5EF4-FFF2-40B4-BE49-F238E27FC236}">
                  <a16:creationId xmlns:a16="http://schemas.microsoft.com/office/drawing/2014/main" id="{881012E9-1805-E22C-270D-6161496DC36C}"/>
                </a:ext>
              </a:extLst>
            </p:cNvPr>
            <p:cNvCxnSpPr>
              <a:cxnSpLocks/>
            </p:cNvCxnSpPr>
            <p:nvPr/>
          </p:nvCxnSpPr>
          <p:spPr bwMode="auto">
            <a:xfrm>
              <a:off x="4998720" y="2667000"/>
              <a:ext cx="1667731"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211" name="원호 210">
              <a:extLst>
                <a:ext uri="{FF2B5EF4-FFF2-40B4-BE49-F238E27FC236}">
                  <a16:creationId xmlns:a16="http://schemas.microsoft.com/office/drawing/2014/main" id="{332AE153-AEAA-56EB-F5C1-17B81CF9EE80}"/>
                </a:ext>
              </a:extLst>
            </p:cNvPr>
            <p:cNvSpPr/>
            <p:nvPr/>
          </p:nvSpPr>
          <p:spPr bwMode="auto">
            <a:xfrm>
              <a:off x="6326188" y="2667000"/>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12" name="직선 연결선 211">
              <a:extLst>
                <a:ext uri="{FF2B5EF4-FFF2-40B4-BE49-F238E27FC236}">
                  <a16:creationId xmlns:a16="http://schemas.microsoft.com/office/drawing/2014/main" id="{E2AE2C70-CD3B-0904-29D2-C981C5FAD94E}"/>
                </a:ext>
              </a:extLst>
            </p:cNvPr>
            <p:cNvCxnSpPr>
              <a:cxnSpLocks/>
              <a:endCxn id="211" idx="2"/>
            </p:cNvCxnSpPr>
            <p:nvPr/>
          </p:nvCxnSpPr>
          <p:spPr bwMode="auto">
            <a:xfrm flipH="1" flipV="1">
              <a:off x="6973902" y="2990857"/>
              <a:ext cx="7369" cy="2380259"/>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213" name="평행 사변형 212">
              <a:extLst>
                <a:ext uri="{FF2B5EF4-FFF2-40B4-BE49-F238E27FC236}">
                  <a16:creationId xmlns:a16="http://schemas.microsoft.com/office/drawing/2014/main" id="{DF749A03-DA73-4443-89E3-349E22226548}"/>
                </a:ext>
              </a:extLst>
            </p:cNvPr>
            <p:cNvSpPr/>
            <p:nvPr/>
          </p:nvSpPr>
          <p:spPr bwMode="auto">
            <a:xfrm>
              <a:off x="29390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14" name="평행 사변형 213">
              <a:extLst>
                <a:ext uri="{FF2B5EF4-FFF2-40B4-BE49-F238E27FC236}">
                  <a16:creationId xmlns:a16="http://schemas.microsoft.com/office/drawing/2014/main" id="{709336AA-2152-DC00-0099-86A12E1FF41C}"/>
                </a:ext>
              </a:extLst>
            </p:cNvPr>
            <p:cNvSpPr/>
            <p:nvPr/>
          </p:nvSpPr>
          <p:spPr bwMode="auto">
            <a:xfrm>
              <a:off x="32438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15" name="평행 사변형 214">
              <a:extLst>
                <a:ext uri="{FF2B5EF4-FFF2-40B4-BE49-F238E27FC236}">
                  <a16:creationId xmlns:a16="http://schemas.microsoft.com/office/drawing/2014/main" id="{19CD822F-E87D-3DC6-DFE4-2B4548BE923B}"/>
                </a:ext>
              </a:extLst>
            </p:cNvPr>
            <p:cNvSpPr/>
            <p:nvPr/>
          </p:nvSpPr>
          <p:spPr bwMode="auto">
            <a:xfrm>
              <a:off x="35486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16" name="평행 사변형 215">
              <a:extLst>
                <a:ext uri="{FF2B5EF4-FFF2-40B4-BE49-F238E27FC236}">
                  <a16:creationId xmlns:a16="http://schemas.microsoft.com/office/drawing/2014/main" id="{AD8A7E01-0536-B6C9-5992-C488BBAAFCE2}"/>
                </a:ext>
              </a:extLst>
            </p:cNvPr>
            <p:cNvSpPr/>
            <p:nvPr/>
          </p:nvSpPr>
          <p:spPr bwMode="auto">
            <a:xfrm>
              <a:off x="38534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17" name="원호 216">
              <a:extLst>
                <a:ext uri="{FF2B5EF4-FFF2-40B4-BE49-F238E27FC236}">
                  <a16:creationId xmlns:a16="http://schemas.microsoft.com/office/drawing/2014/main" id="{CA4A4DE9-A23A-3264-9950-4CD743F2BA98}"/>
                </a:ext>
              </a:extLst>
            </p:cNvPr>
            <p:cNvSpPr/>
            <p:nvPr/>
          </p:nvSpPr>
          <p:spPr bwMode="auto">
            <a:xfrm rot="5400000">
              <a:off x="4675929" y="5047246"/>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18" name="직선 연결선 217">
              <a:extLst>
                <a:ext uri="{FF2B5EF4-FFF2-40B4-BE49-F238E27FC236}">
                  <a16:creationId xmlns:a16="http://schemas.microsoft.com/office/drawing/2014/main" id="{39EFE2D2-32B8-2E16-FBD4-092537A5742B}"/>
                </a:ext>
              </a:extLst>
            </p:cNvPr>
            <p:cNvCxnSpPr>
              <a:cxnSpLocks/>
            </p:cNvCxnSpPr>
            <p:nvPr/>
          </p:nvCxnSpPr>
          <p:spPr bwMode="auto">
            <a:xfrm flipV="1">
              <a:off x="5322577" y="4952004"/>
              <a:ext cx="0" cy="419099"/>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19" name="직선 화살표 연결선 218">
              <a:extLst>
                <a:ext uri="{FF2B5EF4-FFF2-40B4-BE49-F238E27FC236}">
                  <a16:creationId xmlns:a16="http://schemas.microsoft.com/office/drawing/2014/main" id="{9E90685E-1C24-F93C-C534-43B410853090}"/>
                </a:ext>
              </a:extLst>
            </p:cNvPr>
            <p:cNvCxnSpPr>
              <a:cxnSpLocks/>
              <a:stCxn id="220" idx="2"/>
            </p:cNvCxnSpPr>
            <p:nvPr/>
          </p:nvCxnSpPr>
          <p:spPr bwMode="auto">
            <a:xfrm flipH="1">
              <a:off x="4278647" y="5694973"/>
              <a:ext cx="2378767"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220" name="원호 219">
              <a:extLst>
                <a:ext uri="{FF2B5EF4-FFF2-40B4-BE49-F238E27FC236}">
                  <a16:creationId xmlns:a16="http://schemas.microsoft.com/office/drawing/2014/main" id="{80A594F4-A6D4-6741-6EC3-32328688A96A}"/>
                </a:ext>
              </a:extLst>
            </p:cNvPr>
            <p:cNvSpPr/>
            <p:nvPr/>
          </p:nvSpPr>
          <p:spPr bwMode="auto">
            <a:xfrm rot="5400000">
              <a:off x="6333557" y="5047259"/>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21" name="원호 220">
              <a:extLst>
                <a:ext uri="{FF2B5EF4-FFF2-40B4-BE49-F238E27FC236}">
                  <a16:creationId xmlns:a16="http://schemas.microsoft.com/office/drawing/2014/main" id="{62495413-7C09-D77D-E5E1-7655179F695F}"/>
                </a:ext>
              </a:extLst>
            </p:cNvPr>
            <p:cNvSpPr/>
            <p:nvPr/>
          </p:nvSpPr>
          <p:spPr bwMode="auto">
            <a:xfrm rot="10800000">
              <a:off x="2035665" y="5047246"/>
              <a:ext cx="647714" cy="647714"/>
            </a:xfrm>
            <a:prstGeom prst="arc">
              <a:avLst/>
            </a:prstGeom>
            <a:noFill/>
            <a:ln w="38100" cap="flat" cmpd="sng" algn="ctr">
              <a:solidFill>
                <a:srgbClr val="00B0F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22" name="원호 221">
              <a:extLst>
                <a:ext uri="{FF2B5EF4-FFF2-40B4-BE49-F238E27FC236}">
                  <a16:creationId xmlns:a16="http://schemas.microsoft.com/office/drawing/2014/main" id="{653F767C-997F-1855-62BE-E054CDE365B2}"/>
                </a:ext>
              </a:extLst>
            </p:cNvPr>
            <p:cNvSpPr/>
            <p:nvPr/>
          </p:nvSpPr>
          <p:spPr bwMode="auto">
            <a:xfrm rot="16200000">
              <a:off x="2036433" y="2808288"/>
              <a:ext cx="647714" cy="647714"/>
            </a:xfrm>
            <a:prstGeom prst="arc">
              <a:avLst/>
            </a:prstGeom>
            <a:noFill/>
            <a:ln w="38100" cap="flat" cmpd="sng" algn="ctr">
              <a:solidFill>
                <a:srgbClr val="00B0F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23" name="직선 연결선 222">
              <a:extLst>
                <a:ext uri="{FF2B5EF4-FFF2-40B4-BE49-F238E27FC236}">
                  <a16:creationId xmlns:a16="http://schemas.microsoft.com/office/drawing/2014/main" id="{DC36CB6D-C043-FDF7-CF22-C0CA53A79FAC}"/>
                </a:ext>
              </a:extLst>
            </p:cNvPr>
            <p:cNvCxnSpPr>
              <a:cxnSpLocks/>
            </p:cNvCxnSpPr>
            <p:nvPr/>
          </p:nvCxnSpPr>
          <p:spPr bwMode="auto">
            <a:xfrm flipV="1">
              <a:off x="2036433" y="3119726"/>
              <a:ext cx="0" cy="2251377"/>
            </a:xfrm>
            <a:prstGeom prst="line">
              <a:avLst/>
            </a:prstGeom>
            <a:solidFill>
              <a:schemeClr val="accent1"/>
            </a:solidFill>
            <a:ln w="38100" cap="flat" cmpd="sng" algn="ctr">
              <a:solidFill>
                <a:srgbClr val="00B0F0"/>
              </a:solidFill>
              <a:prstDash val="solid"/>
              <a:round/>
              <a:headEnd type="none" w="med" len="med"/>
              <a:tailEnd type="none" w="med" len="med"/>
            </a:ln>
            <a:effectLst>
              <a:outerShdw blurRad="50800" dist="38100" dir="5400000" algn="t" rotWithShape="0">
                <a:prstClr val="black">
                  <a:alpha val="40000"/>
                </a:prstClr>
              </a:outerShdw>
            </a:effectLst>
          </p:spPr>
        </p:cxnSp>
        <p:cxnSp>
          <p:nvCxnSpPr>
            <p:cNvPr id="224" name="직선 연결선 223">
              <a:extLst>
                <a:ext uri="{FF2B5EF4-FFF2-40B4-BE49-F238E27FC236}">
                  <a16:creationId xmlns:a16="http://schemas.microsoft.com/office/drawing/2014/main" id="{1F86B48B-7262-A284-D5BD-30A8644D5FA1}"/>
                </a:ext>
              </a:extLst>
            </p:cNvPr>
            <p:cNvCxnSpPr>
              <a:cxnSpLocks/>
              <a:stCxn id="221" idx="0"/>
            </p:cNvCxnSpPr>
            <p:nvPr/>
          </p:nvCxnSpPr>
          <p:spPr bwMode="auto">
            <a:xfrm>
              <a:off x="2359522" y="5694960"/>
              <a:ext cx="536085" cy="44"/>
            </a:xfrm>
            <a:prstGeom prst="line">
              <a:avLst/>
            </a:prstGeom>
            <a:solidFill>
              <a:schemeClr val="accent1"/>
            </a:solidFill>
            <a:ln w="38100" cap="flat" cmpd="sng" algn="ctr">
              <a:solidFill>
                <a:srgbClr val="00B0F0"/>
              </a:solidFill>
              <a:prstDash val="solid"/>
              <a:round/>
              <a:headEnd type="none" w="med" len="med"/>
              <a:tailEnd type="none" w="med" len="med"/>
            </a:ln>
            <a:effectLst>
              <a:outerShdw blurRad="50800" dist="38100" dir="5400000" algn="t" rotWithShape="0">
                <a:prstClr val="black">
                  <a:alpha val="40000"/>
                </a:prstClr>
              </a:outerShdw>
            </a:effectLst>
          </p:spPr>
        </p:cxnSp>
        <p:cxnSp>
          <p:nvCxnSpPr>
            <p:cNvPr id="225" name="직선 화살표 연결선 224">
              <a:extLst>
                <a:ext uri="{FF2B5EF4-FFF2-40B4-BE49-F238E27FC236}">
                  <a16:creationId xmlns:a16="http://schemas.microsoft.com/office/drawing/2014/main" id="{237E3926-CF97-6797-4798-0C9C796453D6}"/>
                </a:ext>
              </a:extLst>
            </p:cNvPr>
            <p:cNvCxnSpPr>
              <a:cxnSpLocks/>
            </p:cNvCxnSpPr>
            <p:nvPr/>
          </p:nvCxnSpPr>
          <p:spPr bwMode="auto">
            <a:xfrm>
              <a:off x="5600727" y="4723404"/>
              <a:ext cx="1714473"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sp>
          <p:nvSpPr>
            <p:cNvPr id="226" name="원호 225">
              <a:extLst>
                <a:ext uri="{FF2B5EF4-FFF2-40B4-BE49-F238E27FC236}">
                  <a16:creationId xmlns:a16="http://schemas.microsoft.com/office/drawing/2014/main" id="{08368716-11F5-E33F-8752-815B30D9605D}"/>
                </a:ext>
              </a:extLst>
            </p:cNvPr>
            <p:cNvSpPr/>
            <p:nvPr/>
          </p:nvSpPr>
          <p:spPr bwMode="auto">
            <a:xfrm rot="10800000">
              <a:off x="6480569" y="4075689"/>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27" name="직선 연결선 226">
              <a:extLst>
                <a:ext uri="{FF2B5EF4-FFF2-40B4-BE49-F238E27FC236}">
                  <a16:creationId xmlns:a16="http://schemas.microsoft.com/office/drawing/2014/main" id="{EC09F942-0980-50CD-486B-26BA8AAB160A}"/>
                </a:ext>
              </a:extLst>
            </p:cNvPr>
            <p:cNvCxnSpPr>
              <a:cxnSpLocks/>
            </p:cNvCxnSpPr>
            <p:nvPr/>
          </p:nvCxnSpPr>
          <p:spPr bwMode="auto">
            <a:xfrm>
              <a:off x="4998720" y="2743200"/>
              <a:ext cx="1173480" cy="0"/>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228" name="원호 227">
              <a:extLst>
                <a:ext uri="{FF2B5EF4-FFF2-40B4-BE49-F238E27FC236}">
                  <a16:creationId xmlns:a16="http://schemas.microsoft.com/office/drawing/2014/main" id="{B1744BE4-BFB4-3115-443E-5D10A7FC4245}"/>
                </a:ext>
              </a:extLst>
            </p:cNvPr>
            <p:cNvSpPr/>
            <p:nvPr/>
          </p:nvSpPr>
          <p:spPr bwMode="auto">
            <a:xfrm>
              <a:off x="5832855" y="2742608"/>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29" name="직선 연결선 228">
              <a:extLst>
                <a:ext uri="{FF2B5EF4-FFF2-40B4-BE49-F238E27FC236}">
                  <a16:creationId xmlns:a16="http://schemas.microsoft.com/office/drawing/2014/main" id="{CA8A7E4F-81FA-BAB2-80EE-8E151DD715A7}"/>
                </a:ext>
              </a:extLst>
            </p:cNvPr>
            <p:cNvCxnSpPr>
              <a:cxnSpLocks/>
              <a:stCxn id="226" idx="2"/>
              <a:endCxn id="228" idx="2"/>
            </p:cNvCxnSpPr>
            <p:nvPr/>
          </p:nvCxnSpPr>
          <p:spPr bwMode="auto">
            <a:xfrm flipV="1">
              <a:off x="6480569" y="3066465"/>
              <a:ext cx="0" cy="1333081"/>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230" name="TextBox 229">
              <a:extLst>
                <a:ext uri="{FF2B5EF4-FFF2-40B4-BE49-F238E27FC236}">
                  <a16:creationId xmlns:a16="http://schemas.microsoft.com/office/drawing/2014/main" id="{F4A2B3A5-5FDB-87CD-B6E4-2B61C4CFF01A}"/>
                </a:ext>
              </a:extLst>
            </p:cNvPr>
            <p:cNvSpPr txBox="1"/>
            <p:nvPr/>
          </p:nvSpPr>
          <p:spPr>
            <a:xfrm>
              <a:off x="2652818" y="1885447"/>
              <a:ext cx="2056466" cy="350495"/>
            </a:xfrm>
            <a:prstGeom prst="rect">
              <a:avLst/>
            </a:prstGeom>
            <a:noFill/>
          </p:spPr>
          <p:txBody>
            <a:bodyPr wrap="none" rtlCol="0">
              <a:spAutoFit/>
            </a:bodyPr>
            <a:lstStyle/>
            <a:p>
              <a:r>
                <a:rPr lang="en-US" altLang="ko-KR" sz="1300" i="1" u="sng"/>
                <a:t>stride_scheduler.c</a:t>
              </a:r>
              <a:endParaRPr lang="ko-KR" altLang="en-US" sz="1300" i="1" u="sng"/>
            </a:p>
          </p:txBody>
        </p:sp>
        <p:sp>
          <p:nvSpPr>
            <p:cNvPr id="231" name="TextBox 230">
              <a:extLst>
                <a:ext uri="{FF2B5EF4-FFF2-40B4-BE49-F238E27FC236}">
                  <a16:creationId xmlns:a16="http://schemas.microsoft.com/office/drawing/2014/main" id="{C3BD735D-1285-DDD7-14B3-EEE0D548BDF4}"/>
                </a:ext>
              </a:extLst>
            </p:cNvPr>
            <p:cNvSpPr txBox="1"/>
            <p:nvPr/>
          </p:nvSpPr>
          <p:spPr>
            <a:xfrm>
              <a:off x="2974214" y="4241889"/>
              <a:ext cx="1476152" cy="350495"/>
            </a:xfrm>
            <a:prstGeom prst="rect">
              <a:avLst/>
            </a:prstGeom>
            <a:noFill/>
          </p:spPr>
          <p:txBody>
            <a:bodyPr wrap="none" rtlCol="0">
              <a:spAutoFit/>
            </a:bodyPr>
            <a:lstStyle/>
            <a:p>
              <a:r>
                <a:rPr lang="en-US" altLang="ko-KR" sz="1300"/>
                <a:t>ready queue</a:t>
              </a:r>
              <a:endParaRPr lang="ko-KR" altLang="en-US" sz="1300"/>
            </a:p>
          </p:txBody>
        </p:sp>
        <p:sp>
          <p:nvSpPr>
            <p:cNvPr id="232" name="TextBox 231">
              <a:extLst>
                <a:ext uri="{FF2B5EF4-FFF2-40B4-BE49-F238E27FC236}">
                  <a16:creationId xmlns:a16="http://schemas.microsoft.com/office/drawing/2014/main" id="{BB175132-193A-A247-2F67-61D0F2FA32B0}"/>
                </a:ext>
              </a:extLst>
            </p:cNvPr>
            <p:cNvSpPr txBox="1"/>
            <p:nvPr/>
          </p:nvSpPr>
          <p:spPr>
            <a:xfrm>
              <a:off x="2974214" y="5847372"/>
              <a:ext cx="1324348" cy="350495"/>
            </a:xfrm>
            <a:prstGeom prst="rect">
              <a:avLst/>
            </a:prstGeom>
            <a:noFill/>
          </p:spPr>
          <p:txBody>
            <a:bodyPr wrap="none" rtlCol="0">
              <a:spAutoFit/>
            </a:bodyPr>
            <a:lstStyle/>
            <a:p>
              <a:r>
                <a:rPr lang="en-US" altLang="ko-KR" sz="1300"/>
                <a:t>wait queue</a:t>
              </a:r>
              <a:endParaRPr lang="ko-KR" altLang="en-US" sz="1300"/>
            </a:p>
          </p:txBody>
        </p:sp>
        <p:sp>
          <p:nvSpPr>
            <p:cNvPr id="233" name="TextBox 232">
              <a:extLst>
                <a:ext uri="{FF2B5EF4-FFF2-40B4-BE49-F238E27FC236}">
                  <a16:creationId xmlns:a16="http://schemas.microsoft.com/office/drawing/2014/main" id="{4A8DB95F-1299-DB35-8FEE-8B3B43385F1E}"/>
                </a:ext>
              </a:extLst>
            </p:cNvPr>
            <p:cNvSpPr txBox="1"/>
            <p:nvPr/>
          </p:nvSpPr>
          <p:spPr>
            <a:xfrm>
              <a:off x="3209430" y="2846612"/>
              <a:ext cx="2198662" cy="350495"/>
            </a:xfrm>
            <a:prstGeom prst="rect">
              <a:avLst/>
            </a:prstGeom>
            <a:noFill/>
          </p:spPr>
          <p:txBody>
            <a:bodyPr wrap="none" rtlCol="0">
              <a:spAutoFit/>
            </a:bodyPr>
            <a:lstStyle/>
            <a:p>
              <a:r>
                <a:rPr lang="en-US" altLang="ko-KR" sz="1300"/>
                <a:t>sched_contexts_list</a:t>
              </a:r>
              <a:endParaRPr lang="ko-KR" altLang="en-US" sz="1300"/>
            </a:p>
          </p:txBody>
        </p:sp>
        <p:sp>
          <p:nvSpPr>
            <p:cNvPr id="234" name="TextBox 233">
              <a:extLst>
                <a:ext uri="{FF2B5EF4-FFF2-40B4-BE49-F238E27FC236}">
                  <a16:creationId xmlns:a16="http://schemas.microsoft.com/office/drawing/2014/main" id="{465568BA-152C-BF0A-821E-EC3D36DF939C}"/>
                </a:ext>
              </a:extLst>
            </p:cNvPr>
            <p:cNvSpPr txBox="1"/>
            <p:nvPr/>
          </p:nvSpPr>
          <p:spPr>
            <a:xfrm>
              <a:off x="5294295" y="4874621"/>
              <a:ext cx="993837" cy="350495"/>
            </a:xfrm>
            <a:prstGeom prst="rect">
              <a:avLst/>
            </a:prstGeom>
            <a:noFill/>
          </p:spPr>
          <p:txBody>
            <a:bodyPr wrap="none" rtlCol="0">
              <a:spAutoFit/>
            </a:bodyPr>
            <a:lstStyle/>
            <a:p>
              <a:r>
                <a:rPr lang="en-US" altLang="ko-KR" sz="1300"/>
                <a:t>running</a:t>
              </a:r>
              <a:endParaRPr lang="ko-KR" altLang="en-US" sz="1300"/>
            </a:p>
          </p:txBody>
        </p:sp>
        <p:sp>
          <p:nvSpPr>
            <p:cNvPr id="235" name="TextBox 234">
              <a:extLst>
                <a:ext uri="{FF2B5EF4-FFF2-40B4-BE49-F238E27FC236}">
                  <a16:creationId xmlns:a16="http://schemas.microsoft.com/office/drawing/2014/main" id="{DA2D71DF-EF08-55D9-6F8F-B6C3730645BE}"/>
                </a:ext>
              </a:extLst>
            </p:cNvPr>
            <p:cNvSpPr txBox="1"/>
            <p:nvPr/>
          </p:nvSpPr>
          <p:spPr>
            <a:xfrm>
              <a:off x="4723990" y="4079312"/>
              <a:ext cx="1248213" cy="288554"/>
            </a:xfrm>
            <a:prstGeom prst="rect">
              <a:avLst/>
            </a:prstGeom>
            <a:noFill/>
          </p:spPr>
          <p:txBody>
            <a:bodyPr wrap="none" rtlCol="0">
              <a:spAutoFit/>
            </a:bodyPr>
            <a:lstStyle/>
            <a:p>
              <a:r>
                <a:rPr lang="en-US" altLang="ko-KR" sz="1050" i="1"/>
                <a:t>return by ref.</a:t>
              </a:r>
              <a:endParaRPr lang="ko-KR" altLang="en-US" sz="1050" i="1"/>
            </a:p>
          </p:txBody>
        </p:sp>
        <p:sp>
          <p:nvSpPr>
            <p:cNvPr id="236" name="타원 235">
              <a:extLst>
                <a:ext uri="{FF2B5EF4-FFF2-40B4-BE49-F238E27FC236}">
                  <a16:creationId xmlns:a16="http://schemas.microsoft.com/office/drawing/2014/main" id="{DEA233E9-6EF0-0EF9-DD95-99A6F2CB9DA1}"/>
                </a:ext>
              </a:extLst>
            </p:cNvPr>
            <p:cNvSpPr/>
            <p:nvPr/>
          </p:nvSpPr>
          <p:spPr bwMode="auto">
            <a:xfrm>
              <a:off x="1038680"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37" name="타원 236">
              <a:extLst>
                <a:ext uri="{FF2B5EF4-FFF2-40B4-BE49-F238E27FC236}">
                  <a16:creationId xmlns:a16="http://schemas.microsoft.com/office/drawing/2014/main" id="{96698601-2A0E-F803-FD9F-832A88DF70C8}"/>
                </a:ext>
              </a:extLst>
            </p:cNvPr>
            <p:cNvSpPr/>
            <p:nvPr/>
          </p:nvSpPr>
          <p:spPr bwMode="auto">
            <a:xfrm>
              <a:off x="7393153"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238" name="TextBox 237">
              <a:extLst>
                <a:ext uri="{FF2B5EF4-FFF2-40B4-BE49-F238E27FC236}">
                  <a16:creationId xmlns:a16="http://schemas.microsoft.com/office/drawing/2014/main" id="{BE6225F6-374D-7429-A838-3257CACEF3EC}"/>
                </a:ext>
              </a:extLst>
            </p:cNvPr>
            <p:cNvSpPr txBox="1"/>
            <p:nvPr/>
          </p:nvSpPr>
          <p:spPr>
            <a:xfrm>
              <a:off x="895098" y="4874621"/>
              <a:ext cx="686386" cy="350495"/>
            </a:xfrm>
            <a:prstGeom prst="rect">
              <a:avLst/>
            </a:prstGeom>
            <a:noFill/>
          </p:spPr>
          <p:txBody>
            <a:bodyPr wrap="none" rtlCol="0">
              <a:spAutoFit/>
            </a:bodyPr>
            <a:lstStyle/>
            <a:p>
              <a:r>
                <a:rPr lang="en-US" altLang="ko-KR" sz="1300"/>
                <a:t>start</a:t>
              </a:r>
              <a:endParaRPr lang="ko-KR" altLang="en-US" sz="1300"/>
            </a:p>
          </p:txBody>
        </p:sp>
        <p:sp>
          <p:nvSpPr>
            <p:cNvPr id="239" name="TextBox 238">
              <a:extLst>
                <a:ext uri="{FF2B5EF4-FFF2-40B4-BE49-F238E27FC236}">
                  <a16:creationId xmlns:a16="http://schemas.microsoft.com/office/drawing/2014/main" id="{AE62513A-7855-737A-9BE0-141E603CCE9C}"/>
                </a:ext>
              </a:extLst>
            </p:cNvPr>
            <p:cNvSpPr txBox="1"/>
            <p:nvPr/>
          </p:nvSpPr>
          <p:spPr>
            <a:xfrm>
              <a:off x="7306259" y="4874621"/>
              <a:ext cx="594151" cy="350495"/>
            </a:xfrm>
            <a:prstGeom prst="rect">
              <a:avLst/>
            </a:prstGeom>
            <a:noFill/>
          </p:spPr>
          <p:txBody>
            <a:bodyPr wrap="none" rtlCol="0">
              <a:spAutoFit/>
            </a:bodyPr>
            <a:lstStyle/>
            <a:p>
              <a:r>
                <a:rPr lang="en-US" altLang="ko-KR" sz="1300"/>
                <a:t>exit</a:t>
              </a:r>
              <a:endParaRPr lang="ko-KR" altLang="en-US" sz="1300"/>
            </a:p>
          </p:txBody>
        </p:sp>
        <p:cxnSp>
          <p:nvCxnSpPr>
            <p:cNvPr id="240" name="직선 화살표 연결선 239">
              <a:extLst>
                <a:ext uri="{FF2B5EF4-FFF2-40B4-BE49-F238E27FC236}">
                  <a16:creationId xmlns:a16="http://schemas.microsoft.com/office/drawing/2014/main" id="{B11DB7BD-8266-5E17-1017-5DD77020724E}"/>
                </a:ext>
              </a:extLst>
            </p:cNvPr>
            <p:cNvCxnSpPr>
              <a:cxnSpLocks/>
            </p:cNvCxnSpPr>
            <p:nvPr/>
          </p:nvCxnSpPr>
          <p:spPr bwMode="auto">
            <a:xfrm>
              <a:off x="2360290" y="2808290"/>
              <a:ext cx="965864" cy="0"/>
            </a:xfrm>
            <a:prstGeom prst="straightConnector1">
              <a:avLst/>
            </a:prstGeom>
            <a:solidFill>
              <a:schemeClr val="accent1"/>
            </a:solidFill>
            <a:ln w="38100" cap="flat" cmpd="sng" algn="ctr">
              <a:solidFill>
                <a:srgbClr val="00B0F0"/>
              </a:solidFill>
              <a:prstDash val="solid"/>
              <a:round/>
              <a:headEnd type="none" w="med" len="med"/>
              <a:tailEnd type="triangle"/>
            </a:ln>
            <a:effectLst>
              <a:outerShdw blurRad="50800" dist="38100" dir="5400000" algn="t" rotWithShape="0">
                <a:prstClr val="black">
                  <a:alpha val="40000"/>
                </a:prstClr>
              </a:outerShdw>
            </a:effectLst>
          </p:spPr>
        </p:cxnSp>
        <p:sp>
          <p:nvSpPr>
            <p:cNvPr id="241" name="원호 240">
              <a:extLst>
                <a:ext uri="{FF2B5EF4-FFF2-40B4-BE49-F238E27FC236}">
                  <a16:creationId xmlns:a16="http://schemas.microsoft.com/office/drawing/2014/main" id="{FA74D9EE-8101-5F52-ACEA-89069CDBDEA9}"/>
                </a:ext>
              </a:extLst>
            </p:cNvPr>
            <p:cNvSpPr/>
            <p:nvPr/>
          </p:nvSpPr>
          <p:spPr bwMode="auto">
            <a:xfrm rot="16200000">
              <a:off x="2036685" y="4756324"/>
              <a:ext cx="647714" cy="647714"/>
            </a:xfrm>
            <a:prstGeom prst="arc">
              <a:avLst/>
            </a:prstGeom>
            <a:noFill/>
            <a:ln w="38100" cap="flat" cmpd="sng" algn="ctr">
              <a:solidFill>
                <a:srgbClr val="00B0F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242" name="직선 화살표 연결선 241">
              <a:extLst>
                <a:ext uri="{FF2B5EF4-FFF2-40B4-BE49-F238E27FC236}">
                  <a16:creationId xmlns:a16="http://schemas.microsoft.com/office/drawing/2014/main" id="{2C0A7EB6-A214-3C18-C203-1E07132AADDB}"/>
                </a:ext>
              </a:extLst>
            </p:cNvPr>
            <p:cNvCxnSpPr>
              <a:cxnSpLocks/>
            </p:cNvCxnSpPr>
            <p:nvPr/>
          </p:nvCxnSpPr>
          <p:spPr bwMode="auto">
            <a:xfrm>
              <a:off x="2359521" y="4756324"/>
              <a:ext cx="536086" cy="0"/>
            </a:xfrm>
            <a:prstGeom prst="straightConnector1">
              <a:avLst/>
            </a:prstGeom>
            <a:solidFill>
              <a:schemeClr val="accent1"/>
            </a:solidFill>
            <a:ln w="38100" cap="flat" cmpd="sng" algn="ctr">
              <a:solidFill>
                <a:srgbClr val="00B0F0"/>
              </a:solidFill>
              <a:prstDash val="solid"/>
              <a:round/>
              <a:headEnd type="none" w="med" len="med"/>
              <a:tailEnd type="triangle"/>
            </a:ln>
            <a:effectLst>
              <a:outerShdw blurRad="50800" dist="38100" dir="5400000" algn="t" rotWithShape="0">
                <a:prstClr val="black">
                  <a:alpha val="40000"/>
                </a:prstClr>
              </a:outerShdw>
            </a:effectLst>
          </p:spPr>
        </p:cxnSp>
        <p:cxnSp>
          <p:nvCxnSpPr>
            <p:cNvPr id="243" name="직선 화살표 연결선 242">
              <a:extLst>
                <a:ext uri="{FF2B5EF4-FFF2-40B4-BE49-F238E27FC236}">
                  <a16:creationId xmlns:a16="http://schemas.microsoft.com/office/drawing/2014/main" id="{550AFDEA-3E14-B052-9C91-9951C0937378}"/>
                </a:ext>
              </a:extLst>
            </p:cNvPr>
            <p:cNvCxnSpPr>
              <a:cxnSpLocks/>
            </p:cNvCxnSpPr>
            <p:nvPr/>
          </p:nvCxnSpPr>
          <p:spPr bwMode="auto">
            <a:xfrm flipH="1">
              <a:off x="4278647" y="4795930"/>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grpSp>
    </p:spTree>
    <p:extLst>
      <p:ext uri="{BB962C8B-B14F-4D97-AF65-F5344CB8AC3E}">
        <p14:creationId xmlns:p14="http://schemas.microsoft.com/office/powerpoint/2010/main" val="3580968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F6D1-CFB9-8426-3CEE-4DE681ECB78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26F774C-F59D-2C63-3A07-2ADACF868BDC}"/>
              </a:ext>
            </a:extLst>
          </p:cNvPr>
          <p:cNvSpPr>
            <a:spLocks noGrp="1"/>
          </p:cNvSpPr>
          <p:nvPr>
            <p:ph type="title"/>
          </p:nvPr>
        </p:nvSpPr>
        <p:spPr/>
        <p:txBody>
          <a:bodyPr/>
          <a:lstStyle/>
          <a:p>
            <a:r>
              <a:rPr lang="en-US" altLang="ko-KR"/>
              <a:t>Stride Scheduler Interface </a:t>
            </a:r>
            <a:r>
              <a:rPr lang="en-US" altLang="ko-KR" sz="2800"/>
              <a:t>(3/4)</a:t>
            </a:r>
            <a:endParaRPr lang="ko-KR" altLang="en-US" sz="2800"/>
          </a:p>
        </p:txBody>
      </p:sp>
      <p:sp>
        <p:nvSpPr>
          <p:cNvPr id="6" name="Rectangle 3">
            <a:extLst>
              <a:ext uri="{FF2B5EF4-FFF2-40B4-BE49-F238E27FC236}">
                <a16:creationId xmlns:a16="http://schemas.microsoft.com/office/drawing/2014/main" id="{0556A5AC-B005-498E-60C5-9230C52CDAE3}"/>
              </a:ext>
            </a:extLst>
          </p:cNvPr>
          <p:cNvSpPr txBox="1">
            <a:spLocks noChangeArrowheads="1"/>
          </p:cNvSpPr>
          <p:nvPr/>
        </p:nvSpPr>
        <p:spPr bwMode="auto">
          <a:xfrm>
            <a:off x="5870236" y="1752600"/>
            <a:ext cx="3273764"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a:t>scheduling ()</a:t>
            </a:r>
          </a:p>
          <a:p>
            <a:pPr lvl="1" latinLnBrk="1"/>
            <a:r>
              <a:rPr lang="en-US" altLang="ko-KR" sz="1600" kern="0"/>
              <a:t>Select a next thread to run according to the scheduler’s rule</a:t>
            </a:r>
          </a:p>
          <a:p>
            <a:pPr lvl="1" latinLnBrk="1"/>
            <a:endParaRPr lang="en-US" altLang="ko-KR" sz="1800" kern="0"/>
          </a:p>
          <a:p>
            <a:pPr latinLnBrk="1"/>
            <a:r>
              <a:rPr lang="en-US" altLang="ko-KR" sz="1800" kern="0"/>
              <a:t>When you must call scheduling ()</a:t>
            </a:r>
          </a:p>
          <a:p>
            <a:pPr lvl="1" latinLnBrk="1"/>
            <a:r>
              <a:rPr lang="en-US" altLang="ko-KR" sz="1600" kern="0"/>
              <a:t>thread scheduling</a:t>
            </a:r>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grpSp>
        <p:nvGrpSpPr>
          <p:cNvPr id="3" name="그룹 2">
            <a:extLst>
              <a:ext uri="{FF2B5EF4-FFF2-40B4-BE49-F238E27FC236}">
                <a16:creationId xmlns:a16="http://schemas.microsoft.com/office/drawing/2014/main" id="{CAD56D61-47D3-7B6F-EC53-E5E74648DB37}"/>
              </a:ext>
            </a:extLst>
          </p:cNvPr>
          <p:cNvGrpSpPr/>
          <p:nvPr/>
        </p:nvGrpSpPr>
        <p:grpSpPr>
          <a:xfrm>
            <a:off x="76200" y="2133600"/>
            <a:ext cx="6164399" cy="3794760"/>
            <a:chOff x="895098" y="1885447"/>
            <a:chExt cx="7005312" cy="4312420"/>
          </a:xfrm>
        </p:grpSpPr>
        <p:sp>
          <p:nvSpPr>
            <p:cNvPr id="4" name="직사각형 3">
              <a:extLst>
                <a:ext uri="{FF2B5EF4-FFF2-40B4-BE49-F238E27FC236}">
                  <a16:creationId xmlns:a16="http://schemas.microsoft.com/office/drawing/2014/main" id="{272159D3-0284-AB8C-608C-798801413B87}"/>
                </a:ext>
              </a:extLst>
            </p:cNvPr>
            <p:cNvSpPr/>
            <p:nvPr/>
          </p:nvSpPr>
          <p:spPr bwMode="auto">
            <a:xfrm>
              <a:off x="2552678" y="1905000"/>
              <a:ext cx="3352809" cy="1942103"/>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5" name="직선 연결선 4">
              <a:extLst>
                <a:ext uri="{FF2B5EF4-FFF2-40B4-BE49-F238E27FC236}">
                  <a16:creationId xmlns:a16="http://schemas.microsoft.com/office/drawing/2014/main" id="{B6D67349-3BD0-A36C-A6C0-1080CB4B1B25}"/>
                </a:ext>
              </a:extLst>
            </p:cNvPr>
            <p:cNvCxnSpPr>
              <a:cxnSpLocks/>
            </p:cNvCxnSpPr>
            <p:nvPr/>
          </p:nvCxnSpPr>
          <p:spPr bwMode="auto">
            <a:xfrm>
              <a:off x="2552678"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직선 연결선 6">
              <a:extLst>
                <a:ext uri="{FF2B5EF4-FFF2-40B4-BE49-F238E27FC236}">
                  <a16:creationId xmlns:a16="http://schemas.microsoft.com/office/drawing/2014/main" id="{666BA4A3-5BAA-E2EB-BE15-70843CF8B5B5}"/>
                </a:ext>
              </a:extLst>
            </p:cNvPr>
            <p:cNvCxnSpPr>
              <a:cxnSpLocks/>
            </p:cNvCxnSpPr>
            <p:nvPr/>
          </p:nvCxnSpPr>
          <p:spPr bwMode="auto">
            <a:xfrm flipH="1">
              <a:off x="2552678" y="3847104"/>
              <a:ext cx="335280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직선 연결선 66">
              <a:extLst>
                <a:ext uri="{FF2B5EF4-FFF2-40B4-BE49-F238E27FC236}">
                  <a16:creationId xmlns:a16="http://schemas.microsoft.com/office/drawing/2014/main" id="{2233C6DA-9E7A-EE24-48F0-C53159F71CDE}"/>
                </a:ext>
              </a:extLst>
            </p:cNvPr>
            <p:cNvCxnSpPr>
              <a:cxnSpLocks/>
            </p:cNvCxnSpPr>
            <p:nvPr/>
          </p:nvCxnSpPr>
          <p:spPr bwMode="auto">
            <a:xfrm>
              <a:off x="5905487"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8" name="직사각형 67">
              <a:extLst>
                <a:ext uri="{FF2B5EF4-FFF2-40B4-BE49-F238E27FC236}">
                  <a16:creationId xmlns:a16="http://schemas.microsoft.com/office/drawing/2014/main" id="{2863D2E1-5E46-C914-E565-C9364E9E4671}"/>
                </a:ext>
              </a:extLst>
            </p:cNvPr>
            <p:cNvSpPr/>
            <p:nvPr/>
          </p:nvSpPr>
          <p:spPr bwMode="auto">
            <a:xfrm>
              <a:off x="4234457" y="3688167"/>
              <a:ext cx="1366242" cy="323839"/>
            </a:xfrm>
            <a:prstGeom prst="rect">
              <a:avLst/>
            </a:prstGeom>
            <a:solidFill>
              <a:schemeClr val="bg1"/>
            </a:solidFill>
            <a:ln w="38100"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scheduling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69" name="직사각형 68">
              <a:extLst>
                <a:ext uri="{FF2B5EF4-FFF2-40B4-BE49-F238E27FC236}">
                  <a16:creationId xmlns:a16="http://schemas.microsoft.com/office/drawing/2014/main" id="{D5806D7D-D327-0AB2-5859-C05B7D8264ED}"/>
                </a:ext>
              </a:extLst>
            </p:cNvPr>
            <p:cNvSpPr/>
            <p:nvPr/>
          </p:nvSpPr>
          <p:spPr bwMode="auto">
            <a:xfrm rot="5400000">
              <a:off x="1841276" y="2754709"/>
              <a:ext cx="1422805" cy="38099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0" name="직사각형 69">
              <a:extLst>
                <a:ext uri="{FF2B5EF4-FFF2-40B4-BE49-F238E27FC236}">
                  <a16:creationId xmlns:a16="http://schemas.microsoft.com/office/drawing/2014/main" id="{84FEA8F5-F0C4-BE7B-E6FE-2D0FF1E00B61}"/>
                </a:ext>
              </a:extLst>
            </p:cNvPr>
            <p:cNvSpPr/>
            <p:nvPr/>
          </p:nvSpPr>
          <p:spPr bwMode="auto">
            <a:xfrm rot="16200000">
              <a:off x="5196631" y="2754703"/>
              <a:ext cx="1422806" cy="38099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300" b="0" i="0" u="none" strike="noStrike" cap="none" normalizeH="0" baseline="0">
                  <a:ln>
                    <a:noFill/>
                  </a:ln>
                  <a:solidFill>
                    <a:schemeClr val="tx1"/>
                  </a:solidFill>
                  <a:effectLst/>
                  <a:latin typeface="Verdana" pitchFamily="34" charset="0"/>
                  <a:cs typeface="Arial" charset="0"/>
                </a:rPr>
                <a:t>unregister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1" name="평행 사변형 70">
              <a:extLst>
                <a:ext uri="{FF2B5EF4-FFF2-40B4-BE49-F238E27FC236}">
                  <a16:creationId xmlns:a16="http://schemas.microsoft.com/office/drawing/2014/main" id="{F5253DE7-0654-B5E3-0540-796E9B6B4506}"/>
                </a:ext>
              </a:extLst>
            </p:cNvPr>
            <p:cNvSpPr/>
            <p:nvPr/>
          </p:nvSpPr>
          <p:spPr bwMode="auto">
            <a:xfrm>
              <a:off x="29451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2" name="평행 사변형 71">
              <a:extLst>
                <a:ext uri="{FF2B5EF4-FFF2-40B4-BE49-F238E27FC236}">
                  <a16:creationId xmlns:a16="http://schemas.microsoft.com/office/drawing/2014/main" id="{A6026B38-5EED-22E3-80D6-E4A176C6C198}"/>
                </a:ext>
              </a:extLst>
            </p:cNvPr>
            <p:cNvSpPr/>
            <p:nvPr/>
          </p:nvSpPr>
          <p:spPr bwMode="auto">
            <a:xfrm>
              <a:off x="32499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3" name="평행 사변형 72">
              <a:extLst>
                <a:ext uri="{FF2B5EF4-FFF2-40B4-BE49-F238E27FC236}">
                  <a16:creationId xmlns:a16="http://schemas.microsoft.com/office/drawing/2014/main" id="{415A680C-D9A0-B04D-48D4-D09A69860731}"/>
                </a:ext>
              </a:extLst>
            </p:cNvPr>
            <p:cNvSpPr/>
            <p:nvPr/>
          </p:nvSpPr>
          <p:spPr bwMode="auto">
            <a:xfrm>
              <a:off x="35547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4" name="평행 사변형 73">
              <a:extLst>
                <a:ext uri="{FF2B5EF4-FFF2-40B4-BE49-F238E27FC236}">
                  <a16:creationId xmlns:a16="http://schemas.microsoft.com/office/drawing/2014/main" id="{2B0D5F8C-DECC-62C0-9518-0AC993E63EBF}"/>
                </a:ext>
              </a:extLst>
            </p:cNvPr>
            <p:cNvSpPr/>
            <p:nvPr/>
          </p:nvSpPr>
          <p:spPr bwMode="auto">
            <a:xfrm>
              <a:off x="38595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5" name="평행 사변형 74">
              <a:extLst>
                <a:ext uri="{FF2B5EF4-FFF2-40B4-BE49-F238E27FC236}">
                  <a16:creationId xmlns:a16="http://schemas.microsoft.com/office/drawing/2014/main" id="{6C89A857-32DB-D794-E5CB-C4BDE85DD188}"/>
                </a:ext>
              </a:extLst>
            </p:cNvPr>
            <p:cNvSpPr/>
            <p:nvPr/>
          </p:nvSpPr>
          <p:spPr bwMode="auto">
            <a:xfrm>
              <a:off x="5154947"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6" name="평행 사변형 75">
              <a:extLst>
                <a:ext uri="{FF2B5EF4-FFF2-40B4-BE49-F238E27FC236}">
                  <a16:creationId xmlns:a16="http://schemas.microsoft.com/office/drawing/2014/main" id="{273EF210-B4F3-8A3C-0D2C-47E164B744DC}"/>
                </a:ext>
              </a:extLst>
            </p:cNvPr>
            <p:cNvSpPr/>
            <p:nvPr/>
          </p:nvSpPr>
          <p:spPr bwMode="auto">
            <a:xfrm>
              <a:off x="33642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7" name="평행 사변형 76">
              <a:extLst>
                <a:ext uri="{FF2B5EF4-FFF2-40B4-BE49-F238E27FC236}">
                  <a16:creationId xmlns:a16="http://schemas.microsoft.com/office/drawing/2014/main" id="{10497136-6AD4-EC25-D321-70ED70DFF918}"/>
                </a:ext>
              </a:extLst>
            </p:cNvPr>
            <p:cNvSpPr/>
            <p:nvPr/>
          </p:nvSpPr>
          <p:spPr bwMode="auto">
            <a:xfrm>
              <a:off x="36690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8" name="평행 사변형 77">
              <a:extLst>
                <a:ext uri="{FF2B5EF4-FFF2-40B4-BE49-F238E27FC236}">
                  <a16:creationId xmlns:a16="http://schemas.microsoft.com/office/drawing/2014/main" id="{97F733E6-7420-273B-15D8-B4D104C2DCFC}"/>
                </a:ext>
              </a:extLst>
            </p:cNvPr>
            <p:cNvSpPr/>
            <p:nvPr/>
          </p:nvSpPr>
          <p:spPr bwMode="auto">
            <a:xfrm>
              <a:off x="39738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9" name="평행 사변형 78">
              <a:extLst>
                <a:ext uri="{FF2B5EF4-FFF2-40B4-BE49-F238E27FC236}">
                  <a16:creationId xmlns:a16="http://schemas.microsoft.com/office/drawing/2014/main" id="{A62A623C-B2D8-7F62-46E4-0AFB1B6DDF88}"/>
                </a:ext>
              </a:extLst>
            </p:cNvPr>
            <p:cNvSpPr/>
            <p:nvPr/>
          </p:nvSpPr>
          <p:spPr bwMode="auto">
            <a:xfrm>
              <a:off x="42786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0" name="평행 사변형 79">
              <a:extLst>
                <a:ext uri="{FF2B5EF4-FFF2-40B4-BE49-F238E27FC236}">
                  <a16:creationId xmlns:a16="http://schemas.microsoft.com/office/drawing/2014/main" id="{70E93527-4C86-1C20-BF47-C63BB095DEB3}"/>
                </a:ext>
              </a:extLst>
            </p:cNvPr>
            <p:cNvSpPr/>
            <p:nvPr/>
          </p:nvSpPr>
          <p:spPr bwMode="auto">
            <a:xfrm>
              <a:off x="458343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1" name="원호 80">
              <a:extLst>
                <a:ext uri="{FF2B5EF4-FFF2-40B4-BE49-F238E27FC236}">
                  <a16:creationId xmlns:a16="http://schemas.microsoft.com/office/drawing/2014/main" id="{927D79EB-EC60-07AB-26D2-DF65E36B0961}"/>
                </a:ext>
              </a:extLst>
            </p:cNvPr>
            <p:cNvSpPr/>
            <p:nvPr/>
          </p:nvSpPr>
          <p:spPr bwMode="auto">
            <a:xfrm rot="5400000">
              <a:off x="1097250" y="4000485"/>
              <a:ext cx="647714" cy="647714"/>
            </a:xfrm>
            <a:prstGeom prst="arc">
              <a:avLst/>
            </a:prstGeom>
            <a:noFill/>
            <a:ln w="9525"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2" name="직선 화살표 연결선 81">
              <a:extLst>
                <a:ext uri="{FF2B5EF4-FFF2-40B4-BE49-F238E27FC236}">
                  <a16:creationId xmlns:a16="http://schemas.microsoft.com/office/drawing/2014/main" id="{8FC2152B-555C-D881-7995-5E78EE63A145}"/>
                </a:ext>
              </a:extLst>
            </p:cNvPr>
            <p:cNvCxnSpPr>
              <a:cxnSpLocks/>
              <a:stCxn id="81" idx="2"/>
            </p:cNvCxnSpPr>
            <p:nvPr/>
          </p:nvCxnSpPr>
          <p:spPr bwMode="auto">
            <a:xfrm>
              <a:off x="1421107" y="4648199"/>
              <a:ext cx="1474500" cy="1"/>
            </a:xfrm>
            <a:prstGeom prst="straightConnector1">
              <a:avLst/>
            </a:prstGeom>
            <a:solidFill>
              <a:schemeClr val="accent1"/>
            </a:solidFill>
            <a:ln w="9525" cap="flat" cmpd="sng" algn="ctr">
              <a:solidFill>
                <a:srgbClr val="9966FF"/>
              </a:solidFill>
              <a:prstDash val="solid"/>
              <a:round/>
              <a:headEnd type="none" w="med" len="med"/>
              <a:tailEnd type="triangle"/>
            </a:ln>
            <a:effectLst/>
          </p:spPr>
        </p:cxnSp>
        <p:cxnSp>
          <p:nvCxnSpPr>
            <p:cNvPr id="83" name="직선 연결선 82">
              <a:extLst>
                <a:ext uri="{FF2B5EF4-FFF2-40B4-BE49-F238E27FC236}">
                  <a16:creationId xmlns:a16="http://schemas.microsoft.com/office/drawing/2014/main" id="{16F369B3-C6CB-D76E-6A3E-8CE77B7B2FAA}"/>
                </a:ext>
              </a:extLst>
            </p:cNvPr>
            <p:cNvCxnSpPr>
              <a:cxnSpLocks/>
              <a:stCxn id="81" idx="0"/>
            </p:cNvCxnSpPr>
            <p:nvPr/>
          </p:nvCxnSpPr>
          <p:spPr bwMode="auto">
            <a:xfrm flipV="1">
              <a:off x="1744964" y="2964444"/>
              <a:ext cx="471" cy="1359898"/>
            </a:xfrm>
            <a:prstGeom prst="line">
              <a:avLst/>
            </a:prstGeom>
            <a:solidFill>
              <a:schemeClr val="accent1"/>
            </a:solidFill>
            <a:ln w="9525" cap="flat" cmpd="sng" algn="ctr">
              <a:solidFill>
                <a:srgbClr val="9966FF"/>
              </a:solidFill>
              <a:prstDash val="solid"/>
              <a:round/>
              <a:headEnd type="none" w="med" len="med"/>
              <a:tailEnd type="none" w="med" len="med"/>
            </a:ln>
            <a:effectLst/>
          </p:spPr>
        </p:cxnSp>
        <p:sp>
          <p:nvSpPr>
            <p:cNvPr id="84" name="원호 83">
              <a:extLst>
                <a:ext uri="{FF2B5EF4-FFF2-40B4-BE49-F238E27FC236}">
                  <a16:creationId xmlns:a16="http://schemas.microsoft.com/office/drawing/2014/main" id="{BA4FF45B-6A4C-2444-AF32-DB61ACB5AD8F}"/>
                </a:ext>
              </a:extLst>
            </p:cNvPr>
            <p:cNvSpPr/>
            <p:nvPr/>
          </p:nvSpPr>
          <p:spPr bwMode="auto">
            <a:xfrm rot="16200000">
              <a:off x="1744975" y="2640588"/>
              <a:ext cx="647714" cy="647714"/>
            </a:xfrm>
            <a:prstGeom prst="arc">
              <a:avLst/>
            </a:prstGeom>
            <a:noFill/>
            <a:ln w="9525"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5" name="직선 화살표 연결선 84">
              <a:extLst>
                <a:ext uri="{FF2B5EF4-FFF2-40B4-BE49-F238E27FC236}">
                  <a16:creationId xmlns:a16="http://schemas.microsoft.com/office/drawing/2014/main" id="{288F291E-C836-FEC9-CD14-BE374FBC2346}"/>
                </a:ext>
              </a:extLst>
            </p:cNvPr>
            <p:cNvCxnSpPr>
              <a:cxnSpLocks/>
            </p:cNvCxnSpPr>
            <p:nvPr/>
          </p:nvCxnSpPr>
          <p:spPr bwMode="auto">
            <a:xfrm>
              <a:off x="2064967" y="2642439"/>
              <a:ext cx="1261187" cy="0"/>
            </a:xfrm>
            <a:prstGeom prst="straightConnector1">
              <a:avLst/>
            </a:prstGeom>
            <a:solidFill>
              <a:schemeClr val="accent1"/>
            </a:solidFill>
            <a:ln w="9525" cap="flat" cmpd="sng" algn="ctr">
              <a:solidFill>
                <a:srgbClr val="9966FF"/>
              </a:solidFill>
              <a:prstDash val="solid"/>
              <a:round/>
              <a:headEnd type="none" w="med" len="med"/>
              <a:tailEnd type="triangle"/>
            </a:ln>
            <a:effectLst/>
          </p:spPr>
        </p:cxnSp>
        <p:cxnSp>
          <p:nvCxnSpPr>
            <p:cNvPr id="86" name="직선 화살표 연결선 85">
              <a:extLst>
                <a:ext uri="{FF2B5EF4-FFF2-40B4-BE49-F238E27FC236}">
                  <a16:creationId xmlns:a16="http://schemas.microsoft.com/office/drawing/2014/main" id="{C0F808E8-BC6F-E160-C72D-A9A9F9C10179}"/>
                </a:ext>
              </a:extLst>
            </p:cNvPr>
            <p:cNvCxnSpPr>
              <a:cxnSpLocks/>
            </p:cNvCxnSpPr>
            <p:nvPr/>
          </p:nvCxnSpPr>
          <p:spPr bwMode="auto">
            <a:xfrm>
              <a:off x="4278647" y="4648199"/>
              <a:ext cx="841993" cy="0"/>
            </a:xfrm>
            <a:prstGeom prst="straightConnector1">
              <a:avLst/>
            </a:prstGeom>
            <a:solidFill>
              <a:schemeClr val="accent1"/>
            </a:solidFill>
            <a:ln w="38100" cap="flat" cmpd="sng" algn="ctr">
              <a:solidFill>
                <a:srgbClr val="00B050"/>
              </a:solidFill>
              <a:prstDash val="solid"/>
              <a:round/>
              <a:headEnd type="none" w="med" len="med"/>
              <a:tailEnd type="triangle"/>
            </a:ln>
            <a:effectLst>
              <a:outerShdw blurRad="50800" dist="38100" dir="5400000" algn="t" rotWithShape="0">
                <a:prstClr val="black">
                  <a:alpha val="40000"/>
                </a:prstClr>
              </a:outerShdw>
            </a:effectLst>
          </p:spPr>
        </p:cxnSp>
        <p:sp>
          <p:nvSpPr>
            <p:cNvPr id="87" name="원호 86">
              <a:extLst>
                <a:ext uri="{FF2B5EF4-FFF2-40B4-BE49-F238E27FC236}">
                  <a16:creationId xmlns:a16="http://schemas.microsoft.com/office/drawing/2014/main" id="{EB8F19ED-2CAA-3748-542E-F3AFFDEAD76A}"/>
                </a:ext>
              </a:extLst>
            </p:cNvPr>
            <p:cNvSpPr/>
            <p:nvPr/>
          </p:nvSpPr>
          <p:spPr bwMode="auto">
            <a:xfrm>
              <a:off x="4674863" y="2810132"/>
              <a:ext cx="647714" cy="647714"/>
            </a:xfrm>
            <a:prstGeom prst="arc">
              <a:avLst/>
            </a:prstGeom>
            <a:noFill/>
            <a:ln w="38100" cap="flat" cmpd="sng" algn="ctr">
              <a:solidFill>
                <a:srgbClr val="00B050"/>
              </a:solidFill>
              <a:prstDash val="dashDot"/>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8" name="직선 화살표 연결선 87">
              <a:extLst>
                <a:ext uri="{FF2B5EF4-FFF2-40B4-BE49-F238E27FC236}">
                  <a16:creationId xmlns:a16="http://schemas.microsoft.com/office/drawing/2014/main" id="{492BFEC9-F298-76C7-BEED-2DDDFD492BCA}"/>
                </a:ext>
              </a:extLst>
            </p:cNvPr>
            <p:cNvCxnSpPr>
              <a:cxnSpLocks/>
            </p:cNvCxnSpPr>
            <p:nvPr/>
          </p:nvCxnSpPr>
          <p:spPr bwMode="auto">
            <a:xfrm>
              <a:off x="5322577" y="3119726"/>
              <a:ext cx="0" cy="1375078"/>
            </a:xfrm>
            <a:prstGeom prst="straightConnector1">
              <a:avLst/>
            </a:prstGeom>
            <a:solidFill>
              <a:schemeClr val="accent1"/>
            </a:solidFill>
            <a:ln w="38100" cap="flat" cmpd="sng" algn="ctr">
              <a:solidFill>
                <a:srgbClr val="00B050"/>
              </a:solidFill>
              <a:prstDash val="dashDot"/>
              <a:round/>
              <a:headEnd type="none" w="med" len="med"/>
              <a:tailEnd type="triangle"/>
            </a:ln>
            <a:effectLst>
              <a:outerShdw blurRad="50800" dist="38100" dir="5400000" algn="t" rotWithShape="0">
                <a:prstClr val="black">
                  <a:alpha val="40000"/>
                </a:prstClr>
              </a:outerShdw>
            </a:effectLst>
          </p:spPr>
        </p:cxnSp>
        <p:cxnSp>
          <p:nvCxnSpPr>
            <p:cNvPr id="89" name="직선 연결선 88">
              <a:extLst>
                <a:ext uri="{FF2B5EF4-FFF2-40B4-BE49-F238E27FC236}">
                  <a16:creationId xmlns:a16="http://schemas.microsoft.com/office/drawing/2014/main" id="{1889A4A2-0223-D973-6F48-F9C24CEDE118}"/>
                </a:ext>
              </a:extLst>
            </p:cNvPr>
            <p:cNvCxnSpPr>
              <a:cxnSpLocks/>
            </p:cNvCxnSpPr>
            <p:nvPr/>
          </p:nvCxnSpPr>
          <p:spPr bwMode="auto">
            <a:xfrm>
              <a:off x="4998720" y="2667000"/>
              <a:ext cx="1667731" cy="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90" name="원호 89">
              <a:extLst>
                <a:ext uri="{FF2B5EF4-FFF2-40B4-BE49-F238E27FC236}">
                  <a16:creationId xmlns:a16="http://schemas.microsoft.com/office/drawing/2014/main" id="{698725E0-7E3C-74DD-0596-F82E2C09E852}"/>
                </a:ext>
              </a:extLst>
            </p:cNvPr>
            <p:cNvSpPr/>
            <p:nvPr/>
          </p:nvSpPr>
          <p:spPr bwMode="auto">
            <a:xfrm>
              <a:off x="6326188" y="2667000"/>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1" name="직선 연결선 90">
              <a:extLst>
                <a:ext uri="{FF2B5EF4-FFF2-40B4-BE49-F238E27FC236}">
                  <a16:creationId xmlns:a16="http://schemas.microsoft.com/office/drawing/2014/main" id="{4EC9AC94-9A25-6C3E-12FD-D4304419C05A}"/>
                </a:ext>
              </a:extLst>
            </p:cNvPr>
            <p:cNvCxnSpPr>
              <a:cxnSpLocks/>
              <a:endCxn id="90" idx="2"/>
            </p:cNvCxnSpPr>
            <p:nvPr/>
          </p:nvCxnSpPr>
          <p:spPr bwMode="auto">
            <a:xfrm flipH="1" flipV="1">
              <a:off x="6973902" y="2990857"/>
              <a:ext cx="7369" cy="2380259"/>
            </a:xfrm>
            <a:prstGeom prst="line">
              <a:avLst/>
            </a:prstGeom>
            <a:solidFill>
              <a:schemeClr val="accent1"/>
            </a:solidFill>
            <a:ln w="9525" cap="flat" cmpd="sng" algn="ctr">
              <a:solidFill>
                <a:srgbClr val="FF0000"/>
              </a:solidFill>
              <a:prstDash val="solid"/>
              <a:round/>
              <a:headEnd type="none" w="med" len="med"/>
              <a:tailEnd type="none" w="med" len="med"/>
            </a:ln>
            <a:effectLst/>
          </p:spPr>
        </p:cxnSp>
        <p:sp>
          <p:nvSpPr>
            <p:cNvPr id="92" name="평행 사변형 91">
              <a:extLst>
                <a:ext uri="{FF2B5EF4-FFF2-40B4-BE49-F238E27FC236}">
                  <a16:creationId xmlns:a16="http://schemas.microsoft.com/office/drawing/2014/main" id="{37218A8E-47C8-0E77-34A7-439F7F14435B}"/>
                </a:ext>
              </a:extLst>
            </p:cNvPr>
            <p:cNvSpPr/>
            <p:nvPr/>
          </p:nvSpPr>
          <p:spPr bwMode="auto">
            <a:xfrm>
              <a:off x="29390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3" name="평행 사변형 92">
              <a:extLst>
                <a:ext uri="{FF2B5EF4-FFF2-40B4-BE49-F238E27FC236}">
                  <a16:creationId xmlns:a16="http://schemas.microsoft.com/office/drawing/2014/main" id="{7BD20071-60D1-7FF7-773E-2B1E945D1091}"/>
                </a:ext>
              </a:extLst>
            </p:cNvPr>
            <p:cNvSpPr/>
            <p:nvPr/>
          </p:nvSpPr>
          <p:spPr bwMode="auto">
            <a:xfrm>
              <a:off x="32438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4" name="평행 사변형 93">
              <a:extLst>
                <a:ext uri="{FF2B5EF4-FFF2-40B4-BE49-F238E27FC236}">
                  <a16:creationId xmlns:a16="http://schemas.microsoft.com/office/drawing/2014/main" id="{5AFC0C98-FC2B-DC8C-95AF-15766A3953AE}"/>
                </a:ext>
              </a:extLst>
            </p:cNvPr>
            <p:cNvSpPr/>
            <p:nvPr/>
          </p:nvSpPr>
          <p:spPr bwMode="auto">
            <a:xfrm>
              <a:off x="35486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5" name="평행 사변형 94">
              <a:extLst>
                <a:ext uri="{FF2B5EF4-FFF2-40B4-BE49-F238E27FC236}">
                  <a16:creationId xmlns:a16="http://schemas.microsoft.com/office/drawing/2014/main" id="{7F8E4861-E297-789E-EC3F-13EA6E0115AE}"/>
                </a:ext>
              </a:extLst>
            </p:cNvPr>
            <p:cNvSpPr/>
            <p:nvPr/>
          </p:nvSpPr>
          <p:spPr bwMode="auto">
            <a:xfrm>
              <a:off x="38534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6" name="원호 95">
              <a:extLst>
                <a:ext uri="{FF2B5EF4-FFF2-40B4-BE49-F238E27FC236}">
                  <a16:creationId xmlns:a16="http://schemas.microsoft.com/office/drawing/2014/main" id="{05DA974B-56DE-8EDE-88DE-21D720787267}"/>
                </a:ext>
              </a:extLst>
            </p:cNvPr>
            <p:cNvSpPr/>
            <p:nvPr/>
          </p:nvSpPr>
          <p:spPr bwMode="auto">
            <a:xfrm rot="5400000">
              <a:off x="4675929" y="5047246"/>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7" name="직선 연결선 96">
              <a:extLst>
                <a:ext uri="{FF2B5EF4-FFF2-40B4-BE49-F238E27FC236}">
                  <a16:creationId xmlns:a16="http://schemas.microsoft.com/office/drawing/2014/main" id="{336A20D7-1B4A-A2B3-0D30-E43C91424905}"/>
                </a:ext>
              </a:extLst>
            </p:cNvPr>
            <p:cNvCxnSpPr>
              <a:cxnSpLocks/>
            </p:cNvCxnSpPr>
            <p:nvPr/>
          </p:nvCxnSpPr>
          <p:spPr bwMode="auto">
            <a:xfrm flipV="1">
              <a:off x="5322577" y="4952004"/>
              <a:ext cx="0" cy="419099"/>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98" name="직선 화살표 연결선 97">
              <a:extLst>
                <a:ext uri="{FF2B5EF4-FFF2-40B4-BE49-F238E27FC236}">
                  <a16:creationId xmlns:a16="http://schemas.microsoft.com/office/drawing/2014/main" id="{EC2E8B1F-9E07-2924-B60E-AF6E425A61D6}"/>
                </a:ext>
              </a:extLst>
            </p:cNvPr>
            <p:cNvCxnSpPr>
              <a:cxnSpLocks/>
              <a:stCxn id="99" idx="2"/>
            </p:cNvCxnSpPr>
            <p:nvPr/>
          </p:nvCxnSpPr>
          <p:spPr bwMode="auto">
            <a:xfrm flipH="1">
              <a:off x="4278647" y="5694973"/>
              <a:ext cx="2378767"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99" name="원호 98">
              <a:extLst>
                <a:ext uri="{FF2B5EF4-FFF2-40B4-BE49-F238E27FC236}">
                  <a16:creationId xmlns:a16="http://schemas.microsoft.com/office/drawing/2014/main" id="{2F297431-136B-3A2B-59A0-382828BC8310}"/>
                </a:ext>
              </a:extLst>
            </p:cNvPr>
            <p:cNvSpPr/>
            <p:nvPr/>
          </p:nvSpPr>
          <p:spPr bwMode="auto">
            <a:xfrm rot="5400000">
              <a:off x="6333557" y="5047259"/>
              <a:ext cx="647714" cy="647714"/>
            </a:xfrm>
            <a:prstGeom prst="arc">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0" name="원호 99">
              <a:extLst>
                <a:ext uri="{FF2B5EF4-FFF2-40B4-BE49-F238E27FC236}">
                  <a16:creationId xmlns:a16="http://schemas.microsoft.com/office/drawing/2014/main" id="{8644DAC6-69EC-2AF5-0E1A-29CE3C2EF7C6}"/>
                </a:ext>
              </a:extLst>
            </p:cNvPr>
            <p:cNvSpPr/>
            <p:nvPr/>
          </p:nvSpPr>
          <p:spPr bwMode="auto">
            <a:xfrm rot="10800000">
              <a:off x="2035665" y="5047246"/>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1" name="원호 100">
              <a:extLst>
                <a:ext uri="{FF2B5EF4-FFF2-40B4-BE49-F238E27FC236}">
                  <a16:creationId xmlns:a16="http://schemas.microsoft.com/office/drawing/2014/main" id="{8A0A9991-D0BF-0CAB-7DAC-E2B4BC17039B}"/>
                </a:ext>
              </a:extLst>
            </p:cNvPr>
            <p:cNvSpPr/>
            <p:nvPr/>
          </p:nvSpPr>
          <p:spPr bwMode="auto">
            <a:xfrm rot="16200000">
              <a:off x="2036433" y="2808288"/>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2" name="직선 연결선 101">
              <a:extLst>
                <a:ext uri="{FF2B5EF4-FFF2-40B4-BE49-F238E27FC236}">
                  <a16:creationId xmlns:a16="http://schemas.microsoft.com/office/drawing/2014/main" id="{E9D8E7F4-219A-63DE-307C-4326081F5774}"/>
                </a:ext>
              </a:extLst>
            </p:cNvPr>
            <p:cNvCxnSpPr>
              <a:cxnSpLocks/>
            </p:cNvCxnSpPr>
            <p:nvPr/>
          </p:nvCxnSpPr>
          <p:spPr bwMode="auto">
            <a:xfrm flipV="1">
              <a:off x="2036433" y="3119726"/>
              <a:ext cx="0" cy="225137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103" name="직선 연결선 102">
              <a:extLst>
                <a:ext uri="{FF2B5EF4-FFF2-40B4-BE49-F238E27FC236}">
                  <a16:creationId xmlns:a16="http://schemas.microsoft.com/office/drawing/2014/main" id="{000799B4-D5C5-B308-8A2A-876872A4E24E}"/>
                </a:ext>
              </a:extLst>
            </p:cNvPr>
            <p:cNvCxnSpPr>
              <a:cxnSpLocks/>
              <a:stCxn id="100" idx="0"/>
            </p:cNvCxnSpPr>
            <p:nvPr/>
          </p:nvCxnSpPr>
          <p:spPr bwMode="auto">
            <a:xfrm>
              <a:off x="2359522" y="5694960"/>
              <a:ext cx="536085" cy="44"/>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104" name="직선 화살표 연결선 103">
              <a:extLst>
                <a:ext uri="{FF2B5EF4-FFF2-40B4-BE49-F238E27FC236}">
                  <a16:creationId xmlns:a16="http://schemas.microsoft.com/office/drawing/2014/main" id="{B3F0C4B5-40CB-305E-8C43-5ECA5C42CB9C}"/>
                </a:ext>
              </a:extLst>
            </p:cNvPr>
            <p:cNvCxnSpPr>
              <a:cxnSpLocks/>
            </p:cNvCxnSpPr>
            <p:nvPr/>
          </p:nvCxnSpPr>
          <p:spPr bwMode="auto">
            <a:xfrm>
              <a:off x="5600727" y="4723404"/>
              <a:ext cx="1714473"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sp>
          <p:nvSpPr>
            <p:cNvPr id="105" name="원호 104">
              <a:extLst>
                <a:ext uri="{FF2B5EF4-FFF2-40B4-BE49-F238E27FC236}">
                  <a16:creationId xmlns:a16="http://schemas.microsoft.com/office/drawing/2014/main" id="{8584A92C-8B5D-C75A-7166-3E80A2315153}"/>
                </a:ext>
              </a:extLst>
            </p:cNvPr>
            <p:cNvSpPr/>
            <p:nvPr/>
          </p:nvSpPr>
          <p:spPr bwMode="auto">
            <a:xfrm rot="10800000">
              <a:off x="6480569" y="4075689"/>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6" name="직선 연결선 105">
              <a:extLst>
                <a:ext uri="{FF2B5EF4-FFF2-40B4-BE49-F238E27FC236}">
                  <a16:creationId xmlns:a16="http://schemas.microsoft.com/office/drawing/2014/main" id="{C05D7E36-C6BF-43EA-BC60-530121E91803}"/>
                </a:ext>
              </a:extLst>
            </p:cNvPr>
            <p:cNvCxnSpPr>
              <a:cxnSpLocks/>
            </p:cNvCxnSpPr>
            <p:nvPr/>
          </p:nvCxnSpPr>
          <p:spPr bwMode="auto">
            <a:xfrm>
              <a:off x="4998720" y="2743200"/>
              <a:ext cx="1173480" cy="0"/>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107" name="원호 106">
              <a:extLst>
                <a:ext uri="{FF2B5EF4-FFF2-40B4-BE49-F238E27FC236}">
                  <a16:creationId xmlns:a16="http://schemas.microsoft.com/office/drawing/2014/main" id="{A7B7ABDD-9DF7-EF23-46E3-3A1C1550EDB6}"/>
                </a:ext>
              </a:extLst>
            </p:cNvPr>
            <p:cNvSpPr/>
            <p:nvPr/>
          </p:nvSpPr>
          <p:spPr bwMode="auto">
            <a:xfrm>
              <a:off x="5832855" y="2742608"/>
              <a:ext cx="647714" cy="647714"/>
            </a:xfrm>
            <a:prstGeom prst="arc">
              <a:avLst/>
            </a:prstGeom>
            <a:no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8" name="직선 연결선 107">
              <a:extLst>
                <a:ext uri="{FF2B5EF4-FFF2-40B4-BE49-F238E27FC236}">
                  <a16:creationId xmlns:a16="http://schemas.microsoft.com/office/drawing/2014/main" id="{32EBBB7C-0B8D-F251-7FD8-3C283AA7A4E8}"/>
                </a:ext>
              </a:extLst>
            </p:cNvPr>
            <p:cNvCxnSpPr>
              <a:cxnSpLocks/>
              <a:stCxn id="105" idx="2"/>
              <a:endCxn id="107" idx="2"/>
            </p:cNvCxnSpPr>
            <p:nvPr/>
          </p:nvCxnSpPr>
          <p:spPr bwMode="auto">
            <a:xfrm flipV="1">
              <a:off x="6480569" y="3066465"/>
              <a:ext cx="0" cy="1333081"/>
            </a:xfrm>
            <a:prstGeom prst="line">
              <a:avLst/>
            </a:prstGeom>
            <a:solidFill>
              <a:schemeClr val="accent1"/>
            </a:solidFill>
            <a:ln w="9525" cap="flat" cmpd="sng" algn="ctr">
              <a:solidFill>
                <a:srgbClr val="0000FF"/>
              </a:solidFill>
              <a:prstDash val="solid"/>
              <a:round/>
              <a:headEnd type="none" w="med" len="med"/>
              <a:tailEnd type="none" w="med" len="med"/>
            </a:ln>
            <a:effectLst/>
          </p:spPr>
        </p:cxnSp>
        <p:sp>
          <p:nvSpPr>
            <p:cNvPr id="109" name="TextBox 108">
              <a:extLst>
                <a:ext uri="{FF2B5EF4-FFF2-40B4-BE49-F238E27FC236}">
                  <a16:creationId xmlns:a16="http://schemas.microsoft.com/office/drawing/2014/main" id="{63908EE0-5A79-6EAA-6B4F-C41C46351442}"/>
                </a:ext>
              </a:extLst>
            </p:cNvPr>
            <p:cNvSpPr txBox="1"/>
            <p:nvPr/>
          </p:nvSpPr>
          <p:spPr>
            <a:xfrm>
              <a:off x="2652818" y="1885447"/>
              <a:ext cx="2056466" cy="350495"/>
            </a:xfrm>
            <a:prstGeom prst="rect">
              <a:avLst/>
            </a:prstGeom>
            <a:noFill/>
          </p:spPr>
          <p:txBody>
            <a:bodyPr wrap="none" rtlCol="0">
              <a:spAutoFit/>
            </a:bodyPr>
            <a:lstStyle/>
            <a:p>
              <a:r>
                <a:rPr lang="en-US" altLang="ko-KR" sz="1300" i="1" u="sng"/>
                <a:t>stride_scheduler.c</a:t>
              </a:r>
              <a:endParaRPr lang="ko-KR" altLang="en-US" sz="1300" i="1" u="sng"/>
            </a:p>
          </p:txBody>
        </p:sp>
        <p:sp>
          <p:nvSpPr>
            <p:cNvPr id="110" name="TextBox 109">
              <a:extLst>
                <a:ext uri="{FF2B5EF4-FFF2-40B4-BE49-F238E27FC236}">
                  <a16:creationId xmlns:a16="http://schemas.microsoft.com/office/drawing/2014/main" id="{6BA5DA72-25F0-0ACE-1F56-282ED3408C31}"/>
                </a:ext>
              </a:extLst>
            </p:cNvPr>
            <p:cNvSpPr txBox="1"/>
            <p:nvPr/>
          </p:nvSpPr>
          <p:spPr>
            <a:xfrm>
              <a:off x="2974214" y="4241889"/>
              <a:ext cx="1476152" cy="350495"/>
            </a:xfrm>
            <a:prstGeom prst="rect">
              <a:avLst/>
            </a:prstGeom>
            <a:noFill/>
          </p:spPr>
          <p:txBody>
            <a:bodyPr wrap="none" rtlCol="0">
              <a:spAutoFit/>
            </a:bodyPr>
            <a:lstStyle/>
            <a:p>
              <a:r>
                <a:rPr lang="en-US" altLang="ko-KR" sz="1300"/>
                <a:t>ready queue</a:t>
              </a:r>
              <a:endParaRPr lang="ko-KR" altLang="en-US" sz="1300"/>
            </a:p>
          </p:txBody>
        </p:sp>
        <p:sp>
          <p:nvSpPr>
            <p:cNvPr id="111" name="TextBox 110">
              <a:extLst>
                <a:ext uri="{FF2B5EF4-FFF2-40B4-BE49-F238E27FC236}">
                  <a16:creationId xmlns:a16="http://schemas.microsoft.com/office/drawing/2014/main" id="{09DC4FD7-4ABE-7710-1DA9-6B545F4F8A23}"/>
                </a:ext>
              </a:extLst>
            </p:cNvPr>
            <p:cNvSpPr txBox="1"/>
            <p:nvPr/>
          </p:nvSpPr>
          <p:spPr>
            <a:xfrm>
              <a:off x="2974214" y="5847372"/>
              <a:ext cx="1324348" cy="350495"/>
            </a:xfrm>
            <a:prstGeom prst="rect">
              <a:avLst/>
            </a:prstGeom>
            <a:noFill/>
          </p:spPr>
          <p:txBody>
            <a:bodyPr wrap="none" rtlCol="0">
              <a:spAutoFit/>
            </a:bodyPr>
            <a:lstStyle/>
            <a:p>
              <a:r>
                <a:rPr lang="en-US" altLang="ko-KR" sz="1300"/>
                <a:t>wait queue</a:t>
              </a:r>
              <a:endParaRPr lang="ko-KR" altLang="en-US" sz="1300"/>
            </a:p>
          </p:txBody>
        </p:sp>
        <p:sp>
          <p:nvSpPr>
            <p:cNvPr id="112" name="TextBox 111">
              <a:extLst>
                <a:ext uri="{FF2B5EF4-FFF2-40B4-BE49-F238E27FC236}">
                  <a16:creationId xmlns:a16="http://schemas.microsoft.com/office/drawing/2014/main" id="{13403FAC-5564-BC94-77A9-3203EB2FD932}"/>
                </a:ext>
              </a:extLst>
            </p:cNvPr>
            <p:cNvSpPr txBox="1"/>
            <p:nvPr/>
          </p:nvSpPr>
          <p:spPr>
            <a:xfrm>
              <a:off x="3209430" y="2846612"/>
              <a:ext cx="2072070" cy="332274"/>
            </a:xfrm>
            <a:prstGeom prst="rect">
              <a:avLst/>
            </a:prstGeom>
            <a:noFill/>
          </p:spPr>
          <p:txBody>
            <a:bodyPr wrap="square" rtlCol="0">
              <a:spAutoFit/>
            </a:bodyPr>
            <a:lstStyle/>
            <a:p>
              <a:r>
                <a:rPr lang="en-US" altLang="ko-KR" sz="1300"/>
                <a:t>sched_contexts_list</a:t>
              </a:r>
              <a:endParaRPr lang="ko-KR" altLang="en-US" sz="1300"/>
            </a:p>
          </p:txBody>
        </p:sp>
        <p:sp>
          <p:nvSpPr>
            <p:cNvPr id="113" name="TextBox 112">
              <a:extLst>
                <a:ext uri="{FF2B5EF4-FFF2-40B4-BE49-F238E27FC236}">
                  <a16:creationId xmlns:a16="http://schemas.microsoft.com/office/drawing/2014/main" id="{32C7FC3A-121C-4B68-D437-C261EF7B92D3}"/>
                </a:ext>
              </a:extLst>
            </p:cNvPr>
            <p:cNvSpPr txBox="1"/>
            <p:nvPr/>
          </p:nvSpPr>
          <p:spPr>
            <a:xfrm>
              <a:off x="5294295" y="4874621"/>
              <a:ext cx="993837" cy="350495"/>
            </a:xfrm>
            <a:prstGeom prst="rect">
              <a:avLst/>
            </a:prstGeom>
            <a:noFill/>
          </p:spPr>
          <p:txBody>
            <a:bodyPr wrap="none" rtlCol="0">
              <a:spAutoFit/>
            </a:bodyPr>
            <a:lstStyle/>
            <a:p>
              <a:r>
                <a:rPr lang="en-US" altLang="ko-KR" sz="1300"/>
                <a:t>running</a:t>
              </a:r>
              <a:endParaRPr lang="ko-KR" altLang="en-US" sz="1300"/>
            </a:p>
          </p:txBody>
        </p:sp>
        <p:sp>
          <p:nvSpPr>
            <p:cNvPr id="114" name="TextBox 113">
              <a:extLst>
                <a:ext uri="{FF2B5EF4-FFF2-40B4-BE49-F238E27FC236}">
                  <a16:creationId xmlns:a16="http://schemas.microsoft.com/office/drawing/2014/main" id="{20A4058C-31F0-9FA4-668D-0C698465E7C0}"/>
                </a:ext>
              </a:extLst>
            </p:cNvPr>
            <p:cNvSpPr txBox="1"/>
            <p:nvPr/>
          </p:nvSpPr>
          <p:spPr>
            <a:xfrm>
              <a:off x="4723990" y="4079312"/>
              <a:ext cx="1248213" cy="288554"/>
            </a:xfrm>
            <a:prstGeom prst="rect">
              <a:avLst/>
            </a:prstGeom>
            <a:noFill/>
          </p:spPr>
          <p:txBody>
            <a:bodyPr wrap="none" rtlCol="0">
              <a:spAutoFit/>
            </a:bodyPr>
            <a:lstStyle/>
            <a:p>
              <a:r>
                <a:rPr lang="en-US" altLang="ko-KR" sz="1050" i="1"/>
                <a:t>return by ref.</a:t>
              </a:r>
              <a:endParaRPr lang="ko-KR" altLang="en-US" sz="1050" i="1"/>
            </a:p>
          </p:txBody>
        </p:sp>
        <p:sp>
          <p:nvSpPr>
            <p:cNvPr id="115" name="타원 114">
              <a:extLst>
                <a:ext uri="{FF2B5EF4-FFF2-40B4-BE49-F238E27FC236}">
                  <a16:creationId xmlns:a16="http://schemas.microsoft.com/office/drawing/2014/main" id="{A96B7A96-E451-5FB2-F832-17A3494764FC}"/>
                </a:ext>
              </a:extLst>
            </p:cNvPr>
            <p:cNvSpPr/>
            <p:nvPr/>
          </p:nvSpPr>
          <p:spPr bwMode="auto">
            <a:xfrm>
              <a:off x="1038680"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16" name="타원 115">
              <a:extLst>
                <a:ext uri="{FF2B5EF4-FFF2-40B4-BE49-F238E27FC236}">
                  <a16:creationId xmlns:a16="http://schemas.microsoft.com/office/drawing/2014/main" id="{27EDDCA5-A663-F208-3FEA-887F9E271681}"/>
                </a:ext>
              </a:extLst>
            </p:cNvPr>
            <p:cNvSpPr/>
            <p:nvPr/>
          </p:nvSpPr>
          <p:spPr bwMode="auto">
            <a:xfrm>
              <a:off x="7393153"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17" name="TextBox 116">
              <a:extLst>
                <a:ext uri="{FF2B5EF4-FFF2-40B4-BE49-F238E27FC236}">
                  <a16:creationId xmlns:a16="http://schemas.microsoft.com/office/drawing/2014/main" id="{2486BFFB-4D03-C1B6-E74F-5D95DAAEA087}"/>
                </a:ext>
              </a:extLst>
            </p:cNvPr>
            <p:cNvSpPr txBox="1"/>
            <p:nvPr/>
          </p:nvSpPr>
          <p:spPr>
            <a:xfrm>
              <a:off x="895098" y="4874621"/>
              <a:ext cx="686386" cy="350495"/>
            </a:xfrm>
            <a:prstGeom prst="rect">
              <a:avLst/>
            </a:prstGeom>
            <a:noFill/>
          </p:spPr>
          <p:txBody>
            <a:bodyPr wrap="none" rtlCol="0">
              <a:spAutoFit/>
            </a:bodyPr>
            <a:lstStyle/>
            <a:p>
              <a:r>
                <a:rPr lang="en-US" altLang="ko-KR" sz="1300"/>
                <a:t>start</a:t>
              </a:r>
              <a:endParaRPr lang="ko-KR" altLang="en-US" sz="1300"/>
            </a:p>
          </p:txBody>
        </p:sp>
        <p:sp>
          <p:nvSpPr>
            <p:cNvPr id="118" name="TextBox 117">
              <a:extLst>
                <a:ext uri="{FF2B5EF4-FFF2-40B4-BE49-F238E27FC236}">
                  <a16:creationId xmlns:a16="http://schemas.microsoft.com/office/drawing/2014/main" id="{2C4002B4-26DF-53F8-7765-F8F2973328EF}"/>
                </a:ext>
              </a:extLst>
            </p:cNvPr>
            <p:cNvSpPr txBox="1"/>
            <p:nvPr/>
          </p:nvSpPr>
          <p:spPr>
            <a:xfrm>
              <a:off x="7306259" y="4874621"/>
              <a:ext cx="594151" cy="350495"/>
            </a:xfrm>
            <a:prstGeom prst="rect">
              <a:avLst/>
            </a:prstGeom>
            <a:noFill/>
          </p:spPr>
          <p:txBody>
            <a:bodyPr wrap="none" rtlCol="0">
              <a:spAutoFit/>
            </a:bodyPr>
            <a:lstStyle/>
            <a:p>
              <a:r>
                <a:rPr lang="en-US" altLang="ko-KR" sz="1300"/>
                <a:t>exit</a:t>
              </a:r>
              <a:endParaRPr lang="ko-KR" altLang="en-US" sz="1300"/>
            </a:p>
          </p:txBody>
        </p:sp>
        <p:cxnSp>
          <p:nvCxnSpPr>
            <p:cNvPr id="119" name="직선 화살표 연결선 118">
              <a:extLst>
                <a:ext uri="{FF2B5EF4-FFF2-40B4-BE49-F238E27FC236}">
                  <a16:creationId xmlns:a16="http://schemas.microsoft.com/office/drawing/2014/main" id="{25CAE24A-9FDC-AFAD-CDA7-37036A12112D}"/>
                </a:ext>
              </a:extLst>
            </p:cNvPr>
            <p:cNvCxnSpPr>
              <a:cxnSpLocks/>
            </p:cNvCxnSpPr>
            <p:nvPr/>
          </p:nvCxnSpPr>
          <p:spPr bwMode="auto">
            <a:xfrm>
              <a:off x="2360290" y="2808290"/>
              <a:ext cx="965864" cy="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sp>
          <p:nvSpPr>
            <p:cNvPr id="120" name="원호 119">
              <a:extLst>
                <a:ext uri="{FF2B5EF4-FFF2-40B4-BE49-F238E27FC236}">
                  <a16:creationId xmlns:a16="http://schemas.microsoft.com/office/drawing/2014/main" id="{AE9B13C5-B541-DC40-7BC6-4BA06C589ABD}"/>
                </a:ext>
              </a:extLst>
            </p:cNvPr>
            <p:cNvSpPr/>
            <p:nvPr/>
          </p:nvSpPr>
          <p:spPr bwMode="auto">
            <a:xfrm rot="16200000">
              <a:off x="2036685" y="4756324"/>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21" name="직선 화살표 연결선 120">
              <a:extLst>
                <a:ext uri="{FF2B5EF4-FFF2-40B4-BE49-F238E27FC236}">
                  <a16:creationId xmlns:a16="http://schemas.microsoft.com/office/drawing/2014/main" id="{CE4B7859-5AF4-D9E9-ADDA-A8063876EFF8}"/>
                </a:ext>
              </a:extLst>
            </p:cNvPr>
            <p:cNvCxnSpPr>
              <a:cxnSpLocks/>
            </p:cNvCxnSpPr>
            <p:nvPr/>
          </p:nvCxnSpPr>
          <p:spPr bwMode="auto">
            <a:xfrm>
              <a:off x="2359521" y="4756324"/>
              <a:ext cx="536086" cy="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122" name="직선 화살표 연결선 121">
              <a:extLst>
                <a:ext uri="{FF2B5EF4-FFF2-40B4-BE49-F238E27FC236}">
                  <a16:creationId xmlns:a16="http://schemas.microsoft.com/office/drawing/2014/main" id="{4EBEFC15-AE1D-D9FA-3777-B24595BE481C}"/>
                </a:ext>
              </a:extLst>
            </p:cNvPr>
            <p:cNvCxnSpPr>
              <a:cxnSpLocks/>
            </p:cNvCxnSpPr>
            <p:nvPr/>
          </p:nvCxnSpPr>
          <p:spPr bwMode="auto">
            <a:xfrm flipH="1">
              <a:off x="4278647" y="4795930"/>
              <a:ext cx="841993" cy="0"/>
            </a:xfrm>
            <a:prstGeom prst="straightConnector1">
              <a:avLst/>
            </a:prstGeom>
            <a:solidFill>
              <a:schemeClr val="accent1"/>
            </a:solidFill>
            <a:ln w="38100" cap="flat" cmpd="sng" algn="ctr">
              <a:solidFill>
                <a:srgbClr val="00B050"/>
              </a:solidFill>
              <a:prstDash val="solid"/>
              <a:round/>
              <a:headEnd type="none" w="med" len="med"/>
              <a:tailEnd type="triangle"/>
            </a:ln>
            <a:effectLst>
              <a:outerShdw blurRad="50800" dist="38100" dir="5400000" algn="t" rotWithShape="0">
                <a:prstClr val="black">
                  <a:alpha val="40000"/>
                </a:prstClr>
              </a:outerShdw>
            </a:effectLst>
          </p:spPr>
        </p:cxnSp>
      </p:grpSp>
    </p:spTree>
    <p:extLst>
      <p:ext uri="{BB962C8B-B14F-4D97-AF65-F5344CB8AC3E}">
        <p14:creationId xmlns:p14="http://schemas.microsoft.com/office/powerpoint/2010/main" val="410995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D9F0-1340-CBF0-C9F7-980D9B2587B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6B22786-63F2-7593-46C8-56F2ACD2AE88}"/>
              </a:ext>
            </a:extLst>
          </p:cNvPr>
          <p:cNvSpPr>
            <a:spLocks noGrp="1"/>
          </p:cNvSpPr>
          <p:nvPr>
            <p:ph type="title"/>
          </p:nvPr>
        </p:nvSpPr>
        <p:spPr/>
        <p:txBody>
          <a:bodyPr/>
          <a:lstStyle/>
          <a:p>
            <a:r>
              <a:rPr lang="en-US" altLang="ko-KR"/>
              <a:t>Stride Scheduler Interface </a:t>
            </a:r>
            <a:r>
              <a:rPr lang="en-US" altLang="ko-KR" sz="2800"/>
              <a:t>(4/4)</a:t>
            </a:r>
            <a:endParaRPr lang="ko-KR" altLang="en-US" sz="2800"/>
          </a:p>
        </p:txBody>
      </p:sp>
      <p:sp>
        <p:nvSpPr>
          <p:cNvPr id="6" name="Rectangle 3">
            <a:extLst>
              <a:ext uri="{FF2B5EF4-FFF2-40B4-BE49-F238E27FC236}">
                <a16:creationId xmlns:a16="http://schemas.microsoft.com/office/drawing/2014/main" id="{4587F8F6-695D-31CD-F6DC-2C97115246B0}"/>
              </a:ext>
            </a:extLst>
          </p:cNvPr>
          <p:cNvSpPr txBox="1">
            <a:spLocks noChangeArrowheads="1"/>
          </p:cNvSpPr>
          <p:nvPr/>
        </p:nvSpPr>
        <p:spPr bwMode="auto">
          <a:xfrm>
            <a:off x="5870236" y="1752600"/>
            <a:ext cx="3273764"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a:t>unregister </a:t>
            </a:r>
            <a:r>
              <a:rPr lang="en-US" altLang="ko-KR" sz="1800" i="1" kern="0"/>
              <a:t>(thread</a:t>
            </a:r>
            <a:r>
              <a:rPr lang="en-US" altLang="ko-KR" sz="1800" kern="0"/>
              <a:t>)</a:t>
            </a:r>
          </a:p>
          <a:p>
            <a:pPr lvl="1" latinLnBrk="1"/>
            <a:r>
              <a:rPr lang="en-US" altLang="ko-KR" sz="1600" kern="0"/>
              <a:t>Detach given thread from the scheduler so that the thread will not be scheduled anymore.</a:t>
            </a:r>
          </a:p>
          <a:p>
            <a:pPr marL="471487" lvl="1" indent="0" latinLnBrk="1">
              <a:buNone/>
            </a:pPr>
            <a:endParaRPr lang="en-US" altLang="ko-KR" sz="1800" kern="0"/>
          </a:p>
          <a:p>
            <a:pPr latinLnBrk="1"/>
            <a:r>
              <a:rPr lang="en-US" altLang="ko-KR" sz="1800" kern="0"/>
              <a:t>When you must call unregister ()</a:t>
            </a:r>
          </a:p>
          <a:p>
            <a:pPr lvl="1" latinLnBrk="1"/>
            <a:r>
              <a:rPr lang="en-US" altLang="ko-KR" sz="1600" kern="0"/>
              <a:t>thread blocking</a:t>
            </a:r>
          </a:p>
          <a:p>
            <a:pPr lvl="1" latinLnBrk="1"/>
            <a:r>
              <a:rPr lang="en-US" altLang="ko-KR" sz="1600" kern="0"/>
              <a:t>thread exit</a:t>
            </a:r>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grpSp>
        <p:nvGrpSpPr>
          <p:cNvPr id="3" name="그룹 2">
            <a:extLst>
              <a:ext uri="{FF2B5EF4-FFF2-40B4-BE49-F238E27FC236}">
                <a16:creationId xmlns:a16="http://schemas.microsoft.com/office/drawing/2014/main" id="{364978FF-D1FD-D68C-B79A-CE3ACABDE8D8}"/>
              </a:ext>
            </a:extLst>
          </p:cNvPr>
          <p:cNvGrpSpPr/>
          <p:nvPr/>
        </p:nvGrpSpPr>
        <p:grpSpPr>
          <a:xfrm>
            <a:off x="76200" y="2133600"/>
            <a:ext cx="6164399" cy="3794760"/>
            <a:chOff x="895098" y="1885447"/>
            <a:chExt cx="7005312" cy="4312420"/>
          </a:xfrm>
        </p:grpSpPr>
        <p:sp>
          <p:nvSpPr>
            <p:cNvPr id="4" name="직사각형 3">
              <a:extLst>
                <a:ext uri="{FF2B5EF4-FFF2-40B4-BE49-F238E27FC236}">
                  <a16:creationId xmlns:a16="http://schemas.microsoft.com/office/drawing/2014/main" id="{C5E05885-3CB1-F21D-CF09-8768677C1C9D}"/>
                </a:ext>
              </a:extLst>
            </p:cNvPr>
            <p:cNvSpPr/>
            <p:nvPr/>
          </p:nvSpPr>
          <p:spPr bwMode="auto">
            <a:xfrm>
              <a:off x="2552678" y="1905000"/>
              <a:ext cx="3352809" cy="1942103"/>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5" name="직선 연결선 4">
              <a:extLst>
                <a:ext uri="{FF2B5EF4-FFF2-40B4-BE49-F238E27FC236}">
                  <a16:creationId xmlns:a16="http://schemas.microsoft.com/office/drawing/2014/main" id="{9958C4E6-6EA5-6364-0AAD-2ED6C7E1C38C}"/>
                </a:ext>
              </a:extLst>
            </p:cNvPr>
            <p:cNvCxnSpPr>
              <a:cxnSpLocks/>
            </p:cNvCxnSpPr>
            <p:nvPr/>
          </p:nvCxnSpPr>
          <p:spPr bwMode="auto">
            <a:xfrm>
              <a:off x="2552678"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직선 연결선 6">
              <a:extLst>
                <a:ext uri="{FF2B5EF4-FFF2-40B4-BE49-F238E27FC236}">
                  <a16:creationId xmlns:a16="http://schemas.microsoft.com/office/drawing/2014/main" id="{A7EA9E33-AD5B-8A7E-3094-2BA7F9FC10E1}"/>
                </a:ext>
              </a:extLst>
            </p:cNvPr>
            <p:cNvCxnSpPr>
              <a:cxnSpLocks/>
            </p:cNvCxnSpPr>
            <p:nvPr/>
          </p:nvCxnSpPr>
          <p:spPr bwMode="auto">
            <a:xfrm flipH="1">
              <a:off x="2552678" y="3847104"/>
              <a:ext cx="335280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7" name="직선 연결선 66">
              <a:extLst>
                <a:ext uri="{FF2B5EF4-FFF2-40B4-BE49-F238E27FC236}">
                  <a16:creationId xmlns:a16="http://schemas.microsoft.com/office/drawing/2014/main" id="{42551427-C748-A0C9-4CCC-DF3E26A94D29}"/>
                </a:ext>
              </a:extLst>
            </p:cNvPr>
            <p:cNvCxnSpPr>
              <a:cxnSpLocks/>
            </p:cNvCxnSpPr>
            <p:nvPr/>
          </p:nvCxnSpPr>
          <p:spPr bwMode="auto">
            <a:xfrm>
              <a:off x="5905487" y="1905000"/>
              <a:ext cx="0" cy="194210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8" name="직사각형 67">
              <a:extLst>
                <a:ext uri="{FF2B5EF4-FFF2-40B4-BE49-F238E27FC236}">
                  <a16:creationId xmlns:a16="http://schemas.microsoft.com/office/drawing/2014/main" id="{CE3E9F6F-45FB-5706-F287-586A17BB7D74}"/>
                </a:ext>
              </a:extLst>
            </p:cNvPr>
            <p:cNvSpPr/>
            <p:nvPr/>
          </p:nvSpPr>
          <p:spPr bwMode="auto">
            <a:xfrm>
              <a:off x="4234458" y="3688167"/>
              <a:ext cx="1366242" cy="32384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scheduling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69" name="직사각형 68">
              <a:extLst>
                <a:ext uri="{FF2B5EF4-FFF2-40B4-BE49-F238E27FC236}">
                  <a16:creationId xmlns:a16="http://schemas.microsoft.com/office/drawing/2014/main" id="{462702A5-D1AB-66A4-2A66-60ADEF7490B7}"/>
                </a:ext>
              </a:extLst>
            </p:cNvPr>
            <p:cNvSpPr/>
            <p:nvPr/>
          </p:nvSpPr>
          <p:spPr bwMode="auto">
            <a:xfrm rot="5400000">
              <a:off x="1841276" y="2754709"/>
              <a:ext cx="1422805" cy="38099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300"/>
                <a:t>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0" name="직사각형 69">
              <a:extLst>
                <a:ext uri="{FF2B5EF4-FFF2-40B4-BE49-F238E27FC236}">
                  <a16:creationId xmlns:a16="http://schemas.microsoft.com/office/drawing/2014/main" id="{A169CADB-718D-C84A-C785-5FF4E8A152DE}"/>
                </a:ext>
              </a:extLst>
            </p:cNvPr>
            <p:cNvSpPr/>
            <p:nvPr/>
          </p:nvSpPr>
          <p:spPr bwMode="auto">
            <a:xfrm rot="16200000">
              <a:off x="5196631" y="2754703"/>
              <a:ext cx="1422806" cy="380995"/>
            </a:xfrm>
            <a:prstGeom prst="rect">
              <a:avLst/>
            </a:prstGeom>
            <a:solidFill>
              <a:schemeClr val="bg1"/>
            </a:solidFill>
            <a:ln w="38100"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300" b="0" i="0" u="none" strike="noStrike" cap="none" normalizeH="0" baseline="0">
                  <a:ln>
                    <a:noFill/>
                  </a:ln>
                  <a:solidFill>
                    <a:schemeClr val="tx1"/>
                  </a:solidFill>
                  <a:effectLst/>
                  <a:latin typeface="Verdana" pitchFamily="34" charset="0"/>
                  <a:cs typeface="Arial" charset="0"/>
                </a:rPr>
                <a:t>unregister ()</a:t>
              </a: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1" name="평행 사변형 70">
              <a:extLst>
                <a:ext uri="{FF2B5EF4-FFF2-40B4-BE49-F238E27FC236}">
                  <a16:creationId xmlns:a16="http://schemas.microsoft.com/office/drawing/2014/main" id="{B8C28F7D-5A77-8EB7-4BEF-092DB51540EE}"/>
                </a:ext>
              </a:extLst>
            </p:cNvPr>
            <p:cNvSpPr/>
            <p:nvPr/>
          </p:nvSpPr>
          <p:spPr bwMode="auto">
            <a:xfrm>
              <a:off x="29451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2" name="평행 사변형 71">
              <a:extLst>
                <a:ext uri="{FF2B5EF4-FFF2-40B4-BE49-F238E27FC236}">
                  <a16:creationId xmlns:a16="http://schemas.microsoft.com/office/drawing/2014/main" id="{EC2EE6FE-5A4B-35D2-D2EC-FF4E3FCB513B}"/>
                </a:ext>
              </a:extLst>
            </p:cNvPr>
            <p:cNvSpPr/>
            <p:nvPr/>
          </p:nvSpPr>
          <p:spPr bwMode="auto">
            <a:xfrm>
              <a:off x="32499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3" name="평행 사변형 72">
              <a:extLst>
                <a:ext uri="{FF2B5EF4-FFF2-40B4-BE49-F238E27FC236}">
                  <a16:creationId xmlns:a16="http://schemas.microsoft.com/office/drawing/2014/main" id="{E925C5BE-CB1F-C5BC-6743-E2693B762645}"/>
                </a:ext>
              </a:extLst>
            </p:cNvPr>
            <p:cNvSpPr/>
            <p:nvPr/>
          </p:nvSpPr>
          <p:spPr bwMode="auto">
            <a:xfrm>
              <a:off x="35547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4" name="평행 사변형 73">
              <a:extLst>
                <a:ext uri="{FF2B5EF4-FFF2-40B4-BE49-F238E27FC236}">
                  <a16:creationId xmlns:a16="http://schemas.microsoft.com/office/drawing/2014/main" id="{C5738067-062C-FB0D-7DAB-53C3079DC179}"/>
                </a:ext>
              </a:extLst>
            </p:cNvPr>
            <p:cNvSpPr/>
            <p:nvPr/>
          </p:nvSpPr>
          <p:spPr bwMode="auto">
            <a:xfrm>
              <a:off x="3859554"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5" name="평행 사변형 74">
              <a:extLst>
                <a:ext uri="{FF2B5EF4-FFF2-40B4-BE49-F238E27FC236}">
                  <a16:creationId xmlns:a16="http://schemas.microsoft.com/office/drawing/2014/main" id="{B19065D0-538A-295D-66CC-49D118CA9DE8}"/>
                </a:ext>
              </a:extLst>
            </p:cNvPr>
            <p:cNvSpPr/>
            <p:nvPr/>
          </p:nvSpPr>
          <p:spPr bwMode="auto">
            <a:xfrm>
              <a:off x="5154947" y="457100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6" name="평행 사변형 75">
              <a:extLst>
                <a:ext uri="{FF2B5EF4-FFF2-40B4-BE49-F238E27FC236}">
                  <a16:creationId xmlns:a16="http://schemas.microsoft.com/office/drawing/2014/main" id="{D3E6B423-C21E-B841-4E57-D2DD393EF60E}"/>
                </a:ext>
              </a:extLst>
            </p:cNvPr>
            <p:cNvSpPr/>
            <p:nvPr/>
          </p:nvSpPr>
          <p:spPr bwMode="auto">
            <a:xfrm>
              <a:off x="33642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7" name="평행 사변형 76">
              <a:extLst>
                <a:ext uri="{FF2B5EF4-FFF2-40B4-BE49-F238E27FC236}">
                  <a16:creationId xmlns:a16="http://schemas.microsoft.com/office/drawing/2014/main" id="{7280B2C3-0059-2D15-FED8-39FE2BE8E154}"/>
                </a:ext>
              </a:extLst>
            </p:cNvPr>
            <p:cNvSpPr/>
            <p:nvPr/>
          </p:nvSpPr>
          <p:spPr bwMode="auto">
            <a:xfrm>
              <a:off x="36690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8" name="평행 사변형 77">
              <a:extLst>
                <a:ext uri="{FF2B5EF4-FFF2-40B4-BE49-F238E27FC236}">
                  <a16:creationId xmlns:a16="http://schemas.microsoft.com/office/drawing/2014/main" id="{ECF4EA70-3BC0-D3B1-5213-6820162E790F}"/>
                </a:ext>
              </a:extLst>
            </p:cNvPr>
            <p:cNvSpPr/>
            <p:nvPr/>
          </p:nvSpPr>
          <p:spPr bwMode="auto">
            <a:xfrm>
              <a:off x="39738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79" name="평행 사변형 78">
              <a:extLst>
                <a:ext uri="{FF2B5EF4-FFF2-40B4-BE49-F238E27FC236}">
                  <a16:creationId xmlns:a16="http://schemas.microsoft.com/office/drawing/2014/main" id="{53CDB6B3-68DC-CE9D-1E36-1E5B1E00263D}"/>
                </a:ext>
              </a:extLst>
            </p:cNvPr>
            <p:cNvSpPr/>
            <p:nvPr/>
          </p:nvSpPr>
          <p:spPr bwMode="auto">
            <a:xfrm>
              <a:off x="427864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0" name="평행 사변형 79">
              <a:extLst>
                <a:ext uri="{FF2B5EF4-FFF2-40B4-BE49-F238E27FC236}">
                  <a16:creationId xmlns:a16="http://schemas.microsoft.com/office/drawing/2014/main" id="{77FD962B-DB4B-4D65-06E4-AB2513B86CA8}"/>
                </a:ext>
              </a:extLst>
            </p:cNvPr>
            <p:cNvSpPr/>
            <p:nvPr/>
          </p:nvSpPr>
          <p:spPr bwMode="auto">
            <a:xfrm>
              <a:off x="4583437" y="2574962"/>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81" name="원호 80">
              <a:extLst>
                <a:ext uri="{FF2B5EF4-FFF2-40B4-BE49-F238E27FC236}">
                  <a16:creationId xmlns:a16="http://schemas.microsoft.com/office/drawing/2014/main" id="{10B52A66-C021-A704-D26F-AE776CDFE43B}"/>
                </a:ext>
              </a:extLst>
            </p:cNvPr>
            <p:cNvSpPr/>
            <p:nvPr/>
          </p:nvSpPr>
          <p:spPr bwMode="auto">
            <a:xfrm rot="5400000">
              <a:off x="1097250" y="4000485"/>
              <a:ext cx="647714" cy="647714"/>
            </a:xfrm>
            <a:prstGeom prst="arc">
              <a:avLst/>
            </a:prstGeom>
            <a:noFill/>
            <a:ln w="9525"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2" name="직선 화살표 연결선 81">
              <a:extLst>
                <a:ext uri="{FF2B5EF4-FFF2-40B4-BE49-F238E27FC236}">
                  <a16:creationId xmlns:a16="http://schemas.microsoft.com/office/drawing/2014/main" id="{50C44061-E860-6807-3314-2B02802F6EBB}"/>
                </a:ext>
              </a:extLst>
            </p:cNvPr>
            <p:cNvCxnSpPr>
              <a:cxnSpLocks/>
              <a:stCxn id="81" idx="2"/>
            </p:cNvCxnSpPr>
            <p:nvPr/>
          </p:nvCxnSpPr>
          <p:spPr bwMode="auto">
            <a:xfrm>
              <a:off x="1421107" y="4648199"/>
              <a:ext cx="1474500" cy="1"/>
            </a:xfrm>
            <a:prstGeom prst="straightConnector1">
              <a:avLst/>
            </a:prstGeom>
            <a:solidFill>
              <a:schemeClr val="accent1"/>
            </a:solidFill>
            <a:ln w="9525" cap="flat" cmpd="sng" algn="ctr">
              <a:solidFill>
                <a:srgbClr val="9966FF"/>
              </a:solidFill>
              <a:prstDash val="solid"/>
              <a:round/>
              <a:headEnd type="none" w="med" len="med"/>
              <a:tailEnd type="triangle"/>
            </a:ln>
            <a:effectLst/>
          </p:spPr>
        </p:cxnSp>
        <p:cxnSp>
          <p:nvCxnSpPr>
            <p:cNvPr id="83" name="직선 연결선 82">
              <a:extLst>
                <a:ext uri="{FF2B5EF4-FFF2-40B4-BE49-F238E27FC236}">
                  <a16:creationId xmlns:a16="http://schemas.microsoft.com/office/drawing/2014/main" id="{F6A80391-ACE1-663D-CA94-90162F384D71}"/>
                </a:ext>
              </a:extLst>
            </p:cNvPr>
            <p:cNvCxnSpPr>
              <a:cxnSpLocks/>
              <a:stCxn id="81" idx="0"/>
            </p:cNvCxnSpPr>
            <p:nvPr/>
          </p:nvCxnSpPr>
          <p:spPr bwMode="auto">
            <a:xfrm flipV="1">
              <a:off x="1744964" y="2964444"/>
              <a:ext cx="471" cy="1359898"/>
            </a:xfrm>
            <a:prstGeom prst="line">
              <a:avLst/>
            </a:prstGeom>
            <a:solidFill>
              <a:schemeClr val="accent1"/>
            </a:solidFill>
            <a:ln w="9525" cap="flat" cmpd="sng" algn="ctr">
              <a:solidFill>
                <a:srgbClr val="9966FF"/>
              </a:solidFill>
              <a:prstDash val="solid"/>
              <a:round/>
              <a:headEnd type="none" w="med" len="med"/>
              <a:tailEnd type="none" w="med" len="med"/>
            </a:ln>
            <a:effectLst/>
          </p:spPr>
        </p:cxnSp>
        <p:sp>
          <p:nvSpPr>
            <p:cNvPr id="84" name="원호 83">
              <a:extLst>
                <a:ext uri="{FF2B5EF4-FFF2-40B4-BE49-F238E27FC236}">
                  <a16:creationId xmlns:a16="http://schemas.microsoft.com/office/drawing/2014/main" id="{A85B6FF8-31ED-A64E-39DE-15A3ECBF5FD7}"/>
                </a:ext>
              </a:extLst>
            </p:cNvPr>
            <p:cNvSpPr/>
            <p:nvPr/>
          </p:nvSpPr>
          <p:spPr bwMode="auto">
            <a:xfrm rot="16200000">
              <a:off x="1744975" y="2640588"/>
              <a:ext cx="647714" cy="647714"/>
            </a:xfrm>
            <a:prstGeom prst="arc">
              <a:avLst/>
            </a:prstGeom>
            <a:noFill/>
            <a:ln w="9525" cap="flat" cmpd="sng" algn="ctr">
              <a:solidFill>
                <a:srgbClr val="99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5" name="직선 화살표 연결선 84">
              <a:extLst>
                <a:ext uri="{FF2B5EF4-FFF2-40B4-BE49-F238E27FC236}">
                  <a16:creationId xmlns:a16="http://schemas.microsoft.com/office/drawing/2014/main" id="{0565D5EF-24E9-32AE-4DB6-287028E764D2}"/>
                </a:ext>
              </a:extLst>
            </p:cNvPr>
            <p:cNvCxnSpPr>
              <a:cxnSpLocks/>
            </p:cNvCxnSpPr>
            <p:nvPr/>
          </p:nvCxnSpPr>
          <p:spPr bwMode="auto">
            <a:xfrm>
              <a:off x="2064967" y="2642439"/>
              <a:ext cx="1261187" cy="0"/>
            </a:xfrm>
            <a:prstGeom prst="straightConnector1">
              <a:avLst/>
            </a:prstGeom>
            <a:solidFill>
              <a:schemeClr val="accent1"/>
            </a:solidFill>
            <a:ln w="9525" cap="flat" cmpd="sng" algn="ctr">
              <a:solidFill>
                <a:srgbClr val="9966FF"/>
              </a:solidFill>
              <a:prstDash val="solid"/>
              <a:round/>
              <a:headEnd type="none" w="med" len="med"/>
              <a:tailEnd type="triangle"/>
            </a:ln>
            <a:effectLst/>
          </p:spPr>
        </p:cxnSp>
        <p:cxnSp>
          <p:nvCxnSpPr>
            <p:cNvPr id="86" name="직선 화살표 연결선 85">
              <a:extLst>
                <a:ext uri="{FF2B5EF4-FFF2-40B4-BE49-F238E27FC236}">
                  <a16:creationId xmlns:a16="http://schemas.microsoft.com/office/drawing/2014/main" id="{31CEB967-5CBC-EE81-262E-4DCC7A7CD667}"/>
                </a:ext>
              </a:extLst>
            </p:cNvPr>
            <p:cNvCxnSpPr>
              <a:cxnSpLocks/>
            </p:cNvCxnSpPr>
            <p:nvPr/>
          </p:nvCxnSpPr>
          <p:spPr bwMode="auto">
            <a:xfrm>
              <a:off x="4278647" y="4648199"/>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87" name="원호 86">
              <a:extLst>
                <a:ext uri="{FF2B5EF4-FFF2-40B4-BE49-F238E27FC236}">
                  <a16:creationId xmlns:a16="http://schemas.microsoft.com/office/drawing/2014/main" id="{3490D59E-B790-57DD-D979-1486D47098BB}"/>
                </a:ext>
              </a:extLst>
            </p:cNvPr>
            <p:cNvSpPr/>
            <p:nvPr/>
          </p:nvSpPr>
          <p:spPr bwMode="auto">
            <a:xfrm>
              <a:off x="4674863" y="2810132"/>
              <a:ext cx="647714" cy="647714"/>
            </a:xfrm>
            <a:prstGeom prst="arc">
              <a:avLst/>
            </a:prstGeom>
            <a:noFill/>
            <a:ln w="9525" cap="flat" cmpd="sng" algn="ctr">
              <a:solidFill>
                <a:srgbClr val="00B05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88" name="직선 화살표 연결선 87">
              <a:extLst>
                <a:ext uri="{FF2B5EF4-FFF2-40B4-BE49-F238E27FC236}">
                  <a16:creationId xmlns:a16="http://schemas.microsoft.com/office/drawing/2014/main" id="{1261C09A-1E2F-D8A2-57D5-F908E19E7147}"/>
                </a:ext>
              </a:extLst>
            </p:cNvPr>
            <p:cNvCxnSpPr>
              <a:cxnSpLocks/>
            </p:cNvCxnSpPr>
            <p:nvPr/>
          </p:nvCxnSpPr>
          <p:spPr bwMode="auto">
            <a:xfrm>
              <a:off x="5322577" y="3119726"/>
              <a:ext cx="0" cy="1375078"/>
            </a:xfrm>
            <a:prstGeom prst="straightConnector1">
              <a:avLst/>
            </a:prstGeom>
            <a:solidFill>
              <a:schemeClr val="accent1"/>
            </a:solidFill>
            <a:ln w="9525" cap="flat" cmpd="sng" algn="ctr">
              <a:solidFill>
                <a:srgbClr val="00B050"/>
              </a:solidFill>
              <a:prstDash val="dashDot"/>
              <a:round/>
              <a:headEnd type="none" w="med" len="med"/>
              <a:tailEnd type="triangle"/>
            </a:ln>
            <a:effectLst/>
          </p:spPr>
        </p:cxnSp>
        <p:cxnSp>
          <p:nvCxnSpPr>
            <p:cNvPr id="89" name="직선 연결선 88">
              <a:extLst>
                <a:ext uri="{FF2B5EF4-FFF2-40B4-BE49-F238E27FC236}">
                  <a16:creationId xmlns:a16="http://schemas.microsoft.com/office/drawing/2014/main" id="{A439709D-944C-0128-BF45-0294F7A0AF91}"/>
                </a:ext>
              </a:extLst>
            </p:cNvPr>
            <p:cNvCxnSpPr>
              <a:cxnSpLocks/>
            </p:cNvCxnSpPr>
            <p:nvPr/>
          </p:nvCxnSpPr>
          <p:spPr bwMode="auto">
            <a:xfrm>
              <a:off x="4998720" y="2667000"/>
              <a:ext cx="1667731" cy="0"/>
            </a:xfrm>
            <a:prstGeom prst="line">
              <a:avLst/>
            </a:prstGeom>
            <a:solidFill>
              <a:schemeClr val="accent1"/>
            </a:solid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cxnSp>
        <p:sp>
          <p:nvSpPr>
            <p:cNvPr id="90" name="원호 89">
              <a:extLst>
                <a:ext uri="{FF2B5EF4-FFF2-40B4-BE49-F238E27FC236}">
                  <a16:creationId xmlns:a16="http://schemas.microsoft.com/office/drawing/2014/main" id="{5F58F4D2-4CA4-4D60-69BB-1D127EBF6F9E}"/>
                </a:ext>
              </a:extLst>
            </p:cNvPr>
            <p:cNvSpPr/>
            <p:nvPr/>
          </p:nvSpPr>
          <p:spPr bwMode="auto">
            <a:xfrm>
              <a:off x="6326188" y="2667000"/>
              <a:ext cx="647714" cy="647714"/>
            </a:xfrm>
            <a:prstGeom prst="arc">
              <a:avLst/>
            </a:prstGeom>
            <a:no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1" name="직선 연결선 90">
              <a:extLst>
                <a:ext uri="{FF2B5EF4-FFF2-40B4-BE49-F238E27FC236}">
                  <a16:creationId xmlns:a16="http://schemas.microsoft.com/office/drawing/2014/main" id="{69B6238E-E183-CCD3-7F2E-165B66A8A4F4}"/>
                </a:ext>
              </a:extLst>
            </p:cNvPr>
            <p:cNvCxnSpPr>
              <a:cxnSpLocks/>
              <a:endCxn id="90" idx="2"/>
            </p:cNvCxnSpPr>
            <p:nvPr/>
          </p:nvCxnSpPr>
          <p:spPr bwMode="auto">
            <a:xfrm flipH="1" flipV="1">
              <a:off x="6973902" y="2990857"/>
              <a:ext cx="7369" cy="2380259"/>
            </a:xfrm>
            <a:prstGeom prst="line">
              <a:avLst/>
            </a:prstGeom>
            <a:solidFill>
              <a:schemeClr val="accent1"/>
            </a:solid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cxnSp>
        <p:sp>
          <p:nvSpPr>
            <p:cNvPr id="92" name="평행 사변형 91">
              <a:extLst>
                <a:ext uri="{FF2B5EF4-FFF2-40B4-BE49-F238E27FC236}">
                  <a16:creationId xmlns:a16="http://schemas.microsoft.com/office/drawing/2014/main" id="{7A564CD1-24E4-2CEF-9AA9-DC72141E8072}"/>
                </a:ext>
              </a:extLst>
            </p:cNvPr>
            <p:cNvSpPr/>
            <p:nvPr/>
          </p:nvSpPr>
          <p:spPr bwMode="auto">
            <a:xfrm>
              <a:off x="29390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3" name="평행 사변형 92">
              <a:extLst>
                <a:ext uri="{FF2B5EF4-FFF2-40B4-BE49-F238E27FC236}">
                  <a16:creationId xmlns:a16="http://schemas.microsoft.com/office/drawing/2014/main" id="{2371AA9A-7F4E-32A8-7F82-D0CB457E25CC}"/>
                </a:ext>
              </a:extLst>
            </p:cNvPr>
            <p:cNvSpPr/>
            <p:nvPr/>
          </p:nvSpPr>
          <p:spPr bwMode="auto">
            <a:xfrm>
              <a:off x="32438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4" name="평행 사변형 93">
              <a:extLst>
                <a:ext uri="{FF2B5EF4-FFF2-40B4-BE49-F238E27FC236}">
                  <a16:creationId xmlns:a16="http://schemas.microsoft.com/office/drawing/2014/main" id="{1C970DBE-6D17-E8A9-380F-E1FFB12C842A}"/>
                </a:ext>
              </a:extLst>
            </p:cNvPr>
            <p:cNvSpPr/>
            <p:nvPr/>
          </p:nvSpPr>
          <p:spPr bwMode="auto">
            <a:xfrm>
              <a:off x="35486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5" name="평행 사변형 94">
              <a:extLst>
                <a:ext uri="{FF2B5EF4-FFF2-40B4-BE49-F238E27FC236}">
                  <a16:creationId xmlns:a16="http://schemas.microsoft.com/office/drawing/2014/main" id="{6A78220A-B948-200A-9BF6-EEB53058A643}"/>
                </a:ext>
              </a:extLst>
            </p:cNvPr>
            <p:cNvSpPr/>
            <p:nvPr/>
          </p:nvSpPr>
          <p:spPr bwMode="auto">
            <a:xfrm>
              <a:off x="3853458" y="5542574"/>
              <a:ext cx="381000" cy="304798"/>
            </a:xfrm>
            <a:prstGeom prst="parallelogram">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96" name="원호 95">
              <a:extLst>
                <a:ext uri="{FF2B5EF4-FFF2-40B4-BE49-F238E27FC236}">
                  <a16:creationId xmlns:a16="http://schemas.microsoft.com/office/drawing/2014/main" id="{8D55D1F5-4D70-C8E0-A356-82702E01E342}"/>
                </a:ext>
              </a:extLst>
            </p:cNvPr>
            <p:cNvSpPr/>
            <p:nvPr/>
          </p:nvSpPr>
          <p:spPr bwMode="auto">
            <a:xfrm rot="5400000">
              <a:off x="4675929" y="5047246"/>
              <a:ext cx="647714" cy="647714"/>
            </a:xfrm>
            <a:prstGeom prst="arc">
              <a:avLst/>
            </a:prstGeom>
            <a:no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97" name="직선 연결선 96">
              <a:extLst>
                <a:ext uri="{FF2B5EF4-FFF2-40B4-BE49-F238E27FC236}">
                  <a16:creationId xmlns:a16="http://schemas.microsoft.com/office/drawing/2014/main" id="{B9B77503-5A61-A265-A551-8AE85A4FCD8A}"/>
                </a:ext>
              </a:extLst>
            </p:cNvPr>
            <p:cNvCxnSpPr>
              <a:cxnSpLocks/>
            </p:cNvCxnSpPr>
            <p:nvPr/>
          </p:nvCxnSpPr>
          <p:spPr bwMode="auto">
            <a:xfrm flipV="1">
              <a:off x="5322577" y="4952004"/>
              <a:ext cx="0" cy="419099"/>
            </a:xfrm>
            <a:prstGeom prst="line">
              <a:avLst/>
            </a:prstGeom>
            <a:solidFill>
              <a:schemeClr val="accent1"/>
            </a:solid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cxnSp>
        <p:cxnSp>
          <p:nvCxnSpPr>
            <p:cNvPr id="98" name="직선 화살표 연결선 97">
              <a:extLst>
                <a:ext uri="{FF2B5EF4-FFF2-40B4-BE49-F238E27FC236}">
                  <a16:creationId xmlns:a16="http://schemas.microsoft.com/office/drawing/2014/main" id="{4271E8E9-EE6B-A6CE-D2A8-D1AF7DEFCF9D}"/>
                </a:ext>
              </a:extLst>
            </p:cNvPr>
            <p:cNvCxnSpPr>
              <a:cxnSpLocks/>
              <a:stCxn id="99" idx="2"/>
            </p:cNvCxnSpPr>
            <p:nvPr/>
          </p:nvCxnSpPr>
          <p:spPr bwMode="auto">
            <a:xfrm flipH="1">
              <a:off x="4278647" y="5694973"/>
              <a:ext cx="2378767" cy="0"/>
            </a:xfrm>
            <a:prstGeom prst="straightConnector1">
              <a:avLst/>
            </a:prstGeom>
            <a:solidFill>
              <a:schemeClr val="accent1"/>
            </a:solidFill>
            <a:ln w="38100" cap="flat" cmpd="sng" algn="ctr">
              <a:solidFill>
                <a:srgbClr val="FF0000"/>
              </a:solidFill>
              <a:prstDash val="solid"/>
              <a:round/>
              <a:headEnd type="none" w="med" len="med"/>
              <a:tailEnd type="triangle"/>
            </a:ln>
            <a:effectLst>
              <a:outerShdw blurRad="50800" dist="38100" dir="5400000" algn="t" rotWithShape="0">
                <a:prstClr val="black">
                  <a:alpha val="40000"/>
                </a:prstClr>
              </a:outerShdw>
            </a:effectLst>
          </p:spPr>
        </p:cxnSp>
        <p:sp>
          <p:nvSpPr>
            <p:cNvPr id="99" name="원호 98">
              <a:extLst>
                <a:ext uri="{FF2B5EF4-FFF2-40B4-BE49-F238E27FC236}">
                  <a16:creationId xmlns:a16="http://schemas.microsoft.com/office/drawing/2014/main" id="{3BCC00CC-3A0E-A395-2231-25DD8FEE7735}"/>
                </a:ext>
              </a:extLst>
            </p:cNvPr>
            <p:cNvSpPr/>
            <p:nvPr/>
          </p:nvSpPr>
          <p:spPr bwMode="auto">
            <a:xfrm rot="5400000">
              <a:off x="6333557" y="5047259"/>
              <a:ext cx="647714" cy="647714"/>
            </a:xfrm>
            <a:prstGeom prst="arc">
              <a:avLst/>
            </a:prstGeom>
            <a:noFill/>
            <a:ln w="38100" cap="flat" cmpd="sng" algn="ctr">
              <a:solidFill>
                <a:srgbClr val="FF0000"/>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0" name="원호 99">
              <a:extLst>
                <a:ext uri="{FF2B5EF4-FFF2-40B4-BE49-F238E27FC236}">
                  <a16:creationId xmlns:a16="http://schemas.microsoft.com/office/drawing/2014/main" id="{CAEB98B5-D37B-B7EA-FF55-504A340CBF80}"/>
                </a:ext>
              </a:extLst>
            </p:cNvPr>
            <p:cNvSpPr/>
            <p:nvPr/>
          </p:nvSpPr>
          <p:spPr bwMode="auto">
            <a:xfrm rot="10800000">
              <a:off x="2035665" y="5047246"/>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01" name="원호 100">
              <a:extLst>
                <a:ext uri="{FF2B5EF4-FFF2-40B4-BE49-F238E27FC236}">
                  <a16:creationId xmlns:a16="http://schemas.microsoft.com/office/drawing/2014/main" id="{A690029C-14D6-78CF-392C-B0D548EE33CE}"/>
                </a:ext>
              </a:extLst>
            </p:cNvPr>
            <p:cNvSpPr/>
            <p:nvPr/>
          </p:nvSpPr>
          <p:spPr bwMode="auto">
            <a:xfrm rot="16200000">
              <a:off x="2036433" y="2808288"/>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2" name="직선 연결선 101">
              <a:extLst>
                <a:ext uri="{FF2B5EF4-FFF2-40B4-BE49-F238E27FC236}">
                  <a16:creationId xmlns:a16="http://schemas.microsoft.com/office/drawing/2014/main" id="{30BD3CFA-C172-03FD-D03E-395FE4BA0D98}"/>
                </a:ext>
              </a:extLst>
            </p:cNvPr>
            <p:cNvCxnSpPr>
              <a:cxnSpLocks/>
            </p:cNvCxnSpPr>
            <p:nvPr/>
          </p:nvCxnSpPr>
          <p:spPr bwMode="auto">
            <a:xfrm flipV="1">
              <a:off x="2036433" y="3119726"/>
              <a:ext cx="0" cy="2251377"/>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103" name="직선 연결선 102">
              <a:extLst>
                <a:ext uri="{FF2B5EF4-FFF2-40B4-BE49-F238E27FC236}">
                  <a16:creationId xmlns:a16="http://schemas.microsoft.com/office/drawing/2014/main" id="{BEE4117A-73A8-D0C4-AE24-34262ED2598B}"/>
                </a:ext>
              </a:extLst>
            </p:cNvPr>
            <p:cNvCxnSpPr>
              <a:cxnSpLocks/>
              <a:stCxn id="100" idx="0"/>
            </p:cNvCxnSpPr>
            <p:nvPr/>
          </p:nvCxnSpPr>
          <p:spPr bwMode="auto">
            <a:xfrm>
              <a:off x="2359522" y="5694960"/>
              <a:ext cx="536085" cy="44"/>
            </a:xfrm>
            <a:prstGeom prst="line">
              <a:avLst/>
            </a:prstGeom>
            <a:solidFill>
              <a:schemeClr val="accent1"/>
            </a:solidFill>
            <a:ln w="9525" cap="flat" cmpd="sng" algn="ctr">
              <a:solidFill>
                <a:srgbClr val="00B0F0"/>
              </a:solidFill>
              <a:prstDash val="solid"/>
              <a:round/>
              <a:headEnd type="none" w="med" len="med"/>
              <a:tailEnd type="none" w="med" len="med"/>
            </a:ln>
            <a:effectLst/>
          </p:spPr>
        </p:cxnSp>
        <p:cxnSp>
          <p:nvCxnSpPr>
            <p:cNvPr id="104" name="직선 화살표 연결선 103">
              <a:extLst>
                <a:ext uri="{FF2B5EF4-FFF2-40B4-BE49-F238E27FC236}">
                  <a16:creationId xmlns:a16="http://schemas.microsoft.com/office/drawing/2014/main" id="{D25266F1-EC40-B8F2-1B9A-E2D0AB4763D2}"/>
                </a:ext>
              </a:extLst>
            </p:cNvPr>
            <p:cNvCxnSpPr>
              <a:cxnSpLocks/>
            </p:cNvCxnSpPr>
            <p:nvPr/>
          </p:nvCxnSpPr>
          <p:spPr bwMode="auto">
            <a:xfrm>
              <a:off x="5600727" y="4723404"/>
              <a:ext cx="1714473" cy="0"/>
            </a:xfrm>
            <a:prstGeom prst="straightConnector1">
              <a:avLst/>
            </a:prstGeom>
            <a:solidFill>
              <a:schemeClr val="accent1"/>
            </a:solidFill>
            <a:ln w="38100" cap="flat" cmpd="sng" algn="ctr">
              <a:solidFill>
                <a:srgbClr val="0000FF"/>
              </a:solidFill>
              <a:prstDash val="solid"/>
              <a:round/>
              <a:headEnd type="none" w="med" len="med"/>
              <a:tailEnd type="triangle"/>
            </a:ln>
            <a:effectLst>
              <a:outerShdw blurRad="50800" dist="38100" dir="5400000" algn="t" rotWithShape="0">
                <a:prstClr val="black">
                  <a:alpha val="40000"/>
                </a:prstClr>
              </a:outerShdw>
            </a:effectLst>
          </p:spPr>
        </p:cxnSp>
        <p:sp>
          <p:nvSpPr>
            <p:cNvPr id="105" name="원호 104">
              <a:extLst>
                <a:ext uri="{FF2B5EF4-FFF2-40B4-BE49-F238E27FC236}">
                  <a16:creationId xmlns:a16="http://schemas.microsoft.com/office/drawing/2014/main" id="{39848E7E-CDDB-3BCF-5087-E985FF5BA75C}"/>
                </a:ext>
              </a:extLst>
            </p:cNvPr>
            <p:cNvSpPr/>
            <p:nvPr/>
          </p:nvSpPr>
          <p:spPr bwMode="auto">
            <a:xfrm rot="10800000">
              <a:off x="6480569" y="4075689"/>
              <a:ext cx="647714" cy="647714"/>
            </a:xfrm>
            <a:prstGeom prst="arc">
              <a:avLst/>
            </a:prstGeom>
            <a:noFill/>
            <a:ln w="38100" cap="flat" cmpd="sng" algn="ctr">
              <a:solidFill>
                <a:srgbClr val="0000FF"/>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6" name="직선 연결선 105">
              <a:extLst>
                <a:ext uri="{FF2B5EF4-FFF2-40B4-BE49-F238E27FC236}">
                  <a16:creationId xmlns:a16="http://schemas.microsoft.com/office/drawing/2014/main" id="{2DBD7D0D-73F6-7FD0-C9B7-8B6ED9D56C36}"/>
                </a:ext>
              </a:extLst>
            </p:cNvPr>
            <p:cNvCxnSpPr>
              <a:cxnSpLocks/>
            </p:cNvCxnSpPr>
            <p:nvPr/>
          </p:nvCxnSpPr>
          <p:spPr bwMode="auto">
            <a:xfrm>
              <a:off x="4998720" y="2743200"/>
              <a:ext cx="1173480" cy="0"/>
            </a:xfrm>
            <a:prstGeom prst="line">
              <a:avLst/>
            </a:prstGeom>
            <a:solidFill>
              <a:schemeClr val="accent1"/>
            </a:solidFill>
            <a:ln w="38100" cap="flat" cmpd="sng" algn="ctr">
              <a:solidFill>
                <a:srgbClr val="0000FF"/>
              </a:solidFill>
              <a:prstDash val="solid"/>
              <a:round/>
              <a:headEnd type="none" w="med" len="med"/>
              <a:tailEnd type="none" w="med" len="med"/>
            </a:ln>
            <a:effectLst>
              <a:outerShdw blurRad="50800" dist="38100" dir="5400000" algn="t" rotWithShape="0">
                <a:prstClr val="black">
                  <a:alpha val="40000"/>
                </a:prstClr>
              </a:outerShdw>
            </a:effectLst>
          </p:spPr>
        </p:cxnSp>
        <p:sp>
          <p:nvSpPr>
            <p:cNvPr id="107" name="원호 106">
              <a:extLst>
                <a:ext uri="{FF2B5EF4-FFF2-40B4-BE49-F238E27FC236}">
                  <a16:creationId xmlns:a16="http://schemas.microsoft.com/office/drawing/2014/main" id="{A45A70A6-6454-9060-B8A5-B69453A2ACFC}"/>
                </a:ext>
              </a:extLst>
            </p:cNvPr>
            <p:cNvSpPr/>
            <p:nvPr/>
          </p:nvSpPr>
          <p:spPr bwMode="auto">
            <a:xfrm>
              <a:off x="5832855" y="2742608"/>
              <a:ext cx="647714" cy="647714"/>
            </a:xfrm>
            <a:prstGeom prst="arc">
              <a:avLst/>
            </a:prstGeom>
            <a:noFill/>
            <a:ln w="38100" cap="flat" cmpd="sng" algn="ctr">
              <a:solidFill>
                <a:srgbClr val="0000FF"/>
              </a:solidFill>
              <a:prstDash val="solid"/>
              <a:round/>
              <a:headEnd type="none" w="med" len="med"/>
              <a:tailEnd type="none" w="med" len="med"/>
            </a:ln>
            <a:effectLst>
              <a:outerShdw blurRad="50800" dist="38100" dir="5400000" algn="t"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08" name="직선 연결선 107">
              <a:extLst>
                <a:ext uri="{FF2B5EF4-FFF2-40B4-BE49-F238E27FC236}">
                  <a16:creationId xmlns:a16="http://schemas.microsoft.com/office/drawing/2014/main" id="{77B1A22E-D35F-BA8C-A881-5405BC4CE4B9}"/>
                </a:ext>
              </a:extLst>
            </p:cNvPr>
            <p:cNvCxnSpPr>
              <a:cxnSpLocks/>
              <a:stCxn id="105" idx="2"/>
              <a:endCxn id="107" idx="2"/>
            </p:cNvCxnSpPr>
            <p:nvPr/>
          </p:nvCxnSpPr>
          <p:spPr bwMode="auto">
            <a:xfrm flipV="1">
              <a:off x="6480569" y="3066465"/>
              <a:ext cx="0" cy="1333081"/>
            </a:xfrm>
            <a:prstGeom prst="line">
              <a:avLst/>
            </a:prstGeom>
            <a:solidFill>
              <a:schemeClr val="accent1"/>
            </a:solidFill>
            <a:ln w="38100" cap="flat" cmpd="sng" algn="ctr">
              <a:solidFill>
                <a:srgbClr val="0000FF"/>
              </a:solidFill>
              <a:prstDash val="solid"/>
              <a:round/>
              <a:headEnd type="none" w="med" len="med"/>
              <a:tailEnd type="none" w="med" len="med"/>
            </a:ln>
            <a:effectLst>
              <a:outerShdw blurRad="50800" dist="38100" dir="5400000" algn="t" rotWithShape="0">
                <a:prstClr val="black">
                  <a:alpha val="40000"/>
                </a:prstClr>
              </a:outerShdw>
            </a:effectLst>
          </p:spPr>
        </p:cxnSp>
        <p:sp>
          <p:nvSpPr>
            <p:cNvPr id="109" name="TextBox 108">
              <a:extLst>
                <a:ext uri="{FF2B5EF4-FFF2-40B4-BE49-F238E27FC236}">
                  <a16:creationId xmlns:a16="http://schemas.microsoft.com/office/drawing/2014/main" id="{D53969FE-EDB3-628A-5C22-F1B237FD46FE}"/>
                </a:ext>
              </a:extLst>
            </p:cNvPr>
            <p:cNvSpPr txBox="1"/>
            <p:nvPr/>
          </p:nvSpPr>
          <p:spPr>
            <a:xfrm>
              <a:off x="2652818" y="1885447"/>
              <a:ext cx="2056466" cy="350495"/>
            </a:xfrm>
            <a:prstGeom prst="rect">
              <a:avLst/>
            </a:prstGeom>
            <a:noFill/>
          </p:spPr>
          <p:txBody>
            <a:bodyPr wrap="none" rtlCol="0">
              <a:spAutoFit/>
            </a:bodyPr>
            <a:lstStyle/>
            <a:p>
              <a:r>
                <a:rPr lang="en-US" altLang="ko-KR" sz="1300" i="1" u="sng"/>
                <a:t>stride_scheduler.c</a:t>
              </a:r>
              <a:endParaRPr lang="ko-KR" altLang="en-US" sz="1300" i="1" u="sng"/>
            </a:p>
          </p:txBody>
        </p:sp>
        <p:sp>
          <p:nvSpPr>
            <p:cNvPr id="110" name="TextBox 109">
              <a:extLst>
                <a:ext uri="{FF2B5EF4-FFF2-40B4-BE49-F238E27FC236}">
                  <a16:creationId xmlns:a16="http://schemas.microsoft.com/office/drawing/2014/main" id="{F45C3103-CF9F-C13B-016E-59B51C3A528A}"/>
                </a:ext>
              </a:extLst>
            </p:cNvPr>
            <p:cNvSpPr txBox="1"/>
            <p:nvPr/>
          </p:nvSpPr>
          <p:spPr>
            <a:xfrm>
              <a:off x="2974214" y="4241889"/>
              <a:ext cx="1476152" cy="350495"/>
            </a:xfrm>
            <a:prstGeom prst="rect">
              <a:avLst/>
            </a:prstGeom>
            <a:noFill/>
          </p:spPr>
          <p:txBody>
            <a:bodyPr wrap="none" rtlCol="0">
              <a:spAutoFit/>
            </a:bodyPr>
            <a:lstStyle/>
            <a:p>
              <a:r>
                <a:rPr lang="en-US" altLang="ko-KR" sz="1300"/>
                <a:t>ready queue</a:t>
              </a:r>
              <a:endParaRPr lang="ko-KR" altLang="en-US" sz="1300"/>
            </a:p>
          </p:txBody>
        </p:sp>
        <p:sp>
          <p:nvSpPr>
            <p:cNvPr id="111" name="TextBox 110">
              <a:extLst>
                <a:ext uri="{FF2B5EF4-FFF2-40B4-BE49-F238E27FC236}">
                  <a16:creationId xmlns:a16="http://schemas.microsoft.com/office/drawing/2014/main" id="{ADB5E52E-F5B4-01B6-D8A7-455E7725D3E0}"/>
                </a:ext>
              </a:extLst>
            </p:cNvPr>
            <p:cNvSpPr txBox="1"/>
            <p:nvPr/>
          </p:nvSpPr>
          <p:spPr>
            <a:xfrm>
              <a:off x="2974214" y="5847372"/>
              <a:ext cx="1324348" cy="350495"/>
            </a:xfrm>
            <a:prstGeom prst="rect">
              <a:avLst/>
            </a:prstGeom>
            <a:noFill/>
          </p:spPr>
          <p:txBody>
            <a:bodyPr wrap="none" rtlCol="0">
              <a:spAutoFit/>
            </a:bodyPr>
            <a:lstStyle/>
            <a:p>
              <a:r>
                <a:rPr lang="en-US" altLang="ko-KR" sz="1300"/>
                <a:t>wait queue</a:t>
              </a:r>
              <a:endParaRPr lang="ko-KR" altLang="en-US" sz="1300"/>
            </a:p>
          </p:txBody>
        </p:sp>
        <p:sp>
          <p:nvSpPr>
            <p:cNvPr id="112" name="TextBox 111">
              <a:extLst>
                <a:ext uri="{FF2B5EF4-FFF2-40B4-BE49-F238E27FC236}">
                  <a16:creationId xmlns:a16="http://schemas.microsoft.com/office/drawing/2014/main" id="{9D71CE25-C053-C888-37A9-65F68A6718B8}"/>
                </a:ext>
              </a:extLst>
            </p:cNvPr>
            <p:cNvSpPr txBox="1"/>
            <p:nvPr/>
          </p:nvSpPr>
          <p:spPr>
            <a:xfrm>
              <a:off x="3209430" y="2846612"/>
              <a:ext cx="2198662" cy="350495"/>
            </a:xfrm>
            <a:prstGeom prst="rect">
              <a:avLst/>
            </a:prstGeom>
            <a:noFill/>
          </p:spPr>
          <p:txBody>
            <a:bodyPr wrap="none" rtlCol="0">
              <a:spAutoFit/>
            </a:bodyPr>
            <a:lstStyle/>
            <a:p>
              <a:r>
                <a:rPr lang="en-US" altLang="ko-KR" sz="1300"/>
                <a:t>sched_contexts_list</a:t>
              </a:r>
              <a:endParaRPr lang="ko-KR" altLang="en-US" sz="1300"/>
            </a:p>
          </p:txBody>
        </p:sp>
        <p:sp>
          <p:nvSpPr>
            <p:cNvPr id="113" name="TextBox 112">
              <a:extLst>
                <a:ext uri="{FF2B5EF4-FFF2-40B4-BE49-F238E27FC236}">
                  <a16:creationId xmlns:a16="http://schemas.microsoft.com/office/drawing/2014/main" id="{201EBF62-A3BE-7B6B-97FE-553F127112A3}"/>
                </a:ext>
              </a:extLst>
            </p:cNvPr>
            <p:cNvSpPr txBox="1"/>
            <p:nvPr/>
          </p:nvSpPr>
          <p:spPr>
            <a:xfrm>
              <a:off x="5294295" y="4874621"/>
              <a:ext cx="993837" cy="350495"/>
            </a:xfrm>
            <a:prstGeom prst="rect">
              <a:avLst/>
            </a:prstGeom>
            <a:noFill/>
            <a:ln w="38100">
              <a:noFill/>
            </a:ln>
            <a:effectLst>
              <a:outerShdw blurRad="50800" dist="38100" dir="5400000" algn="t" rotWithShape="0">
                <a:prstClr val="black">
                  <a:alpha val="40000"/>
                </a:prstClr>
              </a:outerShdw>
            </a:effectLst>
          </p:spPr>
          <p:txBody>
            <a:bodyPr wrap="none" rtlCol="0">
              <a:spAutoFit/>
            </a:bodyPr>
            <a:lstStyle/>
            <a:p>
              <a:r>
                <a:rPr lang="en-US" altLang="ko-KR" sz="1300"/>
                <a:t>running</a:t>
              </a:r>
              <a:endParaRPr lang="ko-KR" altLang="en-US" sz="1300"/>
            </a:p>
          </p:txBody>
        </p:sp>
        <p:sp>
          <p:nvSpPr>
            <p:cNvPr id="114" name="TextBox 113">
              <a:extLst>
                <a:ext uri="{FF2B5EF4-FFF2-40B4-BE49-F238E27FC236}">
                  <a16:creationId xmlns:a16="http://schemas.microsoft.com/office/drawing/2014/main" id="{A48824B6-E83E-FD5A-947C-F67E5045DE1D}"/>
                </a:ext>
              </a:extLst>
            </p:cNvPr>
            <p:cNvSpPr txBox="1"/>
            <p:nvPr/>
          </p:nvSpPr>
          <p:spPr>
            <a:xfrm>
              <a:off x="4723990" y="4079312"/>
              <a:ext cx="1248213" cy="288554"/>
            </a:xfrm>
            <a:prstGeom prst="rect">
              <a:avLst/>
            </a:prstGeom>
            <a:noFill/>
          </p:spPr>
          <p:txBody>
            <a:bodyPr wrap="none" rtlCol="0">
              <a:spAutoFit/>
            </a:bodyPr>
            <a:lstStyle/>
            <a:p>
              <a:r>
                <a:rPr lang="en-US" altLang="ko-KR" sz="1050" i="1"/>
                <a:t>return by ref.</a:t>
              </a:r>
              <a:endParaRPr lang="ko-KR" altLang="en-US" sz="1050" i="1"/>
            </a:p>
          </p:txBody>
        </p:sp>
        <p:sp>
          <p:nvSpPr>
            <p:cNvPr id="115" name="타원 114">
              <a:extLst>
                <a:ext uri="{FF2B5EF4-FFF2-40B4-BE49-F238E27FC236}">
                  <a16:creationId xmlns:a16="http://schemas.microsoft.com/office/drawing/2014/main" id="{2354229A-AB39-9A73-968B-162E489183C5}"/>
                </a:ext>
              </a:extLst>
            </p:cNvPr>
            <p:cNvSpPr/>
            <p:nvPr/>
          </p:nvSpPr>
          <p:spPr bwMode="auto">
            <a:xfrm>
              <a:off x="1038680"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16" name="타원 115">
              <a:extLst>
                <a:ext uri="{FF2B5EF4-FFF2-40B4-BE49-F238E27FC236}">
                  <a16:creationId xmlns:a16="http://schemas.microsoft.com/office/drawing/2014/main" id="{54185F52-2131-2BB0-EDAE-576474C38006}"/>
                </a:ext>
              </a:extLst>
            </p:cNvPr>
            <p:cNvSpPr/>
            <p:nvPr/>
          </p:nvSpPr>
          <p:spPr bwMode="auto">
            <a:xfrm>
              <a:off x="7393153" y="4569837"/>
              <a:ext cx="307068" cy="307068"/>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sp>
          <p:nvSpPr>
            <p:cNvPr id="117" name="TextBox 116">
              <a:extLst>
                <a:ext uri="{FF2B5EF4-FFF2-40B4-BE49-F238E27FC236}">
                  <a16:creationId xmlns:a16="http://schemas.microsoft.com/office/drawing/2014/main" id="{87955A6E-9263-8D3C-7357-BAB455B13015}"/>
                </a:ext>
              </a:extLst>
            </p:cNvPr>
            <p:cNvSpPr txBox="1"/>
            <p:nvPr/>
          </p:nvSpPr>
          <p:spPr>
            <a:xfrm>
              <a:off x="895098" y="4874621"/>
              <a:ext cx="686386" cy="350495"/>
            </a:xfrm>
            <a:prstGeom prst="rect">
              <a:avLst/>
            </a:prstGeom>
            <a:noFill/>
          </p:spPr>
          <p:txBody>
            <a:bodyPr wrap="none" rtlCol="0">
              <a:spAutoFit/>
            </a:bodyPr>
            <a:lstStyle/>
            <a:p>
              <a:r>
                <a:rPr lang="en-US" altLang="ko-KR" sz="1300"/>
                <a:t>start</a:t>
              </a:r>
              <a:endParaRPr lang="ko-KR" altLang="en-US" sz="1300"/>
            </a:p>
          </p:txBody>
        </p:sp>
        <p:sp>
          <p:nvSpPr>
            <p:cNvPr id="118" name="TextBox 117">
              <a:extLst>
                <a:ext uri="{FF2B5EF4-FFF2-40B4-BE49-F238E27FC236}">
                  <a16:creationId xmlns:a16="http://schemas.microsoft.com/office/drawing/2014/main" id="{0FC519CF-6B90-2EBE-8205-943B9140136A}"/>
                </a:ext>
              </a:extLst>
            </p:cNvPr>
            <p:cNvSpPr txBox="1"/>
            <p:nvPr/>
          </p:nvSpPr>
          <p:spPr>
            <a:xfrm>
              <a:off x="7306259" y="4874621"/>
              <a:ext cx="594151" cy="350495"/>
            </a:xfrm>
            <a:prstGeom prst="rect">
              <a:avLst/>
            </a:prstGeom>
            <a:noFill/>
          </p:spPr>
          <p:txBody>
            <a:bodyPr wrap="none" rtlCol="0">
              <a:spAutoFit/>
            </a:bodyPr>
            <a:lstStyle/>
            <a:p>
              <a:r>
                <a:rPr lang="en-US" altLang="ko-KR" sz="1300"/>
                <a:t>exit</a:t>
              </a:r>
              <a:endParaRPr lang="ko-KR" altLang="en-US" sz="1300"/>
            </a:p>
          </p:txBody>
        </p:sp>
        <p:cxnSp>
          <p:nvCxnSpPr>
            <p:cNvPr id="119" name="직선 화살표 연결선 118">
              <a:extLst>
                <a:ext uri="{FF2B5EF4-FFF2-40B4-BE49-F238E27FC236}">
                  <a16:creationId xmlns:a16="http://schemas.microsoft.com/office/drawing/2014/main" id="{C1C99A74-F68F-B780-1877-A2AED6C5CCEF}"/>
                </a:ext>
              </a:extLst>
            </p:cNvPr>
            <p:cNvCxnSpPr>
              <a:cxnSpLocks/>
            </p:cNvCxnSpPr>
            <p:nvPr/>
          </p:nvCxnSpPr>
          <p:spPr bwMode="auto">
            <a:xfrm>
              <a:off x="2360290" y="2808290"/>
              <a:ext cx="965864" cy="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sp>
          <p:nvSpPr>
            <p:cNvPr id="120" name="원호 119">
              <a:extLst>
                <a:ext uri="{FF2B5EF4-FFF2-40B4-BE49-F238E27FC236}">
                  <a16:creationId xmlns:a16="http://schemas.microsoft.com/office/drawing/2014/main" id="{1E2C1F92-AB5A-EF01-3DDD-A87F68AFCC58}"/>
                </a:ext>
              </a:extLst>
            </p:cNvPr>
            <p:cNvSpPr/>
            <p:nvPr/>
          </p:nvSpPr>
          <p:spPr bwMode="auto">
            <a:xfrm rot="16200000">
              <a:off x="2036685" y="4756324"/>
              <a:ext cx="647714" cy="647714"/>
            </a:xfrm>
            <a:prstGeom prst="arc">
              <a:avLst/>
            </a:prstGeom>
            <a:no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300" b="0" i="0" u="none" strike="noStrike" cap="none" normalizeH="0" baseline="0">
                <a:ln>
                  <a:noFill/>
                </a:ln>
                <a:solidFill>
                  <a:schemeClr val="tx1"/>
                </a:solidFill>
                <a:effectLst/>
                <a:latin typeface="Verdana" pitchFamily="34" charset="0"/>
                <a:cs typeface="Arial" charset="0"/>
              </a:endParaRPr>
            </a:p>
          </p:txBody>
        </p:sp>
        <p:cxnSp>
          <p:nvCxnSpPr>
            <p:cNvPr id="121" name="직선 화살표 연결선 120">
              <a:extLst>
                <a:ext uri="{FF2B5EF4-FFF2-40B4-BE49-F238E27FC236}">
                  <a16:creationId xmlns:a16="http://schemas.microsoft.com/office/drawing/2014/main" id="{6E1C509C-0C08-A173-5A4C-BC5A891FA50E}"/>
                </a:ext>
              </a:extLst>
            </p:cNvPr>
            <p:cNvCxnSpPr>
              <a:cxnSpLocks/>
            </p:cNvCxnSpPr>
            <p:nvPr/>
          </p:nvCxnSpPr>
          <p:spPr bwMode="auto">
            <a:xfrm>
              <a:off x="2359521" y="4756324"/>
              <a:ext cx="536086" cy="0"/>
            </a:xfrm>
            <a:prstGeom prst="straightConnector1">
              <a:avLst/>
            </a:prstGeom>
            <a:solidFill>
              <a:schemeClr val="accent1"/>
            </a:solidFill>
            <a:ln w="9525" cap="flat" cmpd="sng" algn="ctr">
              <a:solidFill>
                <a:srgbClr val="00B0F0"/>
              </a:solidFill>
              <a:prstDash val="solid"/>
              <a:round/>
              <a:headEnd type="none" w="med" len="med"/>
              <a:tailEnd type="triangle"/>
            </a:ln>
            <a:effectLst/>
          </p:spPr>
        </p:cxnSp>
        <p:cxnSp>
          <p:nvCxnSpPr>
            <p:cNvPr id="122" name="직선 화살표 연결선 121">
              <a:extLst>
                <a:ext uri="{FF2B5EF4-FFF2-40B4-BE49-F238E27FC236}">
                  <a16:creationId xmlns:a16="http://schemas.microsoft.com/office/drawing/2014/main" id="{ED9A9082-DD9F-BE80-C992-37234F142BE6}"/>
                </a:ext>
              </a:extLst>
            </p:cNvPr>
            <p:cNvCxnSpPr>
              <a:cxnSpLocks/>
            </p:cNvCxnSpPr>
            <p:nvPr/>
          </p:nvCxnSpPr>
          <p:spPr bwMode="auto">
            <a:xfrm flipH="1">
              <a:off x="4278647" y="4795930"/>
              <a:ext cx="841993" cy="0"/>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grpSp>
    </p:spTree>
    <p:extLst>
      <p:ext uri="{BB962C8B-B14F-4D97-AF65-F5344CB8AC3E}">
        <p14:creationId xmlns:p14="http://schemas.microsoft.com/office/powerpoint/2010/main" val="24781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CFFF-4480-D85C-8C96-6B0D5DD67F3D}"/>
            </a:ext>
          </a:extLst>
        </p:cNvPr>
        <p:cNvGrpSpPr/>
        <p:nvPr/>
      </p:nvGrpSpPr>
      <p:grpSpPr>
        <a:xfrm>
          <a:off x="0" y="0"/>
          <a:ext cx="0" cy="0"/>
          <a:chOff x="0" y="0"/>
          <a:chExt cx="0" cy="0"/>
        </a:xfrm>
      </p:grpSpPr>
      <p:sp>
        <p:nvSpPr>
          <p:cNvPr id="39" name="화살표: 오른쪽 38">
            <a:extLst>
              <a:ext uri="{FF2B5EF4-FFF2-40B4-BE49-F238E27FC236}">
                <a16:creationId xmlns:a16="http://schemas.microsoft.com/office/drawing/2014/main" id="{5D9B3602-D80E-5F58-2E3A-139917F3EAA1}"/>
              </a:ext>
            </a:extLst>
          </p:cNvPr>
          <p:cNvSpPr/>
          <p:nvPr/>
        </p:nvSpPr>
        <p:spPr bwMode="auto">
          <a:xfrm>
            <a:off x="457200" y="4127977"/>
            <a:ext cx="8427721" cy="931556"/>
          </a:xfrm>
          <a:prstGeom prst="rightArrow">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6" name="Rectangle 3">
            <a:extLst>
              <a:ext uri="{FF2B5EF4-FFF2-40B4-BE49-F238E27FC236}">
                <a16:creationId xmlns:a16="http://schemas.microsoft.com/office/drawing/2014/main" id="{B0AC85A4-3DD9-6B46-9B79-0EEBAC09D8FB}"/>
              </a:ext>
            </a:extLst>
          </p:cNvPr>
          <p:cNvSpPr txBox="1">
            <a:spLocks noChangeArrowheads="1"/>
          </p:cNvSpPr>
          <p:nvPr/>
        </p:nvSpPr>
        <p:spPr bwMode="auto">
          <a:xfrm>
            <a:off x="574675" y="1752600"/>
            <a:ext cx="8001000"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000" kern="0"/>
              <a:t>Data Structure: Sorted Linked Lists</a:t>
            </a:r>
          </a:p>
          <a:p>
            <a:pPr lvl="1" latinLnBrk="1"/>
            <a:r>
              <a:rPr lang="en-US" altLang="ko-KR" sz="1400" kern="0"/>
              <a:t>Follow basic data structure for the thread management (linked list)</a:t>
            </a:r>
          </a:p>
          <a:p>
            <a:pPr lvl="1" latinLnBrk="1"/>
            <a:r>
              <a:rPr lang="en-US" altLang="ko-KR" sz="1400" kern="0"/>
              <a:t>Simple and Straightforward.</a:t>
            </a:r>
          </a:p>
          <a:p>
            <a:pPr lvl="1" latinLnBrk="1"/>
            <a:r>
              <a:rPr lang="en-US" altLang="ko-KR" sz="1400" kern="0"/>
              <a:t>Bad time complexity, but the number of threads in Pintos is small.</a:t>
            </a:r>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grpSp>
        <p:nvGrpSpPr>
          <p:cNvPr id="55" name="그룹 54">
            <a:extLst>
              <a:ext uri="{FF2B5EF4-FFF2-40B4-BE49-F238E27FC236}">
                <a16:creationId xmlns:a16="http://schemas.microsoft.com/office/drawing/2014/main" id="{8856E2D2-92DC-8DDA-70BF-10393B689F30}"/>
              </a:ext>
            </a:extLst>
          </p:cNvPr>
          <p:cNvGrpSpPr/>
          <p:nvPr/>
        </p:nvGrpSpPr>
        <p:grpSpPr>
          <a:xfrm>
            <a:off x="6297168" y="3091815"/>
            <a:ext cx="1806656" cy="2362202"/>
            <a:chOff x="1371600" y="3509672"/>
            <a:chExt cx="1447800" cy="1977502"/>
          </a:xfrm>
        </p:grpSpPr>
        <p:sp>
          <p:nvSpPr>
            <p:cNvPr id="56" name="직사각형 55">
              <a:extLst>
                <a:ext uri="{FF2B5EF4-FFF2-40B4-BE49-F238E27FC236}">
                  <a16:creationId xmlns:a16="http://schemas.microsoft.com/office/drawing/2014/main" id="{04E6E2C4-E630-8807-0B32-CC2BD30D0952}"/>
                </a:ext>
              </a:extLst>
            </p:cNvPr>
            <p:cNvSpPr/>
            <p:nvPr/>
          </p:nvSpPr>
          <p:spPr bwMode="auto">
            <a:xfrm>
              <a:off x="1371600" y="4114800"/>
              <a:ext cx="1447800" cy="1372373"/>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&lt;tcb&gt;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57" name="직사각형 56">
              <a:extLst>
                <a:ext uri="{FF2B5EF4-FFF2-40B4-BE49-F238E27FC236}">
                  <a16:creationId xmlns:a16="http://schemas.microsoft.com/office/drawing/2014/main" id="{FC660972-DD1C-016F-EF3F-2605DF43CB4E}"/>
                </a:ext>
              </a:extLst>
            </p:cNvPr>
            <p:cNvSpPr/>
            <p:nvPr/>
          </p:nvSpPr>
          <p:spPr bwMode="auto">
            <a:xfrm>
              <a:off x="1371600" y="3509672"/>
              <a:ext cx="1447800" cy="197750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&lt;stack&gt;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58" name="직사각형 57">
              <a:extLst>
                <a:ext uri="{FF2B5EF4-FFF2-40B4-BE49-F238E27FC236}">
                  <a16:creationId xmlns:a16="http://schemas.microsoft.com/office/drawing/2014/main" id="{520228DC-06E0-D10A-5022-50BFA474346C}"/>
                </a:ext>
              </a:extLst>
            </p:cNvPr>
            <p:cNvSpPr/>
            <p:nvPr/>
          </p:nvSpPr>
          <p:spPr bwMode="auto">
            <a:xfrm>
              <a:off x="1409700" y="4513018"/>
              <a:ext cx="1371600" cy="7955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200"/>
                <a:t>&lt;sched_context&gt;</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1200" b="1">
                  <a:solidFill>
                    <a:srgbClr val="FF0000"/>
                  </a:solidFill>
                </a:rPr>
                <a:t>pass       = 30</a:t>
              </a:r>
            </a:p>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tickets    = 3</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59" name="직사각형 58">
              <a:extLst>
                <a:ext uri="{FF2B5EF4-FFF2-40B4-BE49-F238E27FC236}">
                  <a16:creationId xmlns:a16="http://schemas.microsoft.com/office/drawing/2014/main" id="{38D39CAA-7C5B-79E9-62C9-2B5783088C7D}"/>
                </a:ext>
              </a:extLst>
            </p:cNvPr>
            <p:cNvSpPr/>
            <p:nvPr/>
          </p:nvSpPr>
          <p:spPr bwMode="auto">
            <a:xfrm>
              <a:off x="1452880" y="5073757"/>
              <a:ext cx="64262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60" name="직사각형 59">
              <a:extLst>
                <a:ext uri="{FF2B5EF4-FFF2-40B4-BE49-F238E27FC236}">
                  <a16:creationId xmlns:a16="http://schemas.microsoft.com/office/drawing/2014/main" id="{F1883027-7C3A-243C-41A4-8B805614F2F2}"/>
                </a:ext>
              </a:extLst>
            </p:cNvPr>
            <p:cNvSpPr/>
            <p:nvPr/>
          </p:nvSpPr>
          <p:spPr bwMode="auto">
            <a:xfrm>
              <a:off x="2095500" y="5073757"/>
              <a:ext cx="64770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grpSp>
        <p:nvGrpSpPr>
          <p:cNvPr id="42" name="그룹 41">
            <a:extLst>
              <a:ext uri="{FF2B5EF4-FFF2-40B4-BE49-F238E27FC236}">
                <a16:creationId xmlns:a16="http://schemas.microsoft.com/office/drawing/2014/main" id="{9D5BDC97-74FE-8F24-D54B-7DAD635E8491}"/>
              </a:ext>
            </a:extLst>
          </p:cNvPr>
          <p:cNvGrpSpPr/>
          <p:nvPr/>
        </p:nvGrpSpPr>
        <p:grpSpPr>
          <a:xfrm>
            <a:off x="3505200" y="3091815"/>
            <a:ext cx="1806656" cy="2362202"/>
            <a:chOff x="1371600" y="3509672"/>
            <a:chExt cx="1447800" cy="1977502"/>
          </a:xfrm>
        </p:grpSpPr>
        <p:sp>
          <p:nvSpPr>
            <p:cNvPr id="43" name="직사각형 42">
              <a:extLst>
                <a:ext uri="{FF2B5EF4-FFF2-40B4-BE49-F238E27FC236}">
                  <a16:creationId xmlns:a16="http://schemas.microsoft.com/office/drawing/2014/main" id="{E0AB7E77-F577-A0E8-D387-5FEC3BD84587}"/>
                </a:ext>
              </a:extLst>
            </p:cNvPr>
            <p:cNvSpPr/>
            <p:nvPr/>
          </p:nvSpPr>
          <p:spPr bwMode="auto">
            <a:xfrm>
              <a:off x="1371600" y="4114800"/>
              <a:ext cx="1447800" cy="1372373"/>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&lt;tcb&gt;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44" name="직사각형 43">
              <a:extLst>
                <a:ext uri="{FF2B5EF4-FFF2-40B4-BE49-F238E27FC236}">
                  <a16:creationId xmlns:a16="http://schemas.microsoft.com/office/drawing/2014/main" id="{FCD26D3E-19AB-4010-DCF1-A8F8F4777177}"/>
                </a:ext>
              </a:extLst>
            </p:cNvPr>
            <p:cNvSpPr/>
            <p:nvPr/>
          </p:nvSpPr>
          <p:spPr bwMode="auto">
            <a:xfrm>
              <a:off x="1371600" y="3509672"/>
              <a:ext cx="1447800" cy="197750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&lt;stack&gt;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45" name="직사각형 44">
              <a:extLst>
                <a:ext uri="{FF2B5EF4-FFF2-40B4-BE49-F238E27FC236}">
                  <a16:creationId xmlns:a16="http://schemas.microsoft.com/office/drawing/2014/main" id="{1D4C31EB-0968-38E8-EC98-2D9A4A884173}"/>
                </a:ext>
              </a:extLst>
            </p:cNvPr>
            <p:cNvSpPr/>
            <p:nvPr/>
          </p:nvSpPr>
          <p:spPr bwMode="auto">
            <a:xfrm>
              <a:off x="1409700" y="4513018"/>
              <a:ext cx="1371600" cy="7955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200"/>
                <a:t>&lt;sched_context&gt;</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1200" b="1">
                  <a:solidFill>
                    <a:srgbClr val="FF0000"/>
                  </a:solidFill>
                </a:rPr>
                <a:t>pass       = 20</a:t>
              </a:r>
            </a:p>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tickets    = 3</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46" name="직사각형 45">
              <a:extLst>
                <a:ext uri="{FF2B5EF4-FFF2-40B4-BE49-F238E27FC236}">
                  <a16:creationId xmlns:a16="http://schemas.microsoft.com/office/drawing/2014/main" id="{741BA5AC-8CAA-63C2-B0CA-78C6929FCADE}"/>
                </a:ext>
              </a:extLst>
            </p:cNvPr>
            <p:cNvSpPr/>
            <p:nvPr/>
          </p:nvSpPr>
          <p:spPr bwMode="auto">
            <a:xfrm>
              <a:off x="1452880" y="5073757"/>
              <a:ext cx="64262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47" name="직사각형 46">
              <a:extLst>
                <a:ext uri="{FF2B5EF4-FFF2-40B4-BE49-F238E27FC236}">
                  <a16:creationId xmlns:a16="http://schemas.microsoft.com/office/drawing/2014/main" id="{66275087-6FE1-C26D-4463-4FC2CD064433}"/>
                </a:ext>
              </a:extLst>
            </p:cNvPr>
            <p:cNvSpPr/>
            <p:nvPr/>
          </p:nvSpPr>
          <p:spPr bwMode="auto">
            <a:xfrm>
              <a:off x="2095500" y="5073757"/>
              <a:ext cx="64770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sp>
        <p:nvSpPr>
          <p:cNvPr id="2" name="제목 1">
            <a:extLst>
              <a:ext uri="{FF2B5EF4-FFF2-40B4-BE49-F238E27FC236}">
                <a16:creationId xmlns:a16="http://schemas.microsoft.com/office/drawing/2014/main" id="{33D2F086-8766-697D-4A35-476A8A4C330A}"/>
              </a:ext>
            </a:extLst>
          </p:cNvPr>
          <p:cNvSpPr>
            <a:spLocks noGrp="1"/>
          </p:cNvSpPr>
          <p:nvPr>
            <p:ph type="title"/>
          </p:nvPr>
        </p:nvSpPr>
        <p:spPr/>
        <p:txBody>
          <a:bodyPr/>
          <a:lstStyle/>
          <a:p>
            <a:r>
              <a:rPr lang="en-US" altLang="ko-KR" sz="3600"/>
              <a:t>Stride Scheduler Implementation </a:t>
            </a:r>
            <a:r>
              <a:rPr lang="en-US" altLang="ko-KR" sz="2800"/>
              <a:t>(1/2)</a:t>
            </a:r>
            <a:endParaRPr lang="ko-KR" altLang="en-US" sz="2800"/>
          </a:p>
        </p:txBody>
      </p:sp>
      <p:grpSp>
        <p:nvGrpSpPr>
          <p:cNvPr id="22" name="그룹 21">
            <a:extLst>
              <a:ext uri="{FF2B5EF4-FFF2-40B4-BE49-F238E27FC236}">
                <a16:creationId xmlns:a16="http://schemas.microsoft.com/office/drawing/2014/main" id="{2C8200A8-4E7E-A233-55F5-E8C3DDA75B4C}"/>
              </a:ext>
            </a:extLst>
          </p:cNvPr>
          <p:cNvGrpSpPr/>
          <p:nvPr/>
        </p:nvGrpSpPr>
        <p:grpSpPr>
          <a:xfrm>
            <a:off x="762000" y="3091815"/>
            <a:ext cx="1806656" cy="2362202"/>
            <a:chOff x="1371600" y="3509672"/>
            <a:chExt cx="1447800" cy="1977502"/>
          </a:xfrm>
        </p:grpSpPr>
        <p:sp>
          <p:nvSpPr>
            <p:cNvPr id="7" name="직사각형 6">
              <a:extLst>
                <a:ext uri="{FF2B5EF4-FFF2-40B4-BE49-F238E27FC236}">
                  <a16:creationId xmlns:a16="http://schemas.microsoft.com/office/drawing/2014/main" id="{82B3414F-53F8-EF28-03DE-3EEA7E412702}"/>
                </a:ext>
              </a:extLst>
            </p:cNvPr>
            <p:cNvSpPr/>
            <p:nvPr/>
          </p:nvSpPr>
          <p:spPr bwMode="auto">
            <a:xfrm>
              <a:off x="1371600" y="4114800"/>
              <a:ext cx="1447800" cy="1372373"/>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&lt;tcb&gt;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3" name="직사각형 2">
              <a:extLst>
                <a:ext uri="{FF2B5EF4-FFF2-40B4-BE49-F238E27FC236}">
                  <a16:creationId xmlns:a16="http://schemas.microsoft.com/office/drawing/2014/main" id="{BA2CCF9B-CD50-67EA-E8BB-B27DF141F804}"/>
                </a:ext>
              </a:extLst>
            </p:cNvPr>
            <p:cNvSpPr/>
            <p:nvPr/>
          </p:nvSpPr>
          <p:spPr bwMode="auto">
            <a:xfrm>
              <a:off x="1371600" y="3509672"/>
              <a:ext cx="1447800" cy="197750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&lt;stack&gt;</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5" name="직사각형 4">
              <a:extLst>
                <a:ext uri="{FF2B5EF4-FFF2-40B4-BE49-F238E27FC236}">
                  <a16:creationId xmlns:a16="http://schemas.microsoft.com/office/drawing/2014/main" id="{1B62CC18-0338-043B-442C-0313AF4B10E7}"/>
                </a:ext>
              </a:extLst>
            </p:cNvPr>
            <p:cNvSpPr/>
            <p:nvPr/>
          </p:nvSpPr>
          <p:spPr bwMode="auto">
            <a:xfrm>
              <a:off x="1409700" y="4513018"/>
              <a:ext cx="1371600" cy="7955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200"/>
                <a:t>&lt;sched_context&gt;</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1200" b="1">
                  <a:solidFill>
                    <a:srgbClr val="FF0000"/>
                  </a:solidFill>
                </a:rPr>
                <a:t>pass       = 10</a:t>
              </a:r>
            </a:p>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Verdana" pitchFamily="34" charset="0"/>
                  <a:cs typeface="Arial" charset="0"/>
                </a:rPr>
                <a:t>tickets    = 3</a:t>
              </a:r>
              <a:endParaRPr kumimoji="0" lang="ko-KR" altLang="en-US" sz="1200" b="0" i="0" u="none" strike="noStrike" cap="none" normalizeH="0" baseline="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778B51AB-85FB-3EBE-1028-6E28839EEA07}"/>
                </a:ext>
              </a:extLst>
            </p:cNvPr>
            <p:cNvSpPr/>
            <p:nvPr/>
          </p:nvSpPr>
          <p:spPr bwMode="auto">
            <a:xfrm>
              <a:off x="1452880" y="5073757"/>
              <a:ext cx="64262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직사각형 8">
              <a:extLst>
                <a:ext uri="{FF2B5EF4-FFF2-40B4-BE49-F238E27FC236}">
                  <a16:creationId xmlns:a16="http://schemas.microsoft.com/office/drawing/2014/main" id="{E16C7EC6-F8BF-6C1D-2FBC-556370F21DF5}"/>
                </a:ext>
              </a:extLst>
            </p:cNvPr>
            <p:cNvSpPr/>
            <p:nvPr/>
          </p:nvSpPr>
          <p:spPr bwMode="auto">
            <a:xfrm>
              <a:off x="2095500" y="5073757"/>
              <a:ext cx="647700" cy="18843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cxnSp>
        <p:nvCxnSpPr>
          <p:cNvPr id="17" name="직선 연결선 16">
            <a:extLst>
              <a:ext uri="{FF2B5EF4-FFF2-40B4-BE49-F238E27FC236}">
                <a16:creationId xmlns:a16="http://schemas.microsoft.com/office/drawing/2014/main" id="{5110E6A1-2ED8-AC59-A741-F1314C1EAFDC}"/>
              </a:ext>
            </a:extLst>
          </p:cNvPr>
          <p:cNvCxnSpPr>
            <a:cxnSpLocks/>
          </p:cNvCxnSpPr>
          <p:nvPr/>
        </p:nvCxnSpPr>
        <p:spPr bwMode="auto">
          <a:xfrm>
            <a:off x="2473569" y="5053965"/>
            <a:ext cx="1565031"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cxnSp>
        <p:nvCxnSpPr>
          <p:cNvPr id="19" name="직선 연결선 18">
            <a:extLst>
              <a:ext uri="{FF2B5EF4-FFF2-40B4-BE49-F238E27FC236}">
                <a16:creationId xmlns:a16="http://schemas.microsoft.com/office/drawing/2014/main" id="{452A9598-080B-C79E-12E6-064D03BB4B45}"/>
              </a:ext>
            </a:extLst>
          </p:cNvPr>
          <p:cNvCxnSpPr>
            <a:cxnSpLocks/>
          </p:cNvCxnSpPr>
          <p:nvPr/>
        </p:nvCxnSpPr>
        <p:spPr bwMode="auto">
          <a:xfrm flipH="1">
            <a:off x="2011680" y="5114925"/>
            <a:ext cx="15782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sp>
        <p:nvSpPr>
          <p:cNvPr id="40" name="TextBox 39">
            <a:extLst>
              <a:ext uri="{FF2B5EF4-FFF2-40B4-BE49-F238E27FC236}">
                <a16:creationId xmlns:a16="http://schemas.microsoft.com/office/drawing/2014/main" id="{12C17A00-AEEA-3D8E-E208-E7D99D104E63}"/>
              </a:ext>
            </a:extLst>
          </p:cNvPr>
          <p:cNvSpPr txBox="1"/>
          <p:nvPr/>
        </p:nvSpPr>
        <p:spPr>
          <a:xfrm>
            <a:off x="5741624" y="5481812"/>
            <a:ext cx="4724400" cy="307777"/>
          </a:xfrm>
          <a:prstGeom prst="rect">
            <a:avLst/>
          </a:prstGeom>
          <a:noFill/>
        </p:spPr>
        <p:txBody>
          <a:bodyPr wrap="square" rtlCol="0">
            <a:spAutoFit/>
          </a:bodyPr>
          <a:lstStyle/>
          <a:p>
            <a:r>
              <a:rPr lang="en-US" altLang="ko-KR" sz="1400"/>
              <a:t>Ascending Order of </a:t>
            </a:r>
            <a:r>
              <a:rPr lang="en-US" altLang="ko-KR" sz="1400" b="1">
                <a:solidFill>
                  <a:srgbClr val="FF0000"/>
                </a:solidFill>
              </a:rPr>
              <a:t>‘pass’</a:t>
            </a:r>
            <a:r>
              <a:rPr lang="en-US" altLang="ko-KR" sz="1400"/>
              <a:t> Field</a:t>
            </a:r>
            <a:endParaRPr lang="ko-KR" altLang="en-US" sz="1400"/>
          </a:p>
        </p:txBody>
      </p:sp>
      <p:cxnSp>
        <p:nvCxnSpPr>
          <p:cNvPr id="53" name="직선 연결선 52">
            <a:extLst>
              <a:ext uri="{FF2B5EF4-FFF2-40B4-BE49-F238E27FC236}">
                <a16:creationId xmlns:a16="http://schemas.microsoft.com/office/drawing/2014/main" id="{7060DBAD-B2D2-2B0B-96F5-1319F8487D3D}"/>
              </a:ext>
            </a:extLst>
          </p:cNvPr>
          <p:cNvCxnSpPr>
            <a:cxnSpLocks/>
          </p:cNvCxnSpPr>
          <p:nvPr/>
        </p:nvCxnSpPr>
        <p:spPr bwMode="auto">
          <a:xfrm>
            <a:off x="5215530" y="5053965"/>
            <a:ext cx="16348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cxnSp>
        <p:nvCxnSpPr>
          <p:cNvPr id="54" name="직선 연결선 53">
            <a:extLst>
              <a:ext uri="{FF2B5EF4-FFF2-40B4-BE49-F238E27FC236}">
                <a16:creationId xmlns:a16="http://schemas.microsoft.com/office/drawing/2014/main" id="{BB11FD6C-25D4-B201-3A3B-FB7A7DB3D902}"/>
              </a:ext>
            </a:extLst>
          </p:cNvPr>
          <p:cNvCxnSpPr>
            <a:cxnSpLocks/>
          </p:cNvCxnSpPr>
          <p:nvPr/>
        </p:nvCxnSpPr>
        <p:spPr bwMode="auto">
          <a:xfrm flipH="1">
            <a:off x="4823460" y="5114925"/>
            <a:ext cx="15782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sp>
        <p:nvSpPr>
          <p:cNvPr id="62" name="TextBox 61">
            <a:extLst>
              <a:ext uri="{FF2B5EF4-FFF2-40B4-BE49-F238E27FC236}">
                <a16:creationId xmlns:a16="http://schemas.microsoft.com/office/drawing/2014/main" id="{7068D6F2-D921-41E1-08ED-C2A3393DAF2E}"/>
              </a:ext>
            </a:extLst>
          </p:cNvPr>
          <p:cNvSpPr txBox="1"/>
          <p:nvPr/>
        </p:nvSpPr>
        <p:spPr>
          <a:xfrm>
            <a:off x="574675" y="6176865"/>
            <a:ext cx="4293163" cy="523220"/>
          </a:xfrm>
          <a:prstGeom prst="rect">
            <a:avLst/>
          </a:prstGeom>
          <a:noFill/>
        </p:spPr>
        <p:txBody>
          <a:bodyPr wrap="none" rtlCol="0">
            <a:spAutoFit/>
          </a:bodyPr>
          <a:lstStyle/>
          <a:p>
            <a:r>
              <a:rPr lang="en-US" altLang="ko-KR" sz="1400" b="1" u="sng">
                <a:solidFill>
                  <a:srgbClr val="0000FF"/>
                </a:solidFill>
              </a:rPr>
              <a:t>Easily get next thread to run</a:t>
            </a:r>
          </a:p>
          <a:p>
            <a:r>
              <a:rPr lang="en-US" altLang="ko-KR" sz="1400"/>
              <a:t>(we need a thread with minimum ‘pass’ field)</a:t>
            </a:r>
            <a:endParaRPr lang="ko-KR" altLang="en-US" sz="1400"/>
          </a:p>
        </p:txBody>
      </p:sp>
      <p:sp>
        <p:nvSpPr>
          <p:cNvPr id="63" name="화살표: 줄무늬가 있는 오른쪽 62">
            <a:extLst>
              <a:ext uri="{FF2B5EF4-FFF2-40B4-BE49-F238E27FC236}">
                <a16:creationId xmlns:a16="http://schemas.microsoft.com/office/drawing/2014/main" id="{ED3B309A-FEB3-73C2-842A-8CEE418C54F4}"/>
              </a:ext>
            </a:extLst>
          </p:cNvPr>
          <p:cNvSpPr/>
          <p:nvPr/>
        </p:nvSpPr>
        <p:spPr bwMode="auto">
          <a:xfrm rot="5400000">
            <a:off x="1341932" y="5026843"/>
            <a:ext cx="539881" cy="1598438"/>
          </a:xfrm>
          <a:prstGeom prst="stripedRightArrow">
            <a:avLst>
              <a:gd name="adj1" fmla="val 55837"/>
              <a:gd name="adj2" fmla="val 50000"/>
            </a:avLst>
          </a:prstGeom>
          <a:solidFill>
            <a:schemeClr val="accent1">
              <a:lumMod val="40000"/>
              <a:lumOff val="60000"/>
            </a:schemeClr>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67" name="직선 연결선 66">
            <a:extLst>
              <a:ext uri="{FF2B5EF4-FFF2-40B4-BE49-F238E27FC236}">
                <a16:creationId xmlns:a16="http://schemas.microsoft.com/office/drawing/2014/main" id="{188197C3-81FC-1B7D-3998-20ACBE15580D}"/>
              </a:ext>
            </a:extLst>
          </p:cNvPr>
          <p:cNvCxnSpPr>
            <a:cxnSpLocks/>
          </p:cNvCxnSpPr>
          <p:nvPr/>
        </p:nvCxnSpPr>
        <p:spPr bwMode="auto">
          <a:xfrm>
            <a:off x="8008737" y="5053965"/>
            <a:ext cx="16348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cxnSp>
        <p:nvCxnSpPr>
          <p:cNvPr id="68" name="직선 연결선 67">
            <a:extLst>
              <a:ext uri="{FF2B5EF4-FFF2-40B4-BE49-F238E27FC236}">
                <a16:creationId xmlns:a16="http://schemas.microsoft.com/office/drawing/2014/main" id="{2ACDE754-45E8-A47B-CCEC-88FC8B7F0315}"/>
              </a:ext>
            </a:extLst>
          </p:cNvPr>
          <p:cNvCxnSpPr>
            <a:cxnSpLocks/>
          </p:cNvCxnSpPr>
          <p:nvPr/>
        </p:nvCxnSpPr>
        <p:spPr bwMode="auto">
          <a:xfrm flipH="1">
            <a:off x="7616667" y="5114925"/>
            <a:ext cx="1832133"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cxnSp>
        <p:nvCxnSpPr>
          <p:cNvPr id="69" name="직선 연결선 68">
            <a:extLst>
              <a:ext uri="{FF2B5EF4-FFF2-40B4-BE49-F238E27FC236}">
                <a16:creationId xmlns:a16="http://schemas.microsoft.com/office/drawing/2014/main" id="{ADDA9781-1DB2-1535-1431-4539EF0E5180}"/>
              </a:ext>
            </a:extLst>
          </p:cNvPr>
          <p:cNvCxnSpPr>
            <a:cxnSpLocks/>
          </p:cNvCxnSpPr>
          <p:nvPr/>
        </p:nvCxnSpPr>
        <p:spPr bwMode="auto">
          <a:xfrm>
            <a:off x="-322754" y="5053965"/>
            <a:ext cx="16348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cxnSp>
        <p:nvCxnSpPr>
          <p:cNvPr id="70" name="직선 연결선 69">
            <a:extLst>
              <a:ext uri="{FF2B5EF4-FFF2-40B4-BE49-F238E27FC236}">
                <a16:creationId xmlns:a16="http://schemas.microsoft.com/office/drawing/2014/main" id="{7B3EC624-CC08-4074-F7A6-52EAE9CA9BA0}"/>
              </a:ext>
            </a:extLst>
          </p:cNvPr>
          <p:cNvCxnSpPr>
            <a:cxnSpLocks/>
          </p:cNvCxnSpPr>
          <p:nvPr/>
        </p:nvCxnSpPr>
        <p:spPr bwMode="auto">
          <a:xfrm flipH="1">
            <a:off x="-714824" y="5114925"/>
            <a:ext cx="1578250" cy="0"/>
          </a:xfrm>
          <a:prstGeom prst="line">
            <a:avLst/>
          </a:prstGeom>
          <a:solidFill>
            <a:schemeClr val="accent1"/>
          </a:solidFill>
          <a:ln w="9525" cap="flat" cmpd="sng" algn="ctr">
            <a:solidFill>
              <a:schemeClr val="tx1"/>
            </a:solidFill>
            <a:prstDash val="solid"/>
            <a:round/>
            <a:headEnd type="stealth" w="med" len="med"/>
            <a:tailEnd type="oval" w="med" len="med"/>
          </a:ln>
          <a:effectLst/>
        </p:spPr>
      </p:cxnSp>
      <p:sp>
        <p:nvSpPr>
          <p:cNvPr id="73" name="TextBox 72">
            <a:extLst>
              <a:ext uri="{FF2B5EF4-FFF2-40B4-BE49-F238E27FC236}">
                <a16:creationId xmlns:a16="http://schemas.microsoft.com/office/drawing/2014/main" id="{048F9A7F-D9F6-1DCD-578B-08C63EB68BC8}"/>
              </a:ext>
            </a:extLst>
          </p:cNvPr>
          <p:cNvSpPr txBox="1"/>
          <p:nvPr/>
        </p:nvSpPr>
        <p:spPr>
          <a:xfrm>
            <a:off x="-33125" y="5074524"/>
            <a:ext cx="688009" cy="338554"/>
          </a:xfrm>
          <a:prstGeom prst="rect">
            <a:avLst/>
          </a:prstGeom>
          <a:noFill/>
        </p:spPr>
        <p:txBody>
          <a:bodyPr wrap="none" rtlCol="0">
            <a:spAutoFit/>
          </a:bodyPr>
          <a:lstStyle/>
          <a:p>
            <a:r>
              <a:rPr lang="en-US" altLang="ko-KR" sz="1600"/>
              <a:t>head</a:t>
            </a:r>
            <a:endParaRPr lang="ko-KR" altLang="en-US" sz="1600"/>
          </a:p>
        </p:txBody>
      </p:sp>
      <p:sp>
        <p:nvSpPr>
          <p:cNvPr id="74" name="TextBox 73">
            <a:extLst>
              <a:ext uri="{FF2B5EF4-FFF2-40B4-BE49-F238E27FC236}">
                <a16:creationId xmlns:a16="http://schemas.microsoft.com/office/drawing/2014/main" id="{3934CCAE-97D5-7D86-4BF8-1A4DE0CF4B17}"/>
              </a:ext>
            </a:extLst>
          </p:cNvPr>
          <p:cNvSpPr txBox="1"/>
          <p:nvPr/>
        </p:nvSpPr>
        <p:spPr>
          <a:xfrm>
            <a:off x="8472452" y="5074524"/>
            <a:ext cx="500458" cy="338554"/>
          </a:xfrm>
          <a:prstGeom prst="rect">
            <a:avLst/>
          </a:prstGeom>
          <a:noFill/>
        </p:spPr>
        <p:txBody>
          <a:bodyPr wrap="none" rtlCol="0">
            <a:spAutoFit/>
          </a:bodyPr>
          <a:lstStyle/>
          <a:p>
            <a:r>
              <a:rPr lang="en-US" altLang="ko-KR" sz="1600"/>
              <a:t>tail</a:t>
            </a:r>
            <a:endParaRPr lang="ko-KR" altLang="en-US" sz="1600"/>
          </a:p>
        </p:txBody>
      </p:sp>
    </p:spTree>
    <p:extLst>
      <p:ext uri="{BB962C8B-B14F-4D97-AF65-F5344CB8AC3E}">
        <p14:creationId xmlns:p14="http://schemas.microsoft.com/office/powerpoint/2010/main" val="1594863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A9C4-23FF-4F45-DC2E-F57BDC22471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28E8C7E-D3E3-F3BC-B20C-6DB33B088562}"/>
              </a:ext>
            </a:extLst>
          </p:cNvPr>
          <p:cNvSpPr>
            <a:spLocks noGrp="1"/>
          </p:cNvSpPr>
          <p:nvPr>
            <p:ph type="title"/>
          </p:nvPr>
        </p:nvSpPr>
        <p:spPr/>
        <p:txBody>
          <a:bodyPr/>
          <a:lstStyle/>
          <a:p>
            <a:r>
              <a:rPr lang="en-US" altLang="ko-KR" sz="3600"/>
              <a:t>Stride Scheduler Implementation</a:t>
            </a:r>
            <a:r>
              <a:rPr lang="en-US" altLang="ko-KR" sz="2800"/>
              <a:t> (2/2)</a:t>
            </a:r>
            <a:endParaRPr lang="ko-KR" altLang="en-US" sz="2800"/>
          </a:p>
        </p:txBody>
      </p:sp>
      <p:sp>
        <p:nvSpPr>
          <p:cNvPr id="6" name="Rectangle 3">
            <a:extLst>
              <a:ext uri="{FF2B5EF4-FFF2-40B4-BE49-F238E27FC236}">
                <a16:creationId xmlns:a16="http://schemas.microsoft.com/office/drawing/2014/main" id="{F761CE64-635F-F727-1834-BCF9F7208F08}"/>
              </a:ext>
            </a:extLst>
          </p:cNvPr>
          <p:cNvSpPr txBox="1">
            <a:spLocks noChangeArrowheads="1"/>
          </p:cNvSpPr>
          <p:nvPr/>
        </p:nvSpPr>
        <p:spPr bwMode="auto">
          <a:xfrm>
            <a:off x="574676"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000"/>
              <a:t>If a thread registers with the scheduler later,</a:t>
            </a:r>
            <a:endParaRPr lang="en-US" altLang="ko-KR" sz="2000" kern="0"/>
          </a:p>
          <a:p>
            <a:pPr lvl="1" latinLnBrk="1"/>
            <a:r>
              <a:rPr lang="en-US" altLang="ko-KR" sz="1400" kern="0"/>
              <a:t>Set the ‘pass’ field of newly applied thread as </a:t>
            </a:r>
            <a:r>
              <a:rPr lang="en-US" altLang="ko-KR" sz="1400" b="1" kern="0"/>
              <a:t>the </a:t>
            </a:r>
            <a:r>
              <a:rPr lang="en-US" altLang="ko-KR" sz="1400" b="1" u="sng" kern="0"/>
              <a:t>minimum of ‘pass’ fields of threads in the stride scheduler’s sorted linked list.</a:t>
            </a:r>
            <a:r>
              <a:rPr lang="en-US" altLang="ko-KR" sz="1400" b="1" kern="0"/>
              <a:t> </a:t>
            </a:r>
          </a:p>
          <a:p>
            <a:pPr lvl="1" latinLnBrk="1"/>
            <a:r>
              <a:rPr lang="en-US" altLang="ko-KR" sz="1400" b="1" kern="0">
                <a:solidFill>
                  <a:srgbClr val="0000FF"/>
                </a:solidFill>
              </a:rPr>
              <a:t>Avoid monopolization!</a:t>
            </a:r>
          </a:p>
          <a:p>
            <a:pPr lvl="1" latinLnBrk="1"/>
            <a:endParaRPr lang="en-US" altLang="ko-KR" sz="14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cxnSp>
        <p:nvCxnSpPr>
          <p:cNvPr id="9" name="직선 연결선 8">
            <a:extLst>
              <a:ext uri="{FF2B5EF4-FFF2-40B4-BE49-F238E27FC236}">
                <a16:creationId xmlns:a16="http://schemas.microsoft.com/office/drawing/2014/main" id="{D7747254-193A-1C84-C890-850E286AB9E2}"/>
              </a:ext>
            </a:extLst>
          </p:cNvPr>
          <p:cNvCxnSpPr>
            <a:cxnSpLocks/>
          </p:cNvCxnSpPr>
          <p:nvPr/>
        </p:nvCxnSpPr>
        <p:spPr bwMode="auto">
          <a:xfrm>
            <a:off x="894918" y="5791200"/>
            <a:ext cx="2743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직선 화살표 연결선 10">
            <a:extLst>
              <a:ext uri="{FF2B5EF4-FFF2-40B4-BE49-F238E27FC236}">
                <a16:creationId xmlns:a16="http://schemas.microsoft.com/office/drawing/2014/main" id="{B7BEA31D-6A10-CF54-ACBC-3D977DBF50F7}"/>
              </a:ext>
            </a:extLst>
          </p:cNvPr>
          <p:cNvCxnSpPr>
            <a:cxnSpLocks/>
          </p:cNvCxnSpPr>
          <p:nvPr/>
        </p:nvCxnSpPr>
        <p:spPr bwMode="auto">
          <a:xfrm flipV="1">
            <a:off x="894918" y="3429000"/>
            <a:ext cx="0" cy="2362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직사각형 14">
            <a:extLst>
              <a:ext uri="{FF2B5EF4-FFF2-40B4-BE49-F238E27FC236}">
                <a16:creationId xmlns:a16="http://schemas.microsoft.com/office/drawing/2014/main" id="{3F0EAE91-4FD7-8EF3-E907-0955113C4790}"/>
              </a:ext>
            </a:extLst>
          </p:cNvPr>
          <p:cNvSpPr/>
          <p:nvPr/>
        </p:nvSpPr>
        <p:spPr bwMode="auto">
          <a:xfrm>
            <a:off x="1771220" y="4343400"/>
            <a:ext cx="380996" cy="144778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6" name="직사각형 15">
            <a:extLst>
              <a:ext uri="{FF2B5EF4-FFF2-40B4-BE49-F238E27FC236}">
                <a16:creationId xmlns:a16="http://schemas.microsoft.com/office/drawing/2014/main" id="{3FF1CFE8-FA7D-83BB-F799-7A57EF2A2263}"/>
              </a:ext>
            </a:extLst>
          </p:cNvPr>
          <p:cNvSpPr/>
          <p:nvPr/>
        </p:nvSpPr>
        <p:spPr bwMode="auto">
          <a:xfrm>
            <a:off x="1142571" y="4114800"/>
            <a:ext cx="380996" cy="167638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7" name="직사각형 16">
            <a:extLst>
              <a:ext uri="{FF2B5EF4-FFF2-40B4-BE49-F238E27FC236}">
                <a16:creationId xmlns:a16="http://schemas.microsoft.com/office/drawing/2014/main" id="{83D62FF8-18D0-7FD6-27B1-FAAE39BA2CC1}"/>
              </a:ext>
            </a:extLst>
          </p:cNvPr>
          <p:cNvSpPr/>
          <p:nvPr/>
        </p:nvSpPr>
        <p:spPr bwMode="auto">
          <a:xfrm>
            <a:off x="2399869" y="3886200"/>
            <a:ext cx="380996" cy="190498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1" name="TextBox 20">
            <a:extLst>
              <a:ext uri="{FF2B5EF4-FFF2-40B4-BE49-F238E27FC236}">
                <a16:creationId xmlns:a16="http://schemas.microsoft.com/office/drawing/2014/main" id="{2F4D678A-DBF2-FDE8-30BB-A1BDAEBD60A7}"/>
              </a:ext>
            </a:extLst>
          </p:cNvPr>
          <p:cNvSpPr txBox="1"/>
          <p:nvPr/>
        </p:nvSpPr>
        <p:spPr>
          <a:xfrm rot="5400000">
            <a:off x="453536" y="3618012"/>
            <a:ext cx="590226" cy="307777"/>
          </a:xfrm>
          <a:prstGeom prst="rect">
            <a:avLst/>
          </a:prstGeom>
          <a:noFill/>
        </p:spPr>
        <p:txBody>
          <a:bodyPr wrap="none" rtlCol="0">
            <a:spAutoFit/>
          </a:bodyPr>
          <a:lstStyle/>
          <a:p>
            <a:r>
              <a:rPr lang="en-US" altLang="ko-KR" sz="1400"/>
              <a:t>pass</a:t>
            </a:r>
            <a:endParaRPr lang="ko-KR" altLang="en-US" sz="1400"/>
          </a:p>
        </p:txBody>
      </p:sp>
      <p:sp>
        <p:nvSpPr>
          <p:cNvPr id="22" name="TextBox 21">
            <a:extLst>
              <a:ext uri="{FF2B5EF4-FFF2-40B4-BE49-F238E27FC236}">
                <a16:creationId xmlns:a16="http://schemas.microsoft.com/office/drawing/2014/main" id="{C6F93F40-5F9E-3AAE-C199-90A768E69791}"/>
              </a:ext>
            </a:extLst>
          </p:cNvPr>
          <p:cNvSpPr txBox="1"/>
          <p:nvPr/>
        </p:nvSpPr>
        <p:spPr>
          <a:xfrm>
            <a:off x="2647407" y="5791185"/>
            <a:ext cx="1204176" cy="307777"/>
          </a:xfrm>
          <a:prstGeom prst="rect">
            <a:avLst/>
          </a:prstGeom>
          <a:noFill/>
        </p:spPr>
        <p:txBody>
          <a:bodyPr wrap="none" rtlCol="0">
            <a:spAutoFit/>
          </a:bodyPr>
          <a:lstStyle/>
          <a:p>
            <a:r>
              <a:rPr lang="en-US" altLang="ko-KR" sz="1400"/>
              <a:t>new thread</a:t>
            </a:r>
            <a:endParaRPr lang="ko-KR" altLang="en-US" sz="1400"/>
          </a:p>
        </p:txBody>
      </p:sp>
      <p:cxnSp>
        <p:nvCxnSpPr>
          <p:cNvPr id="24" name="직선 화살표 연결선 23">
            <a:extLst>
              <a:ext uri="{FF2B5EF4-FFF2-40B4-BE49-F238E27FC236}">
                <a16:creationId xmlns:a16="http://schemas.microsoft.com/office/drawing/2014/main" id="{7067E73A-84DD-B7FD-65F5-7F7B02E3C880}"/>
              </a:ext>
            </a:extLst>
          </p:cNvPr>
          <p:cNvCxnSpPr>
            <a:cxnSpLocks/>
          </p:cNvCxnSpPr>
          <p:nvPr/>
        </p:nvCxnSpPr>
        <p:spPr bwMode="auto">
          <a:xfrm>
            <a:off x="3257118" y="4419600"/>
            <a:ext cx="0" cy="1325880"/>
          </a:xfrm>
          <a:prstGeom prst="straightConnector1">
            <a:avLst/>
          </a:prstGeom>
          <a:ln>
            <a:headEnd type="triangle" w="med" len="med"/>
            <a:tailEnd type="triangle"/>
          </a:ln>
        </p:spPr>
        <p:style>
          <a:lnRef idx="1">
            <a:schemeClr val="dk1"/>
          </a:lnRef>
          <a:fillRef idx="0">
            <a:schemeClr val="dk1"/>
          </a:fillRef>
          <a:effectRef idx="0">
            <a:schemeClr val="dk1"/>
          </a:effectRef>
          <a:fontRef idx="minor">
            <a:schemeClr val="tx1"/>
          </a:fontRef>
        </p:style>
      </p:cxnSp>
      <p:cxnSp>
        <p:nvCxnSpPr>
          <p:cNvPr id="26" name="직선 연결선 25">
            <a:extLst>
              <a:ext uri="{FF2B5EF4-FFF2-40B4-BE49-F238E27FC236}">
                <a16:creationId xmlns:a16="http://schemas.microsoft.com/office/drawing/2014/main" id="{91D78315-2A11-2DF7-5CB0-0D0CCEA782DF}"/>
              </a:ext>
            </a:extLst>
          </p:cNvPr>
          <p:cNvCxnSpPr/>
          <p:nvPr/>
        </p:nvCxnSpPr>
        <p:spPr bwMode="auto">
          <a:xfrm>
            <a:off x="3142818" y="4419600"/>
            <a:ext cx="228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직선 연결선 26">
            <a:extLst>
              <a:ext uri="{FF2B5EF4-FFF2-40B4-BE49-F238E27FC236}">
                <a16:creationId xmlns:a16="http://schemas.microsoft.com/office/drawing/2014/main" id="{E332F1ED-9D6A-7B2C-0448-6034CBB8A4D7}"/>
              </a:ext>
            </a:extLst>
          </p:cNvPr>
          <p:cNvCxnSpPr/>
          <p:nvPr/>
        </p:nvCxnSpPr>
        <p:spPr bwMode="auto">
          <a:xfrm>
            <a:off x="3142818" y="5745480"/>
            <a:ext cx="228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7" name="직선 연결선 126">
            <a:extLst>
              <a:ext uri="{FF2B5EF4-FFF2-40B4-BE49-F238E27FC236}">
                <a16:creationId xmlns:a16="http://schemas.microsoft.com/office/drawing/2014/main" id="{D3241D9D-88D8-141A-E3B8-EEA30FA39CC6}"/>
              </a:ext>
            </a:extLst>
          </p:cNvPr>
          <p:cNvCxnSpPr>
            <a:cxnSpLocks/>
          </p:cNvCxnSpPr>
          <p:nvPr/>
        </p:nvCxnSpPr>
        <p:spPr bwMode="auto">
          <a:xfrm>
            <a:off x="5695373" y="5791201"/>
            <a:ext cx="2743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8" name="직선 화살표 연결선 127">
            <a:extLst>
              <a:ext uri="{FF2B5EF4-FFF2-40B4-BE49-F238E27FC236}">
                <a16:creationId xmlns:a16="http://schemas.microsoft.com/office/drawing/2014/main" id="{DF6B1091-EB6B-A7AE-D1CA-5E9628937A17}"/>
              </a:ext>
            </a:extLst>
          </p:cNvPr>
          <p:cNvCxnSpPr>
            <a:cxnSpLocks/>
          </p:cNvCxnSpPr>
          <p:nvPr/>
        </p:nvCxnSpPr>
        <p:spPr bwMode="auto">
          <a:xfrm flipV="1">
            <a:off x="5695373" y="3429001"/>
            <a:ext cx="0" cy="2362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9" name="직사각형 128">
            <a:extLst>
              <a:ext uri="{FF2B5EF4-FFF2-40B4-BE49-F238E27FC236}">
                <a16:creationId xmlns:a16="http://schemas.microsoft.com/office/drawing/2014/main" id="{D61248FE-616B-476C-2624-26D4B24EC76F}"/>
              </a:ext>
            </a:extLst>
          </p:cNvPr>
          <p:cNvSpPr/>
          <p:nvPr/>
        </p:nvSpPr>
        <p:spPr bwMode="auto">
          <a:xfrm>
            <a:off x="6571675" y="4343401"/>
            <a:ext cx="380996" cy="144778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30" name="직사각형 129">
            <a:extLst>
              <a:ext uri="{FF2B5EF4-FFF2-40B4-BE49-F238E27FC236}">
                <a16:creationId xmlns:a16="http://schemas.microsoft.com/office/drawing/2014/main" id="{25A2982C-970B-A42F-31DF-B8ABCB55B4D7}"/>
              </a:ext>
            </a:extLst>
          </p:cNvPr>
          <p:cNvSpPr/>
          <p:nvPr/>
        </p:nvSpPr>
        <p:spPr bwMode="auto">
          <a:xfrm>
            <a:off x="5943026" y="4114801"/>
            <a:ext cx="380996" cy="167638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31" name="직사각형 130">
            <a:extLst>
              <a:ext uri="{FF2B5EF4-FFF2-40B4-BE49-F238E27FC236}">
                <a16:creationId xmlns:a16="http://schemas.microsoft.com/office/drawing/2014/main" id="{339D80EC-F0EE-0DFC-170A-4189E0D970EF}"/>
              </a:ext>
            </a:extLst>
          </p:cNvPr>
          <p:cNvSpPr/>
          <p:nvPr/>
        </p:nvSpPr>
        <p:spPr bwMode="auto">
          <a:xfrm>
            <a:off x="7200324" y="3886201"/>
            <a:ext cx="380996" cy="190498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32" name="TextBox 131">
            <a:extLst>
              <a:ext uri="{FF2B5EF4-FFF2-40B4-BE49-F238E27FC236}">
                <a16:creationId xmlns:a16="http://schemas.microsoft.com/office/drawing/2014/main" id="{1EC66B0E-DE81-AFC1-2B9A-F47EBFEACBE6}"/>
              </a:ext>
            </a:extLst>
          </p:cNvPr>
          <p:cNvSpPr txBox="1"/>
          <p:nvPr/>
        </p:nvSpPr>
        <p:spPr>
          <a:xfrm rot="5400000">
            <a:off x="5253991" y="3618013"/>
            <a:ext cx="590226" cy="307777"/>
          </a:xfrm>
          <a:prstGeom prst="rect">
            <a:avLst/>
          </a:prstGeom>
          <a:noFill/>
        </p:spPr>
        <p:txBody>
          <a:bodyPr wrap="none" rtlCol="0">
            <a:spAutoFit/>
          </a:bodyPr>
          <a:lstStyle/>
          <a:p>
            <a:r>
              <a:rPr lang="en-US" altLang="ko-KR" sz="1400"/>
              <a:t>pass</a:t>
            </a:r>
            <a:endParaRPr lang="ko-KR" altLang="en-US" sz="1400"/>
          </a:p>
        </p:txBody>
      </p:sp>
      <p:cxnSp>
        <p:nvCxnSpPr>
          <p:cNvPr id="136" name="직선 연결선 135">
            <a:extLst>
              <a:ext uri="{FF2B5EF4-FFF2-40B4-BE49-F238E27FC236}">
                <a16:creationId xmlns:a16="http://schemas.microsoft.com/office/drawing/2014/main" id="{B4AF0802-0C57-088A-5112-4C005149A215}"/>
              </a:ext>
            </a:extLst>
          </p:cNvPr>
          <p:cNvCxnSpPr/>
          <p:nvPr/>
        </p:nvCxnSpPr>
        <p:spPr bwMode="auto">
          <a:xfrm>
            <a:off x="7943273" y="5745481"/>
            <a:ext cx="2286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7" name="직사각형 136">
            <a:extLst>
              <a:ext uri="{FF2B5EF4-FFF2-40B4-BE49-F238E27FC236}">
                <a16:creationId xmlns:a16="http://schemas.microsoft.com/office/drawing/2014/main" id="{41F6B22F-4E80-7E9D-EF1B-A1E939385271}"/>
              </a:ext>
            </a:extLst>
          </p:cNvPr>
          <p:cNvSpPr/>
          <p:nvPr/>
        </p:nvSpPr>
        <p:spPr bwMode="auto">
          <a:xfrm>
            <a:off x="7883463" y="4343401"/>
            <a:ext cx="380996" cy="144778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41" name="TextBox 140">
            <a:extLst>
              <a:ext uri="{FF2B5EF4-FFF2-40B4-BE49-F238E27FC236}">
                <a16:creationId xmlns:a16="http://schemas.microsoft.com/office/drawing/2014/main" id="{A40D6D7C-4EB1-CEC9-8577-9B70621D8673}"/>
              </a:ext>
            </a:extLst>
          </p:cNvPr>
          <p:cNvSpPr txBox="1"/>
          <p:nvPr/>
        </p:nvSpPr>
        <p:spPr>
          <a:xfrm>
            <a:off x="7458475" y="5791186"/>
            <a:ext cx="1204176" cy="307777"/>
          </a:xfrm>
          <a:prstGeom prst="rect">
            <a:avLst/>
          </a:prstGeom>
          <a:noFill/>
        </p:spPr>
        <p:txBody>
          <a:bodyPr wrap="none" rtlCol="0">
            <a:spAutoFit/>
          </a:bodyPr>
          <a:lstStyle/>
          <a:p>
            <a:r>
              <a:rPr lang="en-US" altLang="ko-KR" sz="1400"/>
              <a:t>new thread</a:t>
            </a:r>
            <a:endParaRPr lang="ko-KR" altLang="en-US" sz="1400"/>
          </a:p>
        </p:txBody>
      </p:sp>
      <p:sp>
        <p:nvSpPr>
          <p:cNvPr id="144" name="직사각형 143">
            <a:extLst>
              <a:ext uri="{FF2B5EF4-FFF2-40B4-BE49-F238E27FC236}">
                <a16:creationId xmlns:a16="http://schemas.microsoft.com/office/drawing/2014/main" id="{60380C82-83B0-6840-7603-EC18C9BE49FC}"/>
              </a:ext>
            </a:extLst>
          </p:cNvPr>
          <p:cNvSpPr/>
          <p:nvPr/>
        </p:nvSpPr>
        <p:spPr bwMode="auto">
          <a:xfrm>
            <a:off x="6569119" y="3657601"/>
            <a:ext cx="380996" cy="685785"/>
          </a:xfrm>
          <a:prstGeom prst="rect">
            <a:avLst/>
          </a:prstGeom>
          <a:solidFill>
            <a:schemeClr val="bg1"/>
          </a:solidFill>
          <a:ln w="9525" cap="flat" cmpd="sng" algn="ctr">
            <a:solidFill>
              <a:schemeClr val="tx1"/>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45" name="직사각형 144">
            <a:extLst>
              <a:ext uri="{FF2B5EF4-FFF2-40B4-BE49-F238E27FC236}">
                <a16:creationId xmlns:a16="http://schemas.microsoft.com/office/drawing/2014/main" id="{FE7F7171-9AA2-C3AB-141F-A6D2C9D2E6AD}"/>
              </a:ext>
            </a:extLst>
          </p:cNvPr>
          <p:cNvSpPr/>
          <p:nvPr/>
        </p:nvSpPr>
        <p:spPr bwMode="auto">
          <a:xfrm>
            <a:off x="7883463" y="4111626"/>
            <a:ext cx="380996" cy="231760"/>
          </a:xfrm>
          <a:prstGeom prst="rect">
            <a:avLst/>
          </a:prstGeom>
          <a:solidFill>
            <a:schemeClr val="bg1"/>
          </a:solidFill>
          <a:ln w="9525" cap="flat" cmpd="sng" algn="ctr">
            <a:solidFill>
              <a:schemeClr val="tx1"/>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46" name="TextBox 145">
            <a:extLst>
              <a:ext uri="{FF2B5EF4-FFF2-40B4-BE49-F238E27FC236}">
                <a16:creationId xmlns:a16="http://schemas.microsoft.com/office/drawing/2014/main" id="{1D6BAB27-2B99-DF70-FA29-792A968C56E5}"/>
              </a:ext>
            </a:extLst>
          </p:cNvPr>
          <p:cNvSpPr txBox="1"/>
          <p:nvPr/>
        </p:nvSpPr>
        <p:spPr>
          <a:xfrm>
            <a:off x="6451415" y="2980316"/>
            <a:ext cx="1782860" cy="461665"/>
          </a:xfrm>
          <a:prstGeom prst="rect">
            <a:avLst/>
          </a:prstGeom>
          <a:noFill/>
        </p:spPr>
        <p:txBody>
          <a:bodyPr wrap="none" rtlCol="0">
            <a:spAutoFit/>
          </a:bodyPr>
          <a:lstStyle/>
          <a:p>
            <a:pPr algn="ctr"/>
            <a:r>
              <a:rPr lang="en-US" altLang="ko-KR" sz="1200">
                <a:solidFill>
                  <a:srgbClr val="0000FF"/>
                </a:solidFill>
              </a:rPr>
              <a:t>competiton occurs</a:t>
            </a:r>
          </a:p>
          <a:p>
            <a:pPr algn="ctr"/>
            <a:r>
              <a:rPr lang="en-US" altLang="ko-KR" sz="1200">
                <a:solidFill>
                  <a:srgbClr val="0000FF"/>
                </a:solidFill>
              </a:rPr>
              <a:t>= no monopolization</a:t>
            </a:r>
            <a:endParaRPr lang="ko-KR" altLang="en-US" sz="1200">
              <a:solidFill>
                <a:srgbClr val="0000FF"/>
              </a:solidFill>
            </a:endParaRPr>
          </a:p>
        </p:txBody>
      </p:sp>
      <p:cxnSp>
        <p:nvCxnSpPr>
          <p:cNvPr id="148" name="직선 화살표 연결선 147">
            <a:extLst>
              <a:ext uri="{FF2B5EF4-FFF2-40B4-BE49-F238E27FC236}">
                <a16:creationId xmlns:a16="http://schemas.microsoft.com/office/drawing/2014/main" id="{E08FC7E5-9FA5-6ABB-8FBD-2CD9CB769CD0}"/>
              </a:ext>
            </a:extLst>
          </p:cNvPr>
          <p:cNvCxnSpPr>
            <a:cxnSpLocks/>
          </p:cNvCxnSpPr>
          <p:nvPr/>
        </p:nvCxnSpPr>
        <p:spPr bwMode="auto">
          <a:xfrm flipH="1">
            <a:off x="6818069" y="3520385"/>
            <a:ext cx="517158" cy="4420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9" name="직선 화살표 연결선 148">
            <a:extLst>
              <a:ext uri="{FF2B5EF4-FFF2-40B4-BE49-F238E27FC236}">
                <a16:creationId xmlns:a16="http://schemas.microsoft.com/office/drawing/2014/main" id="{06E6F695-DE75-39A7-9313-6F6FE22557FB}"/>
              </a:ext>
            </a:extLst>
          </p:cNvPr>
          <p:cNvCxnSpPr>
            <a:cxnSpLocks/>
          </p:cNvCxnSpPr>
          <p:nvPr/>
        </p:nvCxnSpPr>
        <p:spPr bwMode="auto">
          <a:xfrm>
            <a:off x="7342846" y="3520385"/>
            <a:ext cx="737095" cy="704144"/>
          </a:xfrm>
          <a:prstGeom prst="straightConnector1">
            <a:avLst/>
          </a:prstGeom>
          <a:solidFill>
            <a:schemeClr val="accent1"/>
          </a:solidFill>
          <a:ln w="9525" cap="flat" cmpd="sng" algn="ctr">
            <a:solidFill>
              <a:schemeClr val="tx1"/>
            </a:solidFill>
            <a:prstDash val="solid"/>
            <a:round/>
            <a:headEnd type="oval" w="med" len="med"/>
            <a:tailEnd type="triangle"/>
          </a:ln>
          <a:effectLst/>
        </p:spPr>
      </p:cxnSp>
      <p:sp>
        <p:nvSpPr>
          <p:cNvPr id="152" name="TextBox 151">
            <a:extLst>
              <a:ext uri="{FF2B5EF4-FFF2-40B4-BE49-F238E27FC236}">
                <a16:creationId xmlns:a16="http://schemas.microsoft.com/office/drawing/2014/main" id="{E6C8F919-20A6-B523-4F8A-A988ACE662B1}"/>
              </a:ext>
            </a:extLst>
          </p:cNvPr>
          <p:cNvSpPr txBox="1"/>
          <p:nvPr/>
        </p:nvSpPr>
        <p:spPr>
          <a:xfrm>
            <a:off x="2115074" y="3102644"/>
            <a:ext cx="2437077" cy="646331"/>
          </a:xfrm>
          <a:prstGeom prst="rect">
            <a:avLst/>
          </a:prstGeom>
          <a:noFill/>
        </p:spPr>
        <p:txBody>
          <a:bodyPr wrap="none" rtlCol="0">
            <a:spAutoFit/>
          </a:bodyPr>
          <a:lstStyle/>
          <a:p>
            <a:pPr algn="ctr"/>
            <a:r>
              <a:rPr lang="en-US" altLang="ko-KR" sz="1200"/>
              <a:t>monopolize cpu until</a:t>
            </a:r>
          </a:p>
          <a:p>
            <a:pPr algn="ctr"/>
            <a:r>
              <a:rPr lang="en-US" altLang="ko-KR" sz="1200"/>
              <a:t>the pass value of new thread</a:t>
            </a:r>
          </a:p>
          <a:p>
            <a:pPr algn="ctr"/>
            <a:r>
              <a:rPr lang="en-US" altLang="ko-KR" sz="1200"/>
              <a:t>reaches to</a:t>
            </a:r>
          </a:p>
        </p:txBody>
      </p:sp>
      <p:sp>
        <p:nvSpPr>
          <p:cNvPr id="154" name="화살표: 오른쪽 153">
            <a:extLst>
              <a:ext uri="{FF2B5EF4-FFF2-40B4-BE49-F238E27FC236}">
                <a16:creationId xmlns:a16="http://schemas.microsoft.com/office/drawing/2014/main" id="{1A589A06-6CC3-0071-0998-F45E4A84D92E}"/>
              </a:ext>
            </a:extLst>
          </p:cNvPr>
          <p:cNvSpPr/>
          <p:nvPr/>
        </p:nvSpPr>
        <p:spPr bwMode="auto">
          <a:xfrm>
            <a:off x="4208583" y="4260689"/>
            <a:ext cx="858141" cy="1402080"/>
          </a:xfrm>
          <a:prstGeom prst="rightArrow">
            <a:avLst>
              <a:gd name="adj1" fmla="val 73750"/>
              <a:gd name="adj2" fmla="val 50000"/>
            </a:avLst>
          </a:prstGeom>
          <a:solidFill>
            <a:schemeClr val="accent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155" name="직선 연결선 154">
            <a:extLst>
              <a:ext uri="{FF2B5EF4-FFF2-40B4-BE49-F238E27FC236}">
                <a16:creationId xmlns:a16="http://schemas.microsoft.com/office/drawing/2014/main" id="{A59A1A16-4E61-EDA3-F6C0-616B0BB93BC5}"/>
              </a:ext>
            </a:extLst>
          </p:cNvPr>
          <p:cNvCxnSpPr>
            <a:cxnSpLocks/>
          </p:cNvCxnSpPr>
          <p:nvPr/>
        </p:nvCxnSpPr>
        <p:spPr bwMode="auto">
          <a:xfrm>
            <a:off x="902538" y="4343400"/>
            <a:ext cx="2678862" cy="0"/>
          </a:xfrm>
          <a:prstGeom prst="line">
            <a:avLst/>
          </a:prstGeom>
          <a:solidFill>
            <a:schemeClr val="accent1"/>
          </a:solidFill>
          <a:ln w="12700" cap="flat" cmpd="sng" algn="ctr">
            <a:solidFill>
              <a:schemeClr val="tx1"/>
            </a:solidFill>
            <a:prstDash val="lgDash"/>
            <a:round/>
            <a:headEnd type="none" w="med" len="med"/>
            <a:tailEnd type="none" w="med" len="med"/>
          </a:ln>
          <a:effectLst/>
        </p:spPr>
      </p:cxnSp>
      <p:cxnSp>
        <p:nvCxnSpPr>
          <p:cNvPr id="157" name="직선 연결선 156">
            <a:extLst>
              <a:ext uri="{FF2B5EF4-FFF2-40B4-BE49-F238E27FC236}">
                <a16:creationId xmlns:a16="http://schemas.microsoft.com/office/drawing/2014/main" id="{EC54C65E-85BC-624F-DFF3-E4B9D55F208D}"/>
              </a:ext>
            </a:extLst>
          </p:cNvPr>
          <p:cNvCxnSpPr>
            <a:cxnSpLocks/>
          </p:cNvCxnSpPr>
          <p:nvPr/>
        </p:nvCxnSpPr>
        <p:spPr bwMode="auto">
          <a:xfrm>
            <a:off x="5702993" y="4343401"/>
            <a:ext cx="2735580" cy="0"/>
          </a:xfrm>
          <a:prstGeom prst="line">
            <a:avLst/>
          </a:prstGeom>
          <a:solidFill>
            <a:schemeClr val="accent1"/>
          </a:solidFill>
          <a:ln w="12700" cap="flat" cmpd="sng" algn="ctr">
            <a:solidFill>
              <a:schemeClr val="tx1"/>
            </a:solidFill>
            <a:prstDash val="lgDash"/>
            <a:round/>
            <a:headEnd type="none" w="med" len="med"/>
            <a:tailEnd type="none" w="med" len="med"/>
          </a:ln>
          <a:effectLst/>
        </p:spPr>
      </p:cxnSp>
      <p:sp>
        <p:nvSpPr>
          <p:cNvPr id="158" name="TextBox 157">
            <a:extLst>
              <a:ext uri="{FF2B5EF4-FFF2-40B4-BE49-F238E27FC236}">
                <a16:creationId xmlns:a16="http://schemas.microsoft.com/office/drawing/2014/main" id="{74CEF5B8-C7F7-8F8C-C9E3-AC576AC4620A}"/>
              </a:ext>
            </a:extLst>
          </p:cNvPr>
          <p:cNvSpPr txBox="1"/>
          <p:nvPr/>
        </p:nvSpPr>
        <p:spPr>
          <a:xfrm>
            <a:off x="3603863" y="4619787"/>
            <a:ext cx="1821011" cy="523220"/>
          </a:xfrm>
          <a:prstGeom prst="rect">
            <a:avLst/>
          </a:prstGeom>
          <a:noFill/>
        </p:spPr>
        <p:txBody>
          <a:bodyPr wrap="none" rtlCol="0">
            <a:spAutoFit/>
          </a:bodyPr>
          <a:lstStyle/>
          <a:p>
            <a:pPr algn="ctr"/>
            <a:r>
              <a:rPr lang="en-US" altLang="ko-KR" sz="1400"/>
              <a:t>set the pass value</a:t>
            </a:r>
          </a:p>
          <a:p>
            <a:pPr algn="ctr"/>
            <a:r>
              <a:rPr lang="en-US" altLang="ko-KR" sz="1400"/>
              <a:t>of new thread as</a:t>
            </a:r>
            <a:endParaRPr lang="ko-KR" altLang="en-US" sz="1400"/>
          </a:p>
        </p:txBody>
      </p:sp>
      <p:pic>
        <p:nvPicPr>
          <p:cNvPr id="163" name="그림 162">
            <a:extLst>
              <a:ext uri="{FF2B5EF4-FFF2-40B4-BE49-F238E27FC236}">
                <a16:creationId xmlns:a16="http://schemas.microsoft.com/office/drawing/2014/main" id="{7094BA51-9058-CB2B-D2F2-E7FA9D7E1CC7}"/>
              </a:ext>
            </a:extLst>
          </p:cNvPr>
          <p:cNvPicPr>
            <a:picLocks noChangeAspect="1"/>
          </p:cNvPicPr>
          <p:nvPr/>
        </p:nvPicPr>
        <p:blipFill>
          <a:blip r:embed="rId2"/>
          <a:stretch>
            <a:fillRect/>
          </a:stretch>
        </p:blipFill>
        <p:spPr>
          <a:xfrm>
            <a:off x="3783075" y="3522649"/>
            <a:ext cx="396933" cy="265907"/>
          </a:xfrm>
          <a:prstGeom prst="rect">
            <a:avLst/>
          </a:prstGeom>
        </p:spPr>
      </p:pic>
      <p:pic>
        <p:nvPicPr>
          <p:cNvPr id="164" name="그림 163">
            <a:extLst>
              <a:ext uri="{FF2B5EF4-FFF2-40B4-BE49-F238E27FC236}">
                <a16:creationId xmlns:a16="http://schemas.microsoft.com/office/drawing/2014/main" id="{450DB6C4-AF49-5F5F-E27E-03790A378DF0}"/>
              </a:ext>
            </a:extLst>
          </p:cNvPr>
          <p:cNvPicPr>
            <a:picLocks noChangeAspect="1"/>
          </p:cNvPicPr>
          <p:nvPr/>
        </p:nvPicPr>
        <p:blipFill>
          <a:blip r:embed="rId2"/>
          <a:stretch>
            <a:fillRect/>
          </a:stretch>
        </p:blipFill>
        <p:spPr>
          <a:xfrm>
            <a:off x="453862" y="4216490"/>
            <a:ext cx="396933" cy="265907"/>
          </a:xfrm>
          <a:prstGeom prst="rect">
            <a:avLst/>
          </a:prstGeom>
        </p:spPr>
      </p:pic>
      <p:pic>
        <p:nvPicPr>
          <p:cNvPr id="165" name="그림 164">
            <a:extLst>
              <a:ext uri="{FF2B5EF4-FFF2-40B4-BE49-F238E27FC236}">
                <a16:creationId xmlns:a16="http://schemas.microsoft.com/office/drawing/2014/main" id="{A305CE20-29A5-E94C-2592-3008A674D68F}"/>
              </a:ext>
            </a:extLst>
          </p:cNvPr>
          <p:cNvPicPr>
            <a:picLocks noChangeAspect="1"/>
          </p:cNvPicPr>
          <p:nvPr/>
        </p:nvPicPr>
        <p:blipFill>
          <a:blip r:embed="rId2"/>
          <a:stretch>
            <a:fillRect/>
          </a:stretch>
        </p:blipFill>
        <p:spPr>
          <a:xfrm>
            <a:off x="5274176" y="4216490"/>
            <a:ext cx="396933" cy="265907"/>
          </a:xfrm>
          <a:prstGeom prst="rect">
            <a:avLst/>
          </a:prstGeom>
        </p:spPr>
      </p:pic>
      <p:cxnSp>
        <p:nvCxnSpPr>
          <p:cNvPr id="167" name="직선 화살표 연결선 166">
            <a:extLst>
              <a:ext uri="{FF2B5EF4-FFF2-40B4-BE49-F238E27FC236}">
                <a16:creationId xmlns:a16="http://schemas.microsoft.com/office/drawing/2014/main" id="{5883E69F-EA92-BF2E-20B7-CC40E6736553}"/>
              </a:ext>
            </a:extLst>
          </p:cNvPr>
          <p:cNvCxnSpPr>
            <a:cxnSpLocks/>
          </p:cNvCxnSpPr>
          <p:nvPr/>
        </p:nvCxnSpPr>
        <p:spPr bwMode="auto">
          <a:xfrm>
            <a:off x="3257118" y="3788556"/>
            <a:ext cx="0" cy="472133"/>
          </a:xfrm>
          <a:prstGeom prst="straightConnector1">
            <a:avLst/>
          </a:prstGeom>
          <a:solidFill>
            <a:schemeClr val="accent1"/>
          </a:solidFill>
          <a:ln w="9525" cap="flat" cmpd="sng" algn="ctr">
            <a:solidFill>
              <a:schemeClr val="tx1"/>
            </a:solidFill>
            <a:prstDash val="dash"/>
            <a:round/>
            <a:headEnd type="oval" w="med" len="med"/>
            <a:tailEnd type="triangle"/>
          </a:ln>
          <a:effectLst/>
        </p:spPr>
      </p:cxnSp>
      <p:pic>
        <p:nvPicPr>
          <p:cNvPr id="175" name="그림 174">
            <a:extLst>
              <a:ext uri="{FF2B5EF4-FFF2-40B4-BE49-F238E27FC236}">
                <a16:creationId xmlns:a16="http://schemas.microsoft.com/office/drawing/2014/main" id="{34780114-2488-CD4A-A80F-5B1168FC83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298540" y="5054095"/>
            <a:ext cx="524760" cy="351539"/>
          </a:xfrm>
          <a:prstGeom prst="rect">
            <a:avLst/>
          </a:prstGeom>
        </p:spPr>
      </p:pic>
      <p:sp>
        <p:nvSpPr>
          <p:cNvPr id="178" name="TextBox 177">
            <a:extLst>
              <a:ext uri="{FF2B5EF4-FFF2-40B4-BE49-F238E27FC236}">
                <a16:creationId xmlns:a16="http://schemas.microsoft.com/office/drawing/2014/main" id="{74340D10-F72C-2369-095E-6BC9F63D536B}"/>
              </a:ext>
            </a:extLst>
          </p:cNvPr>
          <p:cNvSpPr txBox="1"/>
          <p:nvPr/>
        </p:nvSpPr>
        <p:spPr>
          <a:xfrm>
            <a:off x="394615" y="2917978"/>
            <a:ext cx="667170" cy="369332"/>
          </a:xfrm>
          <a:prstGeom prst="rect">
            <a:avLst/>
          </a:prstGeom>
          <a:noFill/>
        </p:spPr>
        <p:txBody>
          <a:bodyPr wrap="none" rtlCol="0">
            <a:spAutoFit/>
          </a:bodyPr>
          <a:lstStyle/>
          <a:p>
            <a:r>
              <a:rPr lang="en-US" altLang="ko-KR" b="1"/>
              <a:t>e.g.</a:t>
            </a:r>
            <a:endParaRPr lang="ko-KR" altLang="en-US" b="1"/>
          </a:p>
        </p:txBody>
      </p:sp>
    </p:spTree>
    <p:extLst>
      <p:ext uri="{BB962C8B-B14F-4D97-AF65-F5344CB8AC3E}">
        <p14:creationId xmlns:p14="http://schemas.microsoft.com/office/powerpoint/2010/main" val="2016658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E4C7-5AE1-D496-1599-862687216A9A}"/>
            </a:ext>
          </a:extLst>
        </p:cNvPr>
        <p:cNvGrpSpPr/>
        <p:nvPr/>
      </p:nvGrpSpPr>
      <p:grpSpPr>
        <a:xfrm>
          <a:off x="0" y="0"/>
          <a:ext cx="0" cy="0"/>
          <a:chOff x="0" y="0"/>
          <a:chExt cx="0" cy="0"/>
        </a:xfrm>
      </p:grpSpPr>
      <p:cxnSp>
        <p:nvCxnSpPr>
          <p:cNvPr id="8" name="직선 연결선 7">
            <a:extLst>
              <a:ext uri="{FF2B5EF4-FFF2-40B4-BE49-F238E27FC236}">
                <a16:creationId xmlns:a16="http://schemas.microsoft.com/office/drawing/2014/main" id="{9FCE7AE5-E346-01E5-8524-E2A7E665D0B5}"/>
              </a:ext>
            </a:extLst>
          </p:cNvPr>
          <p:cNvCxnSpPr>
            <a:cxnSpLocks/>
          </p:cNvCxnSpPr>
          <p:nvPr/>
        </p:nvCxnSpPr>
        <p:spPr bwMode="auto">
          <a:xfrm rot="5400000">
            <a:off x="6825476" y="5314865"/>
            <a:ext cx="1066800"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5" name="Rectangle 3">
            <a:extLst>
              <a:ext uri="{FF2B5EF4-FFF2-40B4-BE49-F238E27FC236}">
                <a16:creationId xmlns:a16="http://schemas.microsoft.com/office/drawing/2014/main" id="{C7CBAC4E-0F40-99F5-1D35-C815381C7E50}"/>
              </a:ext>
            </a:extLst>
          </p:cNvPr>
          <p:cNvSpPr txBox="1">
            <a:spLocks noChangeArrowheads="1"/>
          </p:cNvSpPr>
          <p:nvPr/>
        </p:nvSpPr>
        <p:spPr bwMode="auto">
          <a:xfrm>
            <a:off x="574676" y="1685221"/>
            <a:ext cx="8001000" cy="121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000"/>
              <a:t>The final ratio of cumulative runtime may not accurately represent fairness.</a:t>
            </a:r>
          </a:p>
          <a:p>
            <a:pPr latinLnBrk="1"/>
            <a:r>
              <a:rPr lang="en-US" altLang="ko-KR" sz="2000" kern="0"/>
              <a:t>e.g. </a:t>
            </a:r>
            <a:r>
              <a:rPr lang="en-US" altLang="ko-KR" sz="2000"/>
              <a:t>Two schedulers X and Y for threads A and B with equal weights. Which is fairer?</a:t>
            </a:r>
            <a:endParaRPr lang="en-US" altLang="ko-KR" sz="20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sp>
        <p:nvSpPr>
          <p:cNvPr id="241666" name="Rectangle 2">
            <a:extLst>
              <a:ext uri="{FF2B5EF4-FFF2-40B4-BE49-F238E27FC236}">
                <a16:creationId xmlns:a16="http://schemas.microsoft.com/office/drawing/2014/main" id="{AA502915-6B0B-F063-C437-0745CAA1E2F2}"/>
              </a:ext>
            </a:extLst>
          </p:cNvPr>
          <p:cNvSpPr>
            <a:spLocks noGrp="1" noChangeArrowheads="1"/>
          </p:cNvSpPr>
          <p:nvPr>
            <p:ph type="title"/>
          </p:nvPr>
        </p:nvSpPr>
        <p:spPr/>
        <p:txBody>
          <a:bodyPr/>
          <a:lstStyle/>
          <a:p>
            <a:r>
              <a:rPr lang="en-US" altLang="ko-KR"/>
              <a:t>Fairness Evaluation Plan </a:t>
            </a:r>
            <a:r>
              <a:rPr lang="en-US" altLang="ko-KR" sz="2800"/>
              <a:t>(1/2)</a:t>
            </a:r>
          </a:p>
        </p:txBody>
      </p:sp>
      <p:sp>
        <p:nvSpPr>
          <p:cNvPr id="241826" name="직사각형 241825">
            <a:extLst>
              <a:ext uri="{FF2B5EF4-FFF2-40B4-BE49-F238E27FC236}">
                <a16:creationId xmlns:a16="http://schemas.microsoft.com/office/drawing/2014/main" id="{CDAD8500-7033-09CF-DE62-2D2962AC96C8}"/>
              </a:ext>
            </a:extLst>
          </p:cNvPr>
          <p:cNvSpPr/>
          <p:nvPr/>
        </p:nvSpPr>
        <p:spPr bwMode="auto">
          <a:xfrm>
            <a:off x="2431986" y="374789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27" name="직선 화살표 연결선 241826">
            <a:extLst>
              <a:ext uri="{FF2B5EF4-FFF2-40B4-BE49-F238E27FC236}">
                <a16:creationId xmlns:a16="http://schemas.microsoft.com/office/drawing/2014/main" id="{532135E4-A0B7-F78F-70A0-6A0DE865D08C}"/>
              </a:ext>
            </a:extLst>
          </p:cNvPr>
          <p:cNvCxnSpPr>
            <a:cxnSpLocks/>
          </p:cNvCxnSpPr>
          <p:nvPr/>
        </p:nvCxnSpPr>
        <p:spPr bwMode="auto">
          <a:xfrm>
            <a:off x="2050456" y="4196338"/>
            <a:ext cx="39149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829" name="TextBox 241828">
            <a:extLst>
              <a:ext uri="{FF2B5EF4-FFF2-40B4-BE49-F238E27FC236}">
                <a16:creationId xmlns:a16="http://schemas.microsoft.com/office/drawing/2014/main" id="{B085D468-1E62-95CC-1CBF-EB45FFCD865B}"/>
              </a:ext>
            </a:extLst>
          </p:cNvPr>
          <p:cNvSpPr txBox="1"/>
          <p:nvPr/>
        </p:nvSpPr>
        <p:spPr>
          <a:xfrm>
            <a:off x="4795123" y="4196338"/>
            <a:ext cx="1192955" cy="276999"/>
          </a:xfrm>
          <a:prstGeom prst="rect">
            <a:avLst/>
          </a:prstGeom>
          <a:noFill/>
        </p:spPr>
        <p:txBody>
          <a:bodyPr wrap="none" rtlCol="0">
            <a:spAutoFit/>
          </a:bodyPr>
          <a:lstStyle/>
          <a:p>
            <a:r>
              <a:rPr lang="en-US" altLang="ko-KR" sz="1200"/>
              <a:t>total runtime</a:t>
            </a:r>
            <a:endParaRPr lang="ko-KR" altLang="en-US" sz="1200"/>
          </a:p>
        </p:txBody>
      </p:sp>
      <p:sp>
        <p:nvSpPr>
          <p:cNvPr id="241832" name="직사각형 241831">
            <a:extLst>
              <a:ext uri="{FF2B5EF4-FFF2-40B4-BE49-F238E27FC236}">
                <a16:creationId xmlns:a16="http://schemas.microsoft.com/office/drawing/2014/main" id="{7E8E840D-A9DD-4BB2-DB75-E6AED62A2746}"/>
              </a:ext>
            </a:extLst>
          </p:cNvPr>
          <p:cNvSpPr/>
          <p:nvPr/>
        </p:nvSpPr>
        <p:spPr bwMode="auto">
          <a:xfrm>
            <a:off x="2818870" y="374789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3" name="직사각형 241832">
            <a:extLst>
              <a:ext uri="{FF2B5EF4-FFF2-40B4-BE49-F238E27FC236}">
                <a16:creationId xmlns:a16="http://schemas.microsoft.com/office/drawing/2014/main" id="{41D08924-4625-8F67-C105-D186810034CE}"/>
              </a:ext>
            </a:extLst>
          </p:cNvPr>
          <p:cNvSpPr/>
          <p:nvPr/>
        </p:nvSpPr>
        <p:spPr bwMode="auto">
          <a:xfrm>
            <a:off x="2050456" y="374789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4" name="직사각형 241833">
            <a:extLst>
              <a:ext uri="{FF2B5EF4-FFF2-40B4-BE49-F238E27FC236}">
                <a16:creationId xmlns:a16="http://schemas.microsoft.com/office/drawing/2014/main" id="{C82F27C8-3828-7631-300C-9CD6499C3109}"/>
              </a:ext>
            </a:extLst>
          </p:cNvPr>
          <p:cNvSpPr/>
          <p:nvPr/>
        </p:nvSpPr>
        <p:spPr bwMode="auto">
          <a:xfrm>
            <a:off x="3581930" y="374789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5" name="직사각형 241834">
            <a:extLst>
              <a:ext uri="{FF2B5EF4-FFF2-40B4-BE49-F238E27FC236}">
                <a16:creationId xmlns:a16="http://schemas.microsoft.com/office/drawing/2014/main" id="{C7DC0442-520C-D923-AF7C-4FCF351E38A6}"/>
              </a:ext>
            </a:extLst>
          </p:cNvPr>
          <p:cNvSpPr/>
          <p:nvPr/>
        </p:nvSpPr>
        <p:spPr bwMode="auto">
          <a:xfrm>
            <a:off x="3968814" y="374789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6" name="직사각형 241835">
            <a:extLst>
              <a:ext uri="{FF2B5EF4-FFF2-40B4-BE49-F238E27FC236}">
                <a16:creationId xmlns:a16="http://schemas.microsoft.com/office/drawing/2014/main" id="{0FE1EC77-D857-8869-495B-375CC509427D}"/>
              </a:ext>
            </a:extLst>
          </p:cNvPr>
          <p:cNvSpPr/>
          <p:nvPr/>
        </p:nvSpPr>
        <p:spPr bwMode="auto">
          <a:xfrm>
            <a:off x="3200400" y="374789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7" name="직사각형 241836">
            <a:extLst>
              <a:ext uri="{FF2B5EF4-FFF2-40B4-BE49-F238E27FC236}">
                <a16:creationId xmlns:a16="http://schemas.microsoft.com/office/drawing/2014/main" id="{B0E74F9F-ED7B-2DE4-5D5B-E556D8927CCE}"/>
              </a:ext>
            </a:extLst>
          </p:cNvPr>
          <p:cNvSpPr/>
          <p:nvPr/>
        </p:nvSpPr>
        <p:spPr bwMode="auto">
          <a:xfrm>
            <a:off x="4353231" y="374789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8" name="직사각형 241837">
            <a:extLst>
              <a:ext uri="{FF2B5EF4-FFF2-40B4-BE49-F238E27FC236}">
                <a16:creationId xmlns:a16="http://schemas.microsoft.com/office/drawing/2014/main" id="{AAF8AD78-AB02-2082-A1CC-67242ED11A40}"/>
              </a:ext>
            </a:extLst>
          </p:cNvPr>
          <p:cNvSpPr/>
          <p:nvPr/>
        </p:nvSpPr>
        <p:spPr bwMode="auto">
          <a:xfrm>
            <a:off x="5116291" y="374789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9" name="직사각형 241838">
            <a:extLst>
              <a:ext uri="{FF2B5EF4-FFF2-40B4-BE49-F238E27FC236}">
                <a16:creationId xmlns:a16="http://schemas.microsoft.com/office/drawing/2014/main" id="{C1AA763F-74DA-3068-9643-30E11F25D560}"/>
              </a:ext>
            </a:extLst>
          </p:cNvPr>
          <p:cNvSpPr/>
          <p:nvPr/>
        </p:nvSpPr>
        <p:spPr bwMode="auto">
          <a:xfrm>
            <a:off x="5503175" y="374789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40" name="직사각형 241839">
            <a:extLst>
              <a:ext uri="{FF2B5EF4-FFF2-40B4-BE49-F238E27FC236}">
                <a16:creationId xmlns:a16="http://schemas.microsoft.com/office/drawing/2014/main" id="{0ED867FC-532D-DB20-8DB4-C1B4A50991A3}"/>
              </a:ext>
            </a:extLst>
          </p:cNvPr>
          <p:cNvSpPr/>
          <p:nvPr/>
        </p:nvSpPr>
        <p:spPr bwMode="auto">
          <a:xfrm>
            <a:off x="4734761" y="374789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600"/>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44" name="직선 연결선 241843">
            <a:extLst>
              <a:ext uri="{FF2B5EF4-FFF2-40B4-BE49-F238E27FC236}">
                <a16:creationId xmlns:a16="http://schemas.microsoft.com/office/drawing/2014/main" id="{1F196977-3C73-99D0-AB4F-74DF461493EB}"/>
              </a:ext>
            </a:extLst>
          </p:cNvPr>
          <p:cNvCxnSpPr>
            <a:cxnSpLocks/>
          </p:cNvCxnSpPr>
          <p:nvPr/>
        </p:nvCxnSpPr>
        <p:spPr bwMode="auto">
          <a:xfrm>
            <a:off x="2055253" y="3662938"/>
            <a:ext cx="0" cy="533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49" name="직사각형 241848">
            <a:extLst>
              <a:ext uri="{FF2B5EF4-FFF2-40B4-BE49-F238E27FC236}">
                <a16:creationId xmlns:a16="http://schemas.microsoft.com/office/drawing/2014/main" id="{E5A24A88-610C-4979-752D-6CF639AE1AFE}"/>
              </a:ext>
            </a:extLst>
          </p:cNvPr>
          <p:cNvSpPr/>
          <p:nvPr/>
        </p:nvSpPr>
        <p:spPr bwMode="auto">
          <a:xfrm>
            <a:off x="2438207"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50" name="직선 화살표 연결선 241849">
            <a:extLst>
              <a:ext uri="{FF2B5EF4-FFF2-40B4-BE49-F238E27FC236}">
                <a16:creationId xmlns:a16="http://schemas.microsoft.com/office/drawing/2014/main" id="{3AC3F982-EDB5-3F7A-DCFF-CA9669FBACE7}"/>
              </a:ext>
            </a:extLst>
          </p:cNvPr>
          <p:cNvCxnSpPr>
            <a:cxnSpLocks/>
          </p:cNvCxnSpPr>
          <p:nvPr/>
        </p:nvCxnSpPr>
        <p:spPr bwMode="auto">
          <a:xfrm>
            <a:off x="2056677" y="5674898"/>
            <a:ext cx="39149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851" name="TextBox 241850">
            <a:extLst>
              <a:ext uri="{FF2B5EF4-FFF2-40B4-BE49-F238E27FC236}">
                <a16:creationId xmlns:a16="http://schemas.microsoft.com/office/drawing/2014/main" id="{52E89323-F3C0-373C-0CC5-97E0211C0419}"/>
              </a:ext>
            </a:extLst>
          </p:cNvPr>
          <p:cNvSpPr txBox="1"/>
          <p:nvPr/>
        </p:nvSpPr>
        <p:spPr>
          <a:xfrm>
            <a:off x="4801344" y="5674898"/>
            <a:ext cx="1192955" cy="276999"/>
          </a:xfrm>
          <a:prstGeom prst="rect">
            <a:avLst/>
          </a:prstGeom>
          <a:noFill/>
        </p:spPr>
        <p:txBody>
          <a:bodyPr wrap="none" rtlCol="0">
            <a:spAutoFit/>
          </a:bodyPr>
          <a:lstStyle/>
          <a:p>
            <a:r>
              <a:rPr lang="en-US" altLang="ko-KR" sz="1200"/>
              <a:t>total runtime</a:t>
            </a:r>
            <a:endParaRPr lang="ko-KR" altLang="en-US" sz="1200"/>
          </a:p>
        </p:txBody>
      </p:sp>
      <p:sp>
        <p:nvSpPr>
          <p:cNvPr id="241852" name="직사각형 241851">
            <a:extLst>
              <a:ext uri="{FF2B5EF4-FFF2-40B4-BE49-F238E27FC236}">
                <a16:creationId xmlns:a16="http://schemas.microsoft.com/office/drawing/2014/main" id="{30AE9CC4-E6A6-8097-C3EE-728672A1C3A5}"/>
              </a:ext>
            </a:extLst>
          </p:cNvPr>
          <p:cNvSpPr/>
          <p:nvPr/>
        </p:nvSpPr>
        <p:spPr bwMode="auto">
          <a:xfrm>
            <a:off x="2825091" y="522645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3" name="직사각형 241852">
            <a:extLst>
              <a:ext uri="{FF2B5EF4-FFF2-40B4-BE49-F238E27FC236}">
                <a16:creationId xmlns:a16="http://schemas.microsoft.com/office/drawing/2014/main" id="{009B62B1-985B-54C0-BD87-3610A1F02BB0}"/>
              </a:ext>
            </a:extLst>
          </p:cNvPr>
          <p:cNvSpPr/>
          <p:nvPr/>
        </p:nvSpPr>
        <p:spPr bwMode="auto">
          <a:xfrm>
            <a:off x="2056677"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4" name="직사각형 241853">
            <a:extLst>
              <a:ext uri="{FF2B5EF4-FFF2-40B4-BE49-F238E27FC236}">
                <a16:creationId xmlns:a16="http://schemas.microsoft.com/office/drawing/2014/main" id="{616F346F-389D-AB6B-81B3-EB011A979FB9}"/>
              </a:ext>
            </a:extLst>
          </p:cNvPr>
          <p:cNvSpPr/>
          <p:nvPr/>
        </p:nvSpPr>
        <p:spPr bwMode="auto">
          <a:xfrm>
            <a:off x="3588151" y="522645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5" name="직사각형 241854">
            <a:extLst>
              <a:ext uri="{FF2B5EF4-FFF2-40B4-BE49-F238E27FC236}">
                <a16:creationId xmlns:a16="http://schemas.microsoft.com/office/drawing/2014/main" id="{AA654505-F12A-A11E-9F2B-7CD5DBE2805E}"/>
              </a:ext>
            </a:extLst>
          </p:cNvPr>
          <p:cNvSpPr/>
          <p:nvPr/>
        </p:nvSpPr>
        <p:spPr bwMode="auto">
          <a:xfrm>
            <a:off x="3975035"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6" name="직사각형 241855">
            <a:extLst>
              <a:ext uri="{FF2B5EF4-FFF2-40B4-BE49-F238E27FC236}">
                <a16:creationId xmlns:a16="http://schemas.microsoft.com/office/drawing/2014/main" id="{1814E4E0-7EAD-0F08-0251-86CB7326ED27}"/>
              </a:ext>
            </a:extLst>
          </p:cNvPr>
          <p:cNvSpPr/>
          <p:nvPr/>
        </p:nvSpPr>
        <p:spPr bwMode="auto">
          <a:xfrm>
            <a:off x="3206621"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7" name="직사각형 241856">
            <a:extLst>
              <a:ext uri="{FF2B5EF4-FFF2-40B4-BE49-F238E27FC236}">
                <a16:creationId xmlns:a16="http://schemas.microsoft.com/office/drawing/2014/main" id="{817069D3-457D-A6CB-4B0F-5CB8399BFA4F}"/>
              </a:ext>
            </a:extLst>
          </p:cNvPr>
          <p:cNvSpPr/>
          <p:nvPr/>
        </p:nvSpPr>
        <p:spPr bwMode="auto">
          <a:xfrm>
            <a:off x="4359452" y="522645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8" name="직사각형 241857">
            <a:extLst>
              <a:ext uri="{FF2B5EF4-FFF2-40B4-BE49-F238E27FC236}">
                <a16:creationId xmlns:a16="http://schemas.microsoft.com/office/drawing/2014/main" id="{91AD6F50-B387-1AB8-2B80-4D3C72848D6E}"/>
              </a:ext>
            </a:extLst>
          </p:cNvPr>
          <p:cNvSpPr/>
          <p:nvPr/>
        </p:nvSpPr>
        <p:spPr bwMode="auto">
          <a:xfrm>
            <a:off x="5122512"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9" name="직사각형 241858">
            <a:extLst>
              <a:ext uri="{FF2B5EF4-FFF2-40B4-BE49-F238E27FC236}">
                <a16:creationId xmlns:a16="http://schemas.microsoft.com/office/drawing/2014/main" id="{7CAFBCC2-F830-C5EE-0697-A9C23F3395A8}"/>
              </a:ext>
            </a:extLst>
          </p:cNvPr>
          <p:cNvSpPr/>
          <p:nvPr/>
        </p:nvSpPr>
        <p:spPr bwMode="auto">
          <a:xfrm>
            <a:off x="5509396" y="522645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60" name="직사각형 241859">
            <a:extLst>
              <a:ext uri="{FF2B5EF4-FFF2-40B4-BE49-F238E27FC236}">
                <a16:creationId xmlns:a16="http://schemas.microsoft.com/office/drawing/2014/main" id="{23E66925-1CE7-0291-C8CA-64C96FC45D70}"/>
              </a:ext>
            </a:extLst>
          </p:cNvPr>
          <p:cNvSpPr/>
          <p:nvPr/>
        </p:nvSpPr>
        <p:spPr bwMode="auto">
          <a:xfrm>
            <a:off x="4740982" y="522645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61" name="직선 연결선 241860">
            <a:extLst>
              <a:ext uri="{FF2B5EF4-FFF2-40B4-BE49-F238E27FC236}">
                <a16:creationId xmlns:a16="http://schemas.microsoft.com/office/drawing/2014/main" id="{A4AAB6B6-9325-122F-6DA0-142745247330}"/>
              </a:ext>
            </a:extLst>
          </p:cNvPr>
          <p:cNvCxnSpPr>
            <a:cxnSpLocks/>
          </p:cNvCxnSpPr>
          <p:nvPr/>
        </p:nvCxnSpPr>
        <p:spPr bwMode="auto">
          <a:xfrm>
            <a:off x="2061474" y="5141498"/>
            <a:ext cx="0" cy="533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64" name="왼쪽 중괄호 241863">
            <a:extLst>
              <a:ext uri="{FF2B5EF4-FFF2-40B4-BE49-F238E27FC236}">
                <a16:creationId xmlns:a16="http://schemas.microsoft.com/office/drawing/2014/main" id="{5E45A66C-EDAD-9EC1-6665-C71357B9734E}"/>
              </a:ext>
            </a:extLst>
          </p:cNvPr>
          <p:cNvSpPr/>
          <p:nvPr/>
        </p:nvSpPr>
        <p:spPr bwMode="auto">
          <a:xfrm>
            <a:off x="1449405" y="3217077"/>
            <a:ext cx="188247" cy="1415335"/>
          </a:xfrm>
          <a:prstGeom prst="leftBrace">
            <a:avLst>
              <a:gd name="adj1" fmla="val 0"/>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67" name="TextBox 241866">
            <a:extLst>
              <a:ext uri="{FF2B5EF4-FFF2-40B4-BE49-F238E27FC236}">
                <a16:creationId xmlns:a16="http://schemas.microsoft.com/office/drawing/2014/main" id="{E32DC062-020A-BB49-AD7B-F7431FCC9D59}"/>
              </a:ext>
            </a:extLst>
          </p:cNvPr>
          <p:cNvSpPr txBox="1"/>
          <p:nvPr/>
        </p:nvSpPr>
        <p:spPr>
          <a:xfrm>
            <a:off x="455784" y="3654818"/>
            <a:ext cx="1051891" cy="523220"/>
          </a:xfrm>
          <a:prstGeom prst="rect">
            <a:avLst/>
          </a:prstGeom>
          <a:noFill/>
        </p:spPr>
        <p:txBody>
          <a:bodyPr wrap="none" rtlCol="0">
            <a:spAutoFit/>
          </a:bodyPr>
          <a:lstStyle/>
          <a:p>
            <a:r>
              <a:rPr lang="en-US" altLang="ko-KR" sz="1400"/>
              <a:t>scheduler</a:t>
            </a:r>
          </a:p>
          <a:p>
            <a:pPr algn="ctr"/>
            <a:r>
              <a:rPr lang="en-US" altLang="ko-KR" sz="1400"/>
              <a:t>X</a:t>
            </a:r>
            <a:endParaRPr lang="ko-KR" altLang="en-US" sz="1400"/>
          </a:p>
        </p:txBody>
      </p:sp>
      <p:cxnSp>
        <p:nvCxnSpPr>
          <p:cNvPr id="241792" name="직선 연결선 241791">
            <a:extLst>
              <a:ext uri="{FF2B5EF4-FFF2-40B4-BE49-F238E27FC236}">
                <a16:creationId xmlns:a16="http://schemas.microsoft.com/office/drawing/2014/main" id="{73E4F6A5-8629-E16F-42B3-3A2916535E7A}"/>
              </a:ext>
            </a:extLst>
          </p:cNvPr>
          <p:cNvCxnSpPr>
            <a:cxnSpLocks/>
          </p:cNvCxnSpPr>
          <p:nvPr/>
        </p:nvCxnSpPr>
        <p:spPr bwMode="auto">
          <a:xfrm>
            <a:off x="6401279" y="3251885"/>
            <a:ext cx="0" cy="10592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796" name="직사각형 241795">
            <a:extLst>
              <a:ext uri="{FF2B5EF4-FFF2-40B4-BE49-F238E27FC236}">
                <a16:creationId xmlns:a16="http://schemas.microsoft.com/office/drawing/2014/main" id="{64C1A620-6767-E902-95DD-F8E2CD81C0B9}"/>
              </a:ext>
            </a:extLst>
          </p:cNvPr>
          <p:cNvSpPr/>
          <p:nvPr/>
        </p:nvSpPr>
        <p:spPr bwMode="auto">
          <a:xfrm rot="5400000">
            <a:off x="6847699" y="3460790"/>
            <a:ext cx="304800" cy="1197631"/>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04" name="직사각형 241803">
            <a:extLst>
              <a:ext uri="{FF2B5EF4-FFF2-40B4-BE49-F238E27FC236}">
                <a16:creationId xmlns:a16="http://schemas.microsoft.com/office/drawing/2014/main" id="{9284E158-03C0-8CB6-F66A-97D6A92EB0C0}"/>
              </a:ext>
            </a:extLst>
          </p:cNvPr>
          <p:cNvSpPr/>
          <p:nvPr/>
        </p:nvSpPr>
        <p:spPr bwMode="auto">
          <a:xfrm rot="5400000">
            <a:off x="6847699" y="3034070"/>
            <a:ext cx="304800" cy="119763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241809" name="직선 화살표 연결선 241808">
            <a:extLst>
              <a:ext uri="{FF2B5EF4-FFF2-40B4-BE49-F238E27FC236}">
                <a16:creationId xmlns:a16="http://schemas.microsoft.com/office/drawing/2014/main" id="{CA6DEADF-7185-DD38-7584-5067C19CC732}"/>
              </a:ext>
            </a:extLst>
          </p:cNvPr>
          <p:cNvCxnSpPr>
            <a:cxnSpLocks/>
          </p:cNvCxnSpPr>
          <p:nvPr/>
        </p:nvCxnSpPr>
        <p:spPr bwMode="auto">
          <a:xfrm>
            <a:off x="6401283" y="4311111"/>
            <a:ext cx="160024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1815" name="직선 연결선 241814">
            <a:extLst>
              <a:ext uri="{FF2B5EF4-FFF2-40B4-BE49-F238E27FC236}">
                <a16:creationId xmlns:a16="http://schemas.microsoft.com/office/drawing/2014/main" id="{8344A158-346F-B680-EFEB-FF0498B2B7F6}"/>
              </a:ext>
            </a:extLst>
          </p:cNvPr>
          <p:cNvCxnSpPr>
            <a:cxnSpLocks/>
          </p:cNvCxnSpPr>
          <p:nvPr/>
        </p:nvCxnSpPr>
        <p:spPr bwMode="auto">
          <a:xfrm rot="5400000">
            <a:off x="7065514" y="3777711"/>
            <a:ext cx="1066800"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41816" name="TextBox 241815">
            <a:extLst>
              <a:ext uri="{FF2B5EF4-FFF2-40B4-BE49-F238E27FC236}">
                <a16:creationId xmlns:a16="http://schemas.microsoft.com/office/drawing/2014/main" id="{DB9DC4B8-33F0-0C6A-411B-D0B7947BBB53}"/>
              </a:ext>
            </a:extLst>
          </p:cNvPr>
          <p:cNvSpPr txBox="1"/>
          <p:nvPr/>
        </p:nvSpPr>
        <p:spPr>
          <a:xfrm>
            <a:off x="7397616" y="4317370"/>
            <a:ext cx="343364" cy="276999"/>
          </a:xfrm>
          <a:prstGeom prst="rect">
            <a:avLst/>
          </a:prstGeom>
          <a:noFill/>
        </p:spPr>
        <p:txBody>
          <a:bodyPr wrap="none" rtlCol="0">
            <a:spAutoFit/>
          </a:bodyPr>
          <a:lstStyle/>
          <a:p>
            <a:r>
              <a:rPr lang="en-US" altLang="ko-KR" sz="1200"/>
              <a:t>5t</a:t>
            </a:r>
            <a:endParaRPr lang="ko-KR" altLang="en-US" sz="1200"/>
          </a:p>
        </p:txBody>
      </p:sp>
      <p:sp>
        <p:nvSpPr>
          <p:cNvPr id="241822" name="TextBox 241821">
            <a:extLst>
              <a:ext uri="{FF2B5EF4-FFF2-40B4-BE49-F238E27FC236}">
                <a16:creationId xmlns:a16="http://schemas.microsoft.com/office/drawing/2014/main" id="{16A56D7F-07E7-871E-36F7-E463D87087FA}"/>
              </a:ext>
            </a:extLst>
          </p:cNvPr>
          <p:cNvSpPr txBox="1"/>
          <p:nvPr/>
        </p:nvSpPr>
        <p:spPr>
          <a:xfrm>
            <a:off x="6093710" y="3463905"/>
            <a:ext cx="325924" cy="276999"/>
          </a:xfrm>
          <a:prstGeom prst="rect">
            <a:avLst/>
          </a:prstGeom>
          <a:noFill/>
        </p:spPr>
        <p:txBody>
          <a:bodyPr wrap="square" rtlCol="0">
            <a:spAutoFit/>
          </a:bodyPr>
          <a:lstStyle/>
          <a:p>
            <a:pPr algn="ctr"/>
            <a:r>
              <a:rPr lang="en-US" altLang="ko-KR" sz="1200"/>
              <a:t>A</a:t>
            </a:r>
            <a:endParaRPr lang="ko-KR" altLang="en-US" sz="1200"/>
          </a:p>
        </p:txBody>
      </p:sp>
      <p:sp>
        <p:nvSpPr>
          <p:cNvPr id="241823" name="TextBox 241822">
            <a:extLst>
              <a:ext uri="{FF2B5EF4-FFF2-40B4-BE49-F238E27FC236}">
                <a16:creationId xmlns:a16="http://schemas.microsoft.com/office/drawing/2014/main" id="{10D9FA9D-F4F6-552B-2001-305493507401}"/>
              </a:ext>
            </a:extLst>
          </p:cNvPr>
          <p:cNvSpPr txBox="1"/>
          <p:nvPr/>
        </p:nvSpPr>
        <p:spPr>
          <a:xfrm>
            <a:off x="6093710" y="3916428"/>
            <a:ext cx="325924" cy="276999"/>
          </a:xfrm>
          <a:prstGeom prst="rect">
            <a:avLst/>
          </a:prstGeom>
          <a:noFill/>
        </p:spPr>
        <p:txBody>
          <a:bodyPr wrap="square" rtlCol="0">
            <a:spAutoFit/>
          </a:bodyPr>
          <a:lstStyle/>
          <a:p>
            <a:pPr algn="ctr"/>
            <a:r>
              <a:rPr lang="en-US" altLang="ko-KR" sz="1200"/>
              <a:t>B</a:t>
            </a:r>
            <a:endParaRPr lang="ko-KR" altLang="en-US" sz="1200"/>
          </a:p>
        </p:txBody>
      </p:sp>
      <p:cxnSp>
        <p:nvCxnSpPr>
          <p:cNvPr id="4" name="직선 연결선 3">
            <a:extLst>
              <a:ext uri="{FF2B5EF4-FFF2-40B4-BE49-F238E27FC236}">
                <a16:creationId xmlns:a16="http://schemas.microsoft.com/office/drawing/2014/main" id="{EB1266CA-573E-D392-7CEC-9F38CED63135}"/>
              </a:ext>
            </a:extLst>
          </p:cNvPr>
          <p:cNvCxnSpPr>
            <a:cxnSpLocks/>
          </p:cNvCxnSpPr>
          <p:nvPr/>
        </p:nvCxnSpPr>
        <p:spPr bwMode="auto">
          <a:xfrm>
            <a:off x="6401279" y="4789039"/>
            <a:ext cx="0" cy="105922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직사각형 4">
            <a:extLst>
              <a:ext uri="{FF2B5EF4-FFF2-40B4-BE49-F238E27FC236}">
                <a16:creationId xmlns:a16="http://schemas.microsoft.com/office/drawing/2014/main" id="{B1C8B72F-B051-3837-1CBF-75595D31FE56}"/>
              </a:ext>
            </a:extLst>
          </p:cNvPr>
          <p:cNvSpPr/>
          <p:nvPr/>
        </p:nvSpPr>
        <p:spPr bwMode="auto">
          <a:xfrm rot="5400000">
            <a:off x="6968555" y="4876759"/>
            <a:ext cx="304800" cy="14400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6" name="직사각형 5">
            <a:extLst>
              <a:ext uri="{FF2B5EF4-FFF2-40B4-BE49-F238E27FC236}">
                <a16:creationId xmlns:a16="http://schemas.microsoft.com/office/drawing/2014/main" id="{0AA46E58-DF6D-37D9-B1A0-698F3DA1F03F}"/>
              </a:ext>
            </a:extLst>
          </p:cNvPr>
          <p:cNvSpPr/>
          <p:nvPr/>
        </p:nvSpPr>
        <p:spPr bwMode="auto">
          <a:xfrm rot="5400000">
            <a:off x="6727676" y="4691239"/>
            <a:ext cx="304800" cy="957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TextBox 8">
            <a:extLst>
              <a:ext uri="{FF2B5EF4-FFF2-40B4-BE49-F238E27FC236}">
                <a16:creationId xmlns:a16="http://schemas.microsoft.com/office/drawing/2014/main" id="{B50726F3-77B5-9AD5-5621-7E27D497FAF3}"/>
              </a:ext>
            </a:extLst>
          </p:cNvPr>
          <p:cNvSpPr txBox="1"/>
          <p:nvPr/>
        </p:nvSpPr>
        <p:spPr>
          <a:xfrm>
            <a:off x="7208128" y="5854524"/>
            <a:ext cx="343364" cy="276999"/>
          </a:xfrm>
          <a:prstGeom prst="rect">
            <a:avLst/>
          </a:prstGeom>
          <a:noFill/>
        </p:spPr>
        <p:txBody>
          <a:bodyPr wrap="none" rtlCol="0">
            <a:spAutoFit/>
          </a:bodyPr>
          <a:lstStyle/>
          <a:p>
            <a:r>
              <a:rPr lang="en-US" altLang="ko-KR" sz="1200"/>
              <a:t>4t</a:t>
            </a:r>
            <a:endParaRPr lang="ko-KR" altLang="en-US" sz="1200"/>
          </a:p>
        </p:txBody>
      </p:sp>
      <p:sp>
        <p:nvSpPr>
          <p:cNvPr id="11" name="TextBox 10">
            <a:extLst>
              <a:ext uri="{FF2B5EF4-FFF2-40B4-BE49-F238E27FC236}">
                <a16:creationId xmlns:a16="http://schemas.microsoft.com/office/drawing/2014/main" id="{5E283CC6-2290-EB85-96AB-BB686D96EA24}"/>
              </a:ext>
            </a:extLst>
          </p:cNvPr>
          <p:cNvSpPr txBox="1"/>
          <p:nvPr/>
        </p:nvSpPr>
        <p:spPr>
          <a:xfrm>
            <a:off x="6093710" y="5001059"/>
            <a:ext cx="325924" cy="276999"/>
          </a:xfrm>
          <a:prstGeom prst="rect">
            <a:avLst/>
          </a:prstGeom>
          <a:noFill/>
        </p:spPr>
        <p:txBody>
          <a:bodyPr wrap="square" rtlCol="0">
            <a:spAutoFit/>
          </a:bodyPr>
          <a:lstStyle/>
          <a:p>
            <a:pPr algn="ctr"/>
            <a:r>
              <a:rPr lang="en-US" altLang="ko-KR" sz="1200"/>
              <a:t>A</a:t>
            </a:r>
            <a:endParaRPr lang="ko-KR" altLang="en-US" sz="1200"/>
          </a:p>
        </p:txBody>
      </p:sp>
      <p:sp>
        <p:nvSpPr>
          <p:cNvPr id="12" name="TextBox 11">
            <a:extLst>
              <a:ext uri="{FF2B5EF4-FFF2-40B4-BE49-F238E27FC236}">
                <a16:creationId xmlns:a16="http://schemas.microsoft.com/office/drawing/2014/main" id="{A720D8BE-607C-D08D-EB7D-DA2BBFD5FD78}"/>
              </a:ext>
            </a:extLst>
          </p:cNvPr>
          <p:cNvSpPr txBox="1"/>
          <p:nvPr/>
        </p:nvSpPr>
        <p:spPr>
          <a:xfrm>
            <a:off x="6093710" y="5453582"/>
            <a:ext cx="325924" cy="276999"/>
          </a:xfrm>
          <a:prstGeom prst="rect">
            <a:avLst/>
          </a:prstGeom>
          <a:noFill/>
        </p:spPr>
        <p:txBody>
          <a:bodyPr wrap="square" rtlCol="0">
            <a:spAutoFit/>
          </a:bodyPr>
          <a:lstStyle/>
          <a:p>
            <a:pPr algn="ctr"/>
            <a:r>
              <a:rPr lang="en-US" altLang="ko-KR" sz="1200"/>
              <a:t>B</a:t>
            </a:r>
            <a:endParaRPr lang="ko-KR" altLang="en-US" sz="1200"/>
          </a:p>
        </p:txBody>
      </p:sp>
      <p:cxnSp>
        <p:nvCxnSpPr>
          <p:cNvPr id="14" name="직선 연결선 13">
            <a:extLst>
              <a:ext uri="{FF2B5EF4-FFF2-40B4-BE49-F238E27FC236}">
                <a16:creationId xmlns:a16="http://schemas.microsoft.com/office/drawing/2014/main" id="{4B46F996-7AC0-BC03-37D3-D12B24ED55AA}"/>
              </a:ext>
            </a:extLst>
          </p:cNvPr>
          <p:cNvCxnSpPr>
            <a:cxnSpLocks/>
          </p:cNvCxnSpPr>
          <p:nvPr/>
        </p:nvCxnSpPr>
        <p:spPr bwMode="auto">
          <a:xfrm rot="5400000">
            <a:off x="7307555" y="5314865"/>
            <a:ext cx="1066800"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7" name="TextBox 16">
            <a:extLst>
              <a:ext uri="{FF2B5EF4-FFF2-40B4-BE49-F238E27FC236}">
                <a16:creationId xmlns:a16="http://schemas.microsoft.com/office/drawing/2014/main" id="{6204E700-A572-3E68-0D7F-2D566B7DE65D}"/>
              </a:ext>
            </a:extLst>
          </p:cNvPr>
          <p:cNvSpPr txBox="1"/>
          <p:nvPr/>
        </p:nvSpPr>
        <p:spPr>
          <a:xfrm>
            <a:off x="7653183" y="5854524"/>
            <a:ext cx="343364" cy="276999"/>
          </a:xfrm>
          <a:prstGeom prst="rect">
            <a:avLst/>
          </a:prstGeom>
          <a:noFill/>
        </p:spPr>
        <p:txBody>
          <a:bodyPr wrap="none" rtlCol="0">
            <a:spAutoFit/>
          </a:bodyPr>
          <a:lstStyle/>
          <a:p>
            <a:r>
              <a:rPr lang="en-US" altLang="ko-KR" sz="1200"/>
              <a:t>6t</a:t>
            </a:r>
            <a:endParaRPr lang="ko-KR" altLang="en-US" sz="1200"/>
          </a:p>
        </p:txBody>
      </p:sp>
      <p:cxnSp>
        <p:nvCxnSpPr>
          <p:cNvPr id="20" name="직선 화살표 연결선 19">
            <a:extLst>
              <a:ext uri="{FF2B5EF4-FFF2-40B4-BE49-F238E27FC236}">
                <a16:creationId xmlns:a16="http://schemas.microsoft.com/office/drawing/2014/main" id="{2402B893-B2F2-0968-4EAF-5F6B7865AFF2}"/>
              </a:ext>
            </a:extLst>
          </p:cNvPr>
          <p:cNvCxnSpPr>
            <a:cxnSpLocks/>
          </p:cNvCxnSpPr>
          <p:nvPr/>
        </p:nvCxnSpPr>
        <p:spPr bwMode="auto">
          <a:xfrm>
            <a:off x="6401283" y="5848265"/>
            <a:ext cx="1600247"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6F001289-9EEA-0331-600F-82386A6E81FF}"/>
              </a:ext>
            </a:extLst>
          </p:cNvPr>
          <p:cNvSpPr txBox="1"/>
          <p:nvPr/>
        </p:nvSpPr>
        <p:spPr>
          <a:xfrm>
            <a:off x="7985043" y="4103235"/>
            <a:ext cx="713657" cy="415498"/>
          </a:xfrm>
          <a:prstGeom prst="rect">
            <a:avLst/>
          </a:prstGeom>
          <a:noFill/>
        </p:spPr>
        <p:txBody>
          <a:bodyPr wrap="none" rtlCol="0">
            <a:spAutoFit/>
          </a:bodyPr>
          <a:lstStyle/>
          <a:p>
            <a:pPr algn="ctr"/>
            <a:r>
              <a:rPr lang="en-US" altLang="ko-KR" sz="1050"/>
              <a:t>thread</a:t>
            </a:r>
          </a:p>
          <a:p>
            <a:r>
              <a:rPr lang="en-US" altLang="ko-KR" sz="1050"/>
              <a:t>runtime</a:t>
            </a:r>
            <a:endParaRPr lang="ko-KR" altLang="en-US" sz="1050"/>
          </a:p>
        </p:txBody>
      </p:sp>
      <p:sp>
        <p:nvSpPr>
          <p:cNvPr id="22" name="TextBox 21">
            <a:extLst>
              <a:ext uri="{FF2B5EF4-FFF2-40B4-BE49-F238E27FC236}">
                <a16:creationId xmlns:a16="http://schemas.microsoft.com/office/drawing/2014/main" id="{02D6C76E-7448-9FE0-97CA-63433D5F2144}"/>
              </a:ext>
            </a:extLst>
          </p:cNvPr>
          <p:cNvSpPr txBox="1"/>
          <p:nvPr/>
        </p:nvSpPr>
        <p:spPr>
          <a:xfrm>
            <a:off x="7985043" y="5652658"/>
            <a:ext cx="713657" cy="415498"/>
          </a:xfrm>
          <a:prstGeom prst="rect">
            <a:avLst/>
          </a:prstGeom>
          <a:noFill/>
        </p:spPr>
        <p:txBody>
          <a:bodyPr wrap="none" rtlCol="0">
            <a:spAutoFit/>
          </a:bodyPr>
          <a:lstStyle/>
          <a:p>
            <a:pPr algn="ctr"/>
            <a:r>
              <a:rPr lang="en-US" altLang="ko-KR" sz="1050"/>
              <a:t>thread</a:t>
            </a:r>
          </a:p>
          <a:p>
            <a:r>
              <a:rPr lang="en-US" altLang="ko-KR" sz="1050"/>
              <a:t>runtime</a:t>
            </a:r>
            <a:endParaRPr lang="ko-KR" altLang="en-US" sz="1050"/>
          </a:p>
        </p:txBody>
      </p:sp>
      <p:sp>
        <p:nvSpPr>
          <p:cNvPr id="23" name="왼쪽 중괄호 22">
            <a:extLst>
              <a:ext uri="{FF2B5EF4-FFF2-40B4-BE49-F238E27FC236}">
                <a16:creationId xmlns:a16="http://schemas.microsoft.com/office/drawing/2014/main" id="{7D910073-0EF8-6C15-8DDE-6CB8A1A2EBAA}"/>
              </a:ext>
            </a:extLst>
          </p:cNvPr>
          <p:cNvSpPr/>
          <p:nvPr/>
        </p:nvSpPr>
        <p:spPr bwMode="auto">
          <a:xfrm>
            <a:off x="1449405" y="4716188"/>
            <a:ext cx="188247" cy="1415335"/>
          </a:xfrm>
          <a:prstGeom prst="leftBrace">
            <a:avLst>
              <a:gd name="adj1" fmla="val 0"/>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 name="TextBox 23">
            <a:extLst>
              <a:ext uri="{FF2B5EF4-FFF2-40B4-BE49-F238E27FC236}">
                <a16:creationId xmlns:a16="http://schemas.microsoft.com/office/drawing/2014/main" id="{B3FF71CD-4571-13BB-5DA3-80C68C15F974}"/>
              </a:ext>
            </a:extLst>
          </p:cNvPr>
          <p:cNvSpPr txBox="1"/>
          <p:nvPr/>
        </p:nvSpPr>
        <p:spPr>
          <a:xfrm>
            <a:off x="455784" y="5153929"/>
            <a:ext cx="1051891" cy="523220"/>
          </a:xfrm>
          <a:prstGeom prst="rect">
            <a:avLst/>
          </a:prstGeom>
          <a:noFill/>
        </p:spPr>
        <p:txBody>
          <a:bodyPr wrap="none" rtlCol="0">
            <a:spAutoFit/>
          </a:bodyPr>
          <a:lstStyle/>
          <a:p>
            <a:r>
              <a:rPr lang="en-US" altLang="ko-KR" sz="1400"/>
              <a:t>scheduler</a:t>
            </a:r>
          </a:p>
          <a:p>
            <a:pPr algn="ctr"/>
            <a:r>
              <a:rPr lang="en-US" altLang="ko-KR" sz="1400"/>
              <a:t>Y</a:t>
            </a:r>
            <a:endParaRPr lang="ko-KR" altLang="en-US" sz="1400"/>
          </a:p>
        </p:txBody>
      </p:sp>
      <p:cxnSp>
        <p:nvCxnSpPr>
          <p:cNvPr id="26" name="직선 연결선 25">
            <a:extLst>
              <a:ext uri="{FF2B5EF4-FFF2-40B4-BE49-F238E27FC236}">
                <a16:creationId xmlns:a16="http://schemas.microsoft.com/office/drawing/2014/main" id="{0BE169C8-ACB9-319C-CFA8-B4DB06965957}"/>
              </a:ext>
            </a:extLst>
          </p:cNvPr>
          <p:cNvCxnSpPr>
            <a:cxnSpLocks/>
          </p:cNvCxnSpPr>
          <p:nvPr/>
        </p:nvCxnSpPr>
        <p:spPr bwMode="auto">
          <a:xfrm>
            <a:off x="2439606" y="4156564"/>
            <a:ext cx="0" cy="11063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TextBox 26">
            <a:extLst>
              <a:ext uri="{FF2B5EF4-FFF2-40B4-BE49-F238E27FC236}">
                <a16:creationId xmlns:a16="http://schemas.microsoft.com/office/drawing/2014/main" id="{69C955E8-59D1-AA84-FF3C-C63331E66BD9}"/>
              </a:ext>
            </a:extLst>
          </p:cNvPr>
          <p:cNvSpPr txBox="1"/>
          <p:nvPr/>
        </p:nvSpPr>
        <p:spPr>
          <a:xfrm>
            <a:off x="2306743" y="4228517"/>
            <a:ext cx="245580" cy="276999"/>
          </a:xfrm>
          <a:prstGeom prst="rect">
            <a:avLst/>
          </a:prstGeom>
          <a:noFill/>
        </p:spPr>
        <p:txBody>
          <a:bodyPr wrap="none" rtlCol="0">
            <a:spAutoFit/>
          </a:bodyPr>
          <a:lstStyle/>
          <a:p>
            <a:r>
              <a:rPr lang="en-US" altLang="ko-KR" sz="1200"/>
              <a:t>t</a:t>
            </a:r>
            <a:endParaRPr lang="ko-KR" altLang="en-US" sz="1200"/>
          </a:p>
        </p:txBody>
      </p:sp>
      <p:cxnSp>
        <p:nvCxnSpPr>
          <p:cNvPr id="241793" name="직선 연결선 241792">
            <a:extLst>
              <a:ext uri="{FF2B5EF4-FFF2-40B4-BE49-F238E27FC236}">
                <a16:creationId xmlns:a16="http://schemas.microsoft.com/office/drawing/2014/main" id="{E3E4A81B-BD6E-E63C-D42B-1A5C69036C81}"/>
              </a:ext>
            </a:extLst>
          </p:cNvPr>
          <p:cNvCxnSpPr>
            <a:cxnSpLocks/>
          </p:cNvCxnSpPr>
          <p:nvPr/>
        </p:nvCxnSpPr>
        <p:spPr bwMode="auto">
          <a:xfrm>
            <a:off x="2439606" y="5618258"/>
            <a:ext cx="0" cy="11063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794" name="TextBox 241793">
            <a:extLst>
              <a:ext uri="{FF2B5EF4-FFF2-40B4-BE49-F238E27FC236}">
                <a16:creationId xmlns:a16="http://schemas.microsoft.com/office/drawing/2014/main" id="{4C05A0D2-EE68-6CB5-65CD-550E9E55CFDA}"/>
              </a:ext>
            </a:extLst>
          </p:cNvPr>
          <p:cNvSpPr txBox="1"/>
          <p:nvPr/>
        </p:nvSpPr>
        <p:spPr>
          <a:xfrm>
            <a:off x="2306743" y="5690211"/>
            <a:ext cx="245580" cy="276999"/>
          </a:xfrm>
          <a:prstGeom prst="rect">
            <a:avLst/>
          </a:prstGeom>
          <a:noFill/>
        </p:spPr>
        <p:txBody>
          <a:bodyPr wrap="none" rtlCol="0">
            <a:spAutoFit/>
          </a:bodyPr>
          <a:lstStyle/>
          <a:p>
            <a:r>
              <a:rPr lang="en-US" altLang="ko-KR" sz="1200"/>
              <a:t>t</a:t>
            </a:r>
            <a:endParaRPr lang="ko-KR" altLang="en-US" sz="1200"/>
          </a:p>
        </p:txBody>
      </p:sp>
    </p:spTree>
    <p:extLst>
      <p:ext uri="{BB962C8B-B14F-4D97-AF65-F5344CB8AC3E}">
        <p14:creationId xmlns:p14="http://schemas.microsoft.com/office/powerpoint/2010/main" val="282602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C7FE-B587-FF7D-DA96-AB1FAB35EA6E}"/>
            </a:ext>
          </a:extLst>
        </p:cNvPr>
        <p:cNvGrpSpPr/>
        <p:nvPr/>
      </p:nvGrpSpPr>
      <p:grpSpPr>
        <a:xfrm>
          <a:off x="0" y="0"/>
          <a:ext cx="0" cy="0"/>
          <a:chOff x="0" y="0"/>
          <a:chExt cx="0" cy="0"/>
        </a:xfrm>
      </p:grpSpPr>
      <p:sp>
        <p:nvSpPr>
          <p:cNvPr id="25" name="Rectangle 3">
            <a:extLst>
              <a:ext uri="{FF2B5EF4-FFF2-40B4-BE49-F238E27FC236}">
                <a16:creationId xmlns:a16="http://schemas.microsoft.com/office/drawing/2014/main" id="{7FF4FAE3-D734-66AD-EF81-EE759BFD7C6A}"/>
              </a:ext>
            </a:extLst>
          </p:cNvPr>
          <p:cNvSpPr txBox="1">
            <a:spLocks noChangeArrowheads="1"/>
          </p:cNvSpPr>
          <p:nvPr/>
        </p:nvSpPr>
        <p:spPr bwMode="auto">
          <a:xfrm>
            <a:off x="574676" y="1752600"/>
            <a:ext cx="8001000" cy="121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000" kern="0"/>
              <a:t>It is more reasonable to introduce windows (i.e. fixed size time intervals) and summate runtime separately.</a:t>
            </a:r>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sp>
        <p:nvSpPr>
          <p:cNvPr id="241666" name="Rectangle 2">
            <a:extLst>
              <a:ext uri="{FF2B5EF4-FFF2-40B4-BE49-F238E27FC236}">
                <a16:creationId xmlns:a16="http://schemas.microsoft.com/office/drawing/2014/main" id="{FFB2DB3B-8693-CE9D-D300-3ACA09EFDE64}"/>
              </a:ext>
            </a:extLst>
          </p:cNvPr>
          <p:cNvSpPr>
            <a:spLocks noGrp="1" noChangeArrowheads="1"/>
          </p:cNvSpPr>
          <p:nvPr>
            <p:ph type="title"/>
          </p:nvPr>
        </p:nvSpPr>
        <p:spPr/>
        <p:txBody>
          <a:bodyPr/>
          <a:lstStyle/>
          <a:p>
            <a:r>
              <a:rPr lang="en-US" altLang="ko-KR"/>
              <a:t>Fairness Evaluation Plan </a:t>
            </a:r>
            <a:r>
              <a:rPr lang="en-US" altLang="ko-KR" sz="2800"/>
              <a:t>(2/2)</a:t>
            </a:r>
          </a:p>
        </p:txBody>
      </p:sp>
      <p:sp>
        <p:nvSpPr>
          <p:cNvPr id="241826" name="직사각형 241825">
            <a:extLst>
              <a:ext uri="{FF2B5EF4-FFF2-40B4-BE49-F238E27FC236}">
                <a16:creationId xmlns:a16="http://schemas.microsoft.com/office/drawing/2014/main" id="{49351387-EF45-EDDC-9C9F-8FC6F76351E5}"/>
              </a:ext>
            </a:extLst>
          </p:cNvPr>
          <p:cNvSpPr/>
          <p:nvPr/>
        </p:nvSpPr>
        <p:spPr bwMode="auto">
          <a:xfrm>
            <a:off x="2193025" y="335280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27" name="직선 화살표 연결선 241826">
            <a:extLst>
              <a:ext uri="{FF2B5EF4-FFF2-40B4-BE49-F238E27FC236}">
                <a16:creationId xmlns:a16="http://schemas.microsoft.com/office/drawing/2014/main" id="{62D8C4EE-4F98-E672-B0CD-5B7D0A10C98F}"/>
              </a:ext>
            </a:extLst>
          </p:cNvPr>
          <p:cNvCxnSpPr>
            <a:cxnSpLocks/>
          </p:cNvCxnSpPr>
          <p:nvPr/>
        </p:nvCxnSpPr>
        <p:spPr bwMode="auto">
          <a:xfrm>
            <a:off x="1811495" y="3801248"/>
            <a:ext cx="39149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829" name="TextBox 241828">
            <a:extLst>
              <a:ext uri="{FF2B5EF4-FFF2-40B4-BE49-F238E27FC236}">
                <a16:creationId xmlns:a16="http://schemas.microsoft.com/office/drawing/2014/main" id="{49737090-3DC3-4FB7-68AC-D9F418AC35E6}"/>
              </a:ext>
            </a:extLst>
          </p:cNvPr>
          <p:cNvSpPr txBox="1"/>
          <p:nvPr/>
        </p:nvSpPr>
        <p:spPr>
          <a:xfrm>
            <a:off x="4556162" y="3801248"/>
            <a:ext cx="1192955" cy="276999"/>
          </a:xfrm>
          <a:prstGeom prst="rect">
            <a:avLst/>
          </a:prstGeom>
          <a:noFill/>
        </p:spPr>
        <p:txBody>
          <a:bodyPr wrap="none" rtlCol="0">
            <a:spAutoFit/>
          </a:bodyPr>
          <a:lstStyle/>
          <a:p>
            <a:r>
              <a:rPr lang="en-US" altLang="ko-KR" sz="1200"/>
              <a:t>total runtime</a:t>
            </a:r>
            <a:endParaRPr lang="ko-KR" altLang="en-US" sz="1200"/>
          </a:p>
        </p:txBody>
      </p:sp>
      <p:sp>
        <p:nvSpPr>
          <p:cNvPr id="241832" name="직사각형 241831">
            <a:extLst>
              <a:ext uri="{FF2B5EF4-FFF2-40B4-BE49-F238E27FC236}">
                <a16:creationId xmlns:a16="http://schemas.microsoft.com/office/drawing/2014/main" id="{C282B27B-9D1F-FDAA-B342-A072A64C395D}"/>
              </a:ext>
            </a:extLst>
          </p:cNvPr>
          <p:cNvSpPr/>
          <p:nvPr/>
        </p:nvSpPr>
        <p:spPr bwMode="auto">
          <a:xfrm>
            <a:off x="2579909" y="335280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3" name="직사각형 241832">
            <a:extLst>
              <a:ext uri="{FF2B5EF4-FFF2-40B4-BE49-F238E27FC236}">
                <a16:creationId xmlns:a16="http://schemas.microsoft.com/office/drawing/2014/main" id="{6C6F3FB9-75A6-5087-91B7-AFF52F32B85D}"/>
              </a:ext>
            </a:extLst>
          </p:cNvPr>
          <p:cNvSpPr/>
          <p:nvPr/>
        </p:nvSpPr>
        <p:spPr bwMode="auto">
          <a:xfrm>
            <a:off x="1811495" y="335280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4" name="직사각형 241833">
            <a:extLst>
              <a:ext uri="{FF2B5EF4-FFF2-40B4-BE49-F238E27FC236}">
                <a16:creationId xmlns:a16="http://schemas.microsoft.com/office/drawing/2014/main" id="{77445A5B-EB0F-71B1-67EB-7CD3B7BFFA2D}"/>
              </a:ext>
            </a:extLst>
          </p:cNvPr>
          <p:cNvSpPr/>
          <p:nvPr/>
        </p:nvSpPr>
        <p:spPr bwMode="auto">
          <a:xfrm>
            <a:off x="3342969" y="335280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5" name="직사각형 241834">
            <a:extLst>
              <a:ext uri="{FF2B5EF4-FFF2-40B4-BE49-F238E27FC236}">
                <a16:creationId xmlns:a16="http://schemas.microsoft.com/office/drawing/2014/main" id="{278F6DA7-9149-776B-F5F8-709509EB4B07}"/>
              </a:ext>
            </a:extLst>
          </p:cNvPr>
          <p:cNvSpPr/>
          <p:nvPr/>
        </p:nvSpPr>
        <p:spPr bwMode="auto">
          <a:xfrm>
            <a:off x="3729853" y="335280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6" name="직사각형 241835">
            <a:extLst>
              <a:ext uri="{FF2B5EF4-FFF2-40B4-BE49-F238E27FC236}">
                <a16:creationId xmlns:a16="http://schemas.microsoft.com/office/drawing/2014/main" id="{DB49D2FC-1905-972F-33A3-F6FBB1D7EE25}"/>
              </a:ext>
            </a:extLst>
          </p:cNvPr>
          <p:cNvSpPr/>
          <p:nvPr/>
        </p:nvSpPr>
        <p:spPr bwMode="auto">
          <a:xfrm>
            <a:off x="2961439" y="335280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7" name="직사각형 241836">
            <a:extLst>
              <a:ext uri="{FF2B5EF4-FFF2-40B4-BE49-F238E27FC236}">
                <a16:creationId xmlns:a16="http://schemas.microsoft.com/office/drawing/2014/main" id="{6653A1D9-10E0-CF98-A4E5-31AB0B0C3074}"/>
              </a:ext>
            </a:extLst>
          </p:cNvPr>
          <p:cNvSpPr/>
          <p:nvPr/>
        </p:nvSpPr>
        <p:spPr bwMode="auto">
          <a:xfrm>
            <a:off x="4114270" y="335280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8" name="직사각형 241837">
            <a:extLst>
              <a:ext uri="{FF2B5EF4-FFF2-40B4-BE49-F238E27FC236}">
                <a16:creationId xmlns:a16="http://schemas.microsoft.com/office/drawing/2014/main" id="{15D1E840-903B-5958-C4C9-0832D7CEDD1A}"/>
              </a:ext>
            </a:extLst>
          </p:cNvPr>
          <p:cNvSpPr/>
          <p:nvPr/>
        </p:nvSpPr>
        <p:spPr bwMode="auto">
          <a:xfrm>
            <a:off x="4877330" y="335280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39" name="직사각형 241838">
            <a:extLst>
              <a:ext uri="{FF2B5EF4-FFF2-40B4-BE49-F238E27FC236}">
                <a16:creationId xmlns:a16="http://schemas.microsoft.com/office/drawing/2014/main" id="{BF5E5B93-2487-C859-A102-1FC676B6B671}"/>
              </a:ext>
            </a:extLst>
          </p:cNvPr>
          <p:cNvSpPr/>
          <p:nvPr/>
        </p:nvSpPr>
        <p:spPr bwMode="auto">
          <a:xfrm>
            <a:off x="5264214" y="335280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40" name="직사각형 241839">
            <a:extLst>
              <a:ext uri="{FF2B5EF4-FFF2-40B4-BE49-F238E27FC236}">
                <a16:creationId xmlns:a16="http://schemas.microsoft.com/office/drawing/2014/main" id="{BBFB6DDD-42C0-14F8-C949-C0FF142EA716}"/>
              </a:ext>
            </a:extLst>
          </p:cNvPr>
          <p:cNvSpPr/>
          <p:nvPr/>
        </p:nvSpPr>
        <p:spPr bwMode="auto">
          <a:xfrm>
            <a:off x="4495800" y="335280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600"/>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44" name="직선 연결선 241843">
            <a:extLst>
              <a:ext uri="{FF2B5EF4-FFF2-40B4-BE49-F238E27FC236}">
                <a16:creationId xmlns:a16="http://schemas.microsoft.com/office/drawing/2014/main" id="{AC56CD9B-7FB6-1784-DCA9-01295AF1DF9D}"/>
              </a:ext>
            </a:extLst>
          </p:cNvPr>
          <p:cNvCxnSpPr>
            <a:cxnSpLocks/>
          </p:cNvCxnSpPr>
          <p:nvPr/>
        </p:nvCxnSpPr>
        <p:spPr bwMode="auto">
          <a:xfrm>
            <a:off x="1816292" y="3267848"/>
            <a:ext cx="0" cy="533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49" name="직사각형 241848">
            <a:extLst>
              <a:ext uri="{FF2B5EF4-FFF2-40B4-BE49-F238E27FC236}">
                <a16:creationId xmlns:a16="http://schemas.microsoft.com/office/drawing/2014/main" id="{51890107-7877-715E-72B8-D3996F90EE76}"/>
              </a:ext>
            </a:extLst>
          </p:cNvPr>
          <p:cNvSpPr/>
          <p:nvPr/>
        </p:nvSpPr>
        <p:spPr bwMode="auto">
          <a:xfrm>
            <a:off x="2199246"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50" name="직선 화살표 연결선 241849">
            <a:extLst>
              <a:ext uri="{FF2B5EF4-FFF2-40B4-BE49-F238E27FC236}">
                <a16:creationId xmlns:a16="http://schemas.microsoft.com/office/drawing/2014/main" id="{BD29BF4D-53B3-10E5-47B9-EB3568A7B3C8}"/>
              </a:ext>
            </a:extLst>
          </p:cNvPr>
          <p:cNvCxnSpPr>
            <a:cxnSpLocks/>
          </p:cNvCxnSpPr>
          <p:nvPr/>
        </p:nvCxnSpPr>
        <p:spPr bwMode="auto">
          <a:xfrm>
            <a:off x="1817716" y="5279808"/>
            <a:ext cx="39149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851" name="TextBox 241850">
            <a:extLst>
              <a:ext uri="{FF2B5EF4-FFF2-40B4-BE49-F238E27FC236}">
                <a16:creationId xmlns:a16="http://schemas.microsoft.com/office/drawing/2014/main" id="{3B4EFA54-6529-6FDC-9119-A783C2D91CF0}"/>
              </a:ext>
            </a:extLst>
          </p:cNvPr>
          <p:cNvSpPr txBox="1"/>
          <p:nvPr/>
        </p:nvSpPr>
        <p:spPr>
          <a:xfrm>
            <a:off x="4562383" y="5279808"/>
            <a:ext cx="1192955" cy="276999"/>
          </a:xfrm>
          <a:prstGeom prst="rect">
            <a:avLst/>
          </a:prstGeom>
          <a:noFill/>
        </p:spPr>
        <p:txBody>
          <a:bodyPr wrap="none" rtlCol="0">
            <a:spAutoFit/>
          </a:bodyPr>
          <a:lstStyle/>
          <a:p>
            <a:r>
              <a:rPr lang="en-US" altLang="ko-KR" sz="1200"/>
              <a:t>total runtime</a:t>
            </a:r>
            <a:endParaRPr lang="ko-KR" altLang="en-US" sz="1200"/>
          </a:p>
        </p:txBody>
      </p:sp>
      <p:sp>
        <p:nvSpPr>
          <p:cNvPr id="241852" name="직사각형 241851">
            <a:extLst>
              <a:ext uri="{FF2B5EF4-FFF2-40B4-BE49-F238E27FC236}">
                <a16:creationId xmlns:a16="http://schemas.microsoft.com/office/drawing/2014/main" id="{4D5EEE1F-762F-AF9C-CFB2-98F98C4548A5}"/>
              </a:ext>
            </a:extLst>
          </p:cNvPr>
          <p:cNvSpPr/>
          <p:nvPr/>
        </p:nvSpPr>
        <p:spPr bwMode="auto">
          <a:xfrm>
            <a:off x="2586130" y="483136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3" name="직사각형 241852">
            <a:extLst>
              <a:ext uri="{FF2B5EF4-FFF2-40B4-BE49-F238E27FC236}">
                <a16:creationId xmlns:a16="http://schemas.microsoft.com/office/drawing/2014/main" id="{5B3CBA67-D2CE-3193-43C5-A921070026E6}"/>
              </a:ext>
            </a:extLst>
          </p:cNvPr>
          <p:cNvSpPr/>
          <p:nvPr/>
        </p:nvSpPr>
        <p:spPr bwMode="auto">
          <a:xfrm>
            <a:off x="1817716"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4" name="직사각형 241853">
            <a:extLst>
              <a:ext uri="{FF2B5EF4-FFF2-40B4-BE49-F238E27FC236}">
                <a16:creationId xmlns:a16="http://schemas.microsoft.com/office/drawing/2014/main" id="{6F7020F7-299E-8A13-A771-D2FF74611C45}"/>
              </a:ext>
            </a:extLst>
          </p:cNvPr>
          <p:cNvSpPr/>
          <p:nvPr/>
        </p:nvSpPr>
        <p:spPr bwMode="auto">
          <a:xfrm>
            <a:off x="3349190" y="483136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5" name="직사각형 241854">
            <a:extLst>
              <a:ext uri="{FF2B5EF4-FFF2-40B4-BE49-F238E27FC236}">
                <a16:creationId xmlns:a16="http://schemas.microsoft.com/office/drawing/2014/main" id="{102EED66-01F0-4CD7-3881-807F290793E3}"/>
              </a:ext>
            </a:extLst>
          </p:cNvPr>
          <p:cNvSpPr/>
          <p:nvPr/>
        </p:nvSpPr>
        <p:spPr bwMode="auto">
          <a:xfrm>
            <a:off x="3736074"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6" name="직사각형 241855">
            <a:extLst>
              <a:ext uri="{FF2B5EF4-FFF2-40B4-BE49-F238E27FC236}">
                <a16:creationId xmlns:a16="http://schemas.microsoft.com/office/drawing/2014/main" id="{B8EDC726-CA8A-E0D0-92D6-771885D2F0D9}"/>
              </a:ext>
            </a:extLst>
          </p:cNvPr>
          <p:cNvSpPr/>
          <p:nvPr/>
        </p:nvSpPr>
        <p:spPr bwMode="auto">
          <a:xfrm>
            <a:off x="2967660"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7" name="직사각형 241856">
            <a:extLst>
              <a:ext uri="{FF2B5EF4-FFF2-40B4-BE49-F238E27FC236}">
                <a16:creationId xmlns:a16="http://schemas.microsoft.com/office/drawing/2014/main" id="{18518BFC-16B1-A144-CF73-8FA6107D806A}"/>
              </a:ext>
            </a:extLst>
          </p:cNvPr>
          <p:cNvSpPr/>
          <p:nvPr/>
        </p:nvSpPr>
        <p:spPr bwMode="auto">
          <a:xfrm>
            <a:off x="4120491" y="483136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8" name="직사각형 241857">
            <a:extLst>
              <a:ext uri="{FF2B5EF4-FFF2-40B4-BE49-F238E27FC236}">
                <a16:creationId xmlns:a16="http://schemas.microsoft.com/office/drawing/2014/main" id="{AC09EB4B-4EB5-B3AA-A8E3-8441A60B3875}"/>
              </a:ext>
            </a:extLst>
          </p:cNvPr>
          <p:cNvSpPr/>
          <p:nvPr/>
        </p:nvSpPr>
        <p:spPr bwMode="auto">
          <a:xfrm>
            <a:off x="4883551"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59" name="직사각형 241858">
            <a:extLst>
              <a:ext uri="{FF2B5EF4-FFF2-40B4-BE49-F238E27FC236}">
                <a16:creationId xmlns:a16="http://schemas.microsoft.com/office/drawing/2014/main" id="{654FF5E9-F93E-3094-C48F-4F3F41E11874}"/>
              </a:ext>
            </a:extLst>
          </p:cNvPr>
          <p:cNvSpPr/>
          <p:nvPr/>
        </p:nvSpPr>
        <p:spPr bwMode="auto">
          <a:xfrm>
            <a:off x="5270435" y="4831360"/>
            <a:ext cx="386884" cy="3429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A</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sp>
        <p:nvSpPr>
          <p:cNvPr id="241860" name="직사각형 241859">
            <a:extLst>
              <a:ext uri="{FF2B5EF4-FFF2-40B4-BE49-F238E27FC236}">
                <a16:creationId xmlns:a16="http://schemas.microsoft.com/office/drawing/2014/main" id="{E20029D7-A899-8B92-8C55-4DE2E197CBB4}"/>
              </a:ext>
            </a:extLst>
          </p:cNvPr>
          <p:cNvSpPr/>
          <p:nvPr/>
        </p:nvSpPr>
        <p:spPr bwMode="auto">
          <a:xfrm>
            <a:off x="4502021" y="4831360"/>
            <a:ext cx="386884" cy="342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a:ln>
                  <a:noFill/>
                </a:ln>
                <a:solidFill>
                  <a:schemeClr val="tx1"/>
                </a:solidFill>
                <a:effectLst/>
                <a:latin typeface="Verdana" pitchFamily="34" charset="0"/>
                <a:cs typeface="Arial" charset="0"/>
              </a:rPr>
              <a:t>B</a:t>
            </a:r>
            <a:endParaRPr kumimoji="0" lang="ko-KR" altLang="en-US" sz="1600" b="0" i="0" u="none" strike="noStrike" cap="none" normalizeH="0" baseline="0">
              <a:ln>
                <a:noFill/>
              </a:ln>
              <a:solidFill>
                <a:schemeClr val="tx1"/>
              </a:solidFill>
              <a:effectLst/>
              <a:latin typeface="Verdana" pitchFamily="34" charset="0"/>
              <a:cs typeface="Arial" charset="0"/>
            </a:endParaRPr>
          </a:p>
        </p:txBody>
      </p:sp>
      <p:cxnSp>
        <p:nvCxnSpPr>
          <p:cNvPr id="241861" name="직선 연결선 241860">
            <a:extLst>
              <a:ext uri="{FF2B5EF4-FFF2-40B4-BE49-F238E27FC236}">
                <a16:creationId xmlns:a16="http://schemas.microsoft.com/office/drawing/2014/main" id="{8ACB00F6-712F-5D9F-079C-FF4640E84985}"/>
              </a:ext>
            </a:extLst>
          </p:cNvPr>
          <p:cNvCxnSpPr>
            <a:cxnSpLocks/>
          </p:cNvCxnSpPr>
          <p:nvPr/>
        </p:nvCxnSpPr>
        <p:spPr bwMode="auto">
          <a:xfrm>
            <a:off x="1822513" y="4746408"/>
            <a:ext cx="0" cy="5334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64" name="왼쪽 중괄호 241863">
            <a:extLst>
              <a:ext uri="{FF2B5EF4-FFF2-40B4-BE49-F238E27FC236}">
                <a16:creationId xmlns:a16="http://schemas.microsoft.com/office/drawing/2014/main" id="{9B258342-30A0-BE0E-D351-C2880B379079}"/>
              </a:ext>
            </a:extLst>
          </p:cNvPr>
          <p:cNvSpPr/>
          <p:nvPr/>
        </p:nvSpPr>
        <p:spPr bwMode="auto">
          <a:xfrm>
            <a:off x="1210444" y="2821987"/>
            <a:ext cx="188247" cy="1415335"/>
          </a:xfrm>
          <a:prstGeom prst="leftBrace">
            <a:avLst>
              <a:gd name="adj1" fmla="val 0"/>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67" name="TextBox 241866">
            <a:extLst>
              <a:ext uri="{FF2B5EF4-FFF2-40B4-BE49-F238E27FC236}">
                <a16:creationId xmlns:a16="http://schemas.microsoft.com/office/drawing/2014/main" id="{5109BF32-694C-3866-5671-13DC4E9978A2}"/>
              </a:ext>
            </a:extLst>
          </p:cNvPr>
          <p:cNvSpPr txBox="1"/>
          <p:nvPr/>
        </p:nvSpPr>
        <p:spPr>
          <a:xfrm>
            <a:off x="216823" y="3259728"/>
            <a:ext cx="1051891" cy="523220"/>
          </a:xfrm>
          <a:prstGeom prst="rect">
            <a:avLst/>
          </a:prstGeom>
          <a:noFill/>
        </p:spPr>
        <p:txBody>
          <a:bodyPr wrap="none" rtlCol="0">
            <a:spAutoFit/>
          </a:bodyPr>
          <a:lstStyle/>
          <a:p>
            <a:r>
              <a:rPr lang="en-US" altLang="ko-KR" sz="1400"/>
              <a:t>scheduler</a:t>
            </a:r>
          </a:p>
          <a:p>
            <a:pPr algn="ctr"/>
            <a:r>
              <a:rPr lang="en-US" altLang="ko-KR" sz="1400"/>
              <a:t>X</a:t>
            </a:r>
            <a:endParaRPr lang="ko-KR" altLang="en-US" sz="1400"/>
          </a:p>
        </p:txBody>
      </p:sp>
      <p:sp>
        <p:nvSpPr>
          <p:cNvPr id="23" name="왼쪽 중괄호 22">
            <a:extLst>
              <a:ext uri="{FF2B5EF4-FFF2-40B4-BE49-F238E27FC236}">
                <a16:creationId xmlns:a16="http://schemas.microsoft.com/office/drawing/2014/main" id="{ADA99170-C2D2-EE16-A865-A0A701A0DBB2}"/>
              </a:ext>
            </a:extLst>
          </p:cNvPr>
          <p:cNvSpPr/>
          <p:nvPr/>
        </p:nvSpPr>
        <p:spPr bwMode="auto">
          <a:xfrm>
            <a:off x="1210444" y="4321098"/>
            <a:ext cx="188247" cy="1415335"/>
          </a:xfrm>
          <a:prstGeom prst="leftBrace">
            <a:avLst>
              <a:gd name="adj1" fmla="val 0"/>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 name="TextBox 23">
            <a:extLst>
              <a:ext uri="{FF2B5EF4-FFF2-40B4-BE49-F238E27FC236}">
                <a16:creationId xmlns:a16="http://schemas.microsoft.com/office/drawing/2014/main" id="{B9D0A5A8-05C9-61EF-627F-F6B01DFB64F5}"/>
              </a:ext>
            </a:extLst>
          </p:cNvPr>
          <p:cNvSpPr txBox="1"/>
          <p:nvPr/>
        </p:nvSpPr>
        <p:spPr>
          <a:xfrm>
            <a:off x="216823" y="4758839"/>
            <a:ext cx="1051891" cy="523220"/>
          </a:xfrm>
          <a:prstGeom prst="rect">
            <a:avLst/>
          </a:prstGeom>
          <a:noFill/>
        </p:spPr>
        <p:txBody>
          <a:bodyPr wrap="none" rtlCol="0">
            <a:spAutoFit/>
          </a:bodyPr>
          <a:lstStyle/>
          <a:p>
            <a:r>
              <a:rPr lang="en-US" altLang="ko-KR" sz="1400"/>
              <a:t>scheduler</a:t>
            </a:r>
          </a:p>
          <a:p>
            <a:pPr algn="ctr"/>
            <a:r>
              <a:rPr lang="en-US" altLang="ko-KR" sz="1400"/>
              <a:t>Y</a:t>
            </a:r>
            <a:endParaRPr lang="ko-KR" altLang="en-US" sz="1400"/>
          </a:p>
        </p:txBody>
      </p:sp>
      <p:sp>
        <p:nvSpPr>
          <p:cNvPr id="3" name="TextBox 2">
            <a:extLst>
              <a:ext uri="{FF2B5EF4-FFF2-40B4-BE49-F238E27FC236}">
                <a16:creationId xmlns:a16="http://schemas.microsoft.com/office/drawing/2014/main" id="{939BDDC7-98FC-BEC5-66CC-332C9A9ABB83}"/>
              </a:ext>
            </a:extLst>
          </p:cNvPr>
          <p:cNvSpPr txBox="1"/>
          <p:nvPr/>
        </p:nvSpPr>
        <p:spPr>
          <a:xfrm>
            <a:off x="2477888" y="2831479"/>
            <a:ext cx="1786259" cy="276999"/>
          </a:xfrm>
          <a:prstGeom prst="rect">
            <a:avLst/>
          </a:prstGeom>
          <a:noFill/>
        </p:spPr>
        <p:txBody>
          <a:bodyPr wrap="none" rtlCol="0">
            <a:spAutoFit/>
          </a:bodyPr>
          <a:lstStyle/>
          <a:p>
            <a:pPr algn="ctr"/>
            <a:r>
              <a:rPr lang="en-US" altLang="ko-KR" sz="1200"/>
              <a:t>time interval [2t, 6t]</a:t>
            </a:r>
            <a:endParaRPr lang="ko-KR" altLang="en-US" sz="1200"/>
          </a:p>
        </p:txBody>
      </p:sp>
      <p:sp>
        <p:nvSpPr>
          <p:cNvPr id="15" name="화살표: 오른쪽 14">
            <a:extLst>
              <a:ext uri="{FF2B5EF4-FFF2-40B4-BE49-F238E27FC236}">
                <a16:creationId xmlns:a16="http://schemas.microsoft.com/office/drawing/2014/main" id="{83535780-2377-8323-8B1E-6DAF46A9874A}"/>
              </a:ext>
            </a:extLst>
          </p:cNvPr>
          <p:cNvSpPr/>
          <p:nvPr/>
        </p:nvSpPr>
        <p:spPr bwMode="auto">
          <a:xfrm>
            <a:off x="1822513" y="5539473"/>
            <a:ext cx="3065470" cy="540508"/>
          </a:xfrm>
          <a:prstGeom prst="right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6" name="TextBox 15">
            <a:extLst>
              <a:ext uri="{FF2B5EF4-FFF2-40B4-BE49-F238E27FC236}">
                <a16:creationId xmlns:a16="http://schemas.microsoft.com/office/drawing/2014/main" id="{03FBE144-AFEA-E240-22F5-19E809CB9AA0}"/>
              </a:ext>
            </a:extLst>
          </p:cNvPr>
          <p:cNvSpPr txBox="1"/>
          <p:nvPr/>
        </p:nvSpPr>
        <p:spPr>
          <a:xfrm>
            <a:off x="3444856" y="5655772"/>
            <a:ext cx="1338828" cy="307777"/>
          </a:xfrm>
          <a:prstGeom prst="rect">
            <a:avLst/>
          </a:prstGeom>
          <a:noFill/>
        </p:spPr>
        <p:txBody>
          <a:bodyPr wrap="none" rtlCol="0">
            <a:spAutoFit/>
          </a:bodyPr>
          <a:lstStyle/>
          <a:p>
            <a:pPr algn="ctr"/>
            <a:r>
              <a:rPr lang="en-US" altLang="ko-KR" sz="1400" i="1">
                <a:effectLst>
                  <a:outerShdw blurRad="38100" dist="38100" dir="2700000" algn="tl">
                    <a:srgbClr val="000000">
                      <a:alpha val="43137"/>
                    </a:srgbClr>
                  </a:outerShdw>
                </a:effectLst>
              </a:rPr>
              <a:t>slide window</a:t>
            </a:r>
            <a:endParaRPr lang="ko-KR" altLang="en-US" sz="1400" i="1">
              <a:effectLst>
                <a:outerShdw blurRad="38100" dist="38100" dir="2700000" algn="tl">
                  <a:srgbClr val="000000">
                    <a:alpha val="43137"/>
                  </a:srgbClr>
                </a:outerShdw>
              </a:effectLst>
            </a:endParaRPr>
          </a:p>
        </p:txBody>
      </p:sp>
      <p:cxnSp>
        <p:nvCxnSpPr>
          <p:cNvPr id="27" name="직선 화살표 연결선 26">
            <a:extLst>
              <a:ext uri="{FF2B5EF4-FFF2-40B4-BE49-F238E27FC236}">
                <a16:creationId xmlns:a16="http://schemas.microsoft.com/office/drawing/2014/main" id="{1ACFBF68-897B-6B83-28EA-FEF680674ED3}"/>
              </a:ext>
            </a:extLst>
          </p:cNvPr>
          <p:cNvCxnSpPr>
            <a:cxnSpLocks/>
          </p:cNvCxnSpPr>
          <p:nvPr/>
        </p:nvCxnSpPr>
        <p:spPr bwMode="auto">
          <a:xfrm>
            <a:off x="6074751" y="5432349"/>
            <a:ext cx="25254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D8F2B901-5B29-741D-8FB1-E3FE5F7A5BE7}"/>
              </a:ext>
            </a:extLst>
          </p:cNvPr>
          <p:cNvSpPr txBox="1"/>
          <p:nvPr/>
        </p:nvSpPr>
        <p:spPr>
          <a:xfrm>
            <a:off x="7670997" y="5425328"/>
            <a:ext cx="1122423" cy="253916"/>
          </a:xfrm>
          <a:prstGeom prst="rect">
            <a:avLst/>
          </a:prstGeom>
          <a:noFill/>
        </p:spPr>
        <p:txBody>
          <a:bodyPr wrap="none" rtlCol="0">
            <a:spAutoFit/>
          </a:bodyPr>
          <a:lstStyle/>
          <a:p>
            <a:pPr algn="ctr"/>
            <a:r>
              <a:rPr lang="en-US" altLang="ko-KR" sz="1050"/>
              <a:t>window offset</a:t>
            </a:r>
            <a:endParaRPr lang="ko-KR" altLang="en-US" sz="1050"/>
          </a:p>
        </p:txBody>
      </p:sp>
      <p:cxnSp>
        <p:nvCxnSpPr>
          <p:cNvPr id="31" name="직선 화살표 연결선 30">
            <a:extLst>
              <a:ext uri="{FF2B5EF4-FFF2-40B4-BE49-F238E27FC236}">
                <a16:creationId xmlns:a16="http://schemas.microsoft.com/office/drawing/2014/main" id="{14B4F272-94EB-385A-3D85-D22F9A9DF52E}"/>
              </a:ext>
            </a:extLst>
          </p:cNvPr>
          <p:cNvCxnSpPr>
            <a:cxnSpLocks/>
          </p:cNvCxnSpPr>
          <p:nvPr/>
        </p:nvCxnSpPr>
        <p:spPr bwMode="auto">
          <a:xfrm flipV="1">
            <a:off x="6074751" y="4506536"/>
            <a:ext cx="0" cy="92581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1800" name="직선 연결선 241799">
            <a:extLst>
              <a:ext uri="{FF2B5EF4-FFF2-40B4-BE49-F238E27FC236}">
                <a16:creationId xmlns:a16="http://schemas.microsoft.com/office/drawing/2014/main" id="{A8E4C28D-3321-31DB-EAAC-34D96EE4FFBB}"/>
              </a:ext>
            </a:extLst>
          </p:cNvPr>
          <p:cNvCxnSpPr>
            <a:cxnSpLocks/>
          </p:cNvCxnSpPr>
          <p:nvPr/>
        </p:nvCxnSpPr>
        <p:spPr bwMode="auto">
          <a:xfrm>
            <a:off x="2200598" y="3748423"/>
            <a:ext cx="0" cy="11063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01" name="TextBox 241800">
            <a:extLst>
              <a:ext uri="{FF2B5EF4-FFF2-40B4-BE49-F238E27FC236}">
                <a16:creationId xmlns:a16="http://schemas.microsoft.com/office/drawing/2014/main" id="{A56ACF92-A735-555F-852A-4B7C3CD064EF}"/>
              </a:ext>
            </a:extLst>
          </p:cNvPr>
          <p:cNvSpPr txBox="1"/>
          <p:nvPr/>
        </p:nvSpPr>
        <p:spPr>
          <a:xfrm>
            <a:off x="2067735" y="3820376"/>
            <a:ext cx="245580" cy="276999"/>
          </a:xfrm>
          <a:prstGeom prst="rect">
            <a:avLst/>
          </a:prstGeom>
          <a:noFill/>
        </p:spPr>
        <p:txBody>
          <a:bodyPr wrap="none" rtlCol="0">
            <a:spAutoFit/>
          </a:bodyPr>
          <a:lstStyle/>
          <a:p>
            <a:r>
              <a:rPr lang="en-US" altLang="ko-KR" sz="1200"/>
              <a:t>t</a:t>
            </a:r>
            <a:endParaRPr lang="ko-KR" altLang="en-US" sz="1200"/>
          </a:p>
        </p:txBody>
      </p:sp>
      <p:cxnSp>
        <p:nvCxnSpPr>
          <p:cNvPr id="241802" name="직선 화살표 연결선 241801">
            <a:extLst>
              <a:ext uri="{FF2B5EF4-FFF2-40B4-BE49-F238E27FC236}">
                <a16:creationId xmlns:a16="http://schemas.microsoft.com/office/drawing/2014/main" id="{35CED394-B282-D6F3-C327-70C9FCA57917}"/>
              </a:ext>
            </a:extLst>
          </p:cNvPr>
          <p:cNvCxnSpPr>
            <a:cxnSpLocks/>
          </p:cNvCxnSpPr>
          <p:nvPr/>
        </p:nvCxnSpPr>
        <p:spPr bwMode="auto">
          <a:xfrm>
            <a:off x="1811495" y="5286618"/>
            <a:ext cx="39149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1803" name="직선 연결선 241802">
            <a:extLst>
              <a:ext uri="{FF2B5EF4-FFF2-40B4-BE49-F238E27FC236}">
                <a16:creationId xmlns:a16="http://schemas.microsoft.com/office/drawing/2014/main" id="{CF992C58-EF2D-8120-A956-B91A969E830F}"/>
              </a:ext>
            </a:extLst>
          </p:cNvPr>
          <p:cNvCxnSpPr>
            <a:cxnSpLocks/>
          </p:cNvCxnSpPr>
          <p:nvPr/>
        </p:nvCxnSpPr>
        <p:spPr bwMode="auto">
          <a:xfrm>
            <a:off x="2200598" y="5233793"/>
            <a:ext cx="0" cy="11063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805" name="TextBox 241804">
            <a:extLst>
              <a:ext uri="{FF2B5EF4-FFF2-40B4-BE49-F238E27FC236}">
                <a16:creationId xmlns:a16="http://schemas.microsoft.com/office/drawing/2014/main" id="{3C55102D-2C3C-1241-2546-F63AE50BF959}"/>
              </a:ext>
            </a:extLst>
          </p:cNvPr>
          <p:cNvSpPr txBox="1"/>
          <p:nvPr/>
        </p:nvSpPr>
        <p:spPr>
          <a:xfrm>
            <a:off x="2067735" y="5305746"/>
            <a:ext cx="245580" cy="276999"/>
          </a:xfrm>
          <a:prstGeom prst="rect">
            <a:avLst/>
          </a:prstGeom>
          <a:noFill/>
        </p:spPr>
        <p:txBody>
          <a:bodyPr wrap="none" rtlCol="0">
            <a:spAutoFit/>
          </a:bodyPr>
          <a:lstStyle/>
          <a:p>
            <a:r>
              <a:rPr lang="en-US" altLang="ko-KR" sz="1200"/>
              <a:t>t</a:t>
            </a:r>
            <a:endParaRPr lang="ko-KR" altLang="en-US" sz="1200"/>
          </a:p>
        </p:txBody>
      </p:sp>
      <p:sp>
        <p:nvSpPr>
          <p:cNvPr id="2" name="직사각형 1">
            <a:extLst>
              <a:ext uri="{FF2B5EF4-FFF2-40B4-BE49-F238E27FC236}">
                <a16:creationId xmlns:a16="http://schemas.microsoft.com/office/drawing/2014/main" id="{9ACB5B35-870C-5C95-5333-626925457BA1}"/>
              </a:ext>
            </a:extLst>
          </p:cNvPr>
          <p:cNvSpPr/>
          <p:nvPr/>
        </p:nvSpPr>
        <p:spPr bwMode="auto">
          <a:xfrm>
            <a:off x="2579995" y="3110112"/>
            <a:ext cx="1536742" cy="2343062"/>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 name="직사각형 6">
            <a:extLst>
              <a:ext uri="{FF2B5EF4-FFF2-40B4-BE49-F238E27FC236}">
                <a16:creationId xmlns:a16="http://schemas.microsoft.com/office/drawing/2014/main" id="{9E5A510A-AAD2-F235-7F6A-B2BAE8E019D3}"/>
              </a:ext>
            </a:extLst>
          </p:cNvPr>
          <p:cNvSpPr/>
          <p:nvPr/>
        </p:nvSpPr>
        <p:spPr bwMode="auto">
          <a:xfrm>
            <a:off x="2190525" y="3110112"/>
            <a:ext cx="1536742" cy="2343062"/>
          </a:xfrm>
          <a:prstGeom prst="rect">
            <a:avLst/>
          </a:prstGeom>
          <a:noFill/>
          <a:ln w="28575" cap="flat" cmpd="sng" algn="ctr">
            <a:solidFill>
              <a:srgbClr val="0000FF">
                <a:alpha val="4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3" name="직사각형 12">
            <a:extLst>
              <a:ext uri="{FF2B5EF4-FFF2-40B4-BE49-F238E27FC236}">
                <a16:creationId xmlns:a16="http://schemas.microsoft.com/office/drawing/2014/main" id="{76011841-5096-3205-CBE9-2ADD98FBF145}"/>
              </a:ext>
            </a:extLst>
          </p:cNvPr>
          <p:cNvSpPr/>
          <p:nvPr/>
        </p:nvSpPr>
        <p:spPr bwMode="auto">
          <a:xfrm>
            <a:off x="1817329" y="3110112"/>
            <a:ext cx="1536742" cy="2343062"/>
          </a:xfrm>
          <a:prstGeom prst="rect">
            <a:avLst/>
          </a:prstGeom>
          <a:noFill/>
          <a:ln w="28575" cap="flat" cmpd="sng" algn="ctr">
            <a:solidFill>
              <a:srgbClr val="0000FF">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241811" name="직선 연결선 241810">
            <a:extLst>
              <a:ext uri="{FF2B5EF4-FFF2-40B4-BE49-F238E27FC236}">
                <a16:creationId xmlns:a16="http://schemas.microsoft.com/office/drawing/2014/main" id="{01C87303-3F34-8576-E956-703F62364FC2}"/>
              </a:ext>
            </a:extLst>
          </p:cNvPr>
          <p:cNvCxnSpPr>
            <a:cxnSpLocks/>
          </p:cNvCxnSpPr>
          <p:nvPr/>
        </p:nvCxnSpPr>
        <p:spPr bwMode="auto">
          <a:xfrm>
            <a:off x="6074751" y="5092129"/>
            <a:ext cx="2420917"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813" name="직선 연결선 241812">
            <a:extLst>
              <a:ext uri="{FF2B5EF4-FFF2-40B4-BE49-F238E27FC236}">
                <a16:creationId xmlns:a16="http://schemas.microsoft.com/office/drawing/2014/main" id="{64D5B888-297C-A333-F5B7-5C84DA3B7926}"/>
              </a:ext>
            </a:extLst>
          </p:cNvPr>
          <p:cNvCxnSpPr>
            <a:cxnSpLocks/>
          </p:cNvCxnSpPr>
          <p:nvPr/>
        </p:nvCxnSpPr>
        <p:spPr bwMode="auto">
          <a:xfrm>
            <a:off x="6074751" y="5268536"/>
            <a:ext cx="24492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814" name="직선 연결선 241813">
            <a:extLst>
              <a:ext uri="{FF2B5EF4-FFF2-40B4-BE49-F238E27FC236}">
                <a16:creationId xmlns:a16="http://schemas.microsoft.com/office/drawing/2014/main" id="{F9F4934A-B410-A33D-D72A-D28F831403DF}"/>
              </a:ext>
            </a:extLst>
          </p:cNvPr>
          <p:cNvCxnSpPr>
            <a:cxnSpLocks/>
          </p:cNvCxnSpPr>
          <p:nvPr/>
        </p:nvCxnSpPr>
        <p:spPr bwMode="auto">
          <a:xfrm>
            <a:off x="6083796" y="4736189"/>
            <a:ext cx="2440243"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817" name="직선 연결선 241816">
            <a:extLst>
              <a:ext uri="{FF2B5EF4-FFF2-40B4-BE49-F238E27FC236}">
                <a16:creationId xmlns:a16="http://schemas.microsoft.com/office/drawing/2014/main" id="{4E3884A1-F57A-B7A0-BC0B-6FA4065B53D8}"/>
              </a:ext>
            </a:extLst>
          </p:cNvPr>
          <p:cNvCxnSpPr>
            <a:cxnSpLocks/>
          </p:cNvCxnSpPr>
          <p:nvPr/>
        </p:nvCxnSpPr>
        <p:spPr bwMode="auto">
          <a:xfrm>
            <a:off x="6074751" y="4911543"/>
            <a:ext cx="24492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41819" name="TextBox 241818">
            <a:extLst>
              <a:ext uri="{FF2B5EF4-FFF2-40B4-BE49-F238E27FC236}">
                <a16:creationId xmlns:a16="http://schemas.microsoft.com/office/drawing/2014/main" id="{F6D1188A-224A-285E-D5BD-742B22781184}"/>
              </a:ext>
            </a:extLst>
          </p:cNvPr>
          <p:cNvSpPr txBox="1"/>
          <p:nvPr/>
        </p:nvSpPr>
        <p:spPr>
          <a:xfrm>
            <a:off x="6122825" y="5418307"/>
            <a:ext cx="266420" cy="246221"/>
          </a:xfrm>
          <a:prstGeom prst="rect">
            <a:avLst/>
          </a:prstGeom>
          <a:noFill/>
        </p:spPr>
        <p:txBody>
          <a:bodyPr wrap="none" rtlCol="0">
            <a:spAutoFit/>
          </a:bodyPr>
          <a:lstStyle/>
          <a:p>
            <a:r>
              <a:rPr lang="en-US" altLang="ko-KR" sz="1000"/>
              <a:t>0</a:t>
            </a:r>
            <a:endParaRPr lang="ko-KR" altLang="en-US" sz="1000"/>
          </a:p>
        </p:txBody>
      </p:sp>
      <p:sp>
        <p:nvSpPr>
          <p:cNvPr id="241848" name="직사각형 241847">
            <a:extLst>
              <a:ext uri="{FF2B5EF4-FFF2-40B4-BE49-F238E27FC236}">
                <a16:creationId xmlns:a16="http://schemas.microsoft.com/office/drawing/2014/main" id="{1E460386-F89E-F743-9371-BB5D87B8884B}"/>
              </a:ext>
            </a:extLst>
          </p:cNvPr>
          <p:cNvSpPr/>
          <p:nvPr/>
        </p:nvSpPr>
        <p:spPr bwMode="auto">
          <a:xfrm>
            <a:off x="6161839" y="4911543"/>
            <a:ext cx="152390" cy="520806"/>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2" name="직사각형 241871">
            <a:extLst>
              <a:ext uri="{FF2B5EF4-FFF2-40B4-BE49-F238E27FC236}">
                <a16:creationId xmlns:a16="http://schemas.microsoft.com/office/drawing/2014/main" id="{3FAC6BEB-F7B2-DBCF-89FC-CB3DA86F4A33}"/>
              </a:ext>
            </a:extLst>
          </p:cNvPr>
          <p:cNvSpPr/>
          <p:nvPr/>
        </p:nvSpPr>
        <p:spPr bwMode="auto">
          <a:xfrm>
            <a:off x="6501454" y="5087949"/>
            <a:ext cx="152390" cy="344399"/>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3" name="직사각형 241872">
            <a:extLst>
              <a:ext uri="{FF2B5EF4-FFF2-40B4-BE49-F238E27FC236}">
                <a16:creationId xmlns:a16="http://schemas.microsoft.com/office/drawing/2014/main" id="{91E1B59D-8042-2F9B-938F-E82E814DA81E}"/>
              </a:ext>
            </a:extLst>
          </p:cNvPr>
          <p:cNvSpPr/>
          <p:nvPr/>
        </p:nvSpPr>
        <p:spPr bwMode="auto">
          <a:xfrm>
            <a:off x="6850582" y="5087949"/>
            <a:ext cx="152390" cy="344399"/>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4" name="직사각형 241873">
            <a:extLst>
              <a:ext uri="{FF2B5EF4-FFF2-40B4-BE49-F238E27FC236}">
                <a16:creationId xmlns:a16="http://schemas.microsoft.com/office/drawing/2014/main" id="{4126EC66-A49A-B59B-1C9A-6D95B533A17E}"/>
              </a:ext>
            </a:extLst>
          </p:cNvPr>
          <p:cNvSpPr/>
          <p:nvPr/>
        </p:nvSpPr>
        <p:spPr bwMode="auto">
          <a:xfrm>
            <a:off x="7184403" y="5087949"/>
            <a:ext cx="152390" cy="344399"/>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5" name="직사각형 241874">
            <a:extLst>
              <a:ext uri="{FF2B5EF4-FFF2-40B4-BE49-F238E27FC236}">
                <a16:creationId xmlns:a16="http://schemas.microsoft.com/office/drawing/2014/main" id="{73239ADD-3D50-7414-4790-70491B616A5E}"/>
              </a:ext>
            </a:extLst>
          </p:cNvPr>
          <p:cNvSpPr/>
          <p:nvPr/>
        </p:nvSpPr>
        <p:spPr bwMode="auto">
          <a:xfrm>
            <a:off x="7518224" y="5087949"/>
            <a:ext cx="152390" cy="344399"/>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6" name="직사각형 241875">
            <a:extLst>
              <a:ext uri="{FF2B5EF4-FFF2-40B4-BE49-F238E27FC236}">
                <a16:creationId xmlns:a16="http://schemas.microsoft.com/office/drawing/2014/main" id="{D5FBDC51-093A-64DD-5ABC-23FC8489AEBE}"/>
              </a:ext>
            </a:extLst>
          </p:cNvPr>
          <p:cNvSpPr/>
          <p:nvPr/>
        </p:nvSpPr>
        <p:spPr bwMode="auto">
          <a:xfrm>
            <a:off x="7874155" y="4911543"/>
            <a:ext cx="152390" cy="520806"/>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77" name="직사각형 241876">
            <a:extLst>
              <a:ext uri="{FF2B5EF4-FFF2-40B4-BE49-F238E27FC236}">
                <a16:creationId xmlns:a16="http://schemas.microsoft.com/office/drawing/2014/main" id="{92D6D5CA-B134-AA77-CFF4-E9A7DD183021}"/>
              </a:ext>
            </a:extLst>
          </p:cNvPr>
          <p:cNvSpPr/>
          <p:nvPr/>
        </p:nvSpPr>
        <p:spPr bwMode="auto">
          <a:xfrm>
            <a:off x="8199770" y="5087949"/>
            <a:ext cx="152390" cy="3444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3" name="직사각형 241882">
            <a:extLst>
              <a:ext uri="{FF2B5EF4-FFF2-40B4-BE49-F238E27FC236}">
                <a16:creationId xmlns:a16="http://schemas.microsoft.com/office/drawing/2014/main" id="{B255886B-6738-7E69-1596-9B6282F4C93D}"/>
              </a:ext>
            </a:extLst>
          </p:cNvPr>
          <p:cNvSpPr/>
          <p:nvPr/>
        </p:nvSpPr>
        <p:spPr bwMode="auto">
          <a:xfrm>
            <a:off x="6238034" y="5261516"/>
            <a:ext cx="152388" cy="16381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4" name="직사각형 241883">
            <a:extLst>
              <a:ext uri="{FF2B5EF4-FFF2-40B4-BE49-F238E27FC236}">
                <a16:creationId xmlns:a16="http://schemas.microsoft.com/office/drawing/2014/main" id="{B071C4EF-BCCC-BA6D-3525-DEBA188A94A7}"/>
              </a:ext>
            </a:extLst>
          </p:cNvPr>
          <p:cNvSpPr/>
          <p:nvPr/>
        </p:nvSpPr>
        <p:spPr bwMode="auto">
          <a:xfrm>
            <a:off x="6571853" y="5086897"/>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5" name="직사각형 241884">
            <a:extLst>
              <a:ext uri="{FF2B5EF4-FFF2-40B4-BE49-F238E27FC236}">
                <a16:creationId xmlns:a16="http://schemas.microsoft.com/office/drawing/2014/main" id="{8288266D-567C-7773-05E2-06AB5FF1B6E5}"/>
              </a:ext>
            </a:extLst>
          </p:cNvPr>
          <p:cNvSpPr/>
          <p:nvPr/>
        </p:nvSpPr>
        <p:spPr bwMode="auto">
          <a:xfrm>
            <a:off x="6927127" y="5086897"/>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6" name="직사각형 241885">
            <a:extLst>
              <a:ext uri="{FF2B5EF4-FFF2-40B4-BE49-F238E27FC236}">
                <a16:creationId xmlns:a16="http://schemas.microsoft.com/office/drawing/2014/main" id="{21D0527F-7CD8-F648-6891-92EA99DB7EEC}"/>
              </a:ext>
            </a:extLst>
          </p:cNvPr>
          <p:cNvSpPr/>
          <p:nvPr/>
        </p:nvSpPr>
        <p:spPr bwMode="auto">
          <a:xfrm>
            <a:off x="7253476" y="5086897"/>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7" name="직사각형 241886">
            <a:extLst>
              <a:ext uri="{FF2B5EF4-FFF2-40B4-BE49-F238E27FC236}">
                <a16:creationId xmlns:a16="http://schemas.microsoft.com/office/drawing/2014/main" id="{A5F88F48-3AEE-CB3B-7D6E-53E4C9BE98F4}"/>
              </a:ext>
            </a:extLst>
          </p:cNvPr>
          <p:cNvSpPr/>
          <p:nvPr/>
        </p:nvSpPr>
        <p:spPr bwMode="auto">
          <a:xfrm>
            <a:off x="7943226" y="5268536"/>
            <a:ext cx="152388" cy="16381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64" name="직사각형 241663">
            <a:extLst>
              <a:ext uri="{FF2B5EF4-FFF2-40B4-BE49-F238E27FC236}">
                <a16:creationId xmlns:a16="http://schemas.microsoft.com/office/drawing/2014/main" id="{EC2DAEB3-FC40-7547-1C2B-A3E59EBA66B5}"/>
              </a:ext>
            </a:extLst>
          </p:cNvPr>
          <p:cNvSpPr/>
          <p:nvPr/>
        </p:nvSpPr>
        <p:spPr bwMode="auto">
          <a:xfrm>
            <a:off x="8275965" y="5086897"/>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65" name="직사각형 241664">
            <a:extLst>
              <a:ext uri="{FF2B5EF4-FFF2-40B4-BE49-F238E27FC236}">
                <a16:creationId xmlns:a16="http://schemas.microsoft.com/office/drawing/2014/main" id="{4519F776-0D58-326A-9592-817FF2A72EE3}"/>
              </a:ext>
            </a:extLst>
          </p:cNvPr>
          <p:cNvSpPr/>
          <p:nvPr/>
        </p:nvSpPr>
        <p:spPr bwMode="auto">
          <a:xfrm>
            <a:off x="7602009" y="5086897"/>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67" name="TextBox 241666">
            <a:extLst>
              <a:ext uri="{FF2B5EF4-FFF2-40B4-BE49-F238E27FC236}">
                <a16:creationId xmlns:a16="http://schemas.microsoft.com/office/drawing/2014/main" id="{238D15B6-27F1-1DE9-3DAC-D395FDA6F776}"/>
              </a:ext>
            </a:extLst>
          </p:cNvPr>
          <p:cNvSpPr txBox="1"/>
          <p:nvPr/>
        </p:nvSpPr>
        <p:spPr>
          <a:xfrm>
            <a:off x="6478904" y="5418307"/>
            <a:ext cx="235962" cy="246221"/>
          </a:xfrm>
          <a:prstGeom prst="rect">
            <a:avLst/>
          </a:prstGeom>
          <a:noFill/>
        </p:spPr>
        <p:txBody>
          <a:bodyPr wrap="none" rtlCol="0">
            <a:spAutoFit/>
          </a:bodyPr>
          <a:lstStyle/>
          <a:p>
            <a:r>
              <a:rPr lang="en-US" altLang="ko-KR" sz="1000"/>
              <a:t>t</a:t>
            </a:r>
            <a:endParaRPr lang="ko-KR" altLang="en-US" sz="1000"/>
          </a:p>
        </p:txBody>
      </p:sp>
      <p:sp>
        <p:nvSpPr>
          <p:cNvPr id="241668" name="TextBox 241667">
            <a:extLst>
              <a:ext uri="{FF2B5EF4-FFF2-40B4-BE49-F238E27FC236}">
                <a16:creationId xmlns:a16="http://schemas.microsoft.com/office/drawing/2014/main" id="{CE353EF5-5710-6F8A-C881-B9C2F6971EA7}"/>
              </a:ext>
            </a:extLst>
          </p:cNvPr>
          <p:cNvSpPr txBox="1"/>
          <p:nvPr/>
        </p:nvSpPr>
        <p:spPr>
          <a:xfrm>
            <a:off x="6793845" y="5418307"/>
            <a:ext cx="317716" cy="246221"/>
          </a:xfrm>
          <a:prstGeom prst="rect">
            <a:avLst/>
          </a:prstGeom>
          <a:noFill/>
        </p:spPr>
        <p:txBody>
          <a:bodyPr wrap="none" rtlCol="0">
            <a:spAutoFit/>
          </a:bodyPr>
          <a:lstStyle/>
          <a:p>
            <a:r>
              <a:rPr lang="en-US" altLang="ko-KR" sz="1000"/>
              <a:t>2t</a:t>
            </a:r>
            <a:endParaRPr lang="ko-KR" altLang="en-US" sz="1000"/>
          </a:p>
        </p:txBody>
      </p:sp>
      <p:sp>
        <p:nvSpPr>
          <p:cNvPr id="241669" name="TextBox 241668">
            <a:extLst>
              <a:ext uri="{FF2B5EF4-FFF2-40B4-BE49-F238E27FC236}">
                <a16:creationId xmlns:a16="http://schemas.microsoft.com/office/drawing/2014/main" id="{DDB188F8-9261-B9FC-90FB-BD1002D260AF}"/>
              </a:ext>
            </a:extLst>
          </p:cNvPr>
          <p:cNvSpPr txBox="1"/>
          <p:nvPr/>
        </p:nvSpPr>
        <p:spPr>
          <a:xfrm>
            <a:off x="7146427" y="5418307"/>
            <a:ext cx="317716" cy="246221"/>
          </a:xfrm>
          <a:prstGeom prst="rect">
            <a:avLst/>
          </a:prstGeom>
          <a:noFill/>
        </p:spPr>
        <p:txBody>
          <a:bodyPr wrap="none" rtlCol="0">
            <a:spAutoFit/>
          </a:bodyPr>
          <a:lstStyle/>
          <a:p>
            <a:r>
              <a:rPr lang="en-US" altLang="ko-KR" sz="1000"/>
              <a:t>3t</a:t>
            </a:r>
            <a:endParaRPr lang="ko-KR" altLang="en-US" sz="1000"/>
          </a:p>
        </p:txBody>
      </p:sp>
      <p:cxnSp>
        <p:nvCxnSpPr>
          <p:cNvPr id="241671" name="직선 화살표 연결선 241670">
            <a:extLst>
              <a:ext uri="{FF2B5EF4-FFF2-40B4-BE49-F238E27FC236}">
                <a16:creationId xmlns:a16="http://schemas.microsoft.com/office/drawing/2014/main" id="{B5FCC9E6-79B8-CE56-84E7-03B02882CAB7}"/>
              </a:ext>
            </a:extLst>
          </p:cNvPr>
          <p:cNvCxnSpPr>
            <a:cxnSpLocks/>
          </p:cNvCxnSpPr>
          <p:nvPr/>
        </p:nvCxnSpPr>
        <p:spPr bwMode="auto">
          <a:xfrm>
            <a:off x="6074751" y="3883772"/>
            <a:ext cx="252548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672" name="TextBox 241671">
            <a:extLst>
              <a:ext uri="{FF2B5EF4-FFF2-40B4-BE49-F238E27FC236}">
                <a16:creationId xmlns:a16="http://schemas.microsoft.com/office/drawing/2014/main" id="{72796AA0-7893-B4AC-5E7A-0CE90248DB8F}"/>
              </a:ext>
            </a:extLst>
          </p:cNvPr>
          <p:cNvSpPr txBox="1"/>
          <p:nvPr/>
        </p:nvSpPr>
        <p:spPr>
          <a:xfrm>
            <a:off x="7670997" y="3876751"/>
            <a:ext cx="1122423" cy="253916"/>
          </a:xfrm>
          <a:prstGeom prst="rect">
            <a:avLst/>
          </a:prstGeom>
          <a:noFill/>
        </p:spPr>
        <p:txBody>
          <a:bodyPr wrap="none" rtlCol="0">
            <a:spAutoFit/>
          </a:bodyPr>
          <a:lstStyle/>
          <a:p>
            <a:pPr algn="ctr"/>
            <a:r>
              <a:rPr lang="en-US" altLang="ko-KR" sz="1050"/>
              <a:t>window offset</a:t>
            </a:r>
            <a:endParaRPr lang="ko-KR" altLang="en-US" sz="1050"/>
          </a:p>
        </p:txBody>
      </p:sp>
      <p:cxnSp>
        <p:nvCxnSpPr>
          <p:cNvPr id="241673" name="직선 화살표 연결선 241672">
            <a:extLst>
              <a:ext uri="{FF2B5EF4-FFF2-40B4-BE49-F238E27FC236}">
                <a16:creationId xmlns:a16="http://schemas.microsoft.com/office/drawing/2014/main" id="{312C4A3E-B1E0-EDF5-4ADA-3B4EA1F123B0}"/>
              </a:ext>
            </a:extLst>
          </p:cNvPr>
          <p:cNvCxnSpPr>
            <a:cxnSpLocks/>
          </p:cNvCxnSpPr>
          <p:nvPr/>
        </p:nvCxnSpPr>
        <p:spPr bwMode="auto">
          <a:xfrm flipV="1">
            <a:off x="6074751" y="2957959"/>
            <a:ext cx="0" cy="92581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1674" name="직선 연결선 241673">
            <a:extLst>
              <a:ext uri="{FF2B5EF4-FFF2-40B4-BE49-F238E27FC236}">
                <a16:creationId xmlns:a16="http://schemas.microsoft.com/office/drawing/2014/main" id="{E639C196-8143-5C66-83AE-A27967A11AD3}"/>
              </a:ext>
            </a:extLst>
          </p:cNvPr>
          <p:cNvCxnSpPr>
            <a:cxnSpLocks/>
          </p:cNvCxnSpPr>
          <p:nvPr/>
        </p:nvCxnSpPr>
        <p:spPr bwMode="auto">
          <a:xfrm>
            <a:off x="6074751" y="3543552"/>
            <a:ext cx="2420917"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675" name="직선 연결선 241674">
            <a:extLst>
              <a:ext uri="{FF2B5EF4-FFF2-40B4-BE49-F238E27FC236}">
                <a16:creationId xmlns:a16="http://schemas.microsoft.com/office/drawing/2014/main" id="{E146D522-5D21-BD10-F177-62E957050E53}"/>
              </a:ext>
            </a:extLst>
          </p:cNvPr>
          <p:cNvCxnSpPr>
            <a:cxnSpLocks/>
          </p:cNvCxnSpPr>
          <p:nvPr/>
        </p:nvCxnSpPr>
        <p:spPr bwMode="auto">
          <a:xfrm>
            <a:off x="6074751" y="3719959"/>
            <a:ext cx="24492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676" name="직선 연결선 241675">
            <a:extLst>
              <a:ext uri="{FF2B5EF4-FFF2-40B4-BE49-F238E27FC236}">
                <a16:creationId xmlns:a16="http://schemas.microsoft.com/office/drawing/2014/main" id="{707D6372-6A41-CBDF-AA42-F23B97B74216}"/>
              </a:ext>
            </a:extLst>
          </p:cNvPr>
          <p:cNvCxnSpPr>
            <a:cxnSpLocks/>
          </p:cNvCxnSpPr>
          <p:nvPr/>
        </p:nvCxnSpPr>
        <p:spPr bwMode="auto">
          <a:xfrm>
            <a:off x="6083796" y="3187612"/>
            <a:ext cx="2440243"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41677" name="직선 연결선 241676">
            <a:extLst>
              <a:ext uri="{FF2B5EF4-FFF2-40B4-BE49-F238E27FC236}">
                <a16:creationId xmlns:a16="http://schemas.microsoft.com/office/drawing/2014/main" id="{3DE111FC-96FF-45BD-A54A-C250D57544DF}"/>
              </a:ext>
            </a:extLst>
          </p:cNvPr>
          <p:cNvCxnSpPr>
            <a:cxnSpLocks/>
          </p:cNvCxnSpPr>
          <p:nvPr/>
        </p:nvCxnSpPr>
        <p:spPr bwMode="auto">
          <a:xfrm>
            <a:off x="6074751" y="3362966"/>
            <a:ext cx="2449288" cy="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41678" name="TextBox 241677">
            <a:extLst>
              <a:ext uri="{FF2B5EF4-FFF2-40B4-BE49-F238E27FC236}">
                <a16:creationId xmlns:a16="http://schemas.microsoft.com/office/drawing/2014/main" id="{1DD75A09-BCD2-FAED-29E7-EDD059DBA099}"/>
              </a:ext>
            </a:extLst>
          </p:cNvPr>
          <p:cNvSpPr txBox="1"/>
          <p:nvPr/>
        </p:nvSpPr>
        <p:spPr>
          <a:xfrm>
            <a:off x="6122825" y="3869730"/>
            <a:ext cx="266420" cy="246221"/>
          </a:xfrm>
          <a:prstGeom prst="rect">
            <a:avLst/>
          </a:prstGeom>
          <a:noFill/>
        </p:spPr>
        <p:txBody>
          <a:bodyPr wrap="none" rtlCol="0">
            <a:spAutoFit/>
          </a:bodyPr>
          <a:lstStyle/>
          <a:p>
            <a:r>
              <a:rPr lang="en-US" altLang="ko-KR" sz="1000"/>
              <a:t>0</a:t>
            </a:r>
            <a:endParaRPr lang="ko-KR" altLang="en-US" sz="1000"/>
          </a:p>
        </p:txBody>
      </p:sp>
      <p:sp>
        <p:nvSpPr>
          <p:cNvPr id="241681" name="직사각형 241680">
            <a:extLst>
              <a:ext uri="{FF2B5EF4-FFF2-40B4-BE49-F238E27FC236}">
                <a16:creationId xmlns:a16="http://schemas.microsoft.com/office/drawing/2014/main" id="{72F26757-F8AA-9088-3B43-45488EF6850F}"/>
              </a:ext>
            </a:extLst>
          </p:cNvPr>
          <p:cNvSpPr/>
          <p:nvPr/>
        </p:nvSpPr>
        <p:spPr bwMode="auto">
          <a:xfrm>
            <a:off x="6850582" y="3724138"/>
            <a:ext cx="152390" cy="159633"/>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2" name="직사각형 241681">
            <a:extLst>
              <a:ext uri="{FF2B5EF4-FFF2-40B4-BE49-F238E27FC236}">
                <a16:creationId xmlns:a16="http://schemas.microsoft.com/office/drawing/2014/main" id="{41886EE3-5523-0F0C-9085-06DA66F31F57}"/>
              </a:ext>
            </a:extLst>
          </p:cNvPr>
          <p:cNvSpPr/>
          <p:nvPr/>
        </p:nvSpPr>
        <p:spPr bwMode="auto">
          <a:xfrm>
            <a:off x="7184403" y="3539372"/>
            <a:ext cx="152390" cy="344399"/>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3" name="직사각형 241682">
            <a:extLst>
              <a:ext uri="{FF2B5EF4-FFF2-40B4-BE49-F238E27FC236}">
                <a16:creationId xmlns:a16="http://schemas.microsoft.com/office/drawing/2014/main" id="{4B6C4CFB-01E5-5C8F-F620-AD30F678491C}"/>
              </a:ext>
            </a:extLst>
          </p:cNvPr>
          <p:cNvSpPr/>
          <p:nvPr/>
        </p:nvSpPr>
        <p:spPr bwMode="auto">
          <a:xfrm>
            <a:off x="7518224" y="3362966"/>
            <a:ext cx="152390" cy="520805"/>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4" name="직사각형 241683">
            <a:extLst>
              <a:ext uri="{FF2B5EF4-FFF2-40B4-BE49-F238E27FC236}">
                <a16:creationId xmlns:a16="http://schemas.microsoft.com/office/drawing/2014/main" id="{45CE231B-3F18-D228-5FA0-3E67AFFBD5E5}"/>
              </a:ext>
            </a:extLst>
          </p:cNvPr>
          <p:cNvSpPr/>
          <p:nvPr/>
        </p:nvSpPr>
        <p:spPr bwMode="auto">
          <a:xfrm>
            <a:off x="7874155" y="3187611"/>
            <a:ext cx="152390" cy="696161"/>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5" name="직사각형 241684">
            <a:extLst>
              <a:ext uri="{FF2B5EF4-FFF2-40B4-BE49-F238E27FC236}">
                <a16:creationId xmlns:a16="http://schemas.microsoft.com/office/drawing/2014/main" id="{0998B2B6-4B6B-9957-1196-53AF6A82CECB}"/>
              </a:ext>
            </a:extLst>
          </p:cNvPr>
          <p:cNvSpPr/>
          <p:nvPr/>
        </p:nvSpPr>
        <p:spPr bwMode="auto">
          <a:xfrm>
            <a:off x="8199770" y="3187611"/>
            <a:ext cx="152390" cy="696161"/>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6" name="직사각형 241685">
            <a:extLst>
              <a:ext uri="{FF2B5EF4-FFF2-40B4-BE49-F238E27FC236}">
                <a16:creationId xmlns:a16="http://schemas.microsoft.com/office/drawing/2014/main" id="{736ADCAB-65E8-864E-0881-A61832D24590}"/>
              </a:ext>
            </a:extLst>
          </p:cNvPr>
          <p:cNvSpPr/>
          <p:nvPr/>
        </p:nvSpPr>
        <p:spPr bwMode="auto">
          <a:xfrm>
            <a:off x="6238034" y="3187611"/>
            <a:ext cx="152388" cy="6891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7" name="직사각형 241686">
            <a:extLst>
              <a:ext uri="{FF2B5EF4-FFF2-40B4-BE49-F238E27FC236}">
                <a16:creationId xmlns:a16="http://schemas.microsoft.com/office/drawing/2014/main" id="{49BF5820-7892-E3CA-062E-962FC1C38807}"/>
              </a:ext>
            </a:extLst>
          </p:cNvPr>
          <p:cNvSpPr/>
          <p:nvPr/>
        </p:nvSpPr>
        <p:spPr bwMode="auto">
          <a:xfrm>
            <a:off x="6571853" y="3187612"/>
            <a:ext cx="152388" cy="69616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8" name="직사각형 241687">
            <a:extLst>
              <a:ext uri="{FF2B5EF4-FFF2-40B4-BE49-F238E27FC236}">
                <a16:creationId xmlns:a16="http://schemas.microsoft.com/office/drawing/2014/main" id="{EDBB2022-8A51-1346-74D6-74438160F304}"/>
              </a:ext>
            </a:extLst>
          </p:cNvPr>
          <p:cNvSpPr/>
          <p:nvPr/>
        </p:nvSpPr>
        <p:spPr bwMode="auto">
          <a:xfrm>
            <a:off x="6927127" y="3362966"/>
            <a:ext cx="152388" cy="52080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89" name="직사각형 241688">
            <a:extLst>
              <a:ext uri="{FF2B5EF4-FFF2-40B4-BE49-F238E27FC236}">
                <a16:creationId xmlns:a16="http://schemas.microsoft.com/office/drawing/2014/main" id="{F8417418-2D2E-2324-3B55-AAD424643AB1}"/>
              </a:ext>
            </a:extLst>
          </p:cNvPr>
          <p:cNvSpPr/>
          <p:nvPr/>
        </p:nvSpPr>
        <p:spPr bwMode="auto">
          <a:xfrm>
            <a:off x="7253476" y="3538320"/>
            <a:ext cx="152388" cy="34545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2" name="직사각형 241691">
            <a:extLst>
              <a:ext uri="{FF2B5EF4-FFF2-40B4-BE49-F238E27FC236}">
                <a16:creationId xmlns:a16="http://schemas.microsoft.com/office/drawing/2014/main" id="{76A2AD90-6C88-8A20-F13B-767861CC7808}"/>
              </a:ext>
            </a:extLst>
          </p:cNvPr>
          <p:cNvSpPr/>
          <p:nvPr/>
        </p:nvSpPr>
        <p:spPr bwMode="auto">
          <a:xfrm>
            <a:off x="7602009" y="3719958"/>
            <a:ext cx="152388" cy="16381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3" name="TextBox 241692">
            <a:extLst>
              <a:ext uri="{FF2B5EF4-FFF2-40B4-BE49-F238E27FC236}">
                <a16:creationId xmlns:a16="http://schemas.microsoft.com/office/drawing/2014/main" id="{28FD96C8-E976-638D-33C0-F472737DF56B}"/>
              </a:ext>
            </a:extLst>
          </p:cNvPr>
          <p:cNvSpPr txBox="1"/>
          <p:nvPr/>
        </p:nvSpPr>
        <p:spPr>
          <a:xfrm>
            <a:off x="6478904" y="3869730"/>
            <a:ext cx="235962" cy="246221"/>
          </a:xfrm>
          <a:prstGeom prst="rect">
            <a:avLst/>
          </a:prstGeom>
          <a:noFill/>
        </p:spPr>
        <p:txBody>
          <a:bodyPr wrap="none" rtlCol="0">
            <a:spAutoFit/>
          </a:bodyPr>
          <a:lstStyle/>
          <a:p>
            <a:r>
              <a:rPr lang="en-US" altLang="ko-KR" sz="1000"/>
              <a:t>t</a:t>
            </a:r>
            <a:endParaRPr lang="ko-KR" altLang="en-US" sz="1000"/>
          </a:p>
        </p:txBody>
      </p:sp>
      <p:sp>
        <p:nvSpPr>
          <p:cNvPr id="241694" name="TextBox 241693">
            <a:extLst>
              <a:ext uri="{FF2B5EF4-FFF2-40B4-BE49-F238E27FC236}">
                <a16:creationId xmlns:a16="http://schemas.microsoft.com/office/drawing/2014/main" id="{A163A9E6-8EE8-3E9C-4608-CB01FD00F15D}"/>
              </a:ext>
            </a:extLst>
          </p:cNvPr>
          <p:cNvSpPr txBox="1"/>
          <p:nvPr/>
        </p:nvSpPr>
        <p:spPr>
          <a:xfrm>
            <a:off x="6793845" y="3869730"/>
            <a:ext cx="317716" cy="246221"/>
          </a:xfrm>
          <a:prstGeom prst="rect">
            <a:avLst/>
          </a:prstGeom>
          <a:noFill/>
        </p:spPr>
        <p:txBody>
          <a:bodyPr wrap="none" rtlCol="0">
            <a:spAutoFit/>
          </a:bodyPr>
          <a:lstStyle/>
          <a:p>
            <a:r>
              <a:rPr lang="en-US" altLang="ko-KR" sz="1000"/>
              <a:t>2t</a:t>
            </a:r>
            <a:endParaRPr lang="ko-KR" altLang="en-US" sz="1000"/>
          </a:p>
        </p:txBody>
      </p:sp>
      <p:sp>
        <p:nvSpPr>
          <p:cNvPr id="241695" name="TextBox 241694">
            <a:extLst>
              <a:ext uri="{FF2B5EF4-FFF2-40B4-BE49-F238E27FC236}">
                <a16:creationId xmlns:a16="http://schemas.microsoft.com/office/drawing/2014/main" id="{854CA944-4840-8E74-0FAF-5CE322D4B5DB}"/>
              </a:ext>
            </a:extLst>
          </p:cNvPr>
          <p:cNvSpPr txBox="1"/>
          <p:nvPr/>
        </p:nvSpPr>
        <p:spPr>
          <a:xfrm>
            <a:off x="7146427" y="3869730"/>
            <a:ext cx="317716" cy="246221"/>
          </a:xfrm>
          <a:prstGeom prst="rect">
            <a:avLst/>
          </a:prstGeom>
          <a:noFill/>
        </p:spPr>
        <p:txBody>
          <a:bodyPr wrap="none" rtlCol="0">
            <a:spAutoFit/>
          </a:bodyPr>
          <a:lstStyle/>
          <a:p>
            <a:r>
              <a:rPr lang="en-US" altLang="ko-KR" sz="1000"/>
              <a:t>3t</a:t>
            </a:r>
            <a:endParaRPr lang="ko-KR" altLang="en-US" sz="1000"/>
          </a:p>
        </p:txBody>
      </p:sp>
      <p:sp>
        <p:nvSpPr>
          <p:cNvPr id="241888" name="직사각형 241887">
            <a:extLst>
              <a:ext uri="{FF2B5EF4-FFF2-40B4-BE49-F238E27FC236}">
                <a16:creationId xmlns:a16="http://schemas.microsoft.com/office/drawing/2014/main" id="{E5F19555-9461-ED83-5B5C-057E0D7BCA07}"/>
              </a:ext>
            </a:extLst>
          </p:cNvPr>
          <p:cNvSpPr/>
          <p:nvPr/>
        </p:nvSpPr>
        <p:spPr bwMode="auto">
          <a:xfrm>
            <a:off x="8077889" y="2715732"/>
            <a:ext cx="106418" cy="8342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89" name="직사각형 241888">
            <a:extLst>
              <a:ext uri="{FF2B5EF4-FFF2-40B4-BE49-F238E27FC236}">
                <a16:creationId xmlns:a16="http://schemas.microsoft.com/office/drawing/2014/main" id="{33012334-9F1E-7CF5-5A33-91C083D6EAC0}"/>
              </a:ext>
            </a:extLst>
          </p:cNvPr>
          <p:cNvSpPr/>
          <p:nvPr/>
        </p:nvSpPr>
        <p:spPr bwMode="auto">
          <a:xfrm>
            <a:off x="8077889" y="2849763"/>
            <a:ext cx="106418" cy="83423"/>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90" name="TextBox 241889">
            <a:extLst>
              <a:ext uri="{FF2B5EF4-FFF2-40B4-BE49-F238E27FC236}">
                <a16:creationId xmlns:a16="http://schemas.microsoft.com/office/drawing/2014/main" id="{66928392-5439-1EB5-FAAC-F2ADCF57C13F}"/>
              </a:ext>
            </a:extLst>
          </p:cNvPr>
          <p:cNvSpPr txBox="1"/>
          <p:nvPr/>
        </p:nvSpPr>
        <p:spPr>
          <a:xfrm>
            <a:off x="8139549" y="2626123"/>
            <a:ext cx="272832" cy="246221"/>
          </a:xfrm>
          <a:prstGeom prst="rect">
            <a:avLst/>
          </a:prstGeom>
          <a:noFill/>
        </p:spPr>
        <p:txBody>
          <a:bodyPr wrap="none" rtlCol="0">
            <a:spAutoFit/>
          </a:bodyPr>
          <a:lstStyle/>
          <a:p>
            <a:pPr algn="ctr"/>
            <a:r>
              <a:rPr lang="en-US" altLang="ko-KR" sz="1000"/>
              <a:t>A</a:t>
            </a:r>
            <a:endParaRPr lang="ko-KR" altLang="en-US" sz="1000"/>
          </a:p>
        </p:txBody>
      </p:sp>
      <p:sp>
        <p:nvSpPr>
          <p:cNvPr id="241891" name="TextBox 241890">
            <a:extLst>
              <a:ext uri="{FF2B5EF4-FFF2-40B4-BE49-F238E27FC236}">
                <a16:creationId xmlns:a16="http://schemas.microsoft.com/office/drawing/2014/main" id="{22AD75E1-74CA-A029-3D05-DD48C75D9763}"/>
              </a:ext>
            </a:extLst>
          </p:cNvPr>
          <p:cNvSpPr txBox="1"/>
          <p:nvPr/>
        </p:nvSpPr>
        <p:spPr>
          <a:xfrm>
            <a:off x="8139549" y="2762895"/>
            <a:ext cx="272832" cy="246221"/>
          </a:xfrm>
          <a:prstGeom prst="rect">
            <a:avLst/>
          </a:prstGeom>
          <a:noFill/>
        </p:spPr>
        <p:txBody>
          <a:bodyPr wrap="none" rtlCol="0">
            <a:spAutoFit/>
          </a:bodyPr>
          <a:lstStyle/>
          <a:p>
            <a:pPr algn="ctr"/>
            <a:r>
              <a:rPr lang="en-US" altLang="ko-KR" sz="1000"/>
              <a:t>B</a:t>
            </a:r>
            <a:endParaRPr lang="ko-KR" altLang="en-US" sz="1000"/>
          </a:p>
        </p:txBody>
      </p:sp>
      <p:sp>
        <p:nvSpPr>
          <p:cNvPr id="241892" name="직사각형 241891">
            <a:extLst>
              <a:ext uri="{FF2B5EF4-FFF2-40B4-BE49-F238E27FC236}">
                <a16:creationId xmlns:a16="http://schemas.microsoft.com/office/drawing/2014/main" id="{80F3E111-44E2-CA29-694B-19C396ED02E2}"/>
              </a:ext>
            </a:extLst>
          </p:cNvPr>
          <p:cNvSpPr/>
          <p:nvPr/>
        </p:nvSpPr>
        <p:spPr bwMode="auto">
          <a:xfrm>
            <a:off x="8077889" y="4336256"/>
            <a:ext cx="106418" cy="8342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93" name="직사각형 241892">
            <a:extLst>
              <a:ext uri="{FF2B5EF4-FFF2-40B4-BE49-F238E27FC236}">
                <a16:creationId xmlns:a16="http://schemas.microsoft.com/office/drawing/2014/main" id="{D8C9853E-F3DA-0920-7CFE-B7182A089CBE}"/>
              </a:ext>
            </a:extLst>
          </p:cNvPr>
          <p:cNvSpPr/>
          <p:nvPr/>
        </p:nvSpPr>
        <p:spPr bwMode="auto">
          <a:xfrm>
            <a:off x="8077889" y="4470287"/>
            <a:ext cx="106418" cy="83423"/>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894" name="TextBox 241893">
            <a:extLst>
              <a:ext uri="{FF2B5EF4-FFF2-40B4-BE49-F238E27FC236}">
                <a16:creationId xmlns:a16="http://schemas.microsoft.com/office/drawing/2014/main" id="{6E47D42F-C493-82E6-850A-01BB8E7517A0}"/>
              </a:ext>
            </a:extLst>
          </p:cNvPr>
          <p:cNvSpPr txBox="1"/>
          <p:nvPr/>
        </p:nvSpPr>
        <p:spPr>
          <a:xfrm>
            <a:off x="8139549" y="4246647"/>
            <a:ext cx="272832" cy="246221"/>
          </a:xfrm>
          <a:prstGeom prst="rect">
            <a:avLst/>
          </a:prstGeom>
          <a:noFill/>
        </p:spPr>
        <p:txBody>
          <a:bodyPr wrap="none" rtlCol="0">
            <a:spAutoFit/>
          </a:bodyPr>
          <a:lstStyle/>
          <a:p>
            <a:pPr algn="ctr"/>
            <a:r>
              <a:rPr lang="en-US" altLang="ko-KR" sz="1000"/>
              <a:t>A</a:t>
            </a:r>
            <a:endParaRPr lang="ko-KR" altLang="en-US" sz="1000"/>
          </a:p>
        </p:txBody>
      </p:sp>
      <p:sp>
        <p:nvSpPr>
          <p:cNvPr id="241895" name="TextBox 241894">
            <a:extLst>
              <a:ext uri="{FF2B5EF4-FFF2-40B4-BE49-F238E27FC236}">
                <a16:creationId xmlns:a16="http://schemas.microsoft.com/office/drawing/2014/main" id="{0E4882F1-D132-0F89-D203-D39AC0225866}"/>
              </a:ext>
            </a:extLst>
          </p:cNvPr>
          <p:cNvSpPr txBox="1"/>
          <p:nvPr/>
        </p:nvSpPr>
        <p:spPr>
          <a:xfrm>
            <a:off x="8139549" y="4383419"/>
            <a:ext cx="272832" cy="246221"/>
          </a:xfrm>
          <a:prstGeom prst="rect">
            <a:avLst/>
          </a:prstGeom>
          <a:noFill/>
        </p:spPr>
        <p:txBody>
          <a:bodyPr wrap="none" rtlCol="0">
            <a:spAutoFit/>
          </a:bodyPr>
          <a:lstStyle/>
          <a:p>
            <a:pPr algn="ctr"/>
            <a:r>
              <a:rPr lang="en-US" altLang="ko-KR" sz="1000"/>
              <a:t>B</a:t>
            </a:r>
            <a:endParaRPr lang="ko-KR" altLang="en-US" sz="1000"/>
          </a:p>
        </p:txBody>
      </p:sp>
      <p:sp>
        <p:nvSpPr>
          <p:cNvPr id="241896" name="TextBox 241895">
            <a:extLst>
              <a:ext uri="{FF2B5EF4-FFF2-40B4-BE49-F238E27FC236}">
                <a16:creationId xmlns:a16="http://schemas.microsoft.com/office/drawing/2014/main" id="{BBFF80FF-EFAC-F88E-DBAB-78B92AF032EB}"/>
              </a:ext>
            </a:extLst>
          </p:cNvPr>
          <p:cNvSpPr txBox="1"/>
          <p:nvPr/>
        </p:nvSpPr>
        <p:spPr>
          <a:xfrm>
            <a:off x="5726967" y="2576390"/>
            <a:ext cx="713657" cy="415498"/>
          </a:xfrm>
          <a:prstGeom prst="rect">
            <a:avLst/>
          </a:prstGeom>
          <a:noFill/>
        </p:spPr>
        <p:txBody>
          <a:bodyPr wrap="none" rtlCol="0">
            <a:spAutoFit/>
          </a:bodyPr>
          <a:lstStyle/>
          <a:p>
            <a:pPr algn="ctr"/>
            <a:r>
              <a:rPr lang="en-US" altLang="ko-KR" sz="1000"/>
              <a:t>thread</a:t>
            </a:r>
          </a:p>
          <a:p>
            <a:r>
              <a:rPr lang="en-US" altLang="ko-KR" sz="1000"/>
              <a:t>runtime</a:t>
            </a:r>
            <a:endParaRPr lang="ko-KR" altLang="en-US" sz="1000"/>
          </a:p>
        </p:txBody>
      </p:sp>
      <p:sp>
        <p:nvSpPr>
          <p:cNvPr id="241897" name="TextBox 241896">
            <a:extLst>
              <a:ext uri="{FF2B5EF4-FFF2-40B4-BE49-F238E27FC236}">
                <a16:creationId xmlns:a16="http://schemas.microsoft.com/office/drawing/2014/main" id="{77794EEA-1357-E756-EFCD-2A316CED6728}"/>
              </a:ext>
            </a:extLst>
          </p:cNvPr>
          <p:cNvSpPr txBox="1"/>
          <p:nvPr/>
        </p:nvSpPr>
        <p:spPr>
          <a:xfrm>
            <a:off x="5726967" y="4117018"/>
            <a:ext cx="713657" cy="415498"/>
          </a:xfrm>
          <a:prstGeom prst="rect">
            <a:avLst/>
          </a:prstGeom>
          <a:noFill/>
        </p:spPr>
        <p:txBody>
          <a:bodyPr wrap="none" rtlCol="0">
            <a:spAutoFit/>
          </a:bodyPr>
          <a:lstStyle/>
          <a:p>
            <a:pPr algn="ctr"/>
            <a:r>
              <a:rPr lang="en-US" altLang="ko-KR" sz="1000"/>
              <a:t>thread</a:t>
            </a:r>
          </a:p>
          <a:p>
            <a:r>
              <a:rPr lang="en-US" altLang="ko-KR" sz="1000"/>
              <a:t>runtime</a:t>
            </a:r>
            <a:endParaRPr lang="ko-KR" altLang="en-US" sz="1000"/>
          </a:p>
        </p:txBody>
      </p:sp>
    </p:spTree>
    <p:extLst>
      <p:ext uri="{BB962C8B-B14F-4D97-AF65-F5344CB8AC3E}">
        <p14:creationId xmlns:p14="http://schemas.microsoft.com/office/powerpoint/2010/main" val="1953181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5504-C2B0-E677-5C65-98AD2A2A8399}"/>
            </a:ext>
          </a:extLst>
        </p:cNvPr>
        <p:cNvGrpSpPr/>
        <p:nvPr/>
      </p:nvGrpSpPr>
      <p:grpSpPr>
        <a:xfrm>
          <a:off x="0" y="0"/>
          <a:ext cx="0" cy="0"/>
          <a:chOff x="0" y="0"/>
          <a:chExt cx="0" cy="0"/>
        </a:xfrm>
      </p:grpSpPr>
      <p:sp>
        <p:nvSpPr>
          <p:cNvPr id="19" name="직사각형 18">
            <a:extLst>
              <a:ext uri="{FF2B5EF4-FFF2-40B4-BE49-F238E27FC236}">
                <a16:creationId xmlns:a16="http://schemas.microsoft.com/office/drawing/2014/main" id="{CCCB14DB-63C0-4182-C18C-43B541C3113B}"/>
              </a:ext>
            </a:extLst>
          </p:cNvPr>
          <p:cNvSpPr/>
          <p:nvPr/>
        </p:nvSpPr>
        <p:spPr bwMode="auto">
          <a:xfrm>
            <a:off x="228600" y="4255671"/>
            <a:ext cx="8839200" cy="252612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5" name="Rectangle 3">
            <a:extLst>
              <a:ext uri="{FF2B5EF4-FFF2-40B4-BE49-F238E27FC236}">
                <a16:creationId xmlns:a16="http://schemas.microsoft.com/office/drawing/2014/main" id="{AF680034-F3C6-AD7D-618B-852AF16EC222}"/>
              </a:ext>
            </a:extLst>
          </p:cNvPr>
          <p:cNvSpPr txBox="1">
            <a:spLocks noChangeArrowheads="1"/>
          </p:cNvSpPr>
          <p:nvPr/>
        </p:nvSpPr>
        <p:spPr bwMode="auto">
          <a:xfrm>
            <a:off x="233680" y="4523212"/>
            <a:ext cx="5668313" cy="85507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r>
              <a:rPr lang="en-US" altLang="ko-KR" sz="1800" kern="0"/>
              <a:t>The graph above shows the execution time of three threads A, B and C with a ticket ratio of </a:t>
            </a:r>
            <a:r>
              <a:rPr lang="en-US" altLang="ko-KR" sz="1800" b="1" kern="0">
                <a:solidFill>
                  <a:srgbClr val="0000FF"/>
                </a:solidFill>
              </a:rPr>
              <a:t>1 : 2 : 4 </a:t>
            </a:r>
            <a:r>
              <a:rPr lang="en-US" altLang="ko-KR" sz="1800" kern="0"/>
              <a:t>respectively.</a:t>
            </a:r>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sp>
        <p:nvSpPr>
          <p:cNvPr id="15" name="Rectangle 3">
            <a:extLst>
              <a:ext uri="{FF2B5EF4-FFF2-40B4-BE49-F238E27FC236}">
                <a16:creationId xmlns:a16="http://schemas.microsoft.com/office/drawing/2014/main" id="{9EE83B50-BE4E-BC11-91F6-AE04AC96F69A}"/>
              </a:ext>
            </a:extLst>
          </p:cNvPr>
          <p:cNvSpPr txBox="1">
            <a:spLocks noChangeArrowheads="1"/>
          </p:cNvSpPr>
          <p:nvPr/>
        </p:nvSpPr>
        <p:spPr bwMode="auto">
          <a:xfrm>
            <a:off x="233680" y="5516789"/>
            <a:ext cx="5565128" cy="1427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1900"/>
              </a:lnSpc>
            </a:pPr>
            <a:r>
              <a:rPr lang="en-US" altLang="ko-KR" sz="1800" kern="0"/>
              <a:t>The average ticks in a window per threads</a:t>
            </a:r>
          </a:p>
          <a:p>
            <a:pPr marL="0" indent="0" latinLnBrk="1">
              <a:lnSpc>
                <a:spcPts val="1900"/>
              </a:lnSpc>
              <a:buNone/>
            </a:pPr>
            <a:r>
              <a:rPr lang="en-US" altLang="ko-KR" sz="1800" kern="0"/>
              <a:t>      </a:t>
            </a:r>
            <a:r>
              <a:rPr lang="en-US" altLang="ko-KR" sz="1800" kern="0">
                <a:solidFill>
                  <a:srgbClr val="0000FF"/>
                </a:solidFill>
              </a:rPr>
              <a:t>A : B : C </a:t>
            </a:r>
            <a:r>
              <a:rPr lang="ko-KR" altLang="en-US" sz="1800">
                <a:solidFill>
                  <a:srgbClr val="0000FF"/>
                </a:solidFill>
              </a:rPr>
              <a:t>≈</a:t>
            </a:r>
            <a:r>
              <a:rPr lang="en-US" altLang="ko-KR" sz="1800" kern="0">
                <a:solidFill>
                  <a:srgbClr val="0000FF"/>
                </a:solidFill>
              </a:rPr>
              <a:t> 14.29 : 28.50 : 56.95 </a:t>
            </a:r>
          </a:p>
          <a:p>
            <a:pPr marL="0" indent="0" latinLnBrk="1">
              <a:lnSpc>
                <a:spcPts val="1900"/>
              </a:lnSpc>
              <a:buNone/>
            </a:pPr>
            <a:r>
              <a:rPr lang="en-US" altLang="ko-KR" sz="1800" kern="0">
                <a:solidFill>
                  <a:srgbClr val="0000FF"/>
                </a:solidFill>
              </a:rPr>
              <a:t>                   </a:t>
            </a:r>
            <a:r>
              <a:rPr lang="ko-KR" altLang="en-US" sz="1800">
                <a:solidFill>
                  <a:srgbClr val="0000FF"/>
                </a:solidFill>
              </a:rPr>
              <a:t>≈</a:t>
            </a:r>
            <a:r>
              <a:rPr lang="en-US" altLang="ko-KR" sz="1800" kern="0">
                <a:solidFill>
                  <a:srgbClr val="0000FF"/>
                </a:solidFill>
              </a:rPr>
              <a:t> </a:t>
            </a:r>
            <a:r>
              <a:rPr lang="en-US" altLang="ko-KR" sz="1800" b="1" u="sng" kern="0">
                <a:solidFill>
                  <a:srgbClr val="0000FF"/>
                </a:solidFill>
              </a:rPr>
              <a:t>1.00 : 1.99 : 3.99</a:t>
            </a:r>
            <a:r>
              <a:rPr lang="en-US" altLang="ko-KR" sz="1800" i="1" kern="0">
                <a:solidFill>
                  <a:srgbClr val="0000FF"/>
                </a:solidFill>
              </a:rPr>
              <a:t>  </a:t>
            </a:r>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sp>
        <p:nvSpPr>
          <p:cNvPr id="241666" name="Rectangle 2">
            <a:extLst>
              <a:ext uri="{FF2B5EF4-FFF2-40B4-BE49-F238E27FC236}">
                <a16:creationId xmlns:a16="http://schemas.microsoft.com/office/drawing/2014/main" id="{6D3F04B1-B672-5283-C1E2-CA44A290D9B7}"/>
              </a:ext>
            </a:extLst>
          </p:cNvPr>
          <p:cNvSpPr>
            <a:spLocks noGrp="1" noChangeArrowheads="1"/>
          </p:cNvSpPr>
          <p:nvPr>
            <p:ph type="title"/>
          </p:nvPr>
        </p:nvSpPr>
        <p:spPr/>
        <p:txBody>
          <a:bodyPr/>
          <a:lstStyle/>
          <a:p>
            <a:r>
              <a:rPr lang="en-US" altLang="ko-KR" sz="3200"/>
              <a:t>Stride Scheduler</a:t>
            </a:r>
            <a:br>
              <a:rPr lang="en-US" altLang="ko-KR" sz="3200"/>
            </a:br>
            <a:r>
              <a:rPr lang="en-US" altLang="ko-KR" sz="3200"/>
              <a:t>Fairness Evaluation </a:t>
            </a:r>
            <a:r>
              <a:rPr lang="en-US" altLang="ko-KR" sz="2800"/>
              <a:t>(1/6)</a:t>
            </a:r>
          </a:p>
        </p:txBody>
      </p:sp>
      <p:sp>
        <p:nvSpPr>
          <p:cNvPr id="5" name="TextBox 4">
            <a:extLst>
              <a:ext uri="{FF2B5EF4-FFF2-40B4-BE49-F238E27FC236}">
                <a16:creationId xmlns:a16="http://schemas.microsoft.com/office/drawing/2014/main" id="{BCB49B4F-909B-1E09-3731-989B1B0A95BC}"/>
              </a:ext>
            </a:extLst>
          </p:cNvPr>
          <p:cNvSpPr txBox="1"/>
          <p:nvPr/>
        </p:nvSpPr>
        <p:spPr>
          <a:xfrm flipH="1">
            <a:off x="5901993" y="4318199"/>
            <a:ext cx="1524001" cy="276999"/>
          </a:xfrm>
          <a:prstGeom prst="rect">
            <a:avLst/>
          </a:prstGeom>
          <a:noFill/>
        </p:spPr>
        <p:txBody>
          <a:bodyPr wrap="square" rtlCol="0">
            <a:spAutoFit/>
          </a:bodyPr>
          <a:lstStyle/>
          <a:p>
            <a:r>
              <a:rPr lang="en-US" altLang="ko-KR" sz="1200" i="1"/>
              <a:t>&lt;Parameters&gt;</a:t>
            </a:r>
            <a:endParaRPr lang="ko-KR" altLang="en-US" sz="1200" i="1"/>
          </a:p>
        </p:txBody>
      </p:sp>
      <p:graphicFrame>
        <p:nvGraphicFramePr>
          <p:cNvPr id="6" name="표 5">
            <a:extLst>
              <a:ext uri="{FF2B5EF4-FFF2-40B4-BE49-F238E27FC236}">
                <a16:creationId xmlns:a16="http://schemas.microsoft.com/office/drawing/2014/main" id="{54321315-6660-DD21-C78D-D6B5F6F9D7D3}"/>
              </a:ext>
            </a:extLst>
          </p:cNvPr>
          <p:cNvGraphicFramePr>
            <a:graphicFrameLocks noGrp="1"/>
          </p:cNvGraphicFramePr>
          <p:nvPr>
            <p:extLst>
              <p:ext uri="{D42A27DB-BD31-4B8C-83A1-F6EECF244321}">
                <p14:modId xmlns:p14="http://schemas.microsoft.com/office/powerpoint/2010/main" val="3490850661"/>
              </p:ext>
            </p:extLst>
          </p:nvPr>
        </p:nvGraphicFramePr>
        <p:xfrm>
          <a:off x="5901993" y="4602480"/>
          <a:ext cx="2952115" cy="1950720"/>
        </p:xfrm>
        <a:graphic>
          <a:graphicData uri="http://schemas.openxmlformats.org/drawingml/2006/table">
            <a:tbl>
              <a:tblPr firstRow="1" bandRow="1">
                <a:tableStyleId>{F5AB1C69-6EDB-4FF4-983F-18BD219EF322}</a:tableStyleId>
              </a:tblPr>
              <a:tblGrid>
                <a:gridCol w="1539240">
                  <a:extLst>
                    <a:ext uri="{9D8B030D-6E8A-4147-A177-3AD203B41FA5}">
                      <a16:colId xmlns:a16="http://schemas.microsoft.com/office/drawing/2014/main" val="3015700258"/>
                    </a:ext>
                  </a:extLst>
                </a:gridCol>
                <a:gridCol w="1412875">
                  <a:extLst>
                    <a:ext uri="{9D8B030D-6E8A-4147-A177-3AD203B41FA5}">
                      <a16:colId xmlns:a16="http://schemas.microsoft.com/office/drawing/2014/main" val="2783093473"/>
                    </a:ext>
                  </a:extLst>
                </a:gridCol>
              </a:tblGrid>
              <a:tr h="178406">
                <a:tc>
                  <a:txBody>
                    <a:bodyPr/>
                    <a:lstStyle/>
                    <a:p>
                      <a:pPr algn="ctr" latinLnBrk="1"/>
                      <a:r>
                        <a:rPr lang="en-US" altLang="ko-KR" sz="1000" b="0" i="1">
                          <a:solidFill>
                            <a:schemeClr val="tx1"/>
                          </a:solidFill>
                          <a:latin typeface="+mj-lt"/>
                        </a:rPr>
                        <a:t>parameter</a:t>
                      </a:r>
                      <a:endParaRPr lang="ko-KR" altLang="en-US" sz="1000" b="0" i="1">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sz="1000" b="0" i="1">
                          <a:solidFill>
                            <a:schemeClr val="tx1"/>
                          </a:solidFill>
                          <a:latin typeface="+mj-lt"/>
                        </a:rPr>
                        <a:t>value</a:t>
                      </a:r>
                      <a:endParaRPr lang="ko-KR" altLang="en-US" sz="1000" b="0" i="1">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99169713"/>
                  </a:ext>
                </a:extLst>
              </a:tr>
              <a:tr h="178406">
                <a:tc>
                  <a:txBody>
                    <a:bodyPr/>
                    <a:lstStyle/>
                    <a:p>
                      <a:pPr algn="ctr" latinLnBrk="1"/>
                      <a:r>
                        <a:rPr lang="en-US" altLang="ko-KR" sz="1000" b="0">
                          <a:solidFill>
                            <a:schemeClr val="tx1"/>
                          </a:solidFill>
                          <a:latin typeface="+mj-lt"/>
                        </a:rPr>
                        <a:t>Test Period</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3000 ticks </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63085727"/>
                  </a:ext>
                </a:extLst>
              </a:tr>
              <a:tr h="178406">
                <a:tc>
                  <a:txBody>
                    <a:bodyPr/>
                    <a:lstStyle/>
                    <a:p>
                      <a:pPr algn="ctr" latinLnBrk="1"/>
                      <a:r>
                        <a:rPr lang="en-US" altLang="ko-KR" sz="1000" b="0">
                          <a:solidFill>
                            <a:schemeClr val="tx1"/>
                          </a:solidFill>
                          <a:latin typeface="+mj-lt"/>
                        </a:rPr>
                        <a:t>Window Size</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100 ticks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5629123"/>
                  </a:ext>
                </a:extLst>
              </a:tr>
              <a:tr h="178406">
                <a:tc>
                  <a:txBody>
                    <a:bodyPr/>
                    <a:lstStyle/>
                    <a:p>
                      <a:pPr algn="ctr" latinLnBrk="1"/>
                      <a:r>
                        <a:rPr lang="en-US" altLang="ko-KR" sz="1000" b="0">
                          <a:solidFill>
                            <a:schemeClr val="tx1"/>
                          </a:solidFill>
                          <a:latin typeface="+mj-lt"/>
                        </a:rPr>
                        <a:t>Stride of Window</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25 ticks / step</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9138878"/>
                  </a:ext>
                </a:extLst>
              </a:tr>
              <a:tr h="178406">
                <a:tc>
                  <a:txBody>
                    <a:bodyPr/>
                    <a:lstStyle/>
                    <a:p>
                      <a:pPr algn="ctr" latinLnBrk="1"/>
                      <a:r>
                        <a:rPr lang="en-US" altLang="ko-KR" sz="1000" b="0">
                          <a:solidFill>
                            <a:schemeClr val="tx1"/>
                          </a:solidFill>
                          <a:latin typeface="+mj-lt"/>
                        </a:rPr>
                        <a:t>K</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27000</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2137293"/>
                  </a:ext>
                </a:extLst>
              </a:tr>
              <a:tr h="178406">
                <a:tc>
                  <a:txBody>
                    <a:bodyPr/>
                    <a:lstStyle/>
                    <a:p>
                      <a:pPr algn="ctr" latinLnBrk="1"/>
                      <a:r>
                        <a:rPr lang="en-US" altLang="ko-KR" sz="1000" b="0">
                          <a:solidFill>
                            <a:schemeClr val="tx1"/>
                          </a:solidFill>
                          <a:latin typeface="+mj-lt"/>
                        </a:rPr>
                        <a:t>A.tickets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1</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0241905"/>
                  </a:ext>
                </a:extLst>
              </a:tr>
              <a:tr h="178406">
                <a:tc>
                  <a:txBody>
                    <a:bodyPr/>
                    <a:lstStyle/>
                    <a:p>
                      <a:pPr algn="ctr" latinLnBrk="1"/>
                      <a:r>
                        <a:rPr lang="en-US" altLang="ko-KR" sz="1000" b="0">
                          <a:solidFill>
                            <a:schemeClr val="tx1"/>
                          </a:solidFill>
                          <a:latin typeface="+mj-lt"/>
                        </a:rPr>
                        <a:t>B.tickets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3382857"/>
                  </a:ext>
                </a:extLst>
              </a:tr>
              <a:tr h="178406">
                <a:tc>
                  <a:txBody>
                    <a:bodyPr/>
                    <a:lstStyle/>
                    <a:p>
                      <a:pPr algn="ctr" latinLnBrk="1"/>
                      <a:r>
                        <a:rPr lang="en-US" altLang="ko-KR" sz="1000" b="0">
                          <a:solidFill>
                            <a:schemeClr val="tx1"/>
                          </a:solidFill>
                          <a:latin typeface="+mj-lt"/>
                        </a:rPr>
                        <a:t>C.tickets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4</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9212719"/>
                  </a:ext>
                </a:extLst>
              </a:tr>
            </a:tbl>
          </a:graphicData>
        </a:graphic>
      </p:graphicFrame>
      <p:sp>
        <p:nvSpPr>
          <p:cNvPr id="16" name="TextBox 15">
            <a:extLst>
              <a:ext uri="{FF2B5EF4-FFF2-40B4-BE49-F238E27FC236}">
                <a16:creationId xmlns:a16="http://schemas.microsoft.com/office/drawing/2014/main" id="{FE40336C-78D9-DC79-84D3-9A0D82C52C63}"/>
              </a:ext>
            </a:extLst>
          </p:cNvPr>
          <p:cNvSpPr txBox="1"/>
          <p:nvPr/>
        </p:nvSpPr>
        <p:spPr>
          <a:xfrm>
            <a:off x="6085114" y="6560482"/>
            <a:ext cx="2930610" cy="246221"/>
          </a:xfrm>
          <a:prstGeom prst="rect">
            <a:avLst/>
          </a:prstGeom>
          <a:noFill/>
        </p:spPr>
        <p:txBody>
          <a:bodyPr wrap="none" rtlCol="0">
            <a:spAutoFit/>
          </a:bodyPr>
          <a:lstStyle/>
          <a:p>
            <a:r>
              <a:rPr lang="en-US" altLang="ko-KR" sz="1000"/>
              <a:t>※ 1 tick </a:t>
            </a:r>
            <a:r>
              <a:rPr lang="ko-KR" altLang="en-US" sz="1000"/>
              <a:t>≈</a:t>
            </a:r>
            <a:r>
              <a:rPr lang="en-US" altLang="ko-KR" sz="1000"/>
              <a:t> 10ms,  X.stride = K / X.tickets</a:t>
            </a:r>
            <a:endParaRPr lang="ko-KR" altLang="en-US" sz="1000"/>
          </a:p>
        </p:txBody>
      </p:sp>
      <p:pic>
        <p:nvPicPr>
          <p:cNvPr id="17" name="그림 16">
            <a:extLst>
              <a:ext uri="{FF2B5EF4-FFF2-40B4-BE49-F238E27FC236}">
                <a16:creationId xmlns:a16="http://schemas.microsoft.com/office/drawing/2014/main" id="{150D44ED-76B7-5C85-CED0-35E63C79463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6092" y="1500916"/>
            <a:ext cx="8666480" cy="2780453"/>
          </a:xfrm>
          <a:prstGeom prst="rect">
            <a:avLst/>
          </a:prstGeom>
        </p:spPr>
      </p:pic>
      <p:sp>
        <p:nvSpPr>
          <p:cNvPr id="20" name="TextBox 19">
            <a:extLst>
              <a:ext uri="{FF2B5EF4-FFF2-40B4-BE49-F238E27FC236}">
                <a16:creationId xmlns:a16="http://schemas.microsoft.com/office/drawing/2014/main" id="{33B915FD-833E-8318-506C-28BEBB4DD58E}"/>
              </a:ext>
            </a:extLst>
          </p:cNvPr>
          <p:cNvSpPr txBox="1"/>
          <p:nvPr/>
        </p:nvSpPr>
        <p:spPr>
          <a:xfrm>
            <a:off x="7458854" y="4054178"/>
            <a:ext cx="1345240" cy="230832"/>
          </a:xfrm>
          <a:prstGeom prst="rect">
            <a:avLst/>
          </a:prstGeom>
          <a:noFill/>
        </p:spPr>
        <p:txBody>
          <a:bodyPr wrap="none" rtlCol="0">
            <a:spAutoFit/>
          </a:bodyPr>
          <a:lstStyle/>
          <a:p>
            <a:r>
              <a:rPr lang="en-US" altLang="ko-KR" sz="900"/>
              <a:t>window start (ticks)</a:t>
            </a:r>
            <a:endParaRPr lang="ko-KR" altLang="en-US" sz="900"/>
          </a:p>
        </p:txBody>
      </p:sp>
      <p:sp>
        <p:nvSpPr>
          <p:cNvPr id="21" name="TextBox 20">
            <a:extLst>
              <a:ext uri="{FF2B5EF4-FFF2-40B4-BE49-F238E27FC236}">
                <a16:creationId xmlns:a16="http://schemas.microsoft.com/office/drawing/2014/main" id="{74E681DB-2B46-C0A8-855E-F09D54CE48DF}"/>
              </a:ext>
            </a:extLst>
          </p:cNvPr>
          <p:cNvSpPr txBox="1"/>
          <p:nvPr/>
        </p:nvSpPr>
        <p:spPr>
          <a:xfrm>
            <a:off x="7280762" y="3242115"/>
            <a:ext cx="290464" cy="276999"/>
          </a:xfrm>
          <a:prstGeom prst="rect">
            <a:avLst/>
          </a:prstGeom>
          <a:noFill/>
        </p:spPr>
        <p:txBody>
          <a:bodyPr wrap="none" rtlCol="0">
            <a:spAutoFit/>
          </a:bodyPr>
          <a:lstStyle/>
          <a:p>
            <a:r>
              <a:rPr lang="en-US" altLang="ko-KR" sz="1200"/>
              <a:t>A</a:t>
            </a:r>
            <a:endParaRPr lang="ko-KR" altLang="en-US" sz="1200"/>
          </a:p>
        </p:txBody>
      </p:sp>
      <p:sp>
        <p:nvSpPr>
          <p:cNvPr id="22" name="TextBox 21">
            <a:extLst>
              <a:ext uri="{FF2B5EF4-FFF2-40B4-BE49-F238E27FC236}">
                <a16:creationId xmlns:a16="http://schemas.microsoft.com/office/drawing/2014/main" id="{A81DBCE0-8086-D196-ADC1-27BB780B8B21}"/>
              </a:ext>
            </a:extLst>
          </p:cNvPr>
          <p:cNvSpPr txBox="1"/>
          <p:nvPr/>
        </p:nvSpPr>
        <p:spPr>
          <a:xfrm>
            <a:off x="7280762" y="2822976"/>
            <a:ext cx="290464" cy="276999"/>
          </a:xfrm>
          <a:prstGeom prst="rect">
            <a:avLst/>
          </a:prstGeom>
          <a:noFill/>
        </p:spPr>
        <p:txBody>
          <a:bodyPr wrap="none" rtlCol="0">
            <a:spAutoFit/>
          </a:bodyPr>
          <a:lstStyle/>
          <a:p>
            <a:r>
              <a:rPr lang="en-US" altLang="ko-KR" sz="1200"/>
              <a:t>B</a:t>
            </a:r>
            <a:endParaRPr lang="ko-KR" altLang="en-US" sz="1200"/>
          </a:p>
        </p:txBody>
      </p:sp>
      <p:sp>
        <p:nvSpPr>
          <p:cNvPr id="23" name="TextBox 22">
            <a:extLst>
              <a:ext uri="{FF2B5EF4-FFF2-40B4-BE49-F238E27FC236}">
                <a16:creationId xmlns:a16="http://schemas.microsoft.com/office/drawing/2014/main" id="{998F9046-A75E-0683-B2A3-4E4DEF741886}"/>
              </a:ext>
            </a:extLst>
          </p:cNvPr>
          <p:cNvSpPr txBox="1"/>
          <p:nvPr/>
        </p:nvSpPr>
        <p:spPr>
          <a:xfrm>
            <a:off x="7280762" y="1947919"/>
            <a:ext cx="290464" cy="276999"/>
          </a:xfrm>
          <a:prstGeom prst="rect">
            <a:avLst/>
          </a:prstGeom>
          <a:noFill/>
        </p:spPr>
        <p:txBody>
          <a:bodyPr wrap="none" rtlCol="0">
            <a:spAutoFit/>
          </a:bodyPr>
          <a:lstStyle/>
          <a:p>
            <a:r>
              <a:rPr lang="en-US" altLang="ko-KR" sz="1200"/>
              <a:t>C</a:t>
            </a:r>
            <a:endParaRPr lang="ko-KR" altLang="en-US" sz="1200"/>
          </a:p>
        </p:txBody>
      </p:sp>
    </p:spTree>
    <p:extLst>
      <p:ext uri="{BB962C8B-B14F-4D97-AF65-F5344CB8AC3E}">
        <p14:creationId xmlns:p14="http://schemas.microsoft.com/office/powerpoint/2010/main" val="3923128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8406-12A4-9563-5B16-866C960A011C}"/>
            </a:ext>
          </a:extLst>
        </p:cNvPr>
        <p:cNvGrpSpPr/>
        <p:nvPr/>
      </p:nvGrpSpPr>
      <p:grpSpPr>
        <a:xfrm>
          <a:off x="0" y="0"/>
          <a:ext cx="0" cy="0"/>
          <a:chOff x="0" y="0"/>
          <a:chExt cx="0" cy="0"/>
        </a:xfrm>
      </p:grpSpPr>
      <p:sp>
        <p:nvSpPr>
          <p:cNvPr id="241669" name="Rectangle 3">
            <a:extLst>
              <a:ext uri="{FF2B5EF4-FFF2-40B4-BE49-F238E27FC236}">
                <a16:creationId xmlns:a16="http://schemas.microsoft.com/office/drawing/2014/main" id="{9B06077C-814C-246F-4B6A-C45165DE97E8}"/>
              </a:ext>
            </a:extLst>
          </p:cNvPr>
          <p:cNvSpPr txBox="1">
            <a:spLocks noChangeArrowheads="1"/>
          </p:cNvSpPr>
          <p:nvPr/>
        </p:nvSpPr>
        <p:spPr bwMode="auto">
          <a:xfrm>
            <a:off x="574676"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endParaRPr lang="en-US" altLang="ko-KR" sz="1400" b="1" kern="0">
              <a:solidFill>
                <a:srgbClr val="0000FF"/>
              </a:solidFill>
            </a:endParaRPr>
          </a:p>
          <a:p>
            <a:pPr lvl="1" latinLnBrk="1"/>
            <a:endParaRPr lang="en-US" altLang="ko-KR" sz="14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a:p>
            <a:pPr latinLnBrk="1"/>
            <a:endParaRPr lang="en-US" altLang="ko-KR" sz="1600" kern="0"/>
          </a:p>
        </p:txBody>
      </p:sp>
      <p:sp>
        <p:nvSpPr>
          <p:cNvPr id="241666" name="Rectangle 2">
            <a:extLst>
              <a:ext uri="{FF2B5EF4-FFF2-40B4-BE49-F238E27FC236}">
                <a16:creationId xmlns:a16="http://schemas.microsoft.com/office/drawing/2014/main" id="{9E56C2CB-5D58-9E29-5188-093092B23ED9}"/>
              </a:ext>
            </a:extLst>
          </p:cNvPr>
          <p:cNvSpPr>
            <a:spLocks noGrp="1" noChangeArrowheads="1"/>
          </p:cNvSpPr>
          <p:nvPr>
            <p:ph type="title"/>
          </p:nvPr>
        </p:nvSpPr>
        <p:spPr/>
        <p:txBody>
          <a:bodyPr/>
          <a:lstStyle/>
          <a:p>
            <a:r>
              <a:rPr lang="en-US" altLang="ko-KR" sz="3200"/>
              <a:t>Stride Scheduler</a:t>
            </a:r>
            <a:br>
              <a:rPr lang="en-US" altLang="ko-KR" sz="3200"/>
            </a:br>
            <a:r>
              <a:rPr lang="en-US" altLang="ko-KR" sz="3200"/>
              <a:t>Fairness Evaluation </a:t>
            </a:r>
            <a:r>
              <a:rPr lang="en-US" altLang="ko-KR" sz="2800"/>
              <a:t>(2/6)</a:t>
            </a:r>
          </a:p>
        </p:txBody>
      </p:sp>
      <p:pic>
        <p:nvPicPr>
          <p:cNvPr id="23" name="그림 22">
            <a:extLst>
              <a:ext uri="{FF2B5EF4-FFF2-40B4-BE49-F238E27FC236}">
                <a16:creationId xmlns:a16="http://schemas.microsoft.com/office/drawing/2014/main" id="{1F38D6E6-218E-FF35-D88B-98CE567BF7A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 y="3402563"/>
            <a:ext cx="8413367" cy="2103342"/>
          </a:xfrm>
          <a:prstGeom prst="rect">
            <a:avLst/>
          </a:prstGeom>
        </p:spPr>
      </p:pic>
      <p:pic>
        <p:nvPicPr>
          <p:cNvPr id="241673" name="그림 241672">
            <a:extLst>
              <a:ext uri="{FF2B5EF4-FFF2-40B4-BE49-F238E27FC236}">
                <a16:creationId xmlns:a16="http://schemas.microsoft.com/office/drawing/2014/main" id="{5EBD0FCA-CEC8-5575-3F12-DEAE4F83C1A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58370"/>
          <a:stretch>
            <a:fillRect/>
          </a:stretch>
        </p:blipFill>
        <p:spPr>
          <a:xfrm>
            <a:off x="5562600" y="2702618"/>
            <a:ext cx="2901952" cy="681370"/>
          </a:xfrm>
          <a:prstGeom prst="rect">
            <a:avLst/>
          </a:prstGeom>
        </p:spPr>
      </p:pic>
      <p:sp>
        <p:nvSpPr>
          <p:cNvPr id="241674" name="Rectangle 3">
            <a:extLst>
              <a:ext uri="{FF2B5EF4-FFF2-40B4-BE49-F238E27FC236}">
                <a16:creationId xmlns:a16="http://schemas.microsoft.com/office/drawing/2014/main" id="{D817132C-5C2C-676D-42D5-983A2D7595BC}"/>
              </a:ext>
            </a:extLst>
          </p:cNvPr>
          <p:cNvSpPr txBox="1">
            <a:spLocks noChangeArrowheads="1"/>
          </p:cNvSpPr>
          <p:nvPr/>
        </p:nvSpPr>
        <p:spPr bwMode="auto">
          <a:xfrm>
            <a:off x="574675" y="1551305"/>
            <a:ext cx="4495800" cy="18376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endParaRPr lang="en-US" altLang="ko-KR" sz="1800" kern="0"/>
          </a:p>
          <a:p>
            <a:pPr latinLnBrk="1">
              <a:lnSpc>
                <a:spcPts val="2100"/>
              </a:lnSpc>
            </a:pPr>
            <a:r>
              <a:rPr lang="en-US" altLang="ko-KR" sz="1800"/>
              <a:t>Calculate the error between expected and actual CPU usage</a:t>
            </a: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pic>
        <p:nvPicPr>
          <p:cNvPr id="241676" name="그림 241675">
            <a:extLst>
              <a:ext uri="{FF2B5EF4-FFF2-40B4-BE49-F238E27FC236}">
                <a16:creationId xmlns:a16="http://schemas.microsoft.com/office/drawing/2014/main" id="{B7B02D91-425B-B1DE-A026-8442FD7694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46233"/>
          <a:stretch>
            <a:fillRect/>
          </a:stretch>
        </p:blipFill>
        <p:spPr>
          <a:xfrm>
            <a:off x="5334000" y="1692260"/>
            <a:ext cx="2819984" cy="855171"/>
          </a:xfrm>
          <a:prstGeom prst="rect">
            <a:avLst/>
          </a:prstGeom>
        </p:spPr>
      </p:pic>
      <p:sp>
        <p:nvSpPr>
          <p:cNvPr id="241677" name="직사각형 241676">
            <a:extLst>
              <a:ext uri="{FF2B5EF4-FFF2-40B4-BE49-F238E27FC236}">
                <a16:creationId xmlns:a16="http://schemas.microsoft.com/office/drawing/2014/main" id="{850B2CA1-2ED9-54D3-A8D2-A21A005D2CCB}"/>
              </a:ext>
            </a:extLst>
          </p:cNvPr>
          <p:cNvSpPr/>
          <p:nvPr/>
        </p:nvSpPr>
        <p:spPr bwMode="auto">
          <a:xfrm>
            <a:off x="5486400" y="3117859"/>
            <a:ext cx="131202" cy="124509"/>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78" name="직사각형 241677">
            <a:extLst>
              <a:ext uri="{FF2B5EF4-FFF2-40B4-BE49-F238E27FC236}">
                <a16:creationId xmlns:a16="http://schemas.microsoft.com/office/drawing/2014/main" id="{26A033C5-E039-4F6F-439E-C588239F4A2F}"/>
              </a:ext>
            </a:extLst>
          </p:cNvPr>
          <p:cNvSpPr/>
          <p:nvPr/>
        </p:nvSpPr>
        <p:spPr bwMode="auto">
          <a:xfrm>
            <a:off x="5486400" y="2773372"/>
            <a:ext cx="131202" cy="124509"/>
          </a:xfrm>
          <a:prstGeom prst="rect">
            <a:avLst/>
          </a:prstGeom>
          <a:solidFill>
            <a:srgbClr val="0000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79" name="Rectangle 3">
            <a:extLst>
              <a:ext uri="{FF2B5EF4-FFF2-40B4-BE49-F238E27FC236}">
                <a16:creationId xmlns:a16="http://schemas.microsoft.com/office/drawing/2014/main" id="{E9F2FC14-84B1-523A-1F1E-18687A3525CA}"/>
              </a:ext>
            </a:extLst>
          </p:cNvPr>
          <p:cNvSpPr txBox="1">
            <a:spLocks noChangeArrowheads="1"/>
          </p:cNvSpPr>
          <p:nvPr/>
        </p:nvSpPr>
        <p:spPr bwMode="auto">
          <a:xfrm>
            <a:off x="574675" y="2231756"/>
            <a:ext cx="4495800" cy="18376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endParaRPr lang="en-US" altLang="ko-KR" sz="1800" kern="0"/>
          </a:p>
          <a:p>
            <a:pPr latinLnBrk="1">
              <a:lnSpc>
                <a:spcPts val="2100"/>
              </a:lnSpc>
            </a:pPr>
            <a:r>
              <a:rPr lang="en-US" altLang="ko-KR" sz="1800" kern="0"/>
              <a:t>The following chart shows the </a:t>
            </a:r>
            <a:r>
              <a:rPr lang="en-US" altLang="ko-KR" sz="1800" kern="0">
                <a:solidFill>
                  <a:srgbClr val="0000FF"/>
                </a:solidFill>
              </a:rPr>
              <a:t>average</a:t>
            </a:r>
            <a:r>
              <a:rPr lang="en-US" altLang="ko-KR" sz="1800" kern="0"/>
              <a:t> and </a:t>
            </a:r>
            <a:r>
              <a:rPr lang="en-US" altLang="ko-KR" sz="1800" kern="0">
                <a:solidFill>
                  <a:srgbClr val="FF0000"/>
                </a:solidFill>
              </a:rPr>
              <a:t>maximum</a:t>
            </a:r>
            <a:r>
              <a:rPr lang="en-US" altLang="ko-KR" sz="1800" kern="0"/>
              <a:t> error of threads in a window.</a:t>
            </a:r>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sp>
        <p:nvSpPr>
          <p:cNvPr id="241681" name="Rectangle 3">
            <a:extLst>
              <a:ext uri="{FF2B5EF4-FFF2-40B4-BE49-F238E27FC236}">
                <a16:creationId xmlns:a16="http://schemas.microsoft.com/office/drawing/2014/main" id="{2E5ED3EB-71CB-2D74-7930-D6F5FF2CADAC}"/>
              </a:ext>
            </a:extLst>
          </p:cNvPr>
          <p:cNvSpPr txBox="1">
            <a:spLocks noChangeArrowheads="1"/>
          </p:cNvSpPr>
          <p:nvPr/>
        </p:nvSpPr>
        <p:spPr bwMode="auto">
          <a:xfrm>
            <a:off x="568961" y="5100981"/>
            <a:ext cx="7994649" cy="18376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endParaRPr lang="en-US" altLang="ko-KR" sz="1800" kern="0"/>
          </a:p>
          <a:p>
            <a:pPr latinLnBrk="1">
              <a:lnSpc>
                <a:spcPts val="2100"/>
              </a:lnSpc>
            </a:pPr>
            <a:r>
              <a:rPr lang="en-US" altLang="ko-KR" sz="1800" kern="0"/>
              <a:t>Alltime Error Average was 0.013 </a:t>
            </a:r>
          </a:p>
          <a:p>
            <a:pPr latinLnBrk="1">
              <a:lnSpc>
                <a:spcPts val="2100"/>
              </a:lnSpc>
            </a:pPr>
            <a:r>
              <a:rPr lang="en-US" altLang="ko-KR" sz="1800" kern="0"/>
              <a:t>Alltime Largest Error was 0.034 </a:t>
            </a:r>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spTree>
    <p:extLst>
      <p:ext uri="{BB962C8B-B14F-4D97-AF65-F5344CB8AC3E}">
        <p14:creationId xmlns:p14="http://schemas.microsoft.com/office/powerpoint/2010/main" val="1393175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12E8B-D3B2-0406-0B90-88ABACAC7E7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77DAF98-FC6C-84B3-3C48-6FDECA782551}"/>
              </a:ext>
            </a:extLst>
          </p:cNvPr>
          <p:cNvSpPr>
            <a:spLocks noGrp="1" noChangeArrowheads="1"/>
          </p:cNvSpPr>
          <p:nvPr>
            <p:ph type="title"/>
          </p:nvPr>
        </p:nvSpPr>
        <p:spPr>
          <a:xfrm>
            <a:off x="574675" y="304800"/>
            <a:ext cx="8001000" cy="1216025"/>
          </a:xfrm>
        </p:spPr>
        <p:txBody>
          <a:bodyPr/>
          <a:lstStyle/>
          <a:p>
            <a:r>
              <a:rPr lang="en-US" altLang="ko-KR" sz="3600"/>
              <a:t>Stride Scheduler</a:t>
            </a:r>
            <a:br>
              <a:rPr lang="en-US" altLang="ko-KR" sz="3600"/>
            </a:br>
            <a:r>
              <a:rPr lang="en-US" altLang="ko-KR" sz="3600"/>
              <a:t>Fairness Evaluation </a:t>
            </a:r>
            <a:r>
              <a:rPr lang="en-US" altLang="ko-KR" sz="3200"/>
              <a:t>(3/6)</a:t>
            </a:r>
            <a:endParaRPr lang="en-US" altLang="ko-KR" sz="3600"/>
          </a:p>
        </p:txBody>
      </p:sp>
      <p:sp>
        <p:nvSpPr>
          <p:cNvPr id="2" name="Rectangle 3">
            <a:extLst>
              <a:ext uri="{FF2B5EF4-FFF2-40B4-BE49-F238E27FC236}">
                <a16:creationId xmlns:a16="http://schemas.microsoft.com/office/drawing/2014/main" id="{E714E262-D9AC-2796-C034-A49FEE068377}"/>
              </a:ext>
            </a:extLst>
          </p:cNvPr>
          <p:cNvSpPr txBox="1">
            <a:spLocks noChangeArrowheads="1"/>
          </p:cNvSpPr>
          <p:nvPr/>
        </p:nvSpPr>
        <p:spPr bwMode="auto">
          <a:xfrm>
            <a:off x="515938" y="1752600"/>
            <a:ext cx="8112124" cy="44196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400"/>
              </a:lnSpc>
            </a:pPr>
            <a:r>
              <a:rPr lang="en-US" altLang="ko-KR" sz="1800" kern="0"/>
              <a:t>All test case shows good fairness.</a:t>
            </a:r>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r>
              <a:rPr lang="en-US" altLang="ko-KR" sz="1800" kern="0"/>
              <a:t>  </a:t>
            </a:r>
          </a:p>
          <a:p>
            <a:pPr marL="0" indent="0" latinLnBrk="1">
              <a:lnSpc>
                <a:spcPts val="2100"/>
              </a:lnSpc>
              <a:buNone/>
            </a:pPr>
            <a:endParaRPr lang="en-US" altLang="ko-KR" sz="1600" kern="0"/>
          </a:p>
          <a:p>
            <a:pPr latinLnBrk="1">
              <a:lnSpc>
                <a:spcPts val="2100"/>
              </a:lnSpc>
            </a:pPr>
            <a:endParaRPr lang="en-US" altLang="ko-KR" sz="1600" kern="0"/>
          </a:p>
        </p:txBody>
      </p:sp>
      <p:sp>
        <p:nvSpPr>
          <p:cNvPr id="16" name="TextBox 15">
            <a:extLst>
              <a:ext uri="{FF2B5EF4-FFF2-40B4-BE49-F238E27FC236}">
                <a16:creationId xmlns:a16="http://schemas.microsoft.com/office/drawing/2014/main" id="{8B3F8923-0A5F-D274-0D70-F5E36C27D160}"/>
              </a:ext>
            </a:extLst>
          </p:cNvPr>
          <p:cNvSpPr txBox="1"/>
          <p:nvPr/>
        </p:nvSpPr>
        <p:spPr>
          <a:xfrm>
            <a:off x="515938" y="2472180"/>
            <a:ext cx="2887329" cy="830997"/>
          </a:xfrm>
          <a:prstGeom prst="rect">
            <a:avLst/>
          </a:prstGeom>
          <a:noFill/>
        </p:spPr>
        <p:txBody>
          <a:bodyPr wrap="none" rtlCol="0">
            <a:spAutoFit/>
          </a:bodyPr>
          <a:lstStyle/>
          <a:p>
            <a:pPr algn="ctr"/>
            <a:r>
              <a:rPr lang="en-US" altLang="ko-KR" sz="1600"/>
              <a:t>(case 1) 1 : 2 : 4</a:t>
            </a:r>
          </a:p>
          <a:p>
            <a:pPr algn="ctr"/>
            <a:r>
              <a:rPr lang="en-US" altLang="ko-KR" sz="1600">
                <a:solidFill>
                  <a:srgbClr val="0000FF"/>
                </a:solidFill>
              </a:rPr>
              <a:t>alltime avg error = 0.013</a:t>
            </a:r>
          </a:p>
          <a:p>
            <a:r>
              <a:rPr lang="en-US" altLang="ko-KR" sz="1600">
                <a:solidFill>
                  <a:srgbClr val="FF0000"/>
                </a:solidFill>
              </a:rPr>
              <a:t>alltime max error = 0.034</a:t>
            </a:r>
            <a:endParaRPr lang="ko-KR" altLang="en-US" sz="1600">
              <a:solidFill>
                <a:srgbClr val="FF0000"/>
              </a:solidFill>
            </a:endParaRPr>
          </a:p>
        </p:txBody>
      </p:sp>
      <p:pic>
        <p:nvPicPr>
          <p:cNvPr id="18" name="그림 17">
            <a:extLst>
              <a:ext uri="{FF2B5EF4-FFF2-40B4-BE49-F238E27FC236}">
                <a16:creationId xmlns:a16="http://schemas.microsoft.com/office/drawing/2014/main" id="{ED31ABAE-3850-4657-79A9-3AEB6E828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2334" y="2263259"/>
            <a:ext cx="5333999" cy="1277580"/>
          </a:xfrm>
          <a:prstGeom prst="rect">
            <a:avLst/>
          </a:prstGeom>
        </p:spPr>
      </p:pic>
      <p:pic>
        <p:nvPicPr>
          <p:cNvPr id="20" name="그림 19">
            <a:extLst>
              <a:ext uri="{FF2B5EF4-FFF2-40B4-BE49-F238E27FC236}">
                <a16:creationId xmlns:a16="http://schemas.microsoft.com/office/drawing/2014/main" id="{5686E8E0-D035-7CD9-A05C-73B507C9AD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2334" y="3540839"/>
            <a:ext cx="5333998" cy="1277580"/>
          </a:xfrm>
          <a:prstGeom prst="rect">
            <a:avLst/>
          </a:prstGeom>
        </p:spPr>
      </p:pic>
      <p:sp>
        <p:nvSpPr>
          <p:cNvPr id="26" name="TextBox 25">
            <a:extLst>
              <a:ext uri="{FF2B5EF4-FFF2-40B4-BE49-F238E27FC236}">
                <a16:creationId xmlns:a16="http://schemas.microsoft.com/office/drawing/2014/main" id="{51C94138-42F8-585F-37B2-C35A063BD32F}"/>
              </a:ext>
            </a:extLst>
          </p:cNvPr>
          <p:cNvSpPr txBox="1"/>
          <p:nvPr/>
        </p:nvSpPr>
        <p:spPr>
          <a:xfrm>
            <a:off x="458647" y="3706316"/>
            <a:ext cx="3001912" cy="830997"/>
          </a:xfrm>
          <a:prstGeom prst="rect">
            <a:avLst/>
          </a:prstGeom>
          <a:noFill/>
        </p:spPr>
        <p:txBody>
          <a:bodyPr wrap="none" rtlCol="0">
            <a:spAutoFit/>
          </a:bodyPr>
          <a:lstStyle/>
          <a:p>
            <a:pPr algn="ctr"/>
            <a:r>
              <a:rPr lang="en-US" altLang="ko-KR" sz="1600"/>
              <a:t>(case 2) 1 : 4 : 9</a:t>
            </a:r>
          </a:p>
          <a:p>
            <a:pPr algn="ctr"/>
            <a:r>
              <a:rPr lang="en-US" altLang="ko-KR" sz="1600">
                <a:solidFill>
                  <a:srgbClr val="0000FF"/>
                </a:solidFill>
              </a:rPr>
              <a:t>alltime avg error = 0.011</a:t>
            </a:r>
          </a:p>
          <a:p>
            <a:r>
              <a:rPr lang="en-US" altLang="ko-KR" sz="1600">
                <a:solidFill>
                  <a:srgbClr val="FF0000"/>
                </a:solidFill>
              </a:rPr>
              <a:t>alltime max error = 0.037</a:t>
            </a:r>
            <a:endParaRPr lang="ko-KR" altLang="en-US" sz="1600">
              <a:solidFill>
                <a:srgbClr val="FF0000"/>
              </a:solidFill>
            </a:endParaRPr>
          </a:p>
        </p:txBody>
      </p:sp>
      <p:sp>
        <p:nvSpPr>
          <p:cNvPr id="29" name="TextBox 28">
            <a:extLst>
              <a:ext uri="{FF2B5EF4-FFF2-40B4-BE49-F238E27FC236}">
                <a16:creationId xmlns:a16="http://schemas.microsoft.com/office/drawing/2014/main" id="{30BE5471-F1BF-E193-6617-2DA5B45CDF1D}"/>
              </a:ext>
            </a:extLst>
          </p:cNvPr>
          <p:cNvSpPr txBox="1"/>
          <p:nvPr/>
        </p:nvSpPr>
        <p:spPr>
          <a:xfrm>
            <a:off x="515938" y="4982904"/>
            <a:ext cx="2887329" cy="830997"/>
          </a:xfrm>
          <a:prstGeom prst="rect">
            <a:avLst/>
          </a:prstGeom>
          <a:noFill/>
        </p:spPr>
        <p:txBody>
          <a:bodyPr wrap="none" rtlCol="0">
            <a:spAutoFit/>
          </a:bodyPr>
          <a:lstStyle/>
          <a:p>
            <a:pPr algn="ctr"/>
            <a:r>
              <a:rPr lang="en-US" altLang="ko-KR" sz="1600"/>
              <a:t>(case 3) 1 : 10 : 20</a:t>
            </a:r>
          </a:p>
          <a:p>
            <a:pPr algn="ctr"/>
            <a:r>
              <a:rPr lang="en-US" altLang="ko-KR" sz="1600">
                <a:solidFill>
                  <a:srgbClr val="0000FF"/>
                </a:solidFill>
              </a:rPr>
              <a:t>alltime avg error = 0.009</a:t>
            </a:r>
          </a:p>
          <a:p>
            <a:r>
              <a:rPr lang="en-US" altLang="ko-KR" sz="1600">
                <a:solidFill>
                  <a:srgbClr val="FF0000"/>
                </a:solidFill>
              </a:rPr>
              <a:t>alltime max error = 0.037</a:t>
            </a:r>
            <a:endParaRPr lang="ko-KR" altLang="en-US" sz="1600">
              <a:solidFill>
                <a:srgbClr val="FF0000"/>
              </a:solidFill>
            </a:endParaRPr>
          </a:p>
        </p:txBody>
      </p:sp>
      <p:pic>
        <p:nvPicPr>
          <p:cNvPr id="31" name="그림 30">
            <a:extLst>
              <a:ext uri="{FF2B5EF4-FFF2-40B4-BE49-F238E27FC236}">
                <a16:creationId xmlns:a16="http://schemas.microsoft.com/office/drawing/2014/main" id="{D06FC9EA-CC85-F5B6-1667-F318717AC4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3266" y="4817427"/>
            <a:ext cx="5423065" cy="1355766"/>
          </a:xfrm>
          <a:prstGeom prst="rect">
            <a:avLst/>
          </a:prstGeom>
        </p:spPr>
      </p:pic>
    </p:spTree>
    <p:extLst>
      <p:ext uri="{BB962C8B-B14F-4D97-AF65-F5344CB8AC3E}">
        <p14:creationId xmlns:p14="http://schemas.microsoft.com/office/powerpoint/2010/main" val="184892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EE3296ED-61CB-C835-5A85-7DA0B8AC011B}"/>
              </a:ext>
            </a:extLst>
          </p:cNvPr>
          <p:cNvSpPr>
            <a:spLocks noGrp="1" noChangeArrowheads="1"/>
          </p:cNvSpPr>
          <p:nvPr>
            <p:ph type="title"/>
          </p:nvPr>
        </p:nvSpPr>
        <p:spPr>
          <a:xfrm>
            <a:off x="574675" y="304800"/>
            <a:ext cx="8001000" cy="1216025"/>
          </a:xfrm>
        </p:spPr>
        <p:txBody>
          <a:bodyPr/>
          <a:lstStyle/>
          <a:p>
            <a:r>
              <a:rPr lang="en-US" altLang="ko-KR" sz="3200"/>
              <a:t>Stride Scheduler</a:t>
            </a:r>
            <a:br>
              <a:rPr lang="en-US" altLang="ko-KR" sz="3200"/>
            </a:br>
            <a:r>
              <a:rPr lang="en-US" altLang="ko-KR" sz="3200"/>
              <a:t>Fairness Evaluation </a:t>
            </a:r>
            <a:r>
              <a:rPr lang="en-US" altLang="ko-KR" sz="2800"/>
              <a:t>(4/6)</a:t>
            </a:r>
          </a:p>
        </p:txBody>
      </p:sp>
      <p:sp>
        <p:nvSpPr>
          <p:cNvPr id="27" name="Rectangle 3">
            <a:extLst>
              <a:ext uri="{FF2B5EF4-FFF2-40B4-BE49-F238E27FC236}">
                <a16:creationId xmlns:a16="http://schemas.microsoft.com/office/drawing/2014/main" id="{EDA3CFC2-34CE-CF4E-6B28-913E0DCCBA82}"/>
              </a:ext>
            </a:extLst>
          </p:cNvPr>
          <p:cNvSpPr txBox="1">
            <a:spLocks noChangeArrowheads="1"/>
          </p:cNvSpPr>
          <p:nvPr/>
        </p:nvSpPr>
        <p:spPr bwMode="auto">
          <a:xfrm>
            <a:off x="574676"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a:t>We can observe a wave-like pattern in the error metrics.</a:t>
            </a:r>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a:p>
            <a:pPr latinLnBrk="1"/>
            <a:endParaRPr lang="en-US" altLang="ko-KR" sz="1800" kern="0"/>
          </a:p>
        </p:txBody>
      </p:sp>
      <p:pic>
        <p:nvPicPr>
          <p:cNvPr id="28" name="그림 27">
            <a:extLst>
              <a:ext uri="{FF2B5EF4-FFF2-40B4-BE49-F238E27FC236}">
                <a16:creationId xmlns:a16="http://schemas.microsoft.com/office/drawing/2014/main" id="{0621CEA5-2A1B-4CB8-6110-4EAB414A2FC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8600" y="4936066"/>
            <a:ext cx="8981692" cy="1641248"/>
          </a:xfrm>
          <a:prstGeom prst="rect">
            <a:avLst/>
          </a:prstGeom>
        </p:spPr>
      </p:pic>
      <p:pic>
        <p:nvPicPr>
          <p:cNvPr id="29" name="그림 28">
            <a:extLst>
              <a:ext uri="{FF2B5EF4-FFF2-40B4-BE49-F238E27FC236}">
                <a16:creationId xmlns:a16="http://schemas.microsoft.com/office/drawing/2014/main" id="{F55AA7A3-79FC-C974-7A41-D6007E0035F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9450"/>
          <a:stretch>
            <a:fillRect/>
          </a:stretch>
        </p:blipFill>
        <p:spPr>
          <a:xfrm>
            <a:off x="-365760" y="2451013"/>
            <a:ext cx="9775682" cy="2517710"/>
          </a:xfrm>
          <a:prstGeom prst="rect">
            <a:avLst/>
          </a:prstGeom>
        </p:spPr>
      </p:pic>
      <p:cxnSp>
        <p:nvCxnSpPr>
          <p:cNvPr id="31" name="직선 연결선 30">
            <a:extLst>
              <a:ext uri="{FF2B5EF4-FFF2-40B4-BE49-F238E27FC236}">
                <a16:creationId xmlns:a16="http://schemas.microsoft.com/office/drawing/2014/main" id="{8E509D2C-EBBF-858A-460D-2C85E0B31B6F}"/>
              </a:ext>
            </a:extLst>
          </p:cNvPr>
          <p:cNvCxnSpPr>
            <a:cxnSpLocks/>
          </p:cNvCxnSpPr>
          <p:nvPr/>
        </p:nvCxnSpPr>
        <p:spPr bwMode="auto">
          <a:xfrm flipV="1">
            <a:off x="1270000" y="2710714"/>
            <a:ext cx="0" cy="3517263"/>
          </a:xfrm>
          <a:prstGeom prst="line">
            <a:avLst/>
          </a:prstGeom>
          <a:solidFill>
            <a:schemeClr val="accent1"/>
          </a:solidFill>
          <a:ln w="19050" cap="flat" cmpd="sng" algn="ctr">
            <a:solidFill>
              <a:srgbClr val="C00000"/>
            </a:solidFill>
            <a:prstDash val="lgDash"/>
            <a:round/>
            <a:headEnd type="none" w="med" len="med"/>
            <a:tailEnd type="none" w="med" len="med"/>
          </a:ln>
          <a:effectLst/>
        </p:spPr>
      </p:cxnSp>
      <p:cxnSp>
        <p:nvCxnSpPr>
          <p:cNvPr id="32" name="직선 연결선 31">
            <a:extLst>
              <a:ext uri="{FF2B5EF4-FFF2-40B4-BE49-F238E27FC236}">
                <a16:creationId xmlns:a16="http://schemas.microsoft.com/office/drawing/2014/main" id="{3AF29033-7ACA-2856-88C9-1E0A0F6A4935}"/>
              </a:ext>
            </a:extLst>
          </p:cNvPr>
          <p:cNvCxnSpPr>
            <a:cxnSpLocks/>
          </p:cNvCxnSpPr>
          <p:nvPr/>
        </p:nvCxnSpPr>
        <p:spPr bwMode="auto">
          <a:xfrm flipV="1">
            <a:off x="2987040" y="2710714"/>
            <a:ext cx="0" cy="3524883"/>
          </a:xfrm>
          <a:prstGeom prst="line">
            <a:avLst/>
          </a:prstGeom>
          <a:solidFill>
            <a:schemeClr val="accent1"/>
          </a:solidFill>
          <a:ln w="19050" cap="flat" cmpd="sng" algn="ctr">
            <a:solidFill>
              <a:srgbClr val="C00000"/>
            </a:solidFill>
            <a:prstDash val="lgDash"/>
            <a:round/>
            <a:headEnd type="none" w="med" len="med"/>
            <a:tailEnd type="none" w="med" len="med"/>
          </a:ln>
          <a:effectLst/>
        </p:spPr>
      </p:cxnSp>
      <p:sp>
        <p:nvSpPr>
          <p:cNvPr id="36" name="오른쪽 중괄호 35">
            <a:extLst>
              <a:ext uri="{FF2B5EF4-FFF2-40B4-BE49-F238E27FC236}">
                <a16:creationId xmlns:a16="http://schemas.microsoft.com/office/drawing/2014/main" id="{900EF2A0-03CE-E592-1770-2E626D2E89D8}"/>
              </a:ext>
            </a:extLst>
          </p:cNvPr>
          <p:cNvSpPr/>
          <p:nvPr/>
        </p:nvSpPr>
        <p:spPr bwMode="auto">
          <a:xfrm rot="16200000">
            <a:off x="2014220" y="1737893"/>
            <a:ext cx="228599" cy="1717039"/>
          </a:xfrm>
          <a:prstGeom prst="rightBrace">
            <a:avLst/>
          </a:prstGeom>
          <a:solidFill>
            <a:schemeClr val="accent5">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39" name="직선 연결선 38">
            <a:extLst>
              <a:ext uri="{FF2B5EF4-FFF2-40B4-BE49-F238E27FC236}">
                <a16:creationId xmlns:a16="http://schemas.microsoft.com/office/drawing/2014/main" id="{3B50A72F-B58E-149A-C07E-6FBDBFC63D28}"/>
              </a:ext>
            </a:extLst>
          </p:cNvPr>
          <p:cNvCxnSpPr>
            <a:cxnSpLocks/>
          </p:cNvCxnSpPr>
          <p:nvPr/>
        </p:nvCxnSpPr>
        <p:spPr bwMode="auto">
          <a:xfrm flipV="1">
            <a:off x="4704079" y="2710714"/>
            <a:ext cx="0" cy="3524883"/>
          </a:xfrm>
          <a:prstGeom prst="line">
            <a:avLst/>
          </a:prstGeom>
          <a:solidFill>
            <a:schemeClr val="accent1"/>
          </a:solidFill>
          <a:ln w="19050" cap="flat" cmpd="sng" algn="ctr">
            <a:solidFill>
              <a:srgbClr val="C00000"/>
            </a:solidFill>
            <a:prstDash val="lgDash"/>
            <a:round/>
            <a:headEnd type="none" w="med" len="med"/>
            <a:tailEnd type="none" w="med" len="med"/>
          </a:ln>
          <a:effectLst/>
        </p:spPr>
      </p:cxnSp>
      <p:sp>
        <p:nvSpPr>
          <p:cNvPr id="40" name="오른쪽 중괄호 39">
            <a:extLst>
              <a:ext uri="{FF2B5EF4-FFF2-40B4-BE49-F238E27FC236}">
                <a16:creationId xmlns:a16="http://schemas.microsoft.com/office/drawing/2014/main" id="{8FA68113-06D1-6D72-B419-A6653B9514C2}"/>
              </a:ext>
            </a:extLst>
          </p:cNvPr>
          <p:cNvSpPr/>
          <p:nvPr/>
        </p:nvSpPr>
        <p:spPr bwMode="auto">
          <a:xfrm rot="16200000">
            <a:off x="3731260" y="1737892"/>
            <a:ext cx="228598" cy="1717039"/>
          </a:xfrm>
          <a:prstGeom prst="rightBrac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42" name="직선 연결선 41">
            <a:extLst>
              <a:ext uri="{FF2B5EF4-FFF2-40B4-BE49-F238E27FC236}">
                <a16:creationId xmlns:a16="http://schemas.microsoft.com/office/drawing/2014/main" id="{1B0018FE-4383-412E-219E-C91E7C99EF7F}"/>
              </a:ext>
            </a:extLst>
          </p:cNvPr>
          <p:cNvCxnSpPr>
            <a:cxnSpLocks/>
          </p:cNvCxnSpPr>
          <p:nvPr/>
        </p:nvCxnSpPr>
        <p:spPr bwMode="auto">
          <a:xfrm flipV="1">
            <a:off x="6421117" y="2710715"/>
            <a:ext cx="0" cy="3524883"/>
          </a:xfrm>
          <a:prstGeom prst="line">
            <a:avLst/>
          </a:prstGeom>
          <a:solidFill>
            <a:schemeClr val="accent1"/>
          </a:solidFill>
          <a:ln w="19050" cap="flat" cmpd="sng" algn="ctr">
            <a:solidFill>
              <a:srgbClr val="C00000"/>
            </a:solidFill>
            <a:prstDash val="lgDash"/>
            <a:round/>
            <a:headEnd type="none" w="med" len="med"/>
            <a:tailEnd type="none" w="med" len="med"/>
          </a:ln>
          <a:effectLst/>
        </p:spPr>
      </p:cxnSp>
      <p:sp>
        <p:nvSpPr>
          <p:cNvPr id="43" name="오른쪽 중괄호 42">
            <a:extLst>
              <a:ext uri="{FF2B5EF4-FFF2-40B4-BE49-F238E27FC236}">
                <a16:creationId xmlns:a16="http://schemas.microsoft.com/office/drawing/2014/main" id="{973E1934-8A93-009A-D835-C2030E8FB306}"/>
              </a:ext>
            </a:extLst>
          </p:cNvPr>
          <p:cNvSpPr/>
          <p:nvPr/>
        </p:nvSpPr>
        <p:spPr bwMode="auto">
          <a:xfrm rot="16200000">
            <a:off x="5448298" y="1737893"/>
            <a:ext cx="228598" cy="1717039"/>
          </a:xfrm>
          <a:prstGeom prst="rightBrace">
            <a:avLst/>
          </a:prstGeom>
          <a:solidFill>
            <a:schemeClr val="accent5">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44" name="직선 연결선 43">
            <a:extLst>
              <a:ext uri="{FF2B5EF4-FFF2-40B4-BE49-F238E27FC236}">
                <a16:creationId xmlns:a16="http://schemas.microsoft.com/office/drawing/2014/main" id="{BA9582DD-B6D1-65CA-DD8C-DAE50509F83D}"/>
              </a:ext>
            </a:extLst>
          </p:cNvPr>
          <p:cNvCxnSpPr>
            <a:cxnSpLocks/>
          </p:cNvCxnSpPr>
          <p:nvPr/>
        </p:nvCxnSpPr>
        <p:spPr bwMode="auto">
          <a:xfrm flipV="1">
            <a:off x="8138155" y="2710715"/>
            <a:ext cx="0" cy="3524883"/>
          </a:xfrm>
          <a:prstGeom prst="line">
            <a:avLst/>
          </a:prstGeom>
          <a:solidFill>
            <a:schemeClr val="accent1"/>
          </a:solidFill>
          <a:ln w="19050" cap="flat" cmpd="sng" algn="ctr">
            <a:solidFill>
              <a:srgbClr val="C00000"/>
            </a:solidFill>
            <a:prstDash val="lgDash"/>
            <a:round/>
            <a:headEnd type="none" w="med" len="med"/>
            <a:tailEnd type="none" w="med" len="med"/>
          </a:ln>
          <a:effectLst/>
        </p:spPr>
      </p:cxnSp>
      <p:sp>
        <p:nvSpPr>
          <p:cNvPr id="45" name="오른쪽 중괄호 44">
            <a:extLst>
              <a:ext uri="{FF2B5EF4-FFF2-40B4-BE49-F238E27FC236}">
                <a16:creationId xmlns:a16="http://schemas.microsoft.com/office/drawing/2014/main" id="{524731ED-6303-1F28-9475-AC31963C7402}"/>
              </a:ext>
            </a:extLst>
          </p:cNvPr>
          <p:cNvSpPr/>
          <p:nvPr/>
        </p:nvSpPr>
        <p:spPr bwMode="auto">
          <a:xfrm rot="16200000">
            <a:off x="7165336" y="1737893"/>
            <a:ext cx="228598" cy="1717039"/>
          </a:xfrm>
          <a:prstGeom prst="rightBrac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46" name="TextBox 45">
            <a:extLst>
              <a:ext uri="{FF2B5EF4-FFF2-40B4-BE49-F238E27FC236}">
                <a16:creationId xmlns:a16="http://schemas.microsoft.com/office/drawing/2014/main" id="{9607C0B5-E0C1-3FFF-2FB6-52CC4D7045BA}"/>
              </a:ext>
            </a:extLst>
          </p:cNvPr>
          <p:cNvSpPr txBox="1"/>
          <p:nvPr/>
        </p:nvSpPr>
        <p:spPr>
          <a:xfrm>
            <a:off x="1701299" y="2181237"/>
            <a:ext cx="938077" cy="307777"/>
          </a:xfrm>
          <a:prstGeom prst="rect">
            <a:avLst/>
          </a:prstGeom>
          <a:noFill/>
        </p:spPr>
        <p:txBody>
          <a:bodyPr wrap="none" rtlCol="0">
            <a:spAutoFit/>
          </a:bodyPr>
          <a:lstStyle/>
          <a:p>
            <a:r>
              <a:rPr lang="en-US" altLang="ko-KR" sz="1400" i="1"/>
              <a:t>700ticks</a:t>
            </a:r>
            <a:endParaRPr lang="ko-KR" altLang="en-US" sz="1400" i="1"/>
          </a:p>
        </p:txBody>
      </p:sp>
      <p:sp>
        <p:nvSpPr>
          <p:cNvPr id="52" name="TextBox 51">
            <a:extLst>
              <a:ext uri="{FF2B5EF4-FFF2-40B4-BE49-F238E27FC236}">
                <a16:creationId xmlns:a16="http://schemas.microsoft.com/office/drawing/2014/main" id="{F7C3896A-006F-A8B9-8FF9-9B4EFC7AB741}"/>
              </a:ext>
            </a:extLst>
          </p:cNvPr>
          <p:cNvSpPr txBox="1"/>
          <p:nvPr/>
        </p:nvSpPr>
        <p:spPr>
          <a:xfrm>
            <a:off x="3370298" y="2181237"/>
            <a:ext cx="938077" cy="307777"/>
          </a:xfrm>
          <a:prstGeom prst="rect">
            <a:avLst/>
          </a:prstGeom>
          <a:noFill/>
        </p:spPr>
        <p:txBody>
          <a:bodyPr wrap="none" rtlCol="0">
            <a:spAutoFit/>
          </a:bodyPr>
          <a:lstStyle/>
          <a:p>
            <a:r>
              <a:rPr lang="en-US" altLang="ko-KR" sz="1400" i="1"/>
              <a:t>700ticks</a:t>
            </a:r>
            <a:endParaRPr lang="ko-KR" altLang="en-US" sz="1400" i="1"/>
          </a:p>
        </p:txBody>
      </p:sp>
      <p:sp>
        <p:nvSpPr>
          <p:cNvPr id="53" name="TextBox 52">
            <a:extLst>
              <a:ext uri="{FF2B5EF4-FFF2-40B4-BE49-F238E27FC236}">
                <a16:creationId xmlns:a16="http://schemas.microsoft.com/office/drawing/2014/main" id="{E175CE82-6B26-8AF6-4D90-E73694FC3C1C}"/>
              </a:ext>
            </a:extLst>
          </p:cNvPr>
          <p:cNvSpPr txBox="1"/>
          <p:nvPr/>
        </p:nvSpPr>
        <p:spPr>
          <a:xfrm>
            <a:off x="5093558" y="2181237"/>
            <a:ext cx="938077" cy="307777"/>
          </a:xfrm>
          <a:prstGeom prst="rect">
            <a:avLst/>
          </a:prstGeom>
          <a:noFill/>
        </p:spPr>
        <p:txBody>
          <a:bodyPr wrap="none" rtlCol="0">
            <a:spAutoFit/>
          </a:bodyPr>
          <a:lstStyle/>
          <a:p>
            <a:r>
              <a:rPr lang="en-US" altLang="ko-KR" sz="1400" i="1"/>
              <a:t>700ticks</a:t>
            </a:r>
            <a:endParaRPr lang="ko-KR" altLang="en-US" sz="1400" i="1"/>
          </a:p>
        </p:txBody>
      </p:sp>
      <p:sp>
        <p:nvSpPr>
          <p:cNvPr id="54" name="TextBox 53">
            <a:extLst>
              <a:ext uri="{FF2B5EF4-FFF2-40B4-BE49-F238E27FC236}">
                <a16:creationId xmlns:a16="http://schemas.microsoft.com/office/drawing/2014/main" id="{D8CD00E5-6446-076B-12C4-BFAB3B0658A0}"/>
              </a:ext>
            </a:extLst>
          </p:cNvPr>
          <p:cNvSpPr txBox="1"/>
          <p:nvPr/>
        </p:nvSpPr>
        <p:spPr>
          <a:xfrm>
            <a:off x="6810596" y="2181237"/>
            <a:ext cx="938077" cy="307777"/>
          </a:xfrm>
          <a:prstGeom prst="rect">
            <a:avLst/>
          </a:prstGeom>
          <a:noFill/>
        </p:spPr>
        <p:txBody>
          <a:bodyPr wrap="none" rtlCol="0">
            <a:spAutoFit/>
          </a:bodyPr>
          <a:lstStyle/>
          <a:p>
            <a:r>
              <a:rPr lang="en-US" altLang="ko-KR" sz="1400" i="1"/>
              <a:t>700ticks</a:t>
            </a:r>
            <a:endParaRPr lang="ko-KR" altLang="en-US" sz="1400" i="1"/>
          </a:p>
        </p:txBody>
      </p:sp>
    </p:spTree>
    <p:extLst>
      <p:ext uri="{BB962C8B-B14F-4D97-AF65-F5344CB8AC3E}">
        <p14:creationId xmlns:p14="http://schemas.microsoft.com/office/powerpoint/2010/main" val="3599635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D2930-F3F7-BD92-EF6F-A2CEECC1D43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Rectangle 3">
                <a:extLst>
                  <a:ext uri="{FF2B5EF4-FFF2-40B4-BE49-F238E27FC236}">
                    <a16:creationId xmlns:a16="http://schemas.microsoft.com/office/drawing/2014/main" id="{2C660C73-7AF9-2092-3BDE-20762451C335}"/>
                  </a:ext>
                </a:extLst>
              </p:cNvPr>
              <p:cNvSpPr txBox="1">
                <a:spLocks noChangeArrowheads="1"/>
              </p:cNvSpPr>
              <p:nvPr/>
            </p:nvSpPr>
            <p:spPr bwMode="auto">
              <a:xfrm>
                <a:off x="518692" y="1752600"/>
                <a:ext cx="8112124" cy="4419600"/>
              </a:xfrm>
              <a:prstGeom prst="rect">
                <a:avLst/>
              </a:prstGeom>
              <a:noFill/>
              <a:ln w="9525">
                <a:noFill/>
                <a:miter lim="800000"/>
                <a:headEnd/>
                <a:tailEnd/>
              </a:ln>
              <a:extLst>
                <a:ext uri="{909E8E84-426E-40DD-AFC4-6F175D3DCCD1}">
                  <a14:hiddenFill>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r>
                  <a:rPr lang="en-US" altLang="ko-KR" sz="1800" kern="0"/>
                  <a:t>The stride scheduler is deterministic. So it repeats the same pattern at fixed intervals.</a:t>
                </a:r>
              </a:p>
              <a:p>
                <a:pPr latinLnBrk="1">
                  <a:lnSpc>
                    <a:spcPts val="2100"/>
                  </a:lnSpc>
                </a:pPr>
                <a:r>
                  <a:rPr lang="en-US" altLang="ko-KR" sz="1800" kern="0"/>
                  <a:t>Let </a:t>
                </a:r>
                <a14:m>
                  <m:oMath xmlns:m="http://schemas.openxmlformats.org/officeDocument/2006/math">
                    <m:r>
                      <a:rPr lang="en-US" altLang="ko-KR" sz="1800" b="0" i="1" kern="0" smtClean="0">
                        <a:latin typeface="Cambria Math" panose="02040503050406030204" pitchFamily="18" charset="0"/>
                      </a:rPr>
                      <m:t>𝑇</m:t>
                    </m:r>
                  </m:oMath>
                </a14:m>
                <a:r>
                  <a:rPr lang="en-US" altLang="ko-KR" sz="1800" kern="0"/>
                  <a:t> (ticks) is the period of this pattern. </a:t>
                </a:r>
                <a14:m>
                  <m:oMath xmlns:m="http://schemas.openxmlformats.org/officeDocument/2006/math">
                    <m:sSub>
                      <m:sSubPr>
                        <m:ctrlPr>
                          <a:rPr lang="en-US" altLang="ko-KR" sz="1800" i="1" kern="0" smtClean="0">
                            <a:latin typeface="Cambria Math" panose="02040503050406030204" pitchFamily="18" charset="0"/>
                          </a:rPr>
                        </m:ctrlPr>
                      </m:sSubPr>
                      <m:e>
                        <m:r>
                          <a:rPr lang="en-US" altLang="ko-KR" sz="1800" b="0" i="1" kern="0" smtClean="0">
                            <a:latin typeface="Cambria Math" panose="02040503050406030204" pitchFamily="18" charset="0"/>
                          </a:rPr>
                          <m:t>𝑡</m:t>
                        </m:r>
                      </m:e>
                      <m:sub>
                        <m:r>
                          <a:rPr lang="en-US" altLang="ko-KR" sz="1800" b="0" i="1" kern="0" smtClean="0">
                            <a:latin typeface="Cambria Math" panose="02040503050406030204" pitchFamily="18" charset="0"/>
                          </a:rPr>
                          <m:t>𝑖</m:t>
                        </m:r>
                      </m:sub>
                    </m:sSub>
                  </m:oMath>
                </a14:m>
                <a:r>
                  <a:rPr lang="en-US" altLang="ko-KR" sz="1800" kern="0"/>
                  <a:t> is the amount of tickets of thread </a:t>
                </a:r>
                <a14:m>
                  <m:oMath xmlns:m="http://schemas.openxmlformats.org/officeDocument/2006/math">
                    <m:r>
                      <a:rPr lang="en-US" altLang="ko-KR" sz="1800" b="0" i="1" kern="0" smtClean="0">
                        <a:latin typeface="Cambria Math" panose="02040503050406030204" pitchFamily="18" charset="0"/>
                      </a:rPr>
                      <m:t>𝑖</m:t>
                    </m:r>
                    <m:r>
                      <a:rPr lang="en-US" altLang="ko-KR" sz="1800" b="0" i="0" kern="0" smtClean="0">
                        <a:latin typeface="Cambria Math" panose="02040503050406030204" pitchFamily="18" charset="0"/>
                      </a:rPr>
                      <m:t>,</m:t>
                    </m:r>
                  </m:oMath>
                </a14:m>
                <a:r>
                  <a:rPr lang="en-US" altLang="ko-KR" sz="1800" kern="0"/>
                  <a:t> </a:t>
                </a:r>
                <a14:m>
                  <m:oMath xmlns:m="http://schemas.openxmlformats.org/officeDocument/2006/math">
                    <m:r>
                      <a:rPr lang="en-US" altLang="ko-KR" sz="1800" b="0" i="1" kern="0" smtClean="0">
                        <a:latin typeface="Cambria Math" panose="02040503050406030204" pitchFamily="18" charset="0"/>
                      </a:rPr>
                      <m:t>𝐾</m:t>
                    </m:r>
                  </m:oMath>
                </a14:m>
                <a:r>
                  <a:rPr lang="en-US" altLang="ko-KR" sz="1800" kern="0"/>
                  <a:t> </a:t>
                </a:r>
                <a:r>
                  <a:rPr lang="en-US" altLang="ko-KR" sz="1800"/>
                  <a:t>is a multiple of all </a:t>
                </a:r>
                <a14:m>
                  <m:oMath xmlns:m="http://schemas.openxmlformats.org/officeDocument/2006/math">
                    <m:sSub>
                      <m:sSubPr>
                        <m:ctrlPr>
                          <a:rPr lang="en-US" altLang="ko-KR" sz="1800" i="1" kern="0">
                            <a:latin typeface="Cambria Math" panose="02040503050406030204" pitchFamily="18" charset="0"/>
                          </a:rPr>
                        </m:ctrlPr>
                      </m:sSubPr>
                      <m:e>
                        <m:r>
                          <a:rPr lang="en-US" altLang="ko-KR" sz="1800" i="1" kern="0">
                            <a:latin typeface="Cambria Math" panose="02040503050406030204" pitchFamily="18" charset="0"/>
                          </a:rPr>
                          <m:t>𝑡</m:t>
                        </m:r>
                      </m:e>
                      <m:sub>
                        <m:r>
                          <a:rPr lang="en-US" altLang="ko-KR" sz="1800" i="1" kern="0">
                            <a:latin typeface="Cambria Math" panose="02040503050406030204" pitchFamily="18" charset="0"/>
                          </a:rPr>
                          <m:t>𝑖</m:t>
                        </m:r>
                      </m:sub>
                    </m:sSub>
                  </m:oMath>
                </a14:m>
                <a:r>
                  <a:rPr lang="en-US" altLang="ko-KR" sz="1800" kern="0"/>
                  <a:t> and </a:t>
                </a:r>
                <a14:m>
                  <m:oMath xmlns:m="http://schemas.openxmlformats.org/officeDocument/2006/math">
                    <m:r>
                      <a:rPr lang="en-US" altLang="ko-KR" sz="1800" b="0" i="1" kern="0" smtClean="0">
                        <a:latin typeface="Cambria Math" panose="02040503050406030204" pitchFamily="18" charset="0"/>
                      </a:rPr>
                      <m:t>𝑐</m:t>
                    </m:r>
                    <m:r>
                      <a:rPr lang="en-US" altLang="ko-KR" sz="1800" b="0" i="1" kern="0" smtClean="0">
                        <a:latin typeface="Cambria Math" panose="02040503050406030204" pitchFamily="18" charset="0"/>
                      </a:rPr>
                      <m:t> </m:t>
                    </m:r>
                  </m:oMath>
                </a14:m>
                <a:r>
                  <a:rPr lang="en-US" altLang="ko-KR" sz="1800" kern="0"/>
                  <a:t>is ticks in a timeslice. then,</a:t>
                </a:r>
              </a:p>
              <a:p>
                <a:pPr marL="0" indent="0" latinLnBrk="1">
                  <a:lnSpc>
                    <a:spcPts val="2100"/>
                  </a:lnSpc>
                  <a:buNone/>
                </a:pPr>
                <a:endParaRPr lang="en-US" altLang="ko-KR" sz="1800" kern="0"/>
              </a:p>
              <a:p>
                <a:pPr latinLnBrk="1">
                  <a:lnSpc>
                    <a:spcPts val="2100"/>
                  </a:lnSpc>
                </a:pPr>
                <a:r>
                  <a:rPr lang="en-US" altLang="ko-KR" sz="1800" kern="0"/>
                  <a:t>Let the fixed-size window slides by </a:t>
                </a:r>
                <a14:m>
                  <m:oMath xmlns:m="http://schemas.openxmlformats.org/officeDocument/2006/math">
                    <m:r>
                      <a:rPr lang="en-US" altLang="ko-KR" sz="1800" b="0" i="1" kern="0" smtClean="0">
                        <a:latin typeface="Cambria Math" panose="02040503050406030204" pitchFamily="18" charset="0"/>
                      </a:rPr>
                      <m:t>𝑤</m:t>
                    </m:r>
                  </m:oMath>
                </a14:m>
                <a:r>
                  <a:rPr lang="en-US" altLang="ko-KR" sz="1800" kern="0"/>
                  <a:t> ticks. Then the window contains an identical pattern when the period </a:t>
                </a:r>
                <a14:m>
                  <m:oMath xmlns:m="http://schemas.openxmlformats.org/officeDocument/2006/math">
                    <m:r>
                      <a:rPr lang="en-US" altLang="ko-KR" sz="1800" b="0" i="1" kern="0" smtClean="0">
                        <a:latin typeface="Cambria Math" panose="02040503050406030204" pitchFamily="18" charset="0"/>
                      </a:rPr>
                      <m:t>𝑃</m:t>
                    </m:r>
                  </m:oMath>
                </a14:m>
                <a:r>
                  <a:rPr lang="en-US" altLang="ko-KR" sz="1800" kern="0"/>
                  <a:t> ticks pass by.</a:t>
                </a:r>
              </a:p>
              <a:p>
                <a:pPr marL="0" indent="0" latinLnBrk="1">
                  <a:lnSpc>
                    <a:spcPts val="2100"/>
                  </a:lnSpc>
                  <a:buNone/>
                </a:pPr>
                <a:endParaRPr lang="en-US" altLang="ko-KR" sz="1800" kern="0"/>
              </a:p>
              <a:p>
                <a:pPr marL="0" indent="0" latinLnBrk="1">
                  <a:lnSpc>
                    <a:spcPts val="2100"/>
                  </a:lnSpc>
                  <a:buNone/>
                </a:pPr>
                <a:endParaRPr lang="en-US" altLang="ko-KR" sz="1800" kern="0"/>
              </a:p>
              <a:p>
                <a:pPr latinLnBrk="1">
                  <a:lnSpc>
                    <a:spcPts val="2100"/>
                  </a:lnSpc>
                </a:pPr>
                <a:r>
                  <a:rPr lang="en-US" altLang="ko-KR" sz="1800" kern="0"/>
                  <a:t>Apply these fomulas to the test parameters.</a:t>
                </a:r>
              </a:p>
              <a:p>
                <a:pPr marL="0" indent="0" latinLnBrk="1">
                  <a:lnSpc>
                    <a:spcPts val="2100"/>
                  </a:lnSpc>
                  <a:buNone/>
                </a:pPr>
                <a:r>
                  <a:rPr lang="en-US" altLang="ko-KR" sz="1800" kern="0"/>
                  <a:t>      Default timeslice of PintOS is 4 ticks.</a:t>
                </a:r>
              </a:p>
              <a:p>
                <a:pPr marL="0" indent="0" latinLnBrk="1">
                  <a:lnSpc>
                    <a:spcPts val="2100"/>
                  </a:lnSpc>
                  <a:buNone/>
                </a:pPr>
                <a:endParaRPr lang="en-US" altLang="ko-KR" sz="1800" kern="0"/>
              </a:p>
              <a:p>
                <a:pPr marL="0" indent="0" latinLnBrk="1">
                  <a:lnSpc>
                    <a:spcPts val="2100"/>
                  </a:lnSpc>
                  <a:buNone/>
                </a:pPr>
                <a:endParaRPr lang="en-US" altLang="ko-KR" sz="1800" kern="0"/>
              </a:p>
              <a:p>
                <a:pPr latinLnBrk="1">
                  <a:lnSpc>
                    <a:spcPts val="2100"/>
                  </a:lnSpc>
                </a:pPr>
                <a:endParaRPr lang="en-US" altLang="ko-KR" sz="1800" kern="0"/>
              </a:p>
              <a:p>
                <a:pPr latinLnBrk="1">
                  <a:lnSpc>
                    <a:spcPts val="2100"/>
                  </a:lnSpc>
                </a:pPr>
                <a:r>
                  <a:rPr lang="en-US" altLang="ko-KR" sz="1800" kern="0"/>
                  <a:t>This calculation result is equivalent to the test result!</a:t>
                </a:r>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r>
                  <a:rPr lang="en-US" altLang="ko-KR" sz="1800" kern="0"/>
                  <a:t>  </a:t>
                </a:r>
              </a:p>
              <a:p>
                <a:pPr marL="0" indent="0" latinLnBrk="1">
                  <a:lnSpc>
                    <a:spcPts val="2100"/>
                  </a:lnSpc>
                  <a:buNone/>
                </a:pPr>
                <a:endParaRPr lang="en-US" altLang="ko-KR" sz="1600" kern="0"/>
              </a:p>
              <a:p>
                <a:pPr latinLnBrk="1">
                  <a:lnSpc>
                    <a:spcPts val="2100"/>
                  </a:lnSpc>
                </a:pPr>
                <a:endParaRPr lang="en-US" altLang="ko-KR" sz="1600" kern="0"/>
              </a:p>
            </p:txBody>
          </p:sp>
        </mc:Choice>
        <mc:Fallback xmlns="">
          <p:sp>
            <p:nvSpPr>
              <p:cNvPr id="25" name="Rectangle 3">
                <a:extLst>
                  <a:ext uri="{FF2B5EF4-FFF2-40B4-BE49-F238E27FC236}">
                    <a16:creationId xmlns:a16="http://schemas.microsoft.com/office/drawing/2014/main" id="{2C660C73-7AF9-2092-3BDE-20762451C335}"/>
                  </a:ext>
                </a:extLst>
              </p:cNvPr>
              <p:cNvSpPr txBox="1">
                <a:spLocks noRot="1" noChangeAspect="1" noMove="1" noResize="1" noEditPoints="1" noAdjustHandles="1" noChangeArrowheads="1" noChangeShapeType="1" noTextEdit="1"/>
              </p:cNvSpPr>
              <p:nvPr/>
            </p:nvSpPr>
            <p:spPr bwMode="auto">
              <a:xfrm>
                <a:off x="518692" y="1752600"/>
                <a:ext cx="8112124" cy="4419600"/>
              </a:xfrm>
              <a:prstGeom prst="rect">
                <a:avLst/>
              </a:prstGeom>
              <a:blipFill>
                <a:blip r:embed="rId3"/>
                <a:stretch>
                  <a:fillRect l="-451" t="-966" b="-1434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ko-KR" altLang="en-US">
                    <a:noFill/>
                  </a:rPr>
                  <a:t> </a:t>
                </a:r>
              </a:p>
            </p:txBody>
          </p:sp>
        </mc:Fallback>
      </mc:AlternateContent>
      <p:sp>
        <p:nvSpPr>
          <p:cNvPr id="241666" name="Rectangle 2">
            <a:extLst>
              <a:ext uri="{FF2B5EF4-FFF2-40B4-BE49-F238E27FC236}">
                <a16:creationId xmlns:a16="http://schemas.microsoft.com/office/drawing/2014/main" id="{31253AF3-8E4E-834F-F3C6-9557E1F135E8}"/>
              </a:ext>
            </a:extLst>
          </p:cNvPr>
          <p:cNvSpPr>
            <a:spLocks noGrp="1" noChangeArrowheads="1"/>
          </p:cNvSpPr>
          <p:nvPr>
            <p:ph type="title"/>
          </p:nvPr>
        </p:nvSpPr>
        <p:spPr/>
        <p:txBody>
          <a:bodyPr/>
          <a:lstStyle/>
          <a:p>
            <a:r>
              <a:rPr lang="en-US" altLang="ko-KR" sz="3200"/>
              <a:t>Stride Scheduler</a:t>
            </a:r>
            <a:br>
              <a:rPr lang="en-US" altLang="ko-KR" sz="3200"/>
            </a:br>
            <a:r>
              <a:rPr lang="en-US" altLang="ko-KR" sz="3200"/>
              <a:t>Fairness Evaluation </a:t>
            </a:r>
            <a:r>
              <a:rPr lang="en-US" altLang="ko-KR" sz="2800"/>
              <a:t>(5/6)</a:t>
            </a:r>
          </a:p>
        </p:txBody>
      </p:sp>
      <p:sp>
        <p:nvSpPr>
          <p:cNvPr id="2" name="Rectangle 2">
            <a:extLst>
              <a:ext uri="{FF2B5EF4-FFF2-40B4-BE49-F238E27FC236}">
                <a16:creationId xmlns:a16="http://schemas.microsoft.com/office/drawing/2014/main" id="{18C9CFA7-B87F-A510-EEF4-66A2EC6405A5}"/>
              </a:ext>
            </a:extLst>
          </p:cNvPr>
          <p:cNvSpPr>
            <a:spLocks noChangeArrowheads="1"/>
          </p:cNvSpPr>
          <p:nvPr/>
        </p:nvSpPr>
        <p:spPr bwMode="auto">
          <a:xfrm>
            <a:off x="3505200" y="261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pic>
        <p:nvPicPr>
          <p:cNvPr id="1027" name="_x237571320">
            <a:extLst>
              <a:ext uri="{FF2B5EF4-FFF2-40B4-BE49-F238E27FC236}">
                <a16:creationId xmlns:a16="http://schemas.microsoft.com/office/drawing/2014/main" id="{E8B58243-73CB-55E3-D212-520137AA7B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4854" y="4312138"/>
            <a:ext cx="1574292" cy="22463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표 6">
            <a:extLst>
              <a:ext uri="{FF2B5EF4-FFF2-40B4-BE49-F238E27FC236}">
                <a16:creationId xmlns:a16="http://schemas.microsoft.com/office/drawing/2014/main" id="{5460EBAD-A971-0404-397C-121784035B18}"/>
              </a:ext>
            </a:extLst>
          </p:cNvPr>
          <p:cNvGraphicFramePr>
            <a:graphicFrameLocks noGrp="1"/>
          </p:cNvGraphicFramePr>
          <p:nvPr>
            <p:extLst>
              <p:ext uri="{D42A27DB-BD31-4B8C-83A1-F6EECF244321}">
                <p14:modId xmlns:p14="http://schemas.microsoft.com/office/powerpoint/2010/main" val="703181689"/>
              </p:ext>
            </p:extLst>
          </p:nvPr>
        </p:nvGraphicFramePr>
        <p:xfrm>
          <a:off x="6324600" y="4846398"/>
          <a:ext cx="2430780" cy="1463040"/>
        </p:xfrm>
        <a:graphic>
          <a:graphicData uri="http://schemas.openxmlformats.org/drawingml/2006/table">
            <a:tbl>
              <a:tblPr firstRow="1" bandRow="1">
                <a:tableStyleId>{F5AB1C69-6EDB-4FF4-983F-18BD219EF322}</a:tableStyleId>
              </a:tblPr>
              <a:tblGrid>
                <a:gridCol w="1295400">
                  <a:extLst>
                    <a:ext uri="{9D8B030D-6E8A-4147-A177-3AD203B41FA5}">
                      <a16:colId xmlns:a16="http://schemas.microsoft.com/office/drawing/2014/main" val="3015700258"/>
                    </a:ext>
                  </a:extLst>
                </a:gridCol>
                <a:gridCol w="1135380">
                  <a:extLst>
                    <a:ext uri="{9D8B030D-6E8A-4147-A177-3AD203B41FA5}">
                      <a16:colId xmlns:a16="http://schemas.microsoft.com/office/drawing/2014/main" val="2783093473"/>
                    </a:ext>
                  </a:extLst>
                </a:gridCol>
              </a:tblGrid>
              <a:tr h="178406">
                <a:tc>
                  <a:txBody>
                    <a:bodyPr/>
                    <a:lstStyle/>
                    <a:p>
                      <a:pPr algn="ctr" latinLnBrk="1"/>
                      <a:r>
                        <a:rPr lang="en-US" altLang="ko-KR" sz="1000" b="0" i="1">
                          <a:solidFill>
                            <a:schemeClr val="tx1"/>
                          </a:solidFill>
                          <a:latin typeface="+mj-lt"/>
                        </a:rPr>
                        <a:t>parameter</a:t>
                      </a:r>
                      <a:endParaRPr lang="ko-KR" altLang="en-US" sz="1000" b="0" i="1">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sz="1000" b="0" i="1">
                          <a:solidFill>
                            <a:schemeClr val="tx1"/>
                          </a:solidFill>
                          <a:latin typeface="+mj-lt"/>
                        </a:rPr>
                        <a:t>value</a:t>
                      </a:r>
                      <a:endParaRPr lang="ko-KR" altLang="en-US" sz="1000" b="0" i="1">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99169713"/>
                  </a:ext>
                </a:extLst>
              </a:tr>
              <a:tr h="178406">
                <a:tc>
                  <a:txBody>
                    <a:bodyPr/>
                    <a:lstStyle/>
                    <a:p>
                      <a:pPr algn="ctr" latinLnBrk="1"/>
                      <a:r>
                        <a:rPr lang="en-US" altLang="ko-KR" sz="1000" b="0">
                          <a:solidFill>
                            <a:schemeClr val="tx1"/>
                          </a:solidFill>
                          <a:latin typeface="+mj-lt"/>
                        </a:rPr>
                        <a:t>Stride of Window</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25 ticks / step</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9138878"/>
                  </a:ext>
                </a:extLst>
              </a:tr>
              <a:tr h="178406">
                <a:tc>
                  <a:txBody>
                    <a:bodyPr/>
                    <a:lstStyle/>
                    <a:p>
                      <a:pPr algn="ctr" latinLnBrk="1"/>
                      <a:r>
                        <a:rPr lang="en-US" altLang="ko-KR" sz="1000" b="0">
                          <a:solidFill>
                            <a:schemeClr val="tx1"/>
                          </a:solidFill>
                          <a:latin typeface="+mj-lt"/>
                        </a:rPr>
                        <a:t>K</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27000</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2137293"/>
                  </a:ext>
                </a:extLst>
              </a:tr>
              <a:tr h="178406">
                <a:tc>
                  <a:txBody>
                    <a:bodyPr/>
                    <a:lstStyle/>
                    <a:p>
                      <a:pPr algn="ctr" latinLnBrk="1"/>
                      <a:r>
                        <a:rPr lang="en-US" altLang="ko-KR" sz="1000" b="0">
                          <a:solidFill>
                            <a:schemeClr val="tx1"/>
                          </a:solidFill>
                          <a:latin typeface="+mj-lt"/>
                        </a:rPr>
                        <a:t>A.tickets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1</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0241905"/>
                  </a:ext>
                </a:extLst>
              </a:tr>
              <a:tr h="178406">
                <a:tc>
                  <a:txBody>
                    <a:bodyPr/>
                    <a:lstStyle/>
                    <a:p>
                      <a:pPr algn="ctr" latinLnBrk="1"/>
                      <a:r>
                        <a:rPr lang="en-US" altLang="ko-KR" sz="1000" b="0">
                          <a:solidFill>
                            <a:schemeClr val="tx1"/>
                          </a:solidFill>
                          <a:latin typeface="+mj-lt"/>
                        </a:rPr>
                        <a:t>B.tickets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2</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3382857"/>
                  </a:ext>
                </a:extLst>
              </a:tr>
              <a:tr h="178406">
                <a:tc>
                  <a:txBody>
                    <a:bodyPr/>
                    <a:lstStyle/>
                    <a:p>
                      <a:pPr algn="ctr" latinLnBrk="1"/>
                      <a:r>
                        <a:rPr lang="en-US" altLang="ko-KR" sz="1000" b="0">
                          <a:solidFill>
                            <a:schemeClr val="tx1"/>
                          </a:solidFill>
                          <a:latin typeface="+mj-lt"/>
                        </a:rPr>
                        <a:t>C.tickets</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en-US" altLang="ko-KR" sz="1000" b="0">
                          <a:solidFill>
                            <a:schemeClr val="tx1"/>
                          </a:solidFill>
                          <a:latin typeface="+mj-lt"/>
                        </a:rPr>
                        <a:t>4</a:t>
                      </a:r>
                      <a:endParaRPr lang="ko-KR" altLang="en-US" sz="1000" b="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9212719"/>
                  </a:ext>
                </a:extLst>
              </a:tr>
            </a:tbl>
          </a:graphicData>
        </a:graphic>
      </p:graphicFrame>
      <p:sp>
        <p:nvSpPr>
          <p:cNvPr id="9" name="Rectangle 8">
            <a:extLst>
              <a:ext uri="{FF2B5EF4-FFF2-40B4-BE49-F238E27FC236}">
                <a16:creationId xmlns:a16="http://schemas.microsoft.com/office/drawing/2014/main" id="{FFB50B1E-2204-5CDD-3A98-73332344E4B6}"/>
              </a:ext>
            </a:extLst>
          </p:cNvPr>
          <p:cNvSpPr>
            <a:spLocks noChangeArrowheads="1"/>
          </p:cNvSpPr>
          <p:nvPr/>
        </p:nvSpPr>
        <p:spPr bwMode="auto">
          <a:xfrm>
            <a:off x="3219926" y="261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pic>
        <p:nvPicPr>
          <p:cNvPr id="1031" name="_x148363648">
            <a:extLst>
              <a:ext uri="{FF2B5EF4-FFF2-40B4-BE49-F238E27FC236}">
                <a16:creationId xmlns:a16="http://schemas.microsoft.com/office/drawing/2014/main" id="{C8E58AA9-1619-E8AB-5BE9-4E6F551F9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4854" y="2989793"/>
            <a:ext cx="2693988" cy="52228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61E936F4-7298-832F-F177-6BFD991FAE93}"/>
              </a:ext>
            </a:extLst>
          </p:cNvPr>
          <p:cNvSpPr>
            <a:spLocks noChangeArrowheads="1"/>
          </p:cNvSpPr>
          <p:nvPr/>
        </p:nvSpPr>
        <p:spPr bwMode="auto">
          <a:xfrm>
            <a:off x="2870843" y="5557274"/>
            <a:ext cx="10720793" cy="738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ko-KR" altLang="en-US"/>
          </a:p>
        </p:txBody>
      </p:sp>
      <p:sp>
        <p:nvSpPr>
          <p:cNvPr id="12" name="TextBox 11">
            <a:extLst>
              <a:ext uri="{FF2B5EF4-FFF2-40B4-BE49-F238E27FC236}">
                <a16:creationId xmlns:a16="http://schemas.microsoft.com/office/drawing/2014/main" id="{A7DF7DA3-D0FC-EFD3-B367-CBCB34B15C1A}"/>
              </a:ext>
            </a:extLst>
          </p:cNvPr>
          <p:cNvSpPr txBox="1"/>
          <p:nvPr/>
        </p:nvSpPr>
        <p:spPr>
          <a:xfrm>
            <a:off x="1270694" y="5512814"/>
            <a:ext cx="4705134" cy="369332"/>
          </a:xfrm>
          <a:prstGeom prst="rect">
            <a:avLst/>
          </a:prstGeom>
          <a:noFill/>
        </p:spPr>
        <p:txBody>
          <a:bodyPr wrap="none" rtlCol="0">
            <a:spAutoFit/>
          </a:bodyPr>
          <a:lstStyle/>
          <a:p>
            <a:r>
              <a:rPr lang="en-US" altLang="ko-KR">
                <a:solidFill>
                  <a:srgbClr val="FF0000"/>
                </a:solidFill>
              </a:rPr>
              <a:t>T</a:t>
            </a:r>
            <a:r>
              <a:rPr lang="en-US" altLang="ko-KR"/>
              <a:t> = 4 * 27000 * (1+2+4)/27000 = </a:t>
            </a:r>
            <a:r>
              <a:rPr lang="en-US" altLang="ko-KR">
                <a:solidFill>
                  <a:srgbClr val="FF0000"/>
                </a:solidFill>
              </a:rPr>
              <a:t>28</a:t>
            </a:r>
            <a:endParaRPr lang="ko-KR" altLang="en-US">
              <a:solidFill>
                <a:srgbClr val="FF0000"/>
              </a:solidFill>
            </a:endParaRPr>
          </a:p>
        </p:txBody>
      </p:sp>
      <p:sp>
        <p:nvSpPr>
          <p:cNvPr id="13" name="TextBox 12">
            <a:extLst>
              <a:ext uri="{FF2B5EF4-FFF2-40B4-BE49-F238E27FC236}">
                <a16:creationId xmlns:a16="http://schemas.microsoft.com/office/drawing/2014/main" id="{7C625E5B-B77B-AE8C-7165-130A8896A7B2}"/>
              </a:ext>
            </a:extLst>
          </p:cNvPr>
          <p:cNvSpPr txBox="1"/>
          <p:nvPr/>
        </p:nvSpPr>
        <p:spPr>
          <a:xfrm>
            <a:off x="1270694" y="5781423"/>
            <a:ext cx="3866123" cy="369332"/>
          </a:xfrm>
          <a:prstGeom prst="rect">
            <a:avLst/>
          </a:prstGeom>
          <a:noFill/>
        </p:spPr>
        <p:txBody>
          <a:bodyPr wrap="none" rtlCol="0">
            <a:spAutoFit/>
          </a:bodyPr>
          <a:lstStyle/>
          <a:p>
            <a:r>
              <a:rPr lang="en-US" altLang="ko-KR">
                <a:solidFill>
                  <a:srgbClr val="0000FF"/>
                </a:solidFill>
              </a:rPr>
              <a:t>P</a:t>
            </a:r>
            <a:r>
              <a:rPr lang="en-US" altLang="ko-KR"/>
              <a:t> = LCM (</a:t>
            </a:r>
            <a:r>
              <a:rPr lang="en-US" altLang="ko-KR">
                <a:solidFill>
                  <a:srgbClr val="FF0000"/>
                </a:solidFill>
              </a:rPr>
              <a:t>28</a:t>
            </a:r>
            <a:r>
              <a:rPr lang="en-US" altLang="ko-KR"/>
              <a:t>, 25) = </a:t>
            </a:r>
            <a:r>
              <a:rPr lang="en-US" altLang="ko-KR" b="1" u="sng">
                <a:solidFill>
                  <a:srgbClr val="0000FF"/>
                </a:solidFill>
              </a:rPr>
              <a:t>700</a:t>
            </a:r>
            <a:r>
              <a:rPr lang="en-US" altLang="ko-KR" b="1"/>
              <a:t> </a:t>
            </a:r>
            <a:r>
              <a:rPr lang="en-US" altLang="ko-KR"/>
              <a:t>(ticks)</a:t>
            </a:r>
            <a:endParaRPr lang="ko-KR" altLang="en-US"/>
          </a:p>
        </p:txBody>
      </p:sp>
    </p:spTree>
    <p:extLst>
      <p:ext uri="{BB962C8B-B14F-4D97-AF65-F5344CB8AC3E}">
        <p14:creationId xmlns:p14="http://schemas.microsoft.com/office/powerpoint/2010/main" val="1424647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95FE-7AF5-3B0D-FFA7-10DACFA63EAD}"/>
            </a:ext>
          </a:extLst>
        </p:cNvPr>
        <p:cNvGrpSpPr/>
        <p:nvPr/>
      </p:nvGrpSpPr>
      <p:grpSpPr>
        <a:xfrm>
          <a:off x="0" y="0"/>
          <a:ext cx="0" cy="0"/>
          <a:chOff x="0" y="0"/>
          <a:chExt cx="0" cy="0"/>
        </a:xfrm>
      </p:grpSpPr>
      <p:sp>
        <p:nvSpPr>
          <p:cNvPr id="25" name="Rectangle 3">
            <a:extLst>
              <a:ext uri="{FF2B5EF4-FFF2-40B4-BE49-F238E27FC236}">
                <a16:creationId xmlns:a16="http://schemas.microsoft.com/office/drawing/2014/main" id="{6483F231-598B-83FE-8E81-E2C9184ECECD}"/>
              </a:ext>
            </a:extLst>
          </p:cNvPr>
          <p:cNvSpPr txBox="1">
            <a:spLocks noChangeArrowheads="1"/>
          </p:cNvSpPr>
          <p:nvPr/>
        </p:nvSpPr>
        <p:spPr bwMode="auto">
          <a:xfrm>
            <a:off x="574676" y="1752600"/>
            <a:ext cx="8001000" cy="6688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100"/>
              </a:lnSpc>
            </a:pPr>
            <a:r>
              <a:rPr lang="en-US" altLang="ko-KR" sz="1800"/>
              <a:t>Insight : There are good days and bad days within a single cycle. And this cycle is deterministic.</a:t>
            </a: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latinLnBrk="1">
              <a:lnSpc>
                <a:spcPts val="2100"/>
              </a:lnSpc>
            </a:pPr>
            <a:endParaRPr lang="en-US" altLang="ko-KR" sz="1800" kern="0"/>
          </a:p>
          <a:p>
            <a:pPr marL="0" indent="0" latinLnBrk="1">
              <a:lnSpc>
                <a:spcPts val="2100"/>
              </a:lnSpc>
              <a:buNone/>
            </a:pPr>
            <a:endParaRPr lang="en-US" altLang="ko-KR" sz="1600" kern="0"/>
          </a:p>
          <a:p>
            <a:pPr latinLnBrk="1">
              <a:lnSpc>
                <a:spcPts val="2100"/>
              </a:lnSpc>
            </a:pPr>
            <a:endParaRPr lang="en-US" altLang="ko-KR" sz="1600" kern="0"/>
          </a:p>
        </p:txBody>
      </p:sp>
      <p:graphicFrame>
        <p:nvGraphicFramePr>
          <p:cNvPr id="241670" name="표 241669">
            <a:extLst>
              <a:ext uri="{FF2B5EF4-FFF2-40B4-BE49-F238E27FC236}">
                <a16:creationId xmlns:a16="http://schemas.microsoft.com/office/drawing/2014/main" id="{9F713896-F393-E604-A57E-C484CAD37EEE}"/>
              </a:ext>
            </a:extLst>
          </p:cNvPr>
          <p:cNvGraphicFramePr>
            <a:graphicFrameLocks noGrp="1"/>
          </p:cNvGraphicFramePr>
          <p:nvPr>
            <p:extLst>
              <p:ext uri="{D42A27DB-BD31-4B8C-83A1-F6EECF244321}">
                <p14:modId xmlns:p14="http://schemas.microsoft.com/office/powerpoint/2010/main" val="3515432590"/>
              </p:ext>
            </p:extLst>
          </p:nvPr>
        </p:nvGraphicFramePr>
        <p:xfrm>
          <a:off x="0" y="5029200"/>
          <a:ext cx="3217438" cy="1097280"/>
        </p:xfrm>
        <a:graphic>
          <a:graphicData uri="http://schemas.openxmlformats.org/drawingml/2006/table">
            <a:tbl>
              <a:tblPr firstRow="1" bandRow="1">
                <a:tableStyleId>{F5AB1C69-6EDB-4FF4-983F-18BD219EF322}</a:tableStyleId>
              </a:tblPr>
              <a:tblGrid>
                <a:gridCol w="1401562">
                  <a:extLst>
                    <a:ext uri="{9D8B030D-6E8A-4147-A177-3AD203B41FA5}">
                      <a16:colId xmlns:a16="http://schemas.microsoft.com/office/drawing/2014/main" val="3620521501"/>
                    </a:ext>
                  </a:extLst>
                </a:gridCol>
                <a:gridCol w="605292">
                  <a:extLst>
                    <a:ext uri="{9D8B030D-6E8A-4147-A177-3AD203B41FA5}">
                      <a16:colId xmlns:a16="http://schemas.microsoft.com/office/drawing/2014/main" val="48795633"/>
                    </a:ext>
                  </a:extLst>
                </a:gridCol>
                <a:gridCol w="605292">
                  <a:extLst>
                    <a:ext uri="{9D8B030D-6E8A-4147-A177-3AD203B41FA5}">
                      <a16:colId xmlns:a16="http://schemas.microsoft.com/office/drawing/2014/main" val="3961789961"/>
                    </a:ext>
                  </a:extLst>
                </a:gridCol>
                <a:gridCol w="605292">
                  <a:extLst>
                    <a:ext uri="{9D8B030D-6E8A-4147-A177-3AD203B41FA5}">
                      <a16:colId xmlns:a16="http://schemas.microsoft.com/office/drawing/2014/main" val="3320560867"/>
                    </a:ext>
                  </a:extLst>
                </a:gridCol>
              </a:tblGrid>
              <a:tr h="264688">
                <a:tc>
                  <a:txBody>
                    <a:bodyPr/>
                    <a:lstStyle/>
                    <a:p>
                      <a:pPr algn="r" latinLnBrk="1"/>
                      <a:endParaRPr lang="ko-KR" altLang="en-US" b="0">
                        <a:solidFill>
                          <a:schemeClr val="tx1"/>
                        </a:solidFill>
                      </a:endParaRPr>
                    </a:p>
                  </a:txBody>
                  <a:tcPr>
                    <a:noFill/>
                  </a:tcPr>
                </a:tc>
                <a:tc>
                  <a:txBody>
                    <a:bodyPr/>
                    <a:lstStyle/>
                    <a:p>
                      <a:pPr algn="ctr" latinLnBrk="1"/>
                      <a:r>
                        <a:rPr lang="en-US" altLang="ko-KR" b="0">
                          <a:solidFill>
                            <a:schemeClr val="tx1"/>
                          </a:solidFill>
                        </a:rPr>
                        <a:t>A</a:t>
                      </a:r>
                      <a:endParaRPr lang="ko-KR" altLang="en-US" b="0">
                        <a:solidFill>
                          <a:schemeClr val="tx1"/>
                        </a:solidFill>
                      </a:endParaRPr>
                    </a:p>
                  </a:txBody>
                  <a:tcPr>
                    <a:noFill/>
                  </a:tcPr>
                </a:tc>
                <a:tc>
                  <a:txBody>
                    <a:bodyPr/>
                    <a:lstStyle/>
                    <a:p>
                      <a:pPr algn="ctr" latinLnBrk="1"/>
                      <a:r>
                        <a:rPr lang="en-US" altLang="ko-KR" b="0">
                          <a:solidFill>
                            <a:schemeClr val="tx1"/>
                          </a:solidFill>
                        </a:rPr>
                        <a:t>B</a:t>
                      </a:r>
                      <a:endParaRPr lang="ko-KR" altLang="en-US" b="0">
                        <a:solidFill>
                          <a:schemeClr val="tx1"/>
                        </a:solidFill>
                      </a:endParaRPr>
                    </a:p>
                  </a:txBody>
                  <a:tcPr>
                    <a:noFill/>
                  </a:tcPr>
                </a:tc>
                <a:tc>
                  <a:txBody>
                    <a:bodyPr/>
                    <a:lstStyle/>
                    <a:p>
                      <a:pPr algn="ctr" latinLnBrk="1"/>
                      <a:r>
                        <a:rPr lang="en-US" altLang="ko-KR" b="0">
                          <a:solidFill>
                            <a:schemeClr val="tx1"/>
                          </a:solidFill>
                        </a:rPr>
                        <a:t>C</a:t>
                      </a:r>
                      <a:endParaRPr lang="ko-KR" altLang="en-US" b="0">
                        <a:solidFill>
                          <a:schemeClr val="tx1"/>
                        </a:solidFill>
                      </a:endParaRPr>
                    </a:p>
                  </a:txBody>
                  <a:tcPr>
                    <a:noFill/>
                  </a:tcPr>
                </a:tc>
                <a:extLst>
                  <a:ext uri="{0D108BD9-81ED-4DB2-BD59-A6C34878D82A}">
                    <a16:rowId xmlns:a16="http://schemas.microsoft.com/office/drawing/2014/main" val="2992188140"/>
                  </a:ext>
                </a:extLst>
              </a:tr>
              <a:tr h="264688">
                <a:tc>
                  <a:txBody>
                    <a:bodyPr/>
                    <a:lstStyle/>
                    <a:p>
                      <a:pPr algn="r" latinLnBrk="1"/>
                      <a:r>
                        <a:rPr lang="en-US" altLang="ko-KR" b="0">
                          <a:solidFill>
                            <a:schemeClr val="tx1"/>
                          </a:solidFill>
                        </a:rPr>
                        <a:t>expected</a:t>
                      </a:r>
                      <a:endParaRPr lang="ko-KR" altLang="en-US" b="0">
                        <a:solidFill>
                          <a:schemeClr val="tx1"/>
                        </a:solidFill>
                      </a:endParaRPr>
                    </a:p>
                  </a:txBody>
                  <a:tcPr>
                    <a:noFill/>
                  </a:tcPr>
                </a:tc>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2</a:t>
                      </a:r>
                      <a:endParaRPr lang="ko-KR" altLang="en-US" b="0">
                        <a:solidFill>
                          <a:schemeClr val="tx1"/>
                        </a:solidFill>
                      </a:endParaRPr>
                    </a:p>
                  </a:txBody>
                  <a:tcPr>
                    <a:noFill/>
                  </a:tcPr>
                </a:tc>
                <a:tc>
                  <a:txBody>
                    <a:bodyPr/>
                    <a:lstStyle/>
                    <a:p>
                      <a:pPr algn="ctr" latinLnBrk="1"/>
                      <a:r>
                        <a:rPr lang="en-US" altLang="ko-KR" b="0">
                          <a:solidFill>
                            <a:schemeClr val="tx1"/>
                          </a:solidFill>
                        </a:rPr>
                        <a:t>4</a:t>
                      </a:r>
                      <a:endParaRPr lang="ko-KR" altLang="en-US" b="0">
                        <a:solidFill>
                          <a:schemeClr val="tx1"/>
                        </a:solidFill>
                      </a:endParaRPr>
                    </a:p>
                  </a:txBody>
                  <a:tcPr>
                    <a:noFill/>
                  </a:tcPr>
                </a:tc>
                <a:extLst>
                  <a:ext uri="{0D108BD9-81ED-4DB2-BD59-A6C34878D82A}">
                    <a16:rowId xmlns:a16="http://schemas.microsoft.com/office/drawing/2014/main" val="1097614202"/>
                  </a:ext>
                </a:extLst>
              </a:tr>
              <a:tr h="264688">
                <a:tc>
                  <a:txBody>
                    <a:bodyPr/>
                    <a:lstStyle/>
                    <a:p>
                      <a:pPr algn="r" latinLnBrk="1"/>
                      <a:r>
                        <a:rPr lang="en-US" altLang="ko-KR" b="0">
                          <a:solidFill>
                            <a:schemeClr val="tx1"/>
                          </a:solidFill>
                        </a:rPr>
                        <a:t>actual</a:t>
                      </a:r>
                      <a:endParaRPr lang="ko-KR" altLang="en-US" b="0">
                        <a:solidFill>
                          <a:schemeClr val="tx1"/>
                        </a:solidFill>
                      </a:endParaRPr>
                    </a:p>
                  </a:txBody>
                  <a:tcPr>
                    <a:noFill/>
                  </a:tcPr>
                </a:tc>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0</a:t>
                      </a:r>
                      <a:endParaRPr lang="ko-KR" altLang="en-US" b="0">
                        <a:solidFill>
                          <a:schemeClr val="tx1"/>
                        </a:solidFill>
                      </a:endParaRPr>
                    </a:p>
                  </a:txBody>
                  <a:tcPr>
                    <a:noFill/>
                  </a:tcPr>
                </a:tc>
                <a:tc>
                  <a:txBody>
                    <a:bodyPr/>
                    <a:lstStyle/>
                    <a:p>
                      <a:pPr algn="ctr" latinLnBrk="1"/>
                      <a:r>
                        <a:rPr lang="en-US" altLang="ko-KR" b="0">
                          <a:solidFill>
                            <a:schemeClr val="tx1"/>
                          </a:solidFill>
                        </a:rPr>
                        <a:t>0</a:t>
                      </a:r>
                      <a:endParaRPr lang="ko-KR" altLang="en-US" b="0">
                        <a:solidFill>
                          <a:schemeClr val="tx1"/>
                        </a:solidFill>
                      </a:endParaRPr>
                    </a:p>
                  </a:txBody>
                  <a:tcPr>
                    <a:noFill/>
                  </a:tcPr>
                </a:tc>
                <a:extLst>
                  <a:ext uri="{0D108BD9-81ED-4DB2-BD59-A6C34878D82A}">
                    <a16:rowId xmlns:a16="http://schemas.microsoft.com/office/drawing/2014/main" val="200467128"/>
                  </a:ext>
                </a:extLst>
              </a:tr>
            </a:tbl>
          </a:graphicData>
        </a:graphic>
      </p:graphicFrame>
      <p:graphicFrame>
        <p:nvGraphicFramePr>
          <p:cNvPr id="241677" name="표 241676">
            <a:extLst>
              <a:ext uri="{FF2B5EF4-FFF2-40B4-BE49-F238E27FC236}">
                <a16:creationId xmlns:a16="http://schemas.microsoft.com/office/drawing/2014/main" id="{E31D5E8B-592B-F476-08D8-36EE1E01734C}"/>
              </a:ext>
            </a:extLst>
          </p:cNvPr>
          <p:cNvGraphicFramePr>
            <a:graphicFrameLocks noGrp="1"/>
          </p:cNvGraphicFramePr>
          <p:nvPr>
            <p:extLst>
              <p:ext uri="{D42A27DB-BD31-4B8C-83A1-F6EECF244321}">
                <p14:modId xmlns:p14="http://schemas.microsoft.com/office/powerpoint/2010/main" val="1258271867"/>
              </p:ext>
            </p:extLst>
          </p:nvPr>
        </p:nvGraphicFramePr>
        <p:xfrm>
          <a:off x="2590800" y="5029200"/>
          <a:ext cx="3217438" cy="1097280"/>
        </p:xfrm>
        <a:graphic>
          <a:graphicData uri="http://schemas.openxmlformats.org/drawingml/2006/table">
            <a:tbl>
              <a:tblPr firstRow="1" bandRow="1">
                <a:tableStyleId>{F5AB1C69-6EDB-4FF4-983F-18BD219EF322}</a:tableStyleId>
              </a:tblPr>
              <a:tblGrid>
                <a:gridCol w="1401562">
                  <a:extLst>
                    <a:ext uri="{9D8B030D-6E8A-4147-A177-3AD203B41FA5}">
                      <a16:colId xmlns:a16="http://schemas.microsoft.com/office/drawing/2014/main" val="3620521501"/>
                    </a:ext>
                  </a:extLst>
                </a:gridCol>
                <a:gridCol w="605292">
                  <a:extLst>
                    <a:ext uri="{9D8B030D-6E8A-4147-A177-3AD203B41FA5}">
                      <a16:colId xmlns:a16="http://schemas.microsoft.com/office/drawing/2014/main" val="48795633"/>
                    </a:ext>
                  </a:extLst>
                </a:gridCol>
                <a:gridCol w="605292">
                  <a:extLst>
                    <a:ext uri="{9D8B030D-6E8A-4147-A177-3AD203B41FA5}">
                      <a16:colId xmlns:a16="http://schemas.microsoft.com/office/drawing/2014/main" val="3961789961"/>
                    </a:ext>
                  </a:extLst>
                </a:gridCol>
                <a:gridCol w="605292">
                  <a:extLst>
                    <a:ext uri="{9D8B030D-6E8A-4147-A177-3AD203B41FA5}">
                      <a16:colId xmlns:a16="http://schemas.microsoft.com/office/drawing/2014/main" val="3320560867"/>
                    </a:ext>
                  </a:extLst>
                </a:gridCol>
              </a:tblGrid>
              <a:tr h="264688">
                <a:tc>
                  <a:txBody>
                    <a:bodyPr/>
                    <a:lstStyle/>
                    <a:p>
                      <a:pPr algn="r" latinLnBrk="1"/>
                      <a:endParaRPr lang="ko-KR" altLang="en-US" b="0">
                        <a:solidFill>
                          <a:schemeClr val="tx1"/>
                        </a:solidFill>
                      </a:endParaRPr>
                    </a:p>
                  </a:txBody>
                  <a:tcPr>
                    <a:noFill/>
                  </a:tcPr>
                </a:tc>
                <a:tc>
                  <a:txBody>
                    <a:bodyPr/>
                    <a:lstStyle/>
                    <a:p>
                      <a:pPr algn="ctr" latinLnBrk="1"/>
                      <a:r>
                        <a:rPr lang="en-US" altLang="ko-KR" b="0">
                          <a:solidFill>
                            <a:schemeClr val="tx1"/>
                          </a:solidFill>
                        </a:rPr>
                        <a:t>A</a:t>
                      </a:r>
                      <a:endParaRPr lang="ko-KR" altLang="en-US" b="0">
                        <a:solidFill>
                          <a:schemeClr val="tx1"/>
                        </a:solidFill>
                      </a:endParaRPr>
                    </a:p>
                  </a:txBody>
                  <a:tcPr>
                    <a:noFill/>
                  </a:tcPr>
                </a:tc>
                <a:tc>
                  <a:txBody>
                    <a:bodyPr/>
                    <a:lstStyle/>
                    <a:p>
                      <a:pPr algn="ctr" latinLnBrk="1"/>
                      <a:r>
                        <a:rPr lang="en-US" altLang="ko-KR" b="0">
                          <a:solidFill>
                            <a:schemeClr val="tx1"/>
                          </a:solidFill>
                        </a:rPr>
                        <a:t>B</a:t>
                      </a:r>
                      <a:endParaRPr lang="ko-KR" altLang="en-US" b="0">
                        <a:solidFill>
                          <a:schemeClr val="tx1"/>
                        </a:solidFill>
                      </a:endParaRPr>
                    </a:p>
                  </a:txBody>
                  <a:tcPr>
                    <a:noFill/>
                  </a:tcPr>
                </a:tc>
                <a:tc>
                  <a:txBody>
                    <a:bodyPr/>
                    <a:lstStyle/>
                    <a:p>
                      <a:pPr algn="ctr" latinLnBrk="1"/>
                      <a:r>
                        <a:rPr lang="en-US" altLang="ko-KR" b="0">
                          <a:solidFill>
                            <a:schemeClr val="tx1"/>
                          </a:solidFill>
                        </a:rPr>
                        <a:t>C</a:t>
                      </a:r>
                      <a:endParaRPr lang="ko-KR" altLang="en-US" b="0">
                        <a:solidFill>
                          <a:schemeClr val="tx1"/>
                        </a:solidFill>
                      </a:endParaRPr>
                    </a:p>
                  </a:txBody>
                  <a:tcPr>
                    <a:noFill/>
                  </a:tcPr>
                </a:tc>
                <a:extLst>
                  <a:ext uri="{0D108BD9-81ED-4DB2-BD59-A6C34878D82A}">
                    <a16:rowId xmlns:a16="http://schemas.microsoft.com/office/drawing/2014/main" val="2992188140"/>
                  </a:ext>
                </a:extLst>
              </a:tr>
              <a:tr h="264688">
                <a:tc>
                  <a:txBody>
                    <a:bodyPr/>
                    <a:lstStyle/>
                    <a:p>
                      <a:pPr algn="r" latinLnBrk="1"/>
                      <a:endParaRPr lang="ko-KR" altLang="en-US" b="0">
                        <a:solidFill>
                          <a:schemeClr val="tx1"/>
                        </a:solidFill>
                      </a:endParaRPr>
                    </a:p>
                  </a:txBody>
                  <a:tcPr>
                    <a:noFill/>
                  </a:tcPr>
                </a:tc>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2</a:t>
                      </a:r>
                      <a:endParaRPr lang="ko-KR" altLang="en-US" b="0">
                        <a:solidFill>
                          <a:schemeClr val="tx1"/>
                        </a:solidFill>
                      </a:endParaRPr>
                    </a:p>
                  </a:txBody>
                  <a:tcPr>
                    <a:noFill/>
                  </a:tcPr>
                </a:tc>
                <a:tc>
                  <a:txBody>
                    <a:bodyPr/>
                    <a:lstStyle/>
                    <a:p>
                      <a:pPr algn="ctr" latinLnBrk="1"/>
                      <a:r>
                        <a:rPr lang="en-US" altLang="ko-KR" b="0">
                          <a:solidFill>
                            <a:schemeClr val="tx1"/>
                          </a:solidFill>
                        </a:rPr>
                        <a:t>4</a:t>
                      </a:r>
                      <a:endParaRPr lang="ko-KR" altLang="en-US" b="0">
                        <a:solidFill>
                          <a:schemeClr val="tx1"/>
                        </a:solidFill>
                      </a:endParaRPr>
                    </a:p>
                  </a:txBody>
                  <a:tcPr>
                    <a:noFill/>
                  </a:tcPr>
                </a:tc>
                <a:extLst>
                  <a:ext uri="{0D108BD9-81ED-4DB2-BD59-A6C34878D82A}">
                    <a16:rowId xmlns:a16="http://schemas.microsoft.com/office/drawing/2014/main" val="1097614202"/>
                  </a:ext>
                </a:extLst>
              </a:tr>
              <a:tr h="264688">
                <a:tc>
                  <a:txBody>
                    <a:bodyPr/>
                    <a:lstStyle/>
                    <a:p>
                      <a:pPr algn="r" latinLnBrk="1"/>
                      <a:endParaRPr lang="ko-KR" altLang="en-US" b="0">
                        <a:solidFill>
                          <a:schemeClr val="tx1"/>
                        </a:solidFill>
                      </a:endParaRPr>
                    </a:p>
                  </a:txBody>
                  <a:tcPr>
                    <a:noFill/>
                  </a:tcPr>
                </a:tc>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2</a:t>
                      </a:r>
                      <a:endParaRPr lang="ko-KR" altLang="en-US" b="0">
                        <a:solidFill>
                          <a:schemeClr val="tx1"/>
                        </a:solidFill>
                      </a:endParaRPr>
                    </a:p>
                  </a:txBody>
                  <a:tcPr>
                    <a:noFill/>
                  </a:tcPr>
                </a:tc>
                <a:extLst>
                  <a:ext uri="{0D108BD9-81ED-4DB2-BD59-A6C34878D82A}">
                    <a16:rowId xmlns:a16="http://schemas.microsoft.com/office/drawing/2014/main" val="200467128"/>
                  </a:ext>
                </a:extLst>
              </a:tr>
            </a:tbl>
          </a:graphicData>
        </a:graphic>
      </p:graphicFrame>
      <p:graphicFrame>
        <p:nvGraphicFramePr>
          <p:cNvPr id="241683" name="표 241682">
            <a:extLst>
              <a:ext uri="{FF2B5EF4-FFF2-40B4-BE49-F238E27FC236}">
                <a16:creationId xmlns:a16="http://schemas.microsoft.com/office/drawing/2014/main" id="{28352AEC-3E1B-5C4C-C040-A699718106D8}"/>
              </a:ext>
            </a:extLst>
          </p:cNvPr>
          <p:cNvGraphicFramePr>
            <a:graphicFrameLocks noGrp="1"/>
          </p:cNvGraphicFramePr>
          <p:nvPr>
            <p:extLst>
              <p:ext uri="{D42A27DB-BD31-4B8C-83A1-F6EECF244321}">
                <p14:modId xmlns:p14="http://schemas.microsoft.com/office/powerpoint/2010/main" val="3203682195"/>
              </p:ext>
            </p:extLst>
          </p:nvPr>
        </p:nvGraphicFramePr>
        <p:xfrm>
          <a:off x="6632317" y="5029200"/>
          <a:ext cx="1815876" cy="1097280"/>
        </p:xfrm>
        <a:graphic>
          <a:graphicData uri="http://schemas.openxmlformats.org/drawingml/2006/table">
            <a:tbl>
              <a:tblPr firstRow="1" bandRow="1">
                <a:tableStyleId>{F5AB1C69-6EDB-4FF4-983F-18BD219EF322}</a:tableStyleId>
              </a:tblPr>
              <a:tblGrid>
                <a:gridCol w="605292">
                  <a:extLst>
                    <a:ext uri="{9D8B030D-6E8A-4147-A177-3AD203B41FA5}">
                      <a16:colId xmlns:a16="http://schemas.microsoft.com/office/drawing/2014/main" val="48795633"/>
                    </a:ext>
                  </a:extLst>
                </a:gridCol>
                <a:gridCol w="605292">
                  <a:extLst>
                    <a:ext uri="{9D8B030D-6E8A-4147-A177-3AD203B41FA5}">
                      <a16:colId xmlns:a16="http://schemas.microsoft.com/office/drawing/2014/main" val="3961789961"/>
                    </a:ext>
                  </a:extLst>
                </a:gridCol>
                <a:gridCol w="605292">
                  <a:extLst>
                    <a:ext uri="{9D8B030D-6E8A-4147-A177-3AD203B41FA5}">
                      <a16:colId xmlns:a16="http://schemas.microsoft.com/office/drawing/2014/main" val="3320560867"/>
                    </a:ext>
                  </a:extLst>
                </a:gridCol>
              </a:tblGrid>
              <a:tr h="264688">
                <a:tc>
                  <a:txBody>
                    <a:bodyPr/>
                    <a:lstStyle/>
                    <a:p>
                      <a:pPr algn="ctr" latinLnBrk="1"/>
                      <a:r>
                        <a:rPr lang="en-US" altLang="ko-KR" b="0">
                          <a:solidFill>
                            <a:schemeClr val="tx1"/>
                          </a:solidFill>
                        </a:rPr>
                        <a:t>A</a:t>
                      </a:r>
                      <a:endParaRPr lang="ko-KR" altLang="en-US" b="0">
                        <a:solidFill>
                          <a:schemeClr val="tx1"/>
                        </a:solidFill>
                      </a:endParaRPr>
                    </a:p>
                  </a:txBody>
                  <a:tcPr>
                    <a:noFill/>
                  </a:tcPr>
                </a:tc>
                <a:tc>
                  <a:txBody>
                    <a:bodyPr/>
                    <a:lstStyle/>
                    <a:p>
                      <a:pPr algn="ctr" latinLnBrk="1"/>
                      <a:r>
                        <a:rPr lang="en-US" altLang="ko-KR" b="0">
                          <a:solidFill>
                            <a:schemeClr val="tx1"/>
                          </a:solidFill>
                        </a:rPr>
                        <a:t>B</a:t>
                      </a:r>
                      <a:endParaRPr lang="ko-KR" altLang="en-US" b="0">
                        <a:solidFill>
                          <a:schemeClr val="tx1"/>
                        </a:solidFill>
                      </a:endParaRPr>
                    </a:p>
                  </a:txBody>
                  <a:tcPr>
                    <a:noFill/>
                  </a:tcPr>
                </a:tc>
                <a:tc>
                  <a:txBody>
                    <a:bodyPr/>
                    <a:lstStyle/>
                    <a:p>
                      <a:pPr algn="ctr" latinLnBrk="1"/>
                      <a:r>
                        <a:rPr lang="en-US" altLang="ko-KR" b="0">
                          <a:solidFill>
                            <a:schemeClr val="tx1"/>
                          </a:solidFill>
                        </a:rPr>
                        <a:t>C</a:t>
                      </a:r>
                      <a:endParaRPr lang="ko-KR" altLang="en-US" b="0">
                        <a:solidFill>
                          <a:schemeClr val="tx1"/>
                        </a:solidFill>
                      </a:endParaRPr>
                    </a:p>
                  </a:txBody>
                  <a:tcPr>
                    <a:noFill/>
                  </a:tcPr>
                </a:tc>
                <a:extLst>
                  <a:ext uri="{0D108BD9-81ED-4DB2-BD59-A6C34878D82A}">
                    <a16:rowId xmlns:a16="http://schemas.microsoft.com/office/drawing/2014/main" val="2992188140"/>
                  </a:ext>
                </a:extLst>
              </a:tr>
              <a:tr h="264688">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2</a:t>
                      </a:r>
                      <a:endParaRPr lang="ko-KR" altLang="en-US" b="0">
                        <a:solidFill>
                          <a:schemeClr val="tx1"/>
                        </a:solidFill>
                      </a:endParaRPr>
                    </a:p>
                  </a:txBody>
                  <a:tcPr>
                    <a:noFill/>
                  </a:tcPr>
                </a:tc>
                <a:tc>
                  <a:txBody>
                    <a:bodyPr/>
                    <a:lstStyle/>
                    <a:p>
                      <a:pPr algn="ctr" latinLnBrk="1"/>
                      <a:r>
                        <a:rPr lang="en-US" altLang="ko-KR" b="0">
                          <a:solidFill>
                            <a:schemeClr val="tx1"/>
                          </a:solidFill>
                        </a:rPr>
                        <a:t>4</a:t>
                      </a:r>
                      <a:endParaRPr lang="ko-KR" altLang="en-US" b="0">
                        <a:solidFill>
                          <a:schemeClr val="tx1"/>
                        </a:solidFill>
                      </a:endParaRPr>
                    </a:p>
                  </a:txBody>
                  <a:tcPr>
                    <a:noFill/>
                  </a:tcPr>
                </a:tc>
                <a:extLst>
                  <a:ext uri="{0D108BD9-81ED-4DB2-BD59-A6C34878D82A}">
                    <a16:rowId xmlns:a16="http://schemas.microsoft.com/office/drawing/2014/main" val="1097614202"/>
                  </a:ext>
                </a:extLst>
              </a:tr>
              <a:tr h="264688">
                <a:tc>
                  <a:txBody>
                    <a:bodyPr/>
                    <a:lstStyle/>
                    <a:p>
                      <a:pPr algn="ctr" latinLnBrk="1"/>
                      <a:r>
                        <a:rPr lang="en-US" altLang="ko-KR" b="0">
                          <a:solidFill>
                            <a:schemeClr val="tx1"/>
                          </a:solidFill>
                        </a:rPr>
                        <a:t>1</a:t>
                      </a:r>
                      <a:endParaRPr lang="ko-KR" altLang="en-US" b="0">
                        <a:solidFill>
                          <a:schemeClr val="tx1"/>
                        </a:solidFill>
                      </a:endParaRPr>
                    </a:p>
                  </a:txBody>
                  <a:tcPr>
                    <a:noFill/>
                  </a:tcPr>
                </a:tc>
                <a:tc>
                  <a:txBody>
                    <a:bodyPr/>
                    <a:lstStyle/>
                    <a:p>
                      <a:pPr algn="ctr" latinLnBrk="1"/>
                      <a:r>
                        <a:rPr lang="en-US" altLang="ko-KR" b="0">
                          <a:solidFill>
                            <a:schemeClr val="tx1"/>
                          </a:solidFill>
                        </a:rPr>
                        <a:t>2</a:t>
                      </a:r>
                      <a:endParaRPr lang="ko-KR" altLang="en-US" b="0">
                        <a:solidFill>
                          <a:schemeClr val="tx1"/>
                        </a:solidFill>
                      </a:endParaRPr>
                    </a:p>
                  </a:txBody>
                  <a:tcPr>
                    <a:noFill/>
                  </a:tcPr>
                </a:tc>
                <a:tc>
                  <a:txBody>
                    <a:bodyPr/>
                    <a:lstStyle/>
                    <a:p>
                      <a:pPr algn="ctr" latinLnBrk="1"/>
                      <a:r>
                        <a:rPr lang="en-US" altLang="ko-KR" b="0">
                          <a:solidFill>
                            <a:schemeClr val="tx1"/>
                          </a:solidFill>
                        </a:rPr>
                        <a:t>4</a:t>
                      </a:r>
                      <a:endParaRPr lang="ko-KR" altLang="en-US" b="0">
                        <a:solidFill>
                          <a:schemeClr val="tx1"/>
                        </a:solidFill>
                      </a:endParaRPr>
                    </a:p>
                  </a:txBody>
                  <a:tcPr>
                    <a:noFill/>
                  </a:tcPr>
                </a:tc>
                <a:extLst>
                  <a:ext uri="{0D108BD9-81ED-4DB2-BD59-A6C34878D82A}">
                    <a16:rowId xmlns:a16="http://schemas.microsoft.com/office/drawing/2014/main" val="200467128"/>
                  </a:ext>
                </a:extLst>
              </a:tr>
            </a:tbl>
          </a:graphicData>
        </a:graphic>
      </p:graphicFrame>
      <p:grpSp>
        <p:nvGrpSpPr>
          <p:cNvPr id="241733" name="그룹 241732">
            <a:extLst>
              <a:ext uri="{FF2B5EF4-FFF2-40B4-BE49-F238E27FC236}">
                <a16:creationId xmlns:a16="http://schemas.microsoft.com/office/drawing/2014/main" id="{E4816599-E821-3B2F-1C87-AA7B50ECD843}"/>
              </a:ext>
            </a:extLst>
          </p:cNvPr>
          <p:cNvGrpSpPr/>
          <p:nvPr/>
        </p:nvGrpSpPr>
        <p:grpSpPr>
          <a:xfrm>
            <a:off x="1025446" y="3409214"/>
            <a:ext cx="7693048" cy="1601118"/>
            <a:chOff x="1025446" y="3284100"/>
            <a:chExt cx="7693048" cy="1838845"/>
          </a:xfrm>
        </p:grpSpPr>
        <p:cxnSp>
          <p:nvCxnSpPr>
            <p:cNvPr id="241679" name="직선 연결선 241678">
              <a:extLst>
                <a:ext uri="{FF2B5EF4-FFF2-40B4-BE49-F238E27FC236}">
                  <a16:creationId xmlns:a16="http://schemas.microsoft.com/office/drawing/2014/main" id="{83EC6002-7935-0286-0663-2774A716659A}"/>
                </a:ext>
              </a:extLst>
            </p:cNvPr>
            <p:cNvCxnSpPr>
              <a:cxnSpLocks/>
            </p:cNvCxnSpPr>
            <p:nvPr/>
          </p:nvCxnSpPr>
          <p:spPr bwMode="auto">
            <a:xfrm>
              <a:off x="3871167" y="5122945"/>
              <a:ext cx="21885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1680" name="직사각형 241679">
              <a:extLst>
                <a:ext uri="{FF2B5EF4-FFF2-40B4-BE49-F238E27FC236}">
                  <a16:creationId xmlns:a16="http://schemas.microsoft.com/office/drawing/2014/main" id="{5F36CFFE-EF07-E9DD-AC00-6CFEE43639B0}"/>
                </a:ext>
              </a:extLst>
            </p:cNvPr>
            <p:cNvSpPr/>
            <p:nvPr/>
          </p:nvSpPr>
          <p:spPr bwMode="auto">
            <a:xfrm>
              <a:off x="6788676" y="3682931"/>
              <a:ext cx="350098" cy="144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241681" name="직선 화살표 연결선 241680">
              <a:extLst>
                <a:ext uri="{FF2B5EF4-FFF2-40B4-BE49-F238E27FC236}">
                  <a16:creationId xmlns:a16="http://schemas.microsoft.com/office/drawing/2014/main" id="{449C0644-BCBB-9A45-0C4E-AD171CDE75D6}"/>
                </a:ext>
              </a:extLst>
            </p:cNvPr>
            <p:cNvCxnSpPr>
              <a:cxnSpLocks/>
            </p:cNvCxnSpPr>
            <p:nvPr/>
          </p:nvCxnSpPr>
          <p:spPr bwMode="auto">
            <a:xfrm flipV="1">
              <a:off x="3871167" y="3284100"/>
              <a:ext cx="0" cy="18300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682" name="TextBox 241681">
              <a:extLst>
                <a:ext uri="{FF2B5EF4-FFF2-40B4-BE49-F238E27FC236}">
                  <a16:creationId xmlns:a16="http://schemas.microsoft.com/office/drawing/2014/main" id="{014C9BB2-2451-EF8F-1DDD-9A90A5A1392F}"/>
                </a:ext>
              </a:extLst>
            </p:cNvPr>
            <p:cNvSpPr txBox="1"/>
            <p:nvPr/>
          </p:nvSpPr>
          <p:spPr>
            <a:xfrm rot="5400000">
              <a:off x="3485026" y="3517220"/>
              <a:ext cx="590226" cy="282817"/>
            </a:xfrm>
            <a:prstGeom prst="rect">
              <a:avLst/>
            </a:prstGeom>
            <a:noFill/>
          </p:spPr>
          <p:txBody>
            <a:bodyPr wrap="none" rtlCol="0">
              <a:spAutoFit/>
            </a:bodyPr>
            <a:lstStyle/>
            <a:p>
              <a:r>
                <a:rPr lang="en-US" altLang="ko-KR" sz="1400"/>
                <a:t>pass</a:t>
              </a:r>
              <a:endParaRPr lang="ko-KR" altLang="en-US" sz="1400"/>
            </a:p>
          </p:txBody>
        </p:sp>
        <p:cxnSp>
          <p:nvCxnSpPr>
            <p:cNvPr id="241685" name="직선 연결선 241684">
              <a:extLst>
                <a:ext uri="{FF2B5EF4-FFF2-40B4-BE49-F238E27FC236}">
                  <a16:creationId xmlns:a16="http://schemas.microsoft.com/office/drawing/2014/main" id="{B33D1A10-FE1A-35B0-17C5-69E3291F701C}"/>
                </a:ext>
              </a:extLst>
            </p:cNvPr>
            <p:cNvCxnSpPr>
              <a:cxnSpLocks/>
            </p:cNvCxnSpPr>
            <p:nvPr/>
          </p:nvCxnSpPr>
          <p:spPr bwMode="auto">
            <a:xfrm>
              <a:off x="6529962" y="5122945"/>
              <a:ext cx="21885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1687" name="직선 화살표 연결선 241686">
              <a:extLst>
                <a:ext uri="{FF2B5EF4-FFF2-40B4-BE49-F238E27FC236}">
                  <a16:creationId xmlns:a16="http://schemas.microsoft.com/office/drawing/2014/main" id="{1D280560-7935-F73F-0CAA-2710D0E3A178}"/>
                </a:ext>
              </a:extLst>
            </p:cNvPr>
            <p:cNvCxnSpPr>
              <a:cxnSpLocks/>
            </p:cNvCxnSpPr>
            <p:nvPr/>
          </p:nvCxnSpPr>
          <p:spPr bwMode="auto">
            <a:xfrm flipV="1">
              <a:off x="6529962" y="3284100"/>
              <a:ext cx="0" cy="18300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688" name="TextBox 241687">
              <a:extLst>
                <a:ext uri="{FF2B5EF4-FFF2-40B4-BE49-F238E27FC236}">
                  <a16:creationId xmlns:a16="http://schemas.microsoft.com/office/drawing/2014/main" id="{E51139CC-0A74-3BD0-501E-43C9772C6ABD}"/>
                </a:ext>
              </a:extLst>
            </p:cNvPr>
            <p:cNvSpPr txBox="1"/>
            <p:nvPr/>
          </p:nvSpPr>
          <p:spPr>
            <a:xfrm rot="5400000">
              <a:off x="6143821" y="3517220"/>
              <a:ext cx="590226" cy="282817"/>
            </a:xfrm>
            <a:prstGeom prst="rect">
              <a:avLst/>
            </a:prstGeom>
            <a:noFill/>
          </p:spPr>
          <p:txBody>
            <a:bodyPr wrap="none" rtlCol="0">
              <a:spAutoFit/>
            </a:bodyPr>
            <a:lstStyle/>
            <a:p>
              <a:r>
                <a:rPr lang="en-US" altLang="ko-KR" sz="1400"/>
                <a:t>pass</a:t>
              </a:r>
              <a:endParaRPr lang="ko-KR" altLang="en-US" sz="1400"/>
            </a:p>
          </p:txBody>
        </p:sp>
        <p:sp>
          <p:nvSpPr>
            <p:cNvPr id="241695" name="직사각형 241694">
              <a:extLst>
                <a:ext uri="{FF2B5EF4-FFF2-40B4-BE49-F238E27FC236}">
                  <a16:creationId xmlns:a16="http://schemas.microsoft.com/office/drawing/2014/main" id="{F0B6188F-E499-79B9-A1C3-7D1AB1D692E9}"/>
                </a:ext>
              </a:extLst>
            </p:cNvPr>
            <p:cNvSpPr/>
            <p:nvPr/>
          </p:nvSpPr>
          <p:spPr bwMode="auto">
            <a:xfrm>
              <a:off x="4725798" y="4397231"/>
              <a:ext cx="350098" cy="72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6" name="직사각형 241695">
              <a:extLst>
                <a:ext uri="{FF2B5EF4-FFF2-40B4-BE49-F238E27FC236}">
                  <a16:creationId xmlns:a16="http://schemas.microsoft.com/office/drawing/2014/main" id="{2A6C620B-62EE-2335-7797-562C476A7751}"/>
                </a:ext>
              </a:extLst>
            </p:cNvPr>
            <p:cNvSpPr/>
            <p:nvPr/>
          </p:nvSpPr>
          <p:spPr bwMode="auto">
            <a:xfrm>
              <a:off x="5352860" y="4762931"/>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7" name="직사각형 241696">
              <a:extLst>
                <a:ext uri="{FF2B5EF4-FFF2-40B4-BE49-F238E27FC236}">
                  <a16:creationId xmlns:a16="http://schemas.microsoft.com/office/drawing/2014/main" id="{AE2D9E49-01EC-EF94-B228-000917D410D8}"/>
                </a:ext>
              </a:extLst>
            </p:cNvPr>
            <p:cNvSpPr/>
            <p:nvPr/>
          </p:nvSpPr>
          <p:spPr bwMode="auto">
            <a:xfrm>
              <a:off x="7384593" y="4397231"/>
              <a:ext cx="350098" cy="72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8" name="직사각형 241697">
              <a:extLst>
                <a:ext uri="{FF2B5EF4-FFF2-40B4-BE49-F238E27FC236}">
                  <a16:creationId xmlns:a16="http://schemas.microsoft.com/office/drawing/2014/main" id="{E91E4AC8-90F8-6AA9-522A-301F7182EE88}"/>
                </a:ext>
              </a:extLst>
            </p:cNvPr>
            <p:cNvSpPr/>
            <p:nvPr/>
          </p:nvSpPr>
          <p:spPr bwMode="auto">
            <a:xfrm>
              <a:off x="7384593" y="3682931"/>
              <a:ext cx="350098" cy="72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699" name="직사각형 241698">
              <a:extLst>
                <a:ext uri="{FF2B5EF4-FFF2-40B4-BE49-F238E27FC236}">
                  <a16:creationId xmlns:a16="http://schemas.microsoft.com/office/drawing/2014/main" id="{739A230C-B02F-8F50-2ED8-689283B9A891}"/>
                </a:ext>
              </a:extLst>
            </p:cNvPr>
            <p:cNvSpPr/>
            <p:nvPr/>
          </p:nvSpPr>
          <p:spPr bwMode="auto">
            <a:xfrm>
              <a:off x="4109621" y="3682931"/>
              <a:ext cx="350098" cy="144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00" name="직사각형 241699">
              <a:extLst>
                <a:ext uri="{FF2B5EF4-FFF2-40B4-BE49-F238E27FC236}">
                  <a16:creationId xmlns:a16="http://schemas.microsoft.com/office/drawing/2014/main" id="{34552BED-2356-9E74-02CB-54884AB26BA8}"/>
                </a:ext>
              </a:extLst>
            </p:cNvPr>
            <p:cNvSpPr/>
            <p:nvPr/>
          </p:nvSpPr>
          <p:spPr bwMode="auto">
            <a:xfrm>
              <a:off x="8011654" y="4762931"/>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01" name="직사각형 241700">
              <a:extLst>
                <a:ext uri="{FF2B5EF4-FFF2-40B4-BE49-F238E27FC236}">
                  <a16:creationId xmlns:a16="http://schemas.microsoft.com/office/drawing/2014/main" id="{708102E0-30B8-F739-970E-2F989373AFD6}"/>
                </a:ext>
              </a:extLst>
            </p:cNvPr>
            <p:cNvSpPr/>
            <p:nvPr/>
          </p:nvSpPr>
          <p:spPr bwMode="auto">
            <a:xfrm>
              <a:off x="8011654" y="4398550"/>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02" name="직사각형 241701">
              <a:extLst>
                <a:ext uri="{FF2B5EF4-FFF2-40B4-BE49-F238E27FC236}">
                  <a16:creationId xmlns:a16="http://schemas.microsoft.com/office/drawing/2014/main" id="{49074C8A-BA5A-8115-8E43-BD31DDFC0483}"/>
                </a:ext>
              </a:extLst>
            </p:cNvPr>
            <p:cNvSpPr/>
            <p:nvPr/>
          </p:nvSpPr>
          <p:spPr bwMode="auto">
            <a:xfrm>
              <a:off x="8011654" y="4047312"/>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03" name="직사각형 241702">
              <a:extLst>
                <a:ext uri="{FF2B5EF4-FFF2-40B4-BE49-F238E27FC236}">
                  <a16:creationId xmlns:a16="http://schemas.microsoft.com/office/drawing/2014/main" id="{838A29CB-96A3-4C35-064A-4B087CFD832A}"/>
                </a:ext>
              </a:extLst>
            </p:cNvPr>
            <p:cNvSpPr/>
            <p:nvPr/>
          </p:nvSpPr>
          <p:spPr bwMode="auto">
            <a:xfrm>
              <a:off x="8011654" y="3682931"/>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241704" name="직선 연결선 241703">
              <a:extLst>
                <a:ext uri="{FF2B5EF4-FFF2-40B4-BE49-F238E27FC236}">
                  <a16:creationId xmlns:a16="http://schemas.microsoft.com/office/drawing/2014/main" id="{D4E3BB8E-7FEC-3793-90FA-93A39AB6C8D9}"/>
                </a:ext>
              </a:extLst>
            </p:cNvPr>
            <p:cNvCxnSpPr>
              <a:cxnSpLocks/>
            </p:cNvCxnSpPr>
            <p:nvPr/>
          </p:nvCxnSpPr>
          <p:spPr bwMode="auto">
            <a:xfrm>
              <a:off x="1257883" y="5122945"/>
              <a:ext cx="21885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1705" name="직선 화살표 연결선 241704">
              <a:extLst>
                <a:ext uri="{FF2B5EF4-FFF2-40B4-BE49-F238E27FC236}">
                  <a16:creationId xmlns:a16="http://schemas.microsoft.com/office/drawing/2014/main" id="{F85D19D6-4AF4-B7AA-D5F4-662EF6F8BBC6}"/>
                </a:ext>
              </a:extLst>
            </p:cNvPr>
            <p:cNvCxnSpPr>
              <a:cxnSpLocks/>
            </p:cNvCxnSpPr>
            <p:nvPr/>
          </p:nvCxnSpPr>
          <p:spPr bwMode="auto">
            <a:xfrm flipV="1">
              <a:off x="1257883" y="3284100"/>
              <a:ext cx="0" cy="18300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1706" name="TextBox 241705">
              <a:extLst>
                <a:ext uri="{FF2B5EF4-FFF2-40B4-BE49-F238E27FC236}">
                  <a16:creationId xmlns:a16="http://schemas.microsoft.com/office/drawing/2014/main" id="{FD6C202D-A2B4-4E36-73DD-C681BEA6E1E9}"/>
                </a:ext>
              </a:extLst>
            </p:cNvPr>
            <p:cNvSpPr txBox="1"/>
            <p:nvPr/>
          </p:nvSpPr>
          <p:spPr>
            <a:xfrm rot="5400000">
              <a:off x="871742" y="3517220"/>
              <a:ext cx="590226" cy="282817"/>
            </a:xfrm>
            <a:prstGeom prst="rect">
              <a:avLst/>
            </a:prstGeom>
            <a:noFill/>
          </p:spPr>
          <p:txBody>
            <a:bodyPr wrap="none" rtlCol="0">
              <a:spAutoFit/>
            </a:bodyPr>
            <a:lstStyle/>
            <a:p>
              <a:r>
                <a:rPr lang="en-US" altLang="ko-KR" sz="1400"/>
                <a:t>pass</a:t>
              </a:r>
              <a:endParaRPr lang="ko-KR" altLang="en-US" sz="1400"/>
            </a:p>
          </p:txBody>
        </p:sp>
        <p:sp>
          <p:nvSpPr>
            <p:cNvPr id="241709" name="직사각형 241708">
              <a:extLst>
                <a:ext uri="{FF2B5EF4-FFF2-40B4-BE49-F238E27FC236}">
                  <a16:creationId xmlns:a16="http://schemas.microsoft.com/office/drawing/2014/main" id="{19D1DBF3-71C1-C09B-77E1-2C352525F116}"/>
                </a:ext>
              </a:extLst>
            </p:cNvPr>
            <p:cNvSpPr/>
            <p:nvPr/>
          </p:nvSpPr>
          <p:spPr bwMode="auto">
            <a:xfrm>
              <a:off x="1496337" y="3682931"/>
              <a:ext cx="350098" cy="144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11" name="직사각형 241710">
              <a:extLst>
                <a:ext uri="{FF2B5EF4-FFF2-40B4-BE49-F238E27FC236}">
                  <a16:creationId xmlns:a16="http://schemas.microsoft.com/office/drawing/2014/main" id="{32AA5458-C163-285E-F08F-BD3F1622653A}"/>
                </a:ext>
              </a:extLst>
            </p:cNvPr>
            <p:cNvSpPr/>
            <p:nvPr/>
          </p:nvSpPr>
          <p:spPr bwMode="auto">
            <a:xfrm>
              <a:off x="5352860" y="4413408"/>
              <a:ext cx="350098" cy="3600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grpSp>
        <p:nvGrpSpPr>
          <p:cNvPr id="241721" name="그룹 241720">
            <a:extLst>
              <a:ext uri="{FF2B5EF4-FFF2-40B4-BE49-F238E27FC236}">
                <a16:creationId xmlns:a16="http://schemas.microsoft.com/office/drawing/2014/main" id="{FC0ED316-783B-47A6-336B-92A0D4DA8AE8}"/>
              </a:ext>
            </a:extLst>
          </p:cNvPr>
          <p:cNvGrpSpPr/>
          <p:nvPr/>
        </p:nvGrpSpPr>
        <p:grpSpPr>
          <a:xfrm>
            <a:off x="927554" y="2486233"/>
            <a:ext cx="7497490" cy="619701"/>
            <a:chOff x="921156" y="5690124"/>
            <a:chExt cx="7497490" cy="937012"/>
          </a:xfrm>
        </p:grpSpPr>
        <p:sp>
          <p:nvSpPr>
            <p:cNvPr id="241718" name="이등변 삼각형 241717">
              <a:extLst>
                <a:ext uri="{FF2B5EF4-FFF2-40B4-BE49-F238E27FC236}">
                  <a16:creationId xmlns:a16="http://schemas.microsoft.com/office/drawing/2014/main" id="{4E079BF2-DA42-A85C-BA68-3315A9295046}"/>
                </a:ext>
              </a:extLst>
            </p:cNvPr>
            <p:cNvSpPr/>
            <p:nvPr/>
          </p:nvSpPr>
          <p:spPr bwMode="auto">
            <a:xfrm rot="5400000">
              <a:off x="1767863" y="5768696"/>
              <a:ext cx="600667" cy="443524"/>
            </a:xfrm>
            <a:prstGeom prst="triangle">
              <a:avLst/>
            </a:prstGeom>
            <a:solidFill>
              <a:schemeClr val="accent5">
                <a:lumMod val="9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nvGrpSpPr>
            <p:cNvPr id="241720" name="그룹 241719">
              <a:extLst>
                <a:ext uri="{FF2B5EF4-FFF2-40B4-BE49-F238E27FC236}">
                  <a16:creationId xmlns:a16="http://schemas.microsoft.com/office/drawing/2014/main" id="{426D6DE8-F8D0-673A-4487-8B687B1A6624}"/>
                </a:ext>
              </a:extLst>
            </p:cNvPr>
            <p:cNvGrpSpPr/>
            <p:nvPr/>
          </p:nvGrpSpPr>
          <p:grpSpPr>
            <a:xfrm>
              <a:off x="921156" y="5883179"/>
              <a:ext cx="7497490" cy="743957"/>
              <a:chOff x="921156" y="5883179"/>
              <a:chExt cx="7497490" cy="743957"/>
            </a:xfrm>
            <a:solidFill>
              <a:schemeClr val="accent5">
                <a:lumMod val="90000"/>
              </a:schemeClr>
            </a:solidFill>
          </p:grpSpPr>
          <p:sp>
            <p:nvSpPr>
              <p:cNvPr id="241714" name="막힌 원호 241713">
                <a:extLst>
                  <a:ext uri="{FF2B5EF4-FFF2-40B4-BE49-F238E27FC236}">
                    <a16:creationId xmlns:a16="http://schemas.microsoft.com/office/drawing/2014/main" id="{17AD9A33-B1AB-AD1C-4956-34A355852CCD}"/>
                  </a:ext>
                </a:extLst>
              </p:cNvPr>
              <p:cNvSpPr/>
              <p:nvPr/>
            </p:nvSpPr>
            <p:spPr bwMode="auto">
              <a:xfrm rot="5400000">
                <a:off x="7393977" y="5602467"/>
                <a:ext cx="743957" cy="1305381"/>
              </a:xfrm>
              <a:prstGeom prst="blockArc">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15" name="막힌 원호 241714">
                <a:extLst>
                  <a:ext uri="{FF2B5EF4-FFF2-40B4-BE49-F238E27FC236}">
                    <a16:creationId xmlns:a16="http://schemas.microsoft.com/office/drawing/2014/main" id="{013F8188-8C4F-E9D6-4174-B3C5AD2BFC10}"/>
                  </a:ext>
                </a:extLst>
              </p:cNvPr>
              <p:cNvSpPr/>
              <p:nvPr/>
            </p:nvSpPr>
            <p:spPr bwMode="auto">
              <a:xfrm rot="16200000">
                <a:off x="1201868" y="5602467"/>
                <a:ext cx="743957" cy="1305381"/>
              </a:xfrm>
              <a:prstGeom prst="blockArc">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16" name="직사각형 241715">
                <a:extLst>
                  <a:ext uri="{FF2B5EF4-FFF2-40B4-BE49-F238E27FC236}">
                    <a16:creationId xmlns:a16="http://schemas.microsoft.com/office/drawing/2014/main" id="{ACDA0A07-260F-FCB6-33AB-C8EBE862404D}"/>
                  </a:ext>
                </a:extLst>
              </p:cNvPr>
              <p:cNvSpPr/>
              <p:nvPr/>
            </p:nvSpPr>
            <p:spPr bwMode="auto">
              <a:xfrm>
                <a:off x="1555558" y="6437245"/>
                <a:ext cx="6217738" cy="187210"/>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17" name="직사각형 241716">
                <a:extLst>
                  <a:ext uri="{FF2B5EF4-FFF2-40B4-BE49-F238E27FC236}">
                    <a16:creationId xmlns:a16="http://schemas.microsoft.com/office/drawing/2014/main" id="{D3E7146C-6F92-7F3D-028B-E2F713629ADB}"/>
                  </a:ext>
                </a:extLst>
              </p:cNvPr>
              <p:cNvSpPr/>
              <p:nvPr/>
            </p:nvSpPr>
            <p:spPr bwMode="auto">
              <a:xfrm>
                <a:off x="2540592" y="5883179"/>
                <a:ext cx="5250992" cy="187210"/>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41719" name="직사각형 241718">
                <a:extLst>
                  <a:ext uri="{FF2B5EF4-FFF2-40B4-BE49-F238E27FC236}">
                    <a16:creationId xmlns:a16="http://schemas.microsoft.com/office/drawing/2014/main" id="{77100841-F299-D97C-4B4A-221F6742760D}"/>
                  </a:ext>
                </a:extLst>
              </p:cNvPr>
              <p:cNvSpPr/>
              <p:nvPr/>
            </p:nvSpPr>
            <p:spPr bwMode="auto">
              <a:xfrm>
                <a:off x="1557625" y="5883179"/>
                <a:ext cx="545123" cy="187210"/>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grpSp>
      </p:grpSp>
      <p:sp>
        <p:nvSpPr>
          <p:cNvPr id="241722" name="TextBox 241721">
            <a:extLst>
              <a:ext uri="{FF2B5EF4-FFF2-40B4-BE49-F238E27FC236}">
                <a16:creationId xmlns:a16="http://schemas.microsoft.com/office/drawing/2014/main" id="{F47AE40C-6C8B-4F79-4D8D-2855EDCA347C}"/>
              </a:ext>
            </a:extLst>
          </p:cNvPr>
          <p:cNvSpPr txBox="1"/>
          <p:nvPr/>
        </p:nvSpPr>
        <p:spPr>
          <a:xfrm>
            <a:off x="7691794" y="2737725"/>
            <a:ext cx="1087157" cy="584775"/>
          </a:xfrm>
          <a:prstGeom prst="rect">
            <a:avLst/>
          </a:prstGeom>
          <a:noFill/>
        </p:spPr>
        <p:txBody>
          <a:bodyPr wrap="none" rtlCol="0">
            <a:spAutoFit/>
          </a:bodyPr>
          <a:lstStyle/>
          <a:p>
            <a:r>
              <a:rPr lang="en-US" altLang="ko-KR" sz="3200" i="1">
                <a:solidFill>
                  <a:srgbClr val="FF0000"/>
                </a:solidFill>
                <a:effectLst>
                  <a:outerShdw blurRad="38100" dist="38100" dir="2700000" algn="tl">
                    <a:srgbClr val="000000">
                      <a:alpha val="43137"/>
                    </a:srgbClr>
                  </a:outerShdw>
                </a:effectLst>
              </a:rPr>
              <a:t>Best</a:t>
            </a:r>
            <a:endParaRPr lang="ko-KR" altLang="en-US" sz="3200" i="1">
              <a:solidFill>
                <a:srgbClr val="FF0000"/>
              </a:solidFill>
              <a:effectLst>
                <a:outerShdw blurRad="38100" dist="38100" dir="2700000" algn="tl">
                  <a:srgbClr val="000000">
                    <a:alpha val="43137"/>
                  </a:srgbClr>
                </a:outerShdw>
              </a:effectLst>
            </a:endParaRPr>
          </a:p>
        </p:txBody>
      </p:sp>
      <p:sp>
        <p:nvSpPr>
          <p:cNvPr id="241732" name="TextBox 241731">
            <a:extLst>
              <a:ext uri="{FF2B5EF4-FFF2-40B4-BE49-F238E27FC236}">
                <a16:creationId xmlns:a16="http://schemas.microsoft.com/office/drawing/2014/main" id="{7B57E2AE-8B9D-502F-3E62-527EBF9461AF}"/>
              </a:ext>
            </a:extLst>
          </p:cNvPr>
          <p:cNvSpPr txBox="1"/>
          <p:nvPr/>
        </p:nvSpPr>
        <p:spPr>
          <a:xfrm>
            <a:off x="430977" y="2737725"/>
            <a:ext cx="1390124" cy="584775"/>
          </a:xfrm>
          <a:prstGeom prst="rect">
            <a:avLst/>
          </a:prstGeom>
          <a:noFill/>
        </p:spPr>
        <p:txBody>
          <a:bodyPr wrap="none" rtlCol="0">
            <a:spAutoFit/>
          </a:bodyPr>
          <a:lstStyle/>
          <a:p>
            <a:r>
              <a:rPr lang="en-US" altLang="ko-KR" sz="3200" i="1">
                <a:solidFill>
                  <a:srgbClr val="0000FF"/>
                </a:solidFill>
                <a:effectLst>
                  <a:outerShdw blurRad="38100" dist="38100" dir="2700000" algn="tl">
                    <a:srgbClr val="000000">
                      <a:alpha val="43137"/>
                    </a:srgbClr>
                  </a:outerShdw>
                </a:effectLst>
              </a:rPr>
              <a:t>Worst</a:t>
            </a:r>
            <a:endParaRPr lang="ko-KR" altLang="en-US" sz="3200" i="1">
              <a:solidFill>
                <a:srgbClr val="0000FF"/>
              </a:solidFill>
              <a:effectLst>
                <a:outerShdw blurRad="38100" dist="38100" dir="2700000" algn="tl">
                  <a:srgbClr val="000000">
                    <a:alpha val="43137"/>
                  </a:srgbClr>
                </a:outerShdw>
              </a:effectLst>
            </a:endParaRPr>
          </a:p>
        </p:txBody>
      </p:sp>
      <p:sp>
        <p:nvSpPr>
          <p:cNvPr id="6" name="Rectangle 2">
            <a:extLst>
              <a:ext uri="{FF2B5EF4-FFF2-40B4-BE49-F238E27FC236}">
                <a16:creationId xmlns:a16="http://schemas.microsoft.com/office/drawing/2014/main" id="{3B139D96-7F98-F2B7-59D4-0CC5D9DEBACE}"/>
              </a:ext>
            </a:extLst>
          </p:cNvPr>
          <p:cNvSpPr>
            <a:spLocks noGrp="1" noChangeArrowheads="1"/>
          </p:cNvSpPr>
          <p:nvPr>
            <p:ph type="title"/>
          </p:nvPr>
        </p:nvSpPr>
        <p:spPr>
          <a:xfrm>
            <a:off x="574675" y="304800"/>
            <a:ext cx="8001000" cy="1216025"/>
          </a:xfrm>
        </p:spPr>
        <p:txBody>
          <a:bodyPr/>
          <a:lstStyle/>
          <a:p>
            <a:r>
              <a:rPr lang="en-US" altLang="ko-KR" sz="3200"/>
              <a:t>Stride Scheduler</a:t>
            </a:r>
            <a:br>
              <a:rPr lang="en-US" altLang="ko-KR" sz="3200"/>
            </a:br>
            <a:r>
              <a:rPr lang="en-US" altLang="ko-KR" sz="3200"/>
              <a:t>Fairness Evaluation </a:t>
            </a:r>
            <a:r>
              <a:rPr lang="en-US" altLang="ko-KR" sz="2800"/>
              <a:t>(6/6)</a:t>
            </a:r>
          </a:p>
        </p:txBody>
      </p:sp>
    </p:spTree>
    <p:extLst>
      <p:ext uri="{BB962C8B-B14F-4D97-AF65-F5344CB8AC3E}">
        <p14:creationId xmlns:p14="http://schemas.microsoft.com/office/powerpoint/2010/main" val="3328271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1154-4960-E542-E37B-ED84CE174BDB}"/>
            </a:ext>
          </a:extLst>
        </p:cNvPr>
        <p:cNvGrpSpPr/>
        <p:nvPr/>
      </p:nvGrpSpPr>
      <p:grpSpPr>
        <a:xfrm>
          <a:off x="0" y="0"/>
          <a:ext cx="0" cy="0"/>
          <a:chOff x="0" y="0"/>
          <a:chExt cx="0" cy="0"/>
        </a:xfrm>
      </p:grpSpPr>
      <p:sp>
        <p:nvSpPr>
          <p:cNvPr id="25" name="Rectangle 3">
            <a:extLst>
              <a:ext uri="{FF2B5EF4-FFF2-40B4-BE49-F238E27FC236}">
                <a16:creationId xmlns:a16="http://schemas.microsoft.com/office/drawing/2014/main" id="{31487EF4-DEAE-1CA3-8813-68DB698139AA}"/>
              </a:ext>
            </a:extLst>
          </p:cNvPr>
          <p:cNvSpPr txBox="1">
            <a:spLocks noChangeArrowheads="1"/>
          </p:cNvSpPr>
          <p:nvPr/>
        </p:nvSpPr>
        <p:spPr bwMode="auto">
          <a:xfrm>
            <a:off x="518692" y="1752600"/>
            <a:ext cx="8112124" cy="4648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400"/>
              </a:lnSpc>
            </a:pPr>
            <a:r>
              <a:rPr lang="en-US" altLang="ko-KR" sz="2000" kern="0"/>
              <a:t>The Period of the stride scheduler</a:t>
            </a:r>
            <a:r>
              <a:rPr lang="ko-KR" altLang="en-US" sz="2000" kern="0"/>
              <a:t> </a:t>
            </a:r>
            <a:r>
              <a:rPr lang="en-US" altLang="ko-KR" sz="2000" kern="0"/>
              <a:t>is</a:t>
            </a:r>
            <a:r>
              <a:rPr lang="ko-KR" altLang="en-US" sz="2000" kern="0"/>
              <a:t> </a:t>
            </a:r>
            <a:r>
              <a:rPr lang="en-US" altLang="ko-KR" sz="2000" kern="0"/>
              <a:t>important</a:t>
            </a:r>
            <a:r>
              <a:rPr lang="ko-KR" altLang="en-US" sz="2000" kern="0"/>
              <a:t> </a:t>
            </a:r>
            <a:r>
              <a:rPr lang="en-US" altLang="ko-KR" sz="2000" kern="0"/>
              <a:t>when you evaluate fairness.</a:t>
            </a:r>
          </a:p>
          <a:p>
            <a:pPr lvl="1" latinLnBrk="1">
              <a:lnSpc>
                <a:spcPts val="2400"/>
              </a:lnSpc>
            </a:pPr>
            <a:r>
              <a:rPr lang="en-US" altLang="ko-KR" sz="1600" kern="0"/>
              <a:t>For example, if the window size is equal to the stride scheduler’s period, you get a constant error metrics. But this does not mean that the stride scheduler has exactly constant error in all aspects. You have to set the window size either smaller or greater than</a:t>
            </a:r>
            <a:r>
              <a:rPr lang="ko-KR" altLang="en-US" sz="1600" kern="0"/>
              <a:t> </a:t>
            </a:r>
            <a:r>
              <a:rPr lang="en-US" altLang="ko-KR" sz="1600" kern="0"/>
              <a:t>scheduler’s period. 50% or 150% of the period looks better.</a:t>
            </a:r>
          </a:p>
          <a:p>
            <a:pPr lvl="1" latinLnBrk="1">
              <a:lnSpc>
                <a:spcPts val="2400"/>
              </a:lnSpc>
            </a:pPr>
            <a:endParaRPr lang="en-US" altLang="ko-KR" sz="1400" kern="0"/>
          </a:p>
          <a:p>
            <a:pPr latinLnBrk="1">
              <a:lnSpc>
                <a:spcPts val="2400"/>
              </a:lnSpc>
            </a:pPr>
            <a:r>
              <a:rPr lang="en-US" altLang="ko-KR" sz="2000" kern="0"/>
              <a:t>The Period of the stride scheduler is deterministric. So you do not need long term test! </a:t>
            </a:r>
          </a:p>
          <a:p>
            <a:pPr lvl="1" latinLnBrk="1">
              <a:lnSpc>
                <a:spcPts val="2400"/>
              </a:lnSpc>
            </a:pPr>
            <a:r>
              <a:rPr lang="en-US" altLang="ko-KR" sz="1600" kern="0"/>
              <a:t>One period of stride scheduler has</a:t>
            </a:r>
            <a:r>
              <a:rPr lang="ko-KR" altLang="en-US" sz="1600" kern="0"/>
              <a:t> </a:t>
            </a:r>
            <a:r>
              <a:rPr lang="en-US" altLang="ko-KR" sz="1600" kern="0"/>
              <a:t>entire</a:t>
            </a:r>
            <a:r>
              <a:rPr lang="ko-KR" altLang="en-US" sz="1600" kern="0"/>
              <a:t> </a:t>
            </a:r>
            <a:r>
              <a:rPr lang="en-US" altLang="ko-KR" sz="1600" kern="0"/>
              <a:t>pattern</a:t>
            </a:r>
            <a:r>
              <a:rPr lang="ko-KR" altLang="en-US" sz="1600" kern="0"/>
              <a:t> </a:t>
            </a:r>
            <a:r>
              <a:rPr lang="en-US" altLang="ko-KR" sz="1600" kern="0"/>
              <a:t>of</a:t>
            </a:r>
            <a:r>
              <a:rPr lang="ko-KR" altLang="en-US" sz="1600" kern="0"/>
              <a:t> </a:t>
            </a:r>
            <a:r>
              <a:rPr lang="en-US" altLang="ko-KR" sz="1600" kern="0"/>
              <a:t>itself. It is useful to evaluate its performance.</a:t>
            </a:r>
          </a:p>
          <a:p>
            <a:pPr lvl="1" latinLnBrk="1">
              <a:lnSpc>
                <a:spcPts val="2400"/>
              </a:lnSpc>
            </a:pPr>
            <a:r>
              <a:rPr lang="en-US" altLang="ko-KR" sz="1600" kern="0"/>
              <a:t>Mathmatical alaysis is vaild because the pattern in a period is deterministic.</a:t>
            </a:r>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r>
              <a:rPr lang="en-US" altLang="ko-KR" sz="1800" kern="0"/>
              <a:t>  </a:t>
            </a:r>
          </a:p>
          <a:p>
            <a:pPr marL="0" indent="0" latinLnBrk="1">
              <a:lnSpc>
                <a:spcPts val="2100"/>
              </a:lnSpc>
              <a:buNone/>
            </a:pPr>
            <a:endParaRPr lang="en-US" altLang="ko-KR" sz="1600" kern="0"/>
          </a:p>
          <a:p>
            <a:pPr latinLnBrk="1">
              <a:lnSpc>
                <a:spcPts val="2100"/>
              </a:lnSpc>
            </a:pPr>
            <a:endParaRPr lang="en-US" altLang="ko-KR" sz="1600" kern="0"/>
          </a:p>
        </p:txBody>
      </p:sp>
      <p:sp>
        <p:nvSpPr>
          <p:cNvPr id="241666" name="Rectangle 2">
            <a:extLst>
              <a:ext uri="{FF2B5EF4-FFF2-40B4-BE49-F238E27FC236}">
                <a16:creationId xmlns:a16="http://schemas.microsoft.com/office/drawing/2014/main" id="{85694D77-656D-4FD1-7C98-FF4BD968FEF9}"/>
              </a:ext>
            </a:extLst>
          </p:cNvPr>
          <p:cNvSpPr>
            <a:spLocks noGrp="1" noChangeArrowheads="1"/>
          </p:cNvSpPr>
          <p:nvPr>
            <p:ph type="title"/>
          </p:nvPr>
        </p:nvSpPr>
        <p:spPr/>
        <p:txBody>
          <a:bodyPr/>
          <a:lstStyle/>
          <a:p>
            <a:r>
              <a:rPr lang="en-US" altLang="ko-KR" sz="4000"/>
              <a:t>Conclusion (1/2)</a:t>
            </a:r>
          </a:p>
        </p:txBody>
      </p:sp>
      <p:sp>
        <p:nvSpPr>
          <p:cNvPr id="2" name="Rectangle 2">
            <a:extLst>
              <a:ext uri="{FF2B5EF4-FFF2-40B4-BE49-F238E27FC236}">
                <a16:creationId xmlns:a16="http://schemas.microsoft.com/office/drawing/2014/main" id="{2F519DC4-998F-A86F-FE03-13224237D4B3}"/>
              </a:ext>
            </a:extLst>
          </p:cNvPr>
          <p:cNvSpPr>
            <a:spLocks noChangeArrowheads="1"/>
          </p:cNvSpPr>
          <p:nvPr/>
        </p:nvSpPr>
        <p:spPr bwMode="auto">
          <a:xfrm>
            <a:off x="3505200" y="261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9" name="Rectangle 8">
            <a:extLst>
              <a:ext uri="{FF2B5EF4-FFF2-40B4-BE49-F238E27FC236}">
                <a16:creationId xmlns:a16="http://schemas.microsoft.com/office/drawing/2014/main" id="{E856FEE2-9921-8E75-EE90-81C23551B7FD}"/>
              </a:ext>
            </a:extLst>
          </p:cNvPr>
          <p:cNvSpPr>
            <a:spLocks noChangeArrowheads="1"/>
          </p:cNvSpPr>
          <p:nvPr/>
        </p:nvSpPr>
        <p:spPr bwMode="auto">
          <a:xfrm>
            <a:off x="3219926" y="261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1" name="Rectangle 10">
            <a:extLst>
              <a:ext uri="{FF2B5EF4-FFF2-40B4-BE49-F238E27FC236}">
                <a16:creationId xmlns:a16="http://schemas.microsoft.com/office/drawing/2014/main" id="{767F7CED-71A6-B2C9-8F9D-8715C844E028}"/>
              </a:ext>
            </a:extLst>
          </p:cNvPr>
          <p:cNvSpPr>
            <a:spLocks noChangeArrowheads="1"/>
          </p:cNvSpPr>
          <p:nvPr/>
        </p:nvSpPr>
        <p:spPr bwMode="auto">
          <a:xfrm>
            <a:off x="2870843" y="5557274"/>
            <a:ext cx="10720793" cy="738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ko-KR" altLang="en-US"/>
          </a:p>
        </p:txBody>
      </p:sp>
    </p:spTree>
    <p:extLst>
      <p:ext uri="{BB962C8B-B14F-4D97-AF65-F5344CB8AC3E}">
        <p14:creationId xmlns:p14="http://schemas.microsoft.com/office/powerpoint/2010/main" val="29190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6384-2462-EEB5-3E85-5450053B7FA6}"/>
            </a:ext>
          </a:extLst>
        </p:cNvPr>
        <p:cNvGrpSpPr/>
        <p:nvPr/>
      </p:nvGrpSpPr>
      <p:grpSpPr>
        <a:xfrm>
          <a:off x="0" y="0"/>
          <a:ext cx="0" cy="0"/>
          <a:chOff x="0" y="0"/>
          <a:chExt cx="0" cy="0"/>
        </a:xfrm>
      </p:grpSpPr>
      <p:sp>
        <p:nvSpPr>
          <p:cNvPr id="25" name="Rectangle 3">
            <a:extLst>
              <a:ext uri="{FF2B5EF4-FFF2-40B4-BE49-F238E27FC236}">
                <a16:creationId xmlns:a16="http://schemas.microsoft.com/office/drawing/2014/main" id="{00A754FC-2C7B-B384-5B3F-F74029F82A91}"/>
              </a:ext>
            </a:extLst>
          </p:cNvPr>
          <p:cNvSpPr txBox="1">
            <a:spLocks noChangeArrowheads="1"/>
          </p:cNvSpPr>
          <p:nvPr/>
        </p:nvSpPr>
        <p:spPr bwMode="auto">
          <a:xfrm>
            <a:off x="518692" y="1752600"/>
            <a:ext cx="8112124" cy="4648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lnSpc>
                <a:spcPts val="2400"/>
              </a:lnSpc>
            </a:pPr>
            <a:r>
              <a:rPr lang="en-US" altLang="ko-KR" sz="2000" kern="0"/>
              <a:t>Stride Scheduler shows very good fairness (Especially compared to the lottery scheduler, and in a small interval of time)</a:t>
            </a:r>
          </a:p>
          <a:p>
            <a:pPr lvl="1" latinLnBrk="1">
              <a:lnSpc>
                <a:spcPts val="2400"/>
              </a:lnSpc>
            </a:pPr>
            <a:r>
              <a:rPr lang="en-US" altLang="ko-KR" sz="1600" kern="0"/>
              <a:t>Characteristic of Lottery scheduler will be presented later...</a:t>
            </a:r>
          </a:p>
          <a:p>
            <a:pPr marL="0" indent="0" latinLnBrk="1">
              <a:lnSpc>
                <a:spcPts val="2100"/>
              </a:lnSpc>
              <a:buNone/>
            </a:pPr>
            <a:endParaRPr lang="en-US" altLang="ko-KR" sz="2000" kern="0"/>
          </a:p>
          <a:p>
            <a:pPr marL="0" indent="0" latinLnBrk="1">
              <a:lnSpc>
                <a:spcPts val="2100"/>
              </a:lnSpc>
              <a:buNone/>
            </a:pPr>
            <a:endParaRPr lang="en-US" altLang="ko-KR" sz="1800" kern="0"/>
          </a:p>
          <a:p>
            <a:pPr marL="0" indent="0" latinLnBrk="1">
              <a:lnSpc>
                <a:spcPts val="2100"/>
              </a:lnSpc>
              <a:buNone/>
            </a:pPr>
            <a:endParaRPr lang="en-US" altLang="ko-KR" sz="1800" kern="0"/>
          </a:p>
          <a:p>
            <a:pPr marL="0" indent="0" latinLnBrk="1">
              <a:lnSpc>
                <a:spcPts val="2100"/>
              </a:lnSpc>
              <a:buNone/>
            </a:pPr>
            <a:r>
              <a:rPr lang="en-US" altLang="ko-KR" sz="1800" kern="0"/>
              <a:t>  </a:t>
            </a:r>
          </a:p>
          <a:p>
            <a:pPr marL="0" indent="0" latinLnBrk="1">
              <a:lnSpc>
                <a:spcPts val="2100"/>
              </a:lnSpc>
              <a:buNone/>
            </a:pPr>
            <a:endParaRPr lang="en-US" altLang="ko-KR" sz="1600" kern="0"/>
          </a:p>
          <a:p>
            <a:pPr latinLnBrk="1">
              <a:lnSpc>
                <a:spcPts val="2100"/>
              </a:lnSpc>
            </a:pPr>
            <a:endParaRPr lang="en-US" altLang="ko-KR" sz="1600" kern="0"/>
          </a:p>
        </p:txBody>
      </p:sp>
      <p:sp>
        <p:nvSpPr>
          <p:cNvPr id="241666" name="Rectangle 2">
            <a:extLst>
              <a:ext uri="{FF2B5EF4-FFF2-40B4-BE49-F238E27FC236}">
                <a16:creationId xmlns:a16="http://schemas.microsoft.com/office/drawing/2014/main" id="{D6B51AB5-0F4D-0097-5DE6-4AA4A9029588}"/>
              </a:ext>
            </a:extLst>
          </p:cNvPr>
          <p:cNvSpPr>
            <a:spLocks noGrp="1" noChangeArrowheads="1"/>
          </p:cNvSpPr>
          <p:nvPr>
            <p:ph type="title"/>
          </p:nvPr>
        </p:nvSpPr>
        <p:spPr/>
        <p:txBody>
          <a:bodyPr/>
          <a:lstStyle/>
          <a:p>
            <a:r>
              <a:rPr lang="en-US" altLang="ko-KR" sz="4000"/>
              <a:t>Conclusion (2/2)</a:t>
            </a:r>
          </a:p>
        </p:txBody>
      </p:sp>
      <p:sp>
        <p:nvSpPr>
          <p:cNvPr id="2" name="Rectangle 2">
            <a:extLst>
              <a:ext uri="{FF2B5EF4-FFF2-40B4-BE49-F238E27FC236}">
                <a16:creationId xmlns:a16="http://schemas.microsoft.com/office/drawing/2014/main" id="{B3659A69-CD1F-C6DD-D42B-C112578F73C1}"/>
              </a:ext>
            </a:extLst>
          </p:cNvPr>
          <p:cNvSpPr>
            <a:spLocks noChangeArrowheads="1"/>
          </p:cNvSpPr>
          <p:nvPr/>
        </p:nvSpPr>
        <p:spPr bwMode="auto">
          <a:xfrm>
            <a:off x="3505200" y="261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1" name="Rectangle 10">
            <a:extLst>
              <a:ext uri="{FF2B5EF4-FFF2-40B4-BE49-F238E27FC236}">
                <a16:creationId xmlns:a16="http://schemas.microsoft.com/office/drawing/2014/main" id="{D5080C80-3014-D547-EEE3-EF71EBAAF776}"/>
              </a:ext>
            </a:extLst>
          </p:cNvPr>
          <p:cNvSpPr>
            <a:spLocks noChangeArrowheads="1"/>
          </p:cNvSpPr>
          <p:nvPr/>
        </p:nvSpPr>
        <p:spPr bwMode="auto">
          <a:xfrm>
            <a:off x="2870843" y="5557274"/>
            <a:ext cx="10720793" cy="738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ko-KR" altLang="en-US"/>
          </a:p>
        </p:txBody>
      </p:sp>
    </p:spTree>
    <p:extLst>
      <p:ext uri="{BB962C8B-B14F-4D97-AF65-F5344CB8AC3E}">
        <p14:creationId xmlns:p14="http://schemas.microsoft.com/office/powerpoint/2010/main" val="1661144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60A0-521E-6930-5D04-34ADB3275FA5}"/>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646A8CE2-E9F0-6515-EDCB-1CA65D26E8DA}"/>
              </a:ext>
            </a:extLst>
          </p:cNvPr>
          <p:cNvSpPr>
            <a:spLocks noGrp="1" noChangeArrowheads="1"/>
          </p:cNvSpPr>
          <p:nvPr>
            <p:ph type="title"/>
          </p:nvPr>
        </p:nvSpPr>
        <p:spPr/>
        <p:txBody>
          <a:bodyPr/>
          <a:lstStyle/>
          <a:p>
            <a:r>
              <a:rPr lang="en-US" altLang="ko-KR" sz="3600"/>
              <a:t>2. Lottery Scheduler Content</a:t>
            </a:r>
            <a:endParaRPr lang="en-US" altLang="ko-KR" sz="3600" dirty="0"/>
          </a:p>
        </p:txBody>
      </p:sp>
      <p:sp>
        <p:nvSpPr>
          <p:cNvPr id="7" name="Rectangle 3">
            <a:extLst>
              <a:ext uri="{FF2B5EF4-FFF2-40B4-BE49-F238E27FC236}">
                <a16:creationId xmlns:a16="http://schemas.microsoft.com/office/drawing/2014/main" id="{2D9FCFEB-F19E-0E52-17E7-538BD267367B}"/>
              </a:ext>
            </a:extLst>
          </p:cNvPr>
          <p:cNvSpPr txBox="1">
            <a:spLocks noChangeArrowheads="1"/>
          </p:cNvSpPr>
          <p:nvPr/>
        </p:nvSpPr>
        <p:spPr bwMode="auto">
          <a:xfrm>
            <a:off x="554037" y="1752600"/>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2000" kern="0" dirty="0"/>
              <a:t>1. What is Lottery Scheduling</a:t>
            </a:r>
          </a:p>
          <a:p>
            <a:pPr lvl="1" latinLnBrk="1"/>
            <a:r>
              <a:rPr lang="en-US" altLang="ko-KR" sz="1600" kern="0" dirty="0"/>
              <a:t>Introduction to the basic concepts and characteristics of the algorithm</a:t>
            </a:r>
          </a:p>
          <a:p>
            <a:pPr latinLnBrk="1"/>
            <a:r>
              <a:rPr lang="en-US" altLang="ko-KR" sz="2000" kern="0" dirty="0"/>
              <a:t>2. Implementation</a:t>
            </a:r>
          </a:p>
          <a:p>
            <a:pPr lvl="1" latinLnBrk="1"/>
            <a:r>
              <a:rPr lang="en-US" altLang="ko-KR" sz="1500" kern="0" dirty="0"/>
              <a:t>Explanation of the Core logic, focusing on the </a:t>
            </a:r>
            <a:r>
              <a:rPr lang="en-US" altLang="ko-KR" sz="1500" kern="0" dirty="0" err="1"/>
              <a:t>next_thread_to_run</a:t>
            </a:r>
            <a:r>
              <a:rPr lang="en-US" altLang="ko-KR" sz="1500" kern="0" dirty="0"/>
              <a:t>() function.</a:t>
            </a:r>
          </a:p>
          <a:p>
            <a:pPr latinLnBrk="1"/>
            <a:r>
              <a:rPr lang="en-US" altLang="ko-KR" sz="1900" kern="0" dirty="0"/>
              <a:t>3. Experimental Result &amp; Analysis</a:t>
            </a:r>
          </a:p>
          <a:p>
            <a:pPr lvl="1" latinLnBrk="1"/>
            <a:r>
              <a:rPr lang="en-US" altLang="ko-KR" sz="1500" kern="0" dirty="0"/>
              <a:t>Case 1 : Fair Distribution(1:1:1 Ratio)</a:t>
            </a:r>
          </a:p>
          <a:p>
            <a:pPr lvl="1" latinLnBrk="1"/>
            <a:r>
              <a:rPr lang="en-US" altLang="ko-KR" sz="1500" kern="0" dirty="0"/>
              <a:t>Case 2 : Unfair Distribution(20:1:1 Ratio)</a:t>
            </a:r>
          </a:p>
          <a:p>
            <a:pPr latinLnBrk="1"/>
            <a:r>
              <a:rPr lang="en-US" altLang="ko-KR" sz="1900" kern="0" dirty="0"/>
              <a:t>4. Conclusion</a:t>
            </a:r>
          </a:p>
          <a:p>
            <a:pPr lvl="1" latinLnBrk="1"/>
            <a:r>
              <a:rPr lang="en-US" altLang="ko-KR" sz="1500" kern="0" dirty="0"/>
              <a:t>Summery of the pros and cons of Lottery Scheduling, as validated by the experiments.</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123245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A33A-C6A3-E41E-3237-7EA8A13F0547}"/>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CA974DAE-1FAD-1CE8-8820-4154347B87D8}"/>
              </a:ext>
            </a:extLst>
          </p:cNvPr>
          <p:cNvSpPr>
            <a:spLocks noGrp="1" noChangeArrowheads="1"/>
          </p:cNvSpPr>
          <p:nvPr>
            <p:ph type="title"/>
          </p:nvPr>
        </p:nvSpPr>
        <p:spPr/>
        <p:txBody>
          <a:bodyPr/>
          <a:lstStyle/>
          <a:p>
            <a:r>
              <a:rPr lang="en-US" altLang="ko-KR" sz="3600" dirty="0"/>
              <a:t>What is Lottery Scheduling?</a:t>
            </a:r>
          </a:p>
        </p:txBody>
      </p:sp>
      <p:sp>
        <p:nvSpPr>
          <p:cNvPr id="7" name="Rectangle 3">
            <a:extLst>
              <a:ext uri="{FF2B5EF4-FFF2-40B4-BE49-F238E27FC236}">
                <a16:creationId xmlns:a16="http://schemas.microsoft.com/office/drawing/2014/main" id="{B11D7A28-4DBF-E610-8723-281BDAAE7496}"/>
              </a:ext>
            </a:extLst>
          </p:cNvPr>
          <p:cNvSpPr txBox="1">
            <a:spLocks noChangeArrowheads="1"/>
          </p:cNvSpPr>
          <p:nvPr/>
        </p:nvSpPr>
        <p:spPr bwMode="auto">
          <a:xfrm>
            <a:off x="554037" y="1752600"/>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900" kern="0" dirty="0"/>
              <a:t>Definition : Proportional-share Scheduler</a:t>
            </a:r>
          </a:p>
          <a:p>
            <a:pPr lvl="1" latinLnBrk="1"/>
            <a:r>
              <a:rPr lang="en-US" altLang="ko-KR" sz="1500" kern="0" dirty="0"/>
              <a:t>It is a type of fair-share scheduler that aims to guarantee each job a certain percentage of CPU time.</a:t>
            </a:r>
          </a:p>
          <a:p>
            <a:pPr latinLnBrk="1"/>
            <a:r>
              <a:rPr lang="en-US" altLang="ko-KR" sz="1900" kern="0" dirty="0"/>
              <a:t>Core Concept : Tickets</a:t>
            </a:r>
          </a:p>
          <a:p>
            <a:pPr lvl="1" latinLnBrk="1"/>
            <a:r>
              <a:rPr lang="en-US" altLang="ko-KR" sz="1500" kern="0" dirty="0"/>
              <a:t>It uses “tickets” to represent a process’s share of a resource.</a:t>
            </a:r>
          </a:p>
          <a:p>
            <a:pPr lvl="1" latinLnBrk="1"/>
            <a:r>
              <a:rPr lang="en-US" altLang="ko-KR" sz="1500" kern="0" dirty="0"/>
              <a:t>A process’s percentage of the total tickets represents its expected percentage of the CPU time.</a:t>
            </a:r>
          </a:p>
          <a:p>
            <a:pPr lvl="1" latinLnBrk="1"/>
            <a:r>
              <a:rPr lang="en-US" altLang="ko-KR" sz="1500" kern="0" dirty="0"/>
              <a:t>(e.g., If Process A has 75 tickets and B has 25, A is expected to receive 75% of the CPU and B 25%)</a:t>
            </a:r>
          </a:p>
          <a:p>
            <a:pPr latinLnBrk="1"/>
            <a:r>
              <a:rPr lang="en-US" altLang="ko-KR" sz="1900" kern="0" dirty="0"/>
              <a:t>Mechanism: The Lottery</a:t>
            </a:r>
          </a:p>
          <a:p>
            <a:pPr lvl="1" latinLnBrk="1"/>
            <a:r>
              <a:rPr lang="en-US" altLang="ko-KR" sz="1500" kern="0" dirty="0"/>
              <a:t>The scheduler </a:t>
            </a:r>
            <a:r>
              <a:rPr lang="en-US" altLang="ko-KR" sz="1500" b="1" i="1" kern="0" dirty="0"/>
              <a:t>probabilistically</a:t>
            </a:r>
            <a:r>
              <a:rPr lang="en-US" altLang="ko-KR" sz="1500" kern="0" dirty="0"/>
              <a:t> determines the next process to run by holding a “lottery”</a:t>
            </a:r>
          </a:p>
          <a:p>
            <a:pPr lvl="1" latinLnBrk="1"/>
            <a:r>
              <a:rPr lang="en-US" altLang="ko-KR" sz="1500" kern="0" dirty="0"/>
              <a:t>Processes with more tickets are given a high probability of being selected to run.</a:t>
            </a:r>
          </a:p>
          <a:p>
            <a:pPr lvl="1" latinLnBrk="1"/>
            <a:endParaRPr lang="en-US" altLang="ko-KR" sz="1500" kern="0" dirty="0"/>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683619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1F26-FCC3-5F3C-4C4F-244DC7D0372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1D4B9E2-D0CC-10BD-6A28-BB455C8A9ECE}"/>
              </a:ext>
            </a:extLst>
          </p:cNvPr>
          <p:cNvSpPr>
            <a:spLocks noGrp="1"/>
          </p:cNvSpPr>
          <p:nvPr>
            <p:ph type="title"/>
          </p:nvPr>
        </p:nvSpPr>
        <p:spPr/>
        <p:txBody>
          <a:bodyPr/>
          <a:lstStyle/>
          <a:p>
            <a:r>
              <a:rPr lang="en-US" altLang="ko-KR" sz="3000" dirty="0"/>
              <a:t>Lottery</a:t>
            </a:r>
            <a:r>
              <a:rPr lang="ko-KR" altLang="en-US" sz="3000" dirty="0"/>
              <a:t> </a:t>
            </a:r>
            <a:r>
              <a:rPr lang="en-US" altLang="ko-KR" sz="3000" dirty="0"/>
              <a:t>Scheduler</a:t>
            </a:r>
            <a:r>
              <a:rPr lang="ko-KR" altLang="en-US" sz="3000" dirty="0"/>
              <a:t> </a:t>
            </a:r>
            <a:r>
              <a:rPr lang="en-US" altLang="ko-KR" sz="3000" dirty="0"/>
              <a:t>Implementation(1/3)</a:t>
            </a:r>
            <a:endParaRPr lang="ko-KR" altLang="en-US" sz="3000" dirty="0"/>
          </a:p>
        </p:txBody>
      </p:sp>
      <p:sp>
        <p:nvSpPr>
          <p:cNvPr id="7" name="직사각형 6">
            <a:extLst>
              <a:ext uri="{FF2B5EF4-FFF2-40B4-BE49-F238E27FC236}">
                <a16:creationId xmlns:a16="http://schemas.microsoft.com/office/drawing/2014/main" id="{BF1703C9-1236-E5F6-A573-1F90FF273CE8}"/>
              </a:ext>
            </a:extLst>
          </p:cNvPr>
          <p:cNvSpPr/>
          <p:nvPr/>
        </p:nvSpPr>
        <p:spPr bwMode="auto">
          <a:xfrm>
            <a:off x="3746628" y="4514088"/>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ko-KR" altLang="en-US" sz="1100" b="0" i="0" u="none" strike="noStrike" cap="none" normalizeH="0" baseline="0" dirty="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18F4631F-7EE4-52FE-59A6-501F3CC5FC36}"/>
              </a:ext>
            </a:extLst>
          </p:cNvPr>
          <p:cNvSpPr/>
          <p:nvPr/>
        </p:nvSpPr>
        <p:spPr bwMode="auto">
          <a:xfrm>
            <a:off x="53468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직사각형 8">
            <a:extLst>
              <a:ext uri="{FF2B5EF4-FFF2-40B4-BE49-F238E27FC236}">
                <a16:creationId xmlns:a16="http://schemas.microsoft.com/office/drawing/2014/main" id="{D514DEBC-CC07-210E-A7FD-D3CF6BD54EE4}"/>
              </a:ext>
            </a:extLst>
          </p:cNvPr>
          <p:cNvSpPr/>
          <p:nvPr/>
        </p:nvSpPr>
        <p:spPr bwMode="auto">
          <a:xfrm>
            <a:off x="69470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10" name="TextBox 9">
            <a:extLst>
              <a:ext uri="{FF2B5EF4-FFF2-40B4-BE49-F238E27FC236}">
                <a16:creationId xmlns:a16="http://schemas.microsoft.com/office/drawing/2014/main" id="{D1F2886B-D3F3-D446-DCB7-33C130A87E03}"/>
              </a:ext>
            </a:extLst>
          </p:cNvPr>
          <p:cNvSpPr txBox="1"/>
          <p:nvPr/>
        </p:nvSpPr>
        <p:spPr>
          <a:xfrm>
            <a:off x="3789490" y="4633106"/>
            <a:ext cx="904875" cy="600164"/>
          </a:xfrm>
          <a:prstGeom prst="rect">
            <a:avLst/>
          </a:prstGeom>
          <a:noFill/>
        </p:spPr>
        <p:txBody>
          <a:bodyPr wrap="square" rtlCol="0">
            <a:spAutoFit/>
          </a:bodyPr>
          <a:lstStyle/>
          <a:p>
            <a:r>
              <a:rPr lang="en-US" altLang="ko-KR" sz="1100" b="1" dirty="0"/>
              <a:t>Thread A</a:t>
            </a:r>
          </a:p>
          <a:p>
            <a:endParaRPr lang="en-US" altLang="ko-KR" sz="1100" dirty="0"/>
          </a:p>
          <a:p>
            <a:r>
              <a:rPr lang="en-US" altLang="ko-KR" sz="1100" dirty="0"/>
              <a:t>Tix : 100</a:t>
            </a:r>
            <a:endParaRPr lang="ko-KR" altLang="en-US" sz="1100" dirty="0"/>
          </a:p>
        </p:txBody>
      </p:sp>
      <p:sp>
        <p:nvSpPr>
          <p:cNvPr id="12" name="TextBox 11">
            <a:extLst>
              <a:ext uri="{FF2B5EF4-FFF2-40B4-BE49-F238E27FC236}">
                <a16:creationId xmlns:a16="http://schemas.microsoft.com/office/drawing/2014/main" id="{B917C1FA-056D-B098-357E-B575C3313D2D}"/>
              </a:ext>
            </a:extLst>
          </p:cNvPr>
          <p:cNvSpPr txBox="1"/>
          <p:nvPr/>
        </p:nvSpPr>
        <p:spPr>
          <a:xfrm>
            <a:off x="5389690" y="4633106"/>
            <a:ext cx="904875" cy="600164"/>
          </a:xfrm>
          <a:prstGeom prst="rect">
            <a:avLst/>
          </a:prstGeom>
          <a:noFill/>
        </p:spPr>
        <p:txBody>
          <a:bodyPr wrap="square" rtlCol="0">
            <a:spAutoFit/>
          </a:bodyPr>
          <a:lstStyle/>
          <a:p>
            <a:r>
              <a:rPr lang="en-US" altLang="ko-KR" sz="1100" b="1" dirty="0"/>
              <a:t>Thread B</a:t>
            </a:r>
          </a:p>
          <a:p>
            <a:endParaRPr lang="en-US" altLang="ko-KR" sz="1100" dirty="0"/>
          </a:p>
          <a:p>
            <a:r>
              <a:rPr lang="en-US" altLang="ko-KR" sz="1100" dirty="0"/>
              <a:t>Tix : 50</a:t>
            </a:r>
            <a:endParaRPr lang="ko-KR" altLang="en-US" sz="1100" dirty="0"/>
          </a:p>
        </p:txBody>
      </p:sp>
      <p:sp>
        <p:nvSpPr>
          <p:cNvPr id="13" name="TextBox 12">
            <a:extLst>
              <a:ext uri="{FF2B5EF4-FFF2-40B4-BE49-F238E27FC236}">
                <a16:creationId xmlns:a16="http://schemas.microsoft.com/office/drawing/2014/main" id="{5D7CB94C-62F4-4231-B4BF-DD75A29ED69B}"/>
              </a:ext>
            </a:extLst>
          </p:cNvPr>
          <p:cNvSpPr txBox="1"/>
          <p:nvPr/>
        </p:nvSpPr>
        <p:spPr>
          <a:xfrm>
            <a:off x="6989890" y="4633106"/>
            <a:ext cx="904875" cy="600164"/>
          </a:xfrm>
          <a:prstGeom prst="rect">
            <a:avLst/>
          </a:prstGeom>
          <a:noFill/>
        </p:spPr>
        <p:txBody>
          <a:bodyPr wrap="square" rtlCol="0">
            <a:spAutoFit/>
          </a:bodyPr>
          <a:lstStyle/>
          <a:p>
            <a:r>
              <a:rPr lang="en-US" altLang="ko-KR" sz="1100" b="1" dirty="0"/>
              <a:t>Thread C</a:t>
            </a:r>
          </a:p>
          <a:p>
            <a:endParaRPr lang="en-US" altLang="ko-KR" sz="1100" dirty="0"/>
          </a:p>
          <a:p>
            <a:r>
              <a:rPr lang="en-US" altLang="ko-KR" sz="1100" dirty="0"/>
              <a:t>Tix : 200</a:t>
            </a:r>
            <a:endParaRPr lang="ko-KR" altLang="en-US" sz="1100" dirty="0"/>
          </a:p>
        </p:txBody>
      </p:sp>
      <p:cxnSp>
        <p:nvCxnSpPr>
          <p:cNvPr id="20" name="직선 화살표 연결선 19">
            <a:extLst>
              <a:ext uri="{FF2B5EF4-FFF2-40B4-BE49-F238E27FC236}">
                <a16:creationId xmlns:a16="http://schemas.microsoft.com/office/drawing/2014/main" id="{108E57FB-C53E-7A1C-A33F-8580BA3E2366}"/>
              </a:ext>
            </a:extLst>
          </p:cNvPr>
          <p:cNvCxnSpPr>
            <a:stCxn id="7" idx="3"/>
            <a:endCxn id="8" idx="1"/>
          </p:cNvCxnSpPr>
          <p:nvPr/>
        </p:nvCxnSpPr>
        <p:spPr bwMode="auto">
          <a:xfrm>
            <a:off x="4737228" y="4933188"/>
            <a:ext cx="609600" cy="3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직선 화살표 연결선 21">
            <a:extLst>
              <a:ext uri="{FF2B5EF4-FFF2-40B4-BE49-F238E27FC236}">
                <a16:creationId xmlns:a16="http://schemas.microsoft.com/office/drawing/2014/main" id="{6DA4CEFA-9742-6FE7-B6CF-4634F6192DF7}"/>
              </a:ext>
            </a:extLst>
          </p:cNvPr>
          <p:cNvCxnSpPr>
            <a:stCxn id="8" idx="3"/>
            <a:endCxn id="9" idx="1"/>
          </p:cNvCxnSpPr>
          <p:nvPr/>
        </p:nvCxnSpPr>
        <p:spPr bwMode="auto">
          <a:xfrm>
            <a:off x="6337428" y="4936236"/>
            <a:ext cx="6096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3" name="직사각형 22">
            <a:extLst>
              <a:ext uri="{FF2B5EF4-FFF2-40B4-BE49-F238E27FC236}">
                <a16:creationId xmlns:a16="http://schemas.microsoft.com/office/drawing/2014/main" id="{309DD000-2C1E-4A40-4B58-9B73161B6372}"/>
              </a:ext>
            </a:extLst>
          </p:cNvPr>
          <p:cNvSpPr/>
          <p:nvPr/>
        </p:nvSpPr>
        <p:spPr bwMode="auto">
          <a:xfrm>
            <a:off x="7442327" y="5431536"/>
            <a:ext cx="1704721" cy="3108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total</a:t>
            </a:r>
            <a:r>
              <a:rPr kumimoji="0" lang="en-US" altLang="ko-KR" sz="1400" b="0" i="0" u="none" strike="noStrike" cap="none" normalizeH="0" baseline="0" dirty="0">
                <a:ln>
                  <a:noFill/>
                </a:ln>
                <a:solidFill>
                  <a:schemeClr val="tx1"/>
                </a:solidFill>
                <a:effectLst/>
                <a:latin typeface="Verdana" pitchFamily="34" charset="0"/>
                <a:cs typeface="Arial" charset="0"/>
              </a:rPr>
              <a:t>_tickets</a:t>
            </a:r>
            <a:r>
              <a:rPr lang="en-US" altLang="ko-KR" sz="1400" dirty="0"/>
              <a:t>:</a:t>
            </a:r>
            <a:r>
              <a:rPr lang="en-US" altLang="ko-KR" sz="1400" dirty="0">
                <a:solidFill>
                  <a:schemeClr val="tx1"/>
                </a:solidFill>
                <a:latin typeface="Verdana" pitchFamily="34" charset="0"/>
                <a:cs typeface="Arial" charset="0"/>
              </a:rPr>
              <a:t>350</a:t>
            </a:r>
            <a:endParaRPr kumimoji="0" lang="en-US" altLang="ko-KR" sz="1400" b="0" i="0" u="none" strike="noStrike" cap="none" normalizeH="0" baseline="0" dirty="0">
              <a:ln>
                <a:noFill/>
              </a:ln>
              <a:solidFill>
                <a:schemeClr val="tx1"/>
              </a:solidFill>
              <a:effectLst/>
              <a:latin typeface="Verdana" pitchFamily="34" charset="0"/>
              <a:cs typeface="Arial" charset="0"/>
            </a:endParaRPr>
          </a:p>
        </p:txBody>
      </p:sp>
      <p:sp>
        <p:nvSpPr>
          <p:cNvPr id="25" name="화살표: 아래쪽 24">
            <a:extLst>
              <a:ext uri="{FF2B5EF4-FFF2-40B4-BE49-F238E27FC236}">
                <a16:creationId xmlns:a16="http://schemas.microsoft.com/office/drawing/2014/main" id="{BAD00D2D-6A08-7065-4D70-EBBFEC32EBAD}"/>
              </a:ext>
            </a:extLst>
          </p:cNvPr>
          <p:cNvSpPr/>
          <p:nvPr/>
        </p:nvSpPr>
        <p:spPr bwMode="auto">
          <a:xfrm>
            <a:off x="4013327" y="4125773"/>
            <a:ext cx="457200" cy="373234"/>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1" i="0" u="none" strike="noStrike" normalizeH="0" baseline="0" dirty="0">
              <a:ln w="22225">
                <a:solidFill>
                  <a:schemeClr val="accent2"/>
                </a:solidFill>
                <a:prstDash val="solid"/>
              </a:ln>
              <a:solidFill>
                <a:schemeClr val="accent2">
                  <a:lumMod val="40000"/>
                  <a:lumOff val="60000"/>
                </a:schemeClr>
              </a:solidFill>
              <a:latin typeface="Verdana" pitchFamily="34" charset="0"/>
              <a:cs typeface="Arial" charset="0"/>
            </a:endParaRPr>
          </a:p>
        </p:txBody>
      </p:sp>
      <p:sp>
        <p:nvSpPr>
          <p:cNvPr id="4" name="TextBox 3">
            <a:extLst>
              <a:ext uri="{FF2B5EF4-FFF2-40B4-BE49-F238E27FC236}">
                <a16:creationId xmlns:a16="http://schemas.microsoft.com/office/drawing/2014/main" id="{711B7CC3-4C13-A7A7-3160-1FB37F28F736}"/>
              </a:ext>
            </a:extLst>
          </p:cNvPr>
          <p:cNvSpPr txBox="1"/>
          <p:nvPr/>
        </p:nvSpPr>
        <p:spPr>
          <a:xfrm>
            <a:off x="4343400" y="1752600"/>
            <a:ext cx="4232275" cy="1938992"/>
          </a:xfrm>
          <a:prstGeom prst="rect">
            <a:avLst/>
          </a:prstGeom>
          <a:solidFill>
            <a:schemeClr val="accent1">
              <a:lumMod val="20000"/>
              <a:lumOff val="80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28600" indent="-228600">
              <a:buAutoNum type="arabicPeriod"/>
            </a:pPr>
            <a:r>
              <a:rPr lang="en-US" altLang="ko-KR" sz="1200" dirty="0"/>
              <a:t>winner = </a:t>
            </a:r>
            <a:r>
              <a:rPr lang="en-US" altLang="ko-KR" sz="1200" dirty="0" err="1"/>
              <a:t>getrandom</a:t>
            </a:r>
            <a:r>
              <a:rPr lang="en-US" altLang="ko-KR" sz="1200" dirty="0"/>
              <a:t>(0,tooal_tickets)</a:t>
            </a:r>
          </a:p>
          <a:p>
            <a:pPr marL="228600" indent="-228600">
              <a:buAutoNum type="arabicPeriod"/>
            </a:pPr>
            <a:r>
              <a:rPr lang="en-US" altLang="ko-KR" sz="1200" dirty="0" err="1"/>
              <a:t>node_t</a:t>
            </a:r>
            <a:r>
              <a:rPr lang="en-US" altLang="ko-KR" sz="1200" dirty="0"/>
              <a:t> *current = head;</a:t>
            </a:r>
          </a:p>
          <a:p>
            <a:pPr marL="228600" indent="-228600">
              <a:buAutoNum type="arabicPeriod"/>
            </a:pPr>
            <a:r>
              <a:rPr lang="en-US" altLang="ko-KR" sz="1200" dirty="0"/>
              <a:t>While(</a:t>
            </a:r>
            <a:r>
              <a:rPr lang="en-US" altLang="ko-KR" sz="1200" dirty="0" err="1"/>
              <a:t>currnet</a:t>
            </a:r>
            <a:r>
              <a:rPr lang="en-US" altLang="ko-KR" sz="1200" dirty="0"/>
              <a:t>){</a:t>
            </a:r>
          </a:p>
          <a:p>
            <a:pPr lvl="1"/>
            <a:r>
              <a:rPr lang="en-US" altLang="ko-KR" sz="1200" dirty="0"/>
              <a:t>winner</a:t>
            </a:r>
            <a:r>
              <a:rPr lang="ko-KR" altLang="en-US" sz="1200" dirty="0"/>
              <a:t> </a:t>
            </a:r>
            <a:r>
              <a:rPr lang="en-US" altLang="ko-KR" sz="1200" dirty="0"/>
              <a:t>-=</a:t>
            </a:r>
            <a:r>
              <a:rPr lang="ko-KR" altLang="en-US" sz="1200" dirty="0"/>
              <a:t> </a:t>
            </a:r>
            <a:r>
              <a:rPr lang="en-US" altLang="ko-KR" sz="1200" dirty="0"/>
              <a:t>current-&gt;tickets;</a:t>
            </a:r>
          </a:p>
          <a:p>
            <a:pPr lvl="1"/>
            <a:r>
              <a:rPr lang="en-US" altLang="ko-KR" sz="1200" dirty="0"/>
              <a:t>If(winner &lt; 0)</a:t>
            </a:r>
          </a:p>
          <a:p>
            <a:pPr lvl="1"/>
            <a:r>
              <a:rPr lang="en-US" altLang="ko-KR" sz="1200" dirty="0"/>
              <a:t>	</a:t>
            </a:r>
            <a:r>
              <a:rPr lang="en-US" altLang="ko-KR" sz="1200" dirty="0" err="1"/>
              <a:t>total_tickets</a:t>
            </a:r>
            <a:r>
              <a:rPr lang="en-US" altLang="ko-KR" sz="1200" dirty="0"/>
              <a:t> -= current-&gt;tickets;</a:t>
            </a:r>
          </a:p>
          <a:p>
            <a:pPr lvl="1"/>
            <a:r>
              <a:rPr lang="en-US" altLang="ko-KR" sz="1200" dirty="0"/>
              <a:t>	</a:t>
            </a:r>
            <a:r>
              <a:rPr lang="en-US" altLang="ko-KR" sz="1200" b="1" dirty="0">
                <a:ln w="6600">
                  <a:solidFill>
                    <a:schemeClr val="accent2"/>
                  </a:solidFill>
                  <a:prstDash val="solid"/>
                </a:ln>
                <a:solidFill>
                  <a:srgbClr val="FFFFFF"/>
                </a:solidFill>
                <a:effectLst>
                  <a:outerShdw dist="38100" dir="2700000" algn="tl" rotWithShape="0">
                    <a:schemeClr val="accent2"/>
                  </a:outerShdw>
                </a:effectLst>
              </a:rPr>
              <a:t>return</a:t>
            </a:r>
            <a:r>
              <a:rPr lang="en-US" altLang="ko-KR" sz="1200" dirty="0"/>
              <a:t> current;</a:t>
            </a:r>
          </a:p>
          <a:p>
            <a:pPr lvl="1"/>
            <a:r>
              <a:rPr lang="en-US" altLang="ko-KR" sz="1200" dirty="0"/>
              <a:t>current = current-&gt;next;</a:t>
            </a:r>
          </a:p>
          <a:p>
            <a:pPr lvl="1"/>
            <a:r>
              <a:rPr lang="en-US" altLang="ko-KR" sz="1200" dirty="0"/>
              <a:t>}</a:t>
            </a:r>
          </a:p>
          <a:p>
            <a:pPr lvl="1"/>
            <a:endParaRPr lang="en-US" altLang="ko-KR" sz="1200" dirty="0"/>
          </a:p>
        </p:txBody>
      </p:sp>
      <p:sp>
        <p:nvSpPr>
          <p:cNvPr id="18" name="직사각형 17">
            <a:extLst>
              <a:ext uri="{FF2B5EF4-FFF2-40B4-BE49-F238E27FC236}">
                <a16:creationId xmlns:a16="http://schemas.microsoft.com/office/drawing/2014/main" id="{3DF0643B-F024-EDED-D5BE-90035F077D2D}"/>
              </a:ext>
            </a:extLst>
          </p:cNvPr>
          <p:cNvSpPr/>
          <p:nvPr/>
        </p:nvSpPr>
        <p:spPr bwMode="auto">
          <a:xfrm>
            <a:off x="4876800" y="2362200"/>
            <a:ext cx="2209800" cy="191433"/>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9" name="직사각형 18">
            <a:extLst>
              <a:ext uri="{FF2B5EF4-FFF2-40B4-BE49-F238E27FC236}">
                <a16:creationId xmlns:a16="http://schemas.microsoft.com/office/drawing/2014/main" id="{73770B98-F9AF-A029-4241-5D8D7220C262}"/>
              </a:ext>
            </a:extLst>
          </p:cNvPr>
          <p:cNvSpPr/>
          <p:nvPr/>
        </p:nvSpPr>
        <p:spPr bwMode="auto">
          <a:xfrm>
            <a:off x="4876800" y="3086629"/>
            <a:ext cx="1981200" cy="191433"/>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1" name="Rectangle 3">
            <a:extLst>
              <a:ext uri="{FF2B5EF4-FFF2-40B4-BE49-F238E27FC236}">
                <a16:creationId xmlns:a16="http://schemas.microsoft.com/office/drawing/2014/main" id="{D2AD0F9F-C79E-E57E-6139-B8E5A687BAA6}"/>
              </a:ext>
            </a:extLst>
          </p:cNvPr>
          <p:cNvSpPr txBox="1">
            <a:spLocks noChangeArrowheads="1"/>
          </p:cNvSpPr>
          <p:nvPr/>
        </p:nvSpPr>
        <p:spPr bwMode="auto">
          <a:xfrm>
            <a:off x="540893" y="1732787"/>
            <a:ext cx="3726307" cy="256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600" kern="0" dirty="0"/>
              <a:t>Store a random number in the</a:t>
            </a:r>
            <a:r>
              <a:rPr lang="ko-KR" altLang="en-US" sz="1600" kern="0" dirty="0"/>
              <a:t> </a:t>
            </a:r>
            <a:r>
              <a:rPr lang="en-US" altLang="ko-KR" sz="1600" kern="0" dirty="0"/>
              <a:t>winner</a:t>
            </a:r>
            <a:r>
              <a:rPr lang="ko-KR" altLang="en-US" sz="1600" kern="0" dirty="0"/>
              <a:t> </a:t>
            </a:r>
            <a:r>
              <a:rPr lang="en-US" altLang="ko-KR" sz="1600" kern="0" dirty="0"/>
              <a:t>variable.</a:t>
            </a:r>
          </a:p>
          <a:p>
            <a:pPr latinLnBrk="1"/>
            <a:r>
              <a:rPr lang="en-US" altLang="ko-KR" sz="1400" kern="0" dirty="0"/>
              <a:t>Iterate through the </a:t>
            </a:r>
            <a:r>
              <a:rPr lang="en-US" altLang="ko-KR" sz="1400" kern="0" dirty="0" err="1"/>
              <a:t>ready_list</a:t>
            </a:r>
            <a:r>
              <a:rPr lang="en-US" altLang="ko-KR" sz="1400" kern="0" dirty="0"/>
              <a:t>, modifying the winner variable.</a:t>
            </a:r>
            <a:endParaRPr lang="en-US" altLang="ko-KR" sz="1000" kern="0" dirty="0"/>
          </a:p>
          <a:p>
            <a:pPr latinLnBrk="1"/>
            <a:r>
              <a:rPr lang="en-US" altLang="ko-KR" sz="1400" kern="0" dirty="0"/>
              <a:t>Subtract the ticket value of the current thread from the winner variable</a:t>
            </a:r>
          </a:p>
          <a:p>
            <a:pPr latinLnBrk="1"/>
            <a:r>
              <a:rPr lang="en-US" altLang="ko-KR" sz="1400" kern="0" dirty="0"/>
              <a:t>The thread that causes winner to become less than 0 is selected</a:t>
            </a:r>
          </a:p>
        </p:txBody>
      </p:sp>
      <p:sp>
        <p:nvSpPr>
          <p:cNvPr id="36" name="직사각형 35">
            <a:extLst>
              <a:ext uri="{FF2B5EF4-FFF2-40B4-BE49-F238E27FC236}">
                <a16:creationId xmlns:a16="http://schemas.microsoft.com/office/drawing/2014/main" id="{F81FCE7E-9AA5-E0C7-A52E-09359175F9F3}"/>
              </a:ext>
            </a:extLst>
          </p:cNvPr>
          <p:cNvSpPr/>
          <p:nvPr/>
        </p:nvSpPr>
        <p:spPr bwMode="auto">
          <a:xfrm>
            <a:off x="1365185" y="4514088"/>
            <a:ext cx="1384428"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w</a:t>
            </a:r>
            <a:r>
              <a:rPr kumimoji="0" lang="en-US" altLang="ko-KR" sz="1400" b="0" i="0" u="none" strike="noStrike" cap="none" normalizeH="0" baseline="0" dirty="0">
                <a:ln>
                  <a:noFill/>
                </a:ln>
                <a:solidFill>
                  <a:schemeClr val="tx1"/>
                </a:solidFill>
                <a:effectLst/>
                <a:latin typeface="Verdana" pitchFamily="34" charset="0"/>
                <a:cs typeface="Arial" charset="0"/>
              </a:rPr>
              <a:t>inner</a:t>
            </a:r>
            <a:r>
              <a:rPr lang="en-US" altLang="ko-KR" sz="1400" dirty="0">
                <a:solidFill>
                  <a:schemeClr val="tx1"/>
                </a:solidFill>
                <a:latin typeface="Verdana" pitchFamily="34" charset="0"/>
                <a:cs typeface="Arial" charset="0"/>
              </a:rPr>
              <a:t> : 300</a:t>
            </a:r>
          </a:p>
        </p:txBody>
      </p:sp>
      <p:sp>
        <p:nvSpPr>
          <p:cNvPr id="37" name="직사각형 36">
            <a:extLst>
              <a:ext uri="{FF2B5EF4-FFF2-40B4-BE49-F238E27FC236}">
                <a16:creationId xmlns:a16="http://schemas.microsoft.com/office/drawing/2014/main" id="{D566CF2A-BEFC-C3EA-AE15-C8CE1BEBABA8}"/>
              </a:ext>
            </a:extLst>
          </p:cNvPr>
          <p:cNvSpPr/>
          <p:nvPr/>
        </p:nvSpPr>
        <p:spPr bwMode="auto">
          <a:xfrm>
            <a:off x="1365183" y="5105400"/>
            <a:ext cx="1384429"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winner </a:t>
            </a:r>
            <a:r>
              <a:rPr lang="en-US" altLang="ko-KR" sz="1400" dirty="0"/>
              <a:t>: </a:t>
            </a:r>
            <a:r>
              <a:rPr lang="en-US" altLang="ko-KR" sz="1400" dirty="0">
                <a:solidFill>
                  <a:schemeClr val="tx1"/>
                </a:solidFill>
                <a:latin typeface="Verdana" pitchFamily="34" charset="0"/>
                <a:cs typeface="Arial" charset="0"/>
              </a:rPr>
              <a:t>200</a:t>
            </a:r>
          </a:p>
        </p:txBody>
      </p:sp>
      <p:cxnSp>
        <p:nvCxnSpPr>
          <p:cNvPr id="38" name="직선 화살표 연결선 37">
            <a:extLst>
              <a:ext uri="{FF2B5EF4-FFF2-40B4-BE49-F238E27FC236}">
                <a16:creationId xmlns:a16="http://schemas.microsoft.com/office/drawing/2014/main" id="{F66F725D-34B9-42A5-D353-766697DE7110}"/>
              </a:ext>
            </a:extLst>
          </p:cNvPr>
          <p:cNvCxnSpPr>
            <a:cxnSpLocks/>
            <a:stCxn id="36" idx="2"/>
            <a:endCxn id="37" idx="0"/>
          </p:cNvCxnSpPr>
          <p:nvPr/>
        </p:nvCxnSpPr>
        <p:spPr bwMode="auto">
          <a:xfrm flipH="1">
            <a:off x="2057398" y="4821936"/>
            <a:ext cx="1" cy="283464"/>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8715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1A9AD-6A2C-3CF5-4AC2-D27F95B059E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5E2586C-E576-F819-CAD3-94AD30E5C8E5}"/>
              </a:ext>
            </a:extLst>
          </p:cNvPr>
          <p:cNvSpPr>
            <a:spLocks noGrp="1"/>
          </p:cNvSpPr>
          <p:nvPr>
            <p:ph type="title"/>
          </p:nvPr>
        </p:nvSpPr>
        <p:spPr/>
        <p:txBody>
          <a:bodyPr/>
          <a:lstStyle/>
          <a:p>
            <a:r>
              <a:rPr lang="en-US" altLang="ko-KR" sz="3000" dirty="0"/>
              <a:t>Lottery</a:t>
            </a:r>
            <a:r>
              <a:rPr lang="ko-KR" altLang="en-US" sz="3000" dirty="0"/>
              <a:t> </a:t>
            </a:r>
            <a:r>
              <a:rPr lang="en-US" altLang="ko-KR" sz="3000" dirty="0"/>
              <a:t>Scheduler</a:t>
            </a:r>
            <a:r>
              <a:rPr lang="ko-KR" altLang="en-US" sz="3000" dirty="0"/>
              <a:t> </a:t>
            </a:r>
            <a:r>
              <a:rPr lang="en-US" altLang="ko-KR" sz="3000" dirty="0"/>
              <a:t>Implementation(2/3)</a:t>
            </a:r>
            <a:endParaRPr lang="ko-KR" altLang="en-US" sz="3000" dirty="0"/>
          </a:p>
        </p:txBody>
      </p:sp>
      <p:sp>
        <p:nvSpPr>
          <p:cNvPr id="7" name="직사각형 6">
            <a:extLst>
              <a:ext uri="{FF2B5EF4-FFF2-40B4-BE49-F238E27FC236}">
                <a16:creationId xmlns:a16="http://schemas.microsoft.com/office/drawing/2014/main" id="{806D1A13-156A-7AF2-A24D-0362C4D56D4C}"/>
              </a:ext>
            </a:extLst>
          </p:cNvPr>
          <p:cNvSpPr/>
          <p:nvPr/>
        </p:nvSpPr>
        <p:spPr bwMode="auto">
          <a:xfrm>
            <a:off x="3746628" y="4514088"/>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ko-KR" altLang="en-US" sz="1100" b="0" i="0" u="none" strike="noStrike" cap="none" normalizeH="0" baseline="0" dirty="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EE7D9C7B-12FE-B361-7498-6BCCF64BB46F}"/>
              </a:ext>
            </a:extLst>
          </p:cNvPr>
          <p:cNvSpPr/>
          <p:nvPr/>
        </p:nvSpPr>
        <p:spPr bwMode="auto">
          <a:xfrm>
            <a:off x="53468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직사각형 8">
            <a:extLst>
              <a:ext uri="{FF2B5EF4-FFF2-40B4-BE49-F238E27FC236}">
                <a16:creationId xmlns:a16="http://schemas.microsoft.com/office/drawing/2014/main" id="{72D9D34B-E709-9333-5676-6510BA382EBA}"/>
              </a:ext>
            </a:extLst>
          </p:cNvPr>
          <p:cNvSpPr/>
          <p:nvPr/>
        </p:nvSpPr>
        <p:spPr bwMode="auto">
          <a:xfrm>
            <a:off x="69470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10" name="TextBox 9">
            <a:extLst>
              <a:ext uri="{FF2B5EF4-FFF2-40B4-BE49-F238E27FC236}">
                <a16:creationId xmlns:a16="http://schemas.microsoft.com/office/drawing/2014/main" id="{92725764-C6A9-B211-DE09-D90E55B85069}"/>
              </a:ext>
            </a:extLst>
          </p:cNvPr>
          <p:cNvSpPr txBox="1"/>
          <p:nvPr/>
        </p:nvSpPr>
        <p:spPr>
          <a:xfrm>
            <a:off x="3789490" y="4633106"/>
            <a:ext cx="904875" cy="600164"/>
          </a:xfrm>
          <a:prstGeom prst="rect">
            <a:avLst/>
          </a:prstGeom>
          <a:noFill/>
        </p:spPr>
        <p:txBody>
          <a:bodyPr wrap="square" rtlCol="0">
            <a:spAutoFit/>
          </a:bodyPr>
          <a:lstStyle/>
          <a:p>
            <a:r>
              <a:rPr lang="en-US" altLang="ko-KR" sz="1100" b="1" dirty="0"/>
              <a:t>Thread A</a:t>
            </a:r>
          </a:p>
          <a:p>
            <a:endParaRPr lang="en-US" altLang="ko-KR" sz="1100" dirty="0"/>
          </a:p>
          <a:p>
            <a:r>
              <a:rPr lang="en-US" altLang="ko-KR" sz="1100" dirty="0"/>
              <a:t>Tix : 100</a:t>
            </a:r>
            <a:endParaRPr lang="ko-KR" altLang="en-US" sz="1100" dirty="0"/>
          </a:p>
        </p:txBody>
      </p:sp>
      <p:sp>
        <p:nvSpPr>
          <p:cNvPr id="12" name="TextBox 11">
            <a:extLst>
              <a:ext uri="{FF2B5EF4-FFF2-40B4-BE49-F238E27FC236}">
                <a16:creationId xmlns:a16="http://schemas.microsoft.com/office/drawing/2014/main" id="{E3345075-77E8-3286-C4F3-1CD2925492B5}"/>
              </a:ext>
            </a:extLst>
          </p:cNvPr>
          <p:cNvSpPr txBox="1"/>
          <p:nvPr/>
        </p:nvSpPr>
        <p:spPr>
          <a:xfrm>
            <a:off x="5389690" y="4633106"/>
            <a:ext cx="904875" cy="600164"/>
          </a:xfrm>
          <a:prstGeom prst="rect">
            <a:avLst/>
          </a:prstGeom>
          <a:noFill/>
        </p:spPr>
        <p:txBody>
          <a:bodyPr wrap="square" rtlCol="0">
            <a:spAutoFit/>
          </a:bodyPr>
          <a:lstStyle/>
          <a:p>
            <a:r>
              <a:rPr lang="en-US" altLang="ko-KR" sz="1100" b="1" dirty="0"/>
              <a:t>Thread B</a:t>
            </a:r>
          </a:p>
          <a:p>
            <a:endParaRPr lang="en-US" altLang="ko-KR" sz="1100" dirty="0"/>
          </a:p>
          <a:p>
            <a:r>
              <a:rPr lang="en-US" altLang="ko-KR" sz="1100" dirty="0"/>
              <a:t>Tix : 50</a:t>
            </a:r>
            <a:endParaRPr lang="ko-KR" altLang="en-US" sz="1100" dirty="0"/>
          </a:p>
        </p:txBody>
      </p:sp>
      <p:sp>
        <p:nvSpPr>
          <p:cNvPr id="13" name="TextBox 12">
            <a:extLst>
              <a:ext uri="{FF2B5EF4-FFF2-40B4-BE49-F238E27FC236}">
                <a16:creationId xmlns:a16="http://schemas.microsoft.com/office/drawing/2014/main" id="{B682F646-D33C-E996-681E-9CE851CF0971}"/>
              </a:ext>
            </a:extLst>
          </p:cNvPr>
          <p:cNvSpPr txBox="1"/>
          <p:nvPr/>
        </p:nvSpPr>
        <p:spPr>
          <a:xfrm>
            <a:off x="6989890" y="4633106"/>
            <a:ext cx="904875" cy="600164"/>
          </a:xfrm>
          <a:prstGeom prst="rect">
            <a:avLst/>
          </a:prstGeom>
          <a:noFill/>
        </p:spPr>
        <p:txBody>
          <a:bodyPr wrap="square" rtlCol="0">
            <a:spAutoFit/>
          </a:bodyPr>
          <a:lstStyle/>
          <a:p>
            <a:r>
              <a:rPr lang="en-US" altLang="ko-KR" sz="1100" b="1" dirty="0"/>
              <a:t>Thread C</a:t>
            </a:r>
          </a:p>
          <a:p>
            <a:endParaRPr lang="en-US" altLang="ko-KR" sz="1100" dirty="0"/>
          </a:p>
          <a:p>
            <a:r>
              <a:rPr lang="en-US" altLang="ko-KR" sz="1100" dirty="0"/>
              <a:t>Tix : 200</a:t>
            </a:r>
            <a:endParaRPr lang="ko-KR" altLang="en-US" sz="1100" dirty="0"/>
          </a:p>
        </p:txBody>
      </p:sp>
      <p:cxnSp>
        <p:nvCxnSpPr>
          <p:cNvPr id="20" name="직선 화살표 연결선 19">
            <a:extLst>
              <a:ext uri="{FF2B5EF4-FFF2-40B4-BE49-F238E27FC236}">
                <a16:creationId xmlns:a16="http://schemas.microsoft.com/office/drawing/2014/main" id="{B4E157F9-CFFB-2F11-0293-C77AF851B8D1}"/>
              </a:ext>
            </a:extLst>
          </p:cNvPr>
          <p:cNvCxnSpPr>
            <a:stCxn id="7" idx="3"/>
            <a:endCxn id="8" idx="1"/>
          </p:cNvCxnSpPr>
          <p:nvPr/>
        </p:nvCxnSpPr>
        <p:spPr bwMode="auto">
          <a:xfrm>
            <a:off x="4737228" y="4933188"/>
            <a:ext cx="609600" cy="3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직선 화살표 연결선 21">
            <a:extLst>
              <a:ext uri="{FF2B5EF4-FFF2-40B4-BE49-F238E27FC236}">
                <a16:creationId xmlns:a16="http://schemas.microsoft.com/office/drawing/2014/main" id="{70B0E530-0617-5663-38C5-90A96E854291}"/>
              </a:ext>
            </a:extLst>
          </p:cNvPr>
          <p:cNvCxnSpPr>
            <a:stCxn id="8" idx="3"/>
            <a:endCxn id="9" idx="1"/>
          </p:cNvCxnSpPr>
          <p:nvPr/>
        </p:nvCxnSpPr>
        <p:spPr bwMode="auto">
          <a:xfrm>
            <a:off x="6337428" y="4936236"/>
            <a:ext cx="6096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3" name="직사각형 22">
            <a:extLst>
              <a:ext uri="{FF2B5EF4-FFF2-40B4-BE49-F238E27FC236}">
                <a16:creationId xmlns:a16="http://schemas.microsoft.com/office/drawing/2014/main" id="{E06D019B-FFE4-6503-A74A-6AF55D5BB163}"/>
              </a:ext>
            </a:extLst>
          </p:cNvPr>
          <p:cNvSpPr/>
          <p:nvPr/>
        </p:nvSpPr>
        <p:spPr bwMode="auto">
          <a:xfrm>
            <a:off x="7442327" y="5431536"/>
            <a:ext cx="1704721" cy="3108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total</a:t>
            </a:r>
            <a:r>
              <a:rPr kumimoji="0" lang="en-US" altLang="ko-KR" sz="1400" b="0" i="0" u="none" strike="noStrike" cap="none" normalizeH="0" baseline="0" dirty="0">
                <a:ln>
                  <a:noFill/>
                </a:ln>
                <a:solidFill>
                  <a:schemeClr val="tx1"/>
                </a:solidFill>
                <a:effectLst/>
                <a:latin typeface="Verdana" pitchFamily="34" charset="0"/>
                <a:cs typeface="Arial" charset="0"/>
              </a:rPr>
              <a:t>_tickets</a:t>
            </a:r>
            <a:r>
              <a:rPr lang="en-US" altLang="ko-KR" sz="1400" dirty="0"/>
              <a:t>:</a:t>
            </a:r>
            <a:r>
              <a:rPr lang="en-US" altLang="ko-KR" sz="1400" dirty="0">
                <a:solidFill>
                  <a:schemeClr val="tx1"/>
                </a:solidFill>
                <a:latin typeface="Verdana" pitchFamily="34" charset="0"/>
                <a:cs typeface="Arial" charset="0"/>
              </a:rPr>
              <a:t>350</a:t>
            </a:r>
            <a:endParaRPr kumimoji="0" lang="en-US" altLang="ko-KR" sz="1400" b="0" i="0" u="none" strike="noStrike" cap="none" normalizeH="0" baseline="0" dirty="0">
              <a:ln>
                <a:noFill/>
              </a:ln>
              <a:solidFill>
                <a:schemeClr val="tx1"/>
              </a:solidFill>
              <a:effectLst/>
              <a:latin typeface="Verdana" pitchFamily="34" charset="0"/>
              <a:cs typeface="Arial" charset="0"/>
            </a:endParaRPr>
          </a:p>
        </p:txBody>
      </p:sp>
      <p:sp>
        <p:nvSpPr>
          <p:cNvPr id="25" name="화살표: 아래쪽 24">
            <a:extLst>
              <a:ext uri="{FF2B5EF4-FFF2-40B4-BE49-F238E27FC236}">
                <a16:creationId xmlns:a16="http://schemas.microsoft.com/office/drawing/2014/main" id="{FBA590F7-BA7D-556B-C203-F07B2313AEF5}"/>
              </a:ext>
            </a:extLst>
          </p:cNvPr>
          <p:cNvSpPr/>
          <p:nvPr/>
        </p:nvSpPr>
        <p:spPr bwMode="auto">
          <a:xfrm>
            <a:off x="5613528" y="4142378"/>
            <a:ext cx="457200" cy="373234"/>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1" i="0" u="none" strike="noStrike" normalizeH="0" baseline="0" dirty="0">
              <a:ln w="22225">
                <a:solidFill>
                  <a:schemeClr val="accent2"/>
                </a:solidFill>
                <a:prstDash val="solid"/>
              </a:ln>
              <a:solidFill>
                <a:schemeClr val="accent2">
                  <a:lumMod val="40000"/>
                  <a:lumOff val="60000"/>
                </a:schemeClr>
              </a:solidFill>
              <a:latin typeface="Verdana" pitchFamily="34" charset="0"/>
              <a:cs typeface="Arial" charset="0"/>
            </a:endParaRPr>
          </a:p>
        </p:txBody>
      </p:sp>
      <p:sp>
        <p:nvSpPr>
          <p:cNvPr id="4" name="TextBox 3">
            <a:extLst>
              <a:ext uri="{FF2B5EF4-FFF2-40B4-BE49-F238E27FC236}">
                <a16:creationId xmlns:a16="http://schemas.microsoft.com/office/drawing/2014/main" id="{78D91511-EAE8-68CA-119D-CD64A81E60B4}"/>
              </a:ext>
            </a:extLst>
          </p:cNvPr>
          <p:cNvSpPr txBox="1"/>
          <p:nvPr/>
        </p:nvSpPr>
        <p:spPr>
          <a:xfrm>
            <a:off x="4343400" y="1752600"/>
            <a:ext cx="4232275" cy="1938992"/>
          </a:xfrm>
          <a:prstGeom prst="rect">
            <a:avLst/>
          </a:prstGeom>
          <a:solidFill>
            <a:schemeClr val="accent1">
              <a:lumMod val="20000"/>
              <a:lumOff val="80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28600" indent="-228600">
              <a:buAutoNum type="arabicPeriod"/>
            </a:pPr>
            <a:r>
              <a:rPr lang="en-US" altLang="ko-KR" sz="1200" dirty="0"/>
              <a:t>winner = </a:t>
            </a:r>
            <a:r>
              <a:rPr lang="en-US" altLang="ko-KR" sz="1200" dirty="0" err="1"/>
              <a:t>getrandom</a:t>
            </a:r>
            <a:r>
              <a:rPr lang="en-US" altLang="ko-KR" sz="1200" dirty="0"/>
              <a:t>(0,tooal_tickets)</a:t>
            </a:r>
          </a:p>
          <a:p>
            <a:pPr marL="228600" indent="-228600">
              <a:buAutoNum type="arabicPeriod"/>
            </a:pPr>
            <a:r>
              <a:rPr lang="en-US" altLang="ko-KR" sz="1200" dirty="0" err="1"/>
              <a:t>node_t</a:t>
            </a:r>
            <a:r>
              <a:rPr lang="en-US" altLang="ko-KR" sz="1200" dirty="0"/>
              <a:t> *current = head;</a:t>
            </a:r>
          </a:p>
          <a:p>
            <a:pPr marL="228600" indent="-228600">
              <a:buAutoNum type="arabicPeriod"/>
            </a:pPr>
            <a:r>
              <a:rPr lang="en-US" altLang="ko-KR" sz="1200" dirty="0"/>
              <a:t>While(</a:t>
            </a:r>
            <a:r>
              <a:rPr lang="en-US" altLang="ko-KR" sz="1200" dirty="0" err="1"/>
              <a:t>currnet</a:t>
            </a:r>
            <a:r>
              <a:rPr lang="en-US" altLang="ko-KR" sz="1200" dirty="0"/>
              <a:t>){</a:t>
            </a:r>
          </a:p>
          <a:p>
            <a:pPr lvl="1"/>
            <a:r>
              <a:rPr lang="en-US" altLang="ko-KR" sz="1200" dirty="0"/>
              <a:t>winner</a:t>
            </a:r>
            <a:r>
              <a:rPr lang="ko-KR" altLang="en-US" sz="1200" dirty="0"/>
              <a:t> </a:t>
            </a:r>
            <a:r>
              <a:rPr lang="en-US" altLang="ko-KR" sz="1200" dirty="0"/>
              <a:t>-=</a:t>
            </a:r>
            <a:r>
              <a:rPr lang="ko-KR" altLang="en-US" sz="1200" dirty="0"/>
              <a:t> </a:t>
            </a:r>
            <a:r>
              <a:rPr lang="en-US" altLang="ko-KR" sz="1200" dirty="0"/>
              <a:t>current-&gt;tickets;</a:t>
            </a:r>
          </a:p>
          <a:p>
            <a:pPr lvl="1"/>
            <a:r>
              <a:rPr lang="en-US" altLang="ko-KR" sz="1200" dirty="0"/>
              <a:t>If(winner &lt; 0)</a:t>
            </a:r>
          </a:p>
          <a:p>
            <a:pPr lvl="1"/>
            <a:r>
              <a:rPr lang="en-US" altLang="ko-KR" sz="1200" dirty="0"/>
              <a:t>	</a:t>
            </a:r>
            <a:r>
              <a:rPr lang="en-US" altLang="ko-KR" sz="1200" dirty="0" err="1"/>
              <a:t>total_tickets</a:t>
            </a:r>
            <a:r>
              <a:rPr lang="en-US" altLang="ko-KR" sz="1200" dirty="0"/>
              <a:t> -= current-&gt;tickets;</a:t>
            </a:r>
          </a:p>
          <a:p>
            <a:pPr lvl="1"/>
            <a:r>
              <a:rPr lang="en-US" altLang="ko-KR" sz="1200" dirty="0"/>
              <a:t>	</a:t>
            </a:r>
            <a:r>
              <a:rPr lang="en-US" altLang="ko-KR" sz="1200" b="1" dirty="0">
                <a:ln w="6600">
                  <a:solidFill>
                    <a:schemeClr val="accent2"/>
                  </a:solidFill>
                  <a:prstDash val="solid"/>
                </a:ln>
                <a:solidFill>
                  <a:srgbClr val="FFFFFF"/>
                </a:solidFill>
                <a:effectLst>
                  <a:outerShdw dist="38100" dir="2700000" algn="tl" rotWithShape="0">
                    <a:schemeClr val="accent2"/>
                  </a:outerShdw>
                </a:effectLst>
              </a:rPr>
              <a:t>return</a:t>
            </a:r>
            <a:r>
              <a:rPr lang="en-US" altLang="ko-KR" sz="1200" dirty="0"/>
              <a:t> current;</a:t>
            </a:r>
          </a:p>
          <a:p>
            <a:pPr lvl="1"/>
            <a:r>
              <a:rPr lang="en-US" altLang="ko-KR" sz="1200" dirty="0"/>
              <a:t>current = current-&gt;next;</a:t>
            </a:r>
          </a:p>
          <a:p>
            <a:pPr lvl="1"/>
            <a:r>
              <a:rPr lang="en-US" altLang="ko-KR" sz="1200" dirty="0"/>
              <a:t>}</a:t>
            </a:r>
          </a:p>
          <a:p>
            <a:pPr lvl="1"/>
            <a:endParaRPr lang="en-US" altLang="ko-KR" sz="1200" dirty="0"/>
          </a:p>
        </p:txBody>
      </p:sp>
      <p:sp>
        <p:nvSpPr>
          <p:cNvPr id="18" name="직사각형 17">
            <a:extLst>
              <a:ext uri="{FF2B5EF4-FFF2-40B4-BE49-F238E27FC236}">
                <a16:creationId xmlns:a16="http://schemas.microsoft.com/office/drawing/2014/main" id="{CA508CF8-A46A-4272-AAF2-DE809892F8AF}"/>
              </a:ext>
            </a:extLst>
          </p:cNvPr>
          <p:cNvSpPr/>
          <p:nvPr/>
        </p:nvSpPr>
        <p:spPr bwMode="auto">
          <a:xfrm>
            <a:off x="4876800" y="2362200"/>
            <a:ext cx="2209800" cy="191433"/>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9" name="직사각형 18">
            <a:extLst>
              <a:ext uri="{FF2B5EF4-FFF2-40B4-BE49-F238E27FC236}">
                <a16:creationId xmlns:a16="http://schemas.microsoft.com/office/drawing/2014/main" id="{80426D30-4623-A17A-0093-F91AB97A85FC}"/>
              </a:ext>
            </a:extLst>
          </p:cNvPr>
          <p:cNvSpPr/>
          <p:nvPr/>
        </p:nvSpPr>
        <p:spPr bwMode="auto">
          <a:xfrm>
            <a:off x="4876800" y="3086629"/>
            <a:ext cx="1981200" cy="191433"/>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1" name="Rectangle 3">
            <a:extLst>
              <a:ext uri="{FF2B5EF4-FFF2-40B4-BE49-F238E27FC236}">
                <a16:creationId xmlns:a16="http://schemas.microsoft.com/office/drawing/2014/main" id="{E7225B3B-190E-358F-71A1-CC28EFB65F8E}"/>
              </a:ext>
            </a:extLst>
          </p:cNvPr>
          <p:cNvSpPr txBox="1">
            <a:spLocks noChangeArrowheads="1"/>
          </p:cNvSpPr>
          <p:nvPr/>
        </p:nvSpPr>
        <p:spPr bwMode="auto">
          <a:xfrm>
            <a:off x="540893" y="1732787"/>
            <a:ext cx="3726307" cy="256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600" kern="0" dirty="0"/>
              <a:t>Store a random number in the</a:t>
            </a:r>
            <a:r>
              <a:rPr lang="ko-KR" altLang="en-US" sz="1600" kern="0" dirty="0"/>
              <a:t> </a:t>
            </a:r>
            <a:r>
              <a:rPr lang="en-US" altLang="ko-KR" sz="1600" kern="0" dirty="0"/>
              <a:t>winner</a:t>
            </a:r>
            <a:r>
              <a:rPr lang="ko-KR" altLang="en-US" sz="1600" kern="0" dirty="0"/>
              <a:t> </a:t>
            </a:r>
            <a:r>
              <a:rPr lang="en-US" altLang="ko-KR" sz="1600" kern="0" dirty="0"/>
              <a:t>variable.</a:t>
            </a:r>
          </a:p>
          <a:p>
            <a:pPr latinLnBrk="1"/>
            <a:r>
              <a:rPr lang="en-US" altLang="ko-KR" sz="1400" kern="0" dirty="0"/>
              <a:t>Iterate through the </a:t>
            </a:r>
            <a:r>
              <a:rPr lang="en-US" altLang="ko-KR" sz="1400" kern="0" dirty="0" err="1"/>
              <a:t>ready_list</a:t>
            </a:r>
            <a:r>
              <a:rPr lang="en-US" altLang="ko-KR" sz="1400" kern="0" dirty="0"/>
              <a:t>, modifying the winner variable.</a:t>
            </a:r>
            <a:endParaRPr lang="en-US" altLang="ko-KR" sz="1000" kern="0" dirty="0"/>
          </a:p>
          <a:p>
            <a:pPr latinLnBrk="1"/>
            <a:r>
              <a:rPr lang="en-US" altLang="ko-KR" sz="1400" kern="0" dirty="0"/>
              <a:t>Subtract the ticket value of the current thread from the winner variable</a:t>
            </a:r>
          </a:p>
          <a:p>
            <a:pPr latinLnBrk="1"/>
            <a:r>
              <a:rPr lang="en-US" altLang="ko-KR" sz="1400" kern="0" dirty="0"/>
              <a:t>The thread that causes winner to become less than 0 is selected</a:t>
            </a:r>
          </a:p>
        </p:txBody>
      </p:sp>
      <p:sp>
        <p:nvSpPr>
          <p:cNvPr id="11" name="직사각형 10">
            <a:extLst>
              <a:ext uri="{FF2B5EF4-FFF2-40B4-BE49-F238E27FC236}">
                <a16:creationId xmlns:a16="http://schemas.microsoft.com/office/drawing/2014/main" id="{E0E9159A-9CAC-C950-E257-8B0C3E8E8E95}"/>
              </a:ext>
            </a:extLst>
          </p:cNvPr>
          <p:cNvSpPr/>
          <p:nvPr/>
        </p:nvSpPr>
        <p:spPr bwMode="auto">
          <a:xfrm>
            <a:off x="1365185" y="4514088"/>
            <a:ext cx="1384428"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w</a:t>
            </a:r>
            <a:r>
              <a:rPr kumimoji="0" lang="en-US" altLang="ko-KR" sz="1400" b="0" i="0" u="none" strike="noStrike" cap="none" normalizeH="0" baseline="0" dirty="0">
                <a:ln>
                  <a:noFill/>
                </a:ln>
                <a:solidFill>
                  <a:schemeClr val="tx1"/>
                </a:solidFill>
                <a:effectLst/>
                <a:latin typeface="Verdana" pitchFamily="34" charset="0"/>
                <a:cs typeface="Arial" charset="0"/>
              </a:rPr>
              <a:t>inner</a:t>
            </a:r>
            <a:r>
              <a:rPr lang="en-US" altLang="ko-KR" sz="1400" dirty="0">
                <a:solidFill>
                  <a:schemeClr val="tx1"/>
                </a:solidFill>
                <a:latin typeface="Verdana" pitchFamily="34" charset="0"/>
                <a:cs typeface="Arial" charset="0"/>
              </a:rPr>
              <a:t> : 200</a:t>
            </a:r>
          </a:p>
        </p:txBody>
      </p:sp>
      <p:sp>
        <p:nvSpPr>
          <p:cNvPr id="14" name="직사각형 13">
            <a:extLst>
              <a:ext uri="{FF2B5EF4-FFF2-40B4-BE49-F238E27FC236}">
                <a16:creationId xmlns:a16="http://schemas.microsoft.com/office/drawing/2014/main" id="{8B5BC815-0E76-ADD8-8001-E65C0C07043D}"/>
              </a:ext>
            </a:extLst>
          </p:cNvPr>
          <p:cNvSpPr/>
          <p:nvPr/>
        </p:nvSpPr>
        <p:spPr bwMode="auto">
          <a:xfrm>
            <a:off x="1365183" y="5105400"/>
            <a:ext cx="1384429"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winner </a:t>
            </a:r>
            <a:r>
              <a:rPr lang="en-US" altLang="ko-KR" sz="1400" dirty="0"/>
              <a:t>: </a:t>
            </a:r>
            <a:r>
              <a:rPr lang="en-US" altLang="ko-KR" sz="1400" dirty="0">
                <a:solidFill>
                  <a:schemeClr val="tx1"/>
                </a:solidFill>
                <a:latin typeface="Verdana" pitchFamily="34" charset="0"/>
                <a:cs typeface="Arial" charset="0"/>
              </a:rPr>
              <a:t>150</a:t>
            </a:r>
          </a:p>
        </p:txBody>
      </p:sp>
      <p:cxnSp>
        <p:nvCxnSpPr>
          <p:cNvPr id="15" name="직선 화살표 연결선 14">
            <a:extLst>
              <a:ext uri="{FF2B5EF4-FFF2-40B4-BE49-F238E27FC236}">
                <a16:creationId xmlns:a16="http://schemas.microsoft.com/office/drawing/2014/main" id="{A701D6FC-F7DF-CA4D-0147-185DA37D61C0}"/>
              </a:ext>
            </a:extLst>
          </p:cNvPr>
          <p:cNvCxnSpPr>
            <a:cxnSpLocks/>
            <a:stCxn id="11" idx="2"/>
            <a:endCxn id="14" idx="0"/>
          </p:cNvCxnSpPr>
          <p:nvPr/>
        </p:nvCxnSpPr>
        <p:spPr bwMode="auto">
          <a:xfrm flipH="1">
            <a:off x="2057398" y="4821936"/>
            <a:ext cx="1" cy="283464"/>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07043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C028D-6B5E-EF94-4A78-9E89FF96F26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F722400-87B6-9C8F-82E2-01EEE3287BD7}"/>
              </a:ext>
            </a:extLst>
          </p:cNvPr>
          <p:cNvSpPr>
            <a:spLocks noGrp="1"/>
          </p:cNvSpPr>
          <p:nvPr>
            <p:ph type="title"/>
          </p:nvPr>
        </p:nvSpPr>
        <p:spPr/>
        <p:txBody>
          <a:bodyPr/>
          <a:lstStyle/>
          <a:p>
            <a:r>
              <a:rPr lang="en-US" altLang="ko-KR" sz="3000" dirty="0"/>
              <a:t>Lottery</a:t>
            </a:r>
            <a:r>
              <a:rPr lang="ko-KR" altLang="en-US" sz="3000" dirty="0"/>
              <a:t> </a:t>
            </a:r>
            <a:r>
              <a:rPr lang="en-US" altLang="ko-KR" sz="3000" dirty="0"/>
              <a:t>Scheduler</a:t>
            </a:r>
            <a:r>
              <a:rPr lang="ko-KR" altLang="en-US" sz="3000" dirty="0"/>
              <a:t> </a:t>
            </a:r>
            <a:r>
              <a:rPr lang="en-US" altLang="ko-KR" sz="3000" dirty="0"/>
              <a:t>Implementation(3/3)</a:t>
            </a:r>
            <a:endParaRPr lang="ko-KR" altLang="en-US" sz="3000" dirty="0"/>
          </a:p>
        </p:txBody>
      </p:sp>
      <p:sp>
        <p:nvSpPr>
          <p:cNvPr id="7" name="직사각형 6">
            <a:extLst>
              <a:ext uri="{FF2B5EF4-FFF2-40B4-BE49-F238E27FC236}">
                <a16:creationId xmlns:a16="http://schemas.microsoft.com/office/drawing/2014/main" id="{5E665FC3-F7EE-FF8E-697E-428F3253E2FE}"/>
              </a:ext>
            </a:extLst>
          </p:cNvPr>
          <p:cNvSpPr/>
          <p:nvPr/>
        </p:nvSpPr>
        <p:spPr bwMode="auto">
          <a:xfrm>
            <a:off x="3746628" y="4514088"/>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ko-KR" altLang="en-US" sz="1100" b="0" i="0" u="none" strike="noStrike" cap="none" normalizeH="0" baseline="0" dirty="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F1E1C8CA-54A4-2841-6FD9-2C5038C03DB8}"/>
              </a:ext>
            </a:extLst>
          </p:cNvPr>
          <p:cNvSpPr/>
          <p:nvPr/>
        </p:nvSpPr>
        <p:spPr bwMode="auto">
          <a:xfrm>
            <a:off x="53468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직사각형 8">
            <a:extLst>
              <a:ext uri="{FF2B5EF4-FFF2-40B4-BE49-F238E27FC236}">
                <a16:creationId xmlns:a16="http://schemas.microsoft.com/office/drawing/2014/main" id="{D826AF69-8232-22D4-E65D-58F335E73A34}"/>
              </a:ext>
            </a:extLst>
          </p:cNvPr>
          <p:cNvSpPr/>
          <p:nvPr/>
        </p:nvSpPr>
        <p:spPr bwMode="auto">
          <a:xfrm>
            <a:off x="6947028" y="4517136"/>
            <a:ext cx="990600" cy="8382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10" name="TextBox 9">
            <a:extLst>
              <a:ext uri="{FF2B5EF4-FFF2-40B4-BE49-F238E27FC236}">
                <a16:creationId xmlns:a16="http://schemas.microsoft.com/office/drawing/2014/main" id="{A4967CF4-8498-46A5-BE7B-BAF042C02610}"/>
              </a:ext>
            </a:extLst>
          </p:cNvPr>
          <p:cNvSpPr txBox="1"/>
          <p:nvPr/>
        </p:nvSpPr>
        <p:spPr>
          <a:xfrm>
            <a:off x="3789490" y="4633106"/>
            <a:ext cx="904875" cy="600164"/>
          </a:xfrm>
          <a:prstGeom prst="rect">
            <a:avLst/>
          </a:prstGeom>
          <a:noFill/>
        </p:spPr>
        <p:txBody>
          <a:bodyPr wrap="square" rtlCol="0">
            <a:spAutoFit/>
          </a:bodyPr>
          <a:lstStyle/>
          <a:p>
            <a:r>
              <a:rPr lang="en-US" altLang="ko-KR" sz="1100" b="1" dirty="0"/>
              <a:t>Thread A</a:t>
            </a:r>
          </a:p>
          <a:p>
            <a:endParaRPr lang="en-US" altLang="ko-KR" sz="1100" dirty="0"/>
          </a:p>
          <a:p>
            <a:r>
              <a:rPr lang="en-US" altLang="ko-KR" sz="1100" dirty="0"/>
              <a:t>Tix : 100</a:t>
            </a:r>
            <a:endParaRPr lang="ko-KR" altLang="en-US" sz="1100" dirty="0"/>
          </a:p>
        </p:txBody>
      </p:sp>
      <p:sp>
        <p:nvSpPr>
          <p:cNvPr id="12" name="TextBox 11">
            <a:extLst>
              <a:ext uri="{FF2B5EF4-FFF2-40B4-BE49-F238E27FC236}">
                <a16:creationId xmlns:a16="http://schemas.microsoft.com/office/drawing/2014/main" id="{032D0333-EB62-EED4-6CAF-1A16FBA95B8F}"/>
              </a:ext>
            </a:extLst>
          </p:cNvPr>
          <p:cNvSpPr txBox="1"/>
          <p:nvPr/>
        </p:nvSpPr>
        <p:spPr>
          <a:xfrm>
            <a:off x="5389690" y="4633106"/>
            <a:ext cx="904875" cy="600164"/>
          </a:xfrm>
          <a:prstGeom prst="rect">
            <a:avLst/>
          </a:prstGeom>
          <a:noFill/>
        </p:spPr>
        <p:txBody>
          <a:bodyPr wrap="square" rtlCol="0">
            <a:spAutoFit/>
          </a:bodyPr>
          <a:lstStyle/>
          <a:p>
            <a:r>
              <a:rPr lang="en-US" altLang="ko-KR" sz="1100" b="1" dirty="0"/>
              <a:t>Thread B</a:t>
            </a:r>
          </a:p>
          <a:p>
            <a:endParaRPr lang="en-US" altLang="ko-KR" sz="1100" dirty="0"/>
          </a:p>
          <a:p>
            <a:r>
              <a:rPr lang="en-US" altLang="ko-KR" sz="1100" dirty="0"/>
              <a:t>Tix : 50</a:t>
            </a:r>
            <a:endParaRPr lang="ko-KR" altLang="en-US" sz="1100" dirty="0"/>
          </a:p>
        </p:txBody>
      </p:sp>
      <p:sp>
        <p:nvSpPr>
          <p:cNvPr id="13" name="TextBox 12">
            <a:extLst>
              <a:ext uri="{FF2B5EF4-FFF2-40B4-BE49-F238E27FC236}">
                <a16:creationId xmlns:a16="http://schemas.microsoft.com/office/drawing/2014/main" id="{805CCBDC-566C-EDDD-FA05-4292E56A7C47}"/>
              </a:ext>
            </a:extLst>
          </p:cNvPr>
          <p:cNvSpPr txBox="1"/>
          <p:nvPr/>
        </p:nvSpPr>
        <p:spPr>
          <a:xfrm>
            <a:off x="6989890" y="4633106"/>
            <a:ext cx="904875" cy="600164"/>
          </a:xfrm>
          <a:prstGeom prst="rect">
            <a:avLst/>
          </a:prstGeom>
          <a:noFill/>
        </p:spPr>
        <p:txBody>
          <a:bodyPr wrap="square" rtlCol="0">
            <a:spAutoFit/>
          </a:bodyPr>
          <a:lstStyle/>
          <a:p>
            <a:r>
              <a:rPr lang="en-US" altLang="ko-KR" sz="1100" b="1" dirty="0"/>
              <a:t>Thread C</a:t>
            </a:r>
          </a:p>
          <a:p>
            <a:endParaRPr lang="en-US" altLang="ko-KR" sz="1100" dirty="0"/>
          </a:p>
          <a:p>
            <a:r>
              <a:rPr lang="en-US" altLang="ko-KR" sz="1100" dirty="0"/>
              <a:t>Tix : 200</a:t>
            </a:r>
            <a:endParaRPr lang="ko-KR" altLang="en-US" sz="1100" dirty="0"/>
          </a:p>
        </p:txBody>
      </p:sp>
      <p:cxnSp>
        <p:nvCxnSpPr>
          <p:cNvPr id="20" name="직선 화살표 연결선 19">
            <a:extLst>
              <a:ext uri="{FF2B5EF4-FFF2-40B4-BE49-F238E27FC236}">
                <a16:creationId xmlns:a16="http://schemas.microsoft.com/office/drawing/2014/main" id="{807277BA-11E0-F6DC-2DD6-79C780093BF1}"/>
              </a:ext>
            </a:extLst>
          </p:cNvPr>
          <p:cNvCxnSpPr>
            <a:stCxn id="7" idx="3"/>
            <a:endCxn id="8" idx="1"/>
          </p:cNvCxnSpPr>
          <p:nvPr/>
        </p:nvCxnSpPr>
        <p:spPr bwMode="auto">
          <a:xfrm>
            <a:off x="4737228" y="4933188"/>
            <a:ext cx="609600" cy="3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직선 화살표 연결선 21">
            <a:extLst>
              <a:ext uri="{FF2B5EF4-FFF2-40B4-BE49-F238E27FC236}">
                <a16:creationId xmlns:a16="http://schemas.microsoft.com/office/drawing/2014/main" id="{918586C8-4FFD-B4FC-A5AB-D9032167A792}"/>
              </a:ext>
            </a:extLst>
          </p:cNvPr>
          <p:cNvCxnSpPr>
            <a:stCxn id="8" idx="3"/>
            <a:endCxn id="9" idx="1"/>
          </p:cNvCxnSpPr>
          <p:nvPr/>
        </p:nvCxnSpPr>
        <p:spPr bwMode="auto">
          <a:xfrm>
            <a:off x="6337428" y="4936236"/>
            <a:ext cx="609600" cy="0"/>
          </a:xfrm>
          <a:prstGeom prst="straightConnector1">
            <a:avLst/>
          </a:prstGeom>
          <a:solidFill>
            <a:schemeClr val="accent1"/>
          </a:solidFill>
          <a:ln w="9525" cap="flat" cmpd="sng" algn="ctr">
            <a:solidFill>
              <a:schemeClr val="tx1"/>
            </a:solidFill>
            <a:prstDash val="lgDash"/>
            <a:round/>
            <a:headEnd type="none" w="med" len="med"/>
            <a:tailEnd type="triangle"/>
          </a:ln>
          <a:effectLst/>
        </p:spPr>
      </p:cxnSp>
      <p:sp>
        <p:nvSpPr>
          <p:cNvPr id="23" name="직사각형 22">
            <a:extLst>
              <a:ext uri="{FF2B5EF4-FFF2-40B4-BE49-F238E27FC236}">
                <a16:creationId xmlns:a16="http://schemas.microsoft.com/office/drawing/2014/main" id="{C00C212D-42AE-BD22-8DE6-C81E2065DCF9}"/>
              </a:ext>
            </a:extLst>
          </p:cNvPr>
          <p:cNvSpPr/>
          <p:nvPr/>
        </p:nvSpPr>
        <p:spPr bwMode="auto">
          <a:xfrm>
            <a:off x="7442327" y="5431536"/>
            <a:ext cx="1704721" cy="31089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total</a:t>
            </a:r>
            <a:r>
              <a:rPr kumimoji="0" lang="en-US" altLang="ko-KR" sz="1400" b="0" i="0" u="none" strike="noStrike" cap="none" normalizeH="0" baseline="0" dirty="0">
                <a:ln>
                  <a:noFill/>
                </a:ln>
                <a:solidFill>
                  <a:schemeClr val="tx1"/>
                </a:solidFill>
                <a:effectLst/>
                <a:latin typeface="Verdana" pitchFamily="34" charset="0"/>
                <a:cs typeface="Arial" charset="0"/>
              </a:rPr>
              <a:t>_tickets</a:t>
            </a:r>
            <a:r>
              <a:rPr lang="en-US" altLang="ko-KR" sz="1400" dirty="0"/>
              <a:t>:</a:t>
            </a:r>
            <a:r>
              <a:rPr lang="en-US" altLang="ko-KR" sz="1400" dirty="0">
                <a:solidFill>
                  <a:srgbClr val="FF0000"/>
                </a:solidFill>
                <a:latin typeface="Verdana" pitchFamily="34" charset="0"/>
                <a:cs typeface="Arial" charset="0"/>
              </a:rPr>
              <a:t>150</a:t>
            </a:r>
            <a:endParaRPr kumimoji="0" lang="en-US" altLang="ko-KR" sz="1400" b="0" i="0" u="none" strike="noStrike" cap="none" normalizeH="0" baseline="0" dirty="0">
              <a:ln>
                <a:noFill/>
              </a:ln>
              <a:solidFill>
                <a:srgbClr val="FF0000"/>
              </a:solidFill>
              <a:effectLst/>
              <a:latin typeface="Verdana" pitchFamily="34" charset="0"/>
              <a:cs typeface="Arial" charset="0"/>
            </a:endParaRPr>
          </a:p>
        </p:txBody>
      </p:sp>
      <p:sp>
        <p:nvSpPr>
          <p:cNvPr id="4" name="TextBox 3">
            <a:extLst>
              <a:ext uri="{FF2B5EF4-FFF2-40B4-BE49-F238E27FC236}">
                <a16:creationId xmlns:a16="http://schemas.microsoft.com/office/drawing/2014/main" id="{50B0C5B3-2BB7-7AE0-458C-230A1FA1C498}"/>
              </a:ext>
            </a:extLst>
          </p:cNvPr>
          <p:cNvSpPr txBox="1"/>
          <p:nvPr/>
        </p:nvSpPr>
        <p:spPr>
          <a:xfrm>
            <a:off x="4343400" y="1752600"/>
            <a:ext cx="4232275" cy="1938992"/>
          </a:xfrm>
          <a:prstGeom prst="rect">
            <a:avLst/>
          </a:prstGeom>
          <a:solidFill>
            <a:schemeClr val="accent1">
              <a:lumMod val="20000"/>
              <a:lumOff val="80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28600" indent="-228600">
              <a:buAutoNum type="arabicPeriod"/>
            </a:pPr>
            <a:r>
              <a:rPr lang="en-US" altLang="ko-KR" sz="1200" dirty="0"/>
              <a:t>winner = </a:t>
            </a:r>
            <a:r>
              <a:rPr lang="en-US" altLang="ko-KR" sz="1200" dirty="0" err="1"/>
              <a:t>getrandom</a:t>
            </a:r>
            <a:r>
              <a:rPr lang="en-US" altLang="ko-KR" sz="1200" dirty="0"/>
              <a:t>(0,tooal_tickets)</a:t>
            </a:r>
          </a:p>
          <a:p>
            <a:pPr marL="228600" indent="-228600">
              <a:buAutoNum type="arabicPeriod"/>
            </a:pPr>
            <a:r>
              <a:rPr lang="en-US" altLang="ko-KR" sz="1200" dirty="0" err="1"/>
              <a:t>node_t</a:t>
            </a:r>
            <a:r>
              <a:rPr lang="en-US" altLang="ko-KR" sz="1200" dirty="0"/>
              <a:t> *current = head;</a:t>
            </a:r>
          </a:p>
          <a:p>
            <a:pPr marL="228600" indent="-228600">
              <a:buAutoNum type="arabicPeriod"/>
            </a:pPr>
            <a:r>
              <a:rPr lang="en-US" altLang="ko-KR" sz="1200" dirty="0"/>
              <a:t>While(</a:t>
            </a:r>
            <a:r>
              <a:rPr lang="en-US" altLang="ko-KR" sz="1200" dirty="0" err="1"/>
              <a:t>currnet</a:t>
            </a:r>
            <a:r>
              <a:rPr lang="en-US" altLang="ko-KR" sz="1200" dirty="0"/>
              <a:t>){</a:t>
            </a:r>
          </a:p>
          <a:p>
            <a:pPr lvl="1"/>
            <a:r>
              <a:rPr lang="en-US" altLang="ko-KR" sz="1200" dirty="0"/>
              <a:t>winner</a:t>
            </a:r>
            <a:r>
              <a:rPr lang="ko-KR" altLang="en-US" sz="1200" dirty="0"/>
              <a:t> </a:t>
            </a:r>
            <a:r>
              <a:rPr lang="en-US" altLang="ko-KR" sz="1200" dirty="0"/>
              <a:t>-=</a:t>
            </a:r>
            <a:r>
              <a:rPr lang="ko-KR" altLang="en-US" sz="1200" dirty="0"/>
              <a:t> </a:t>
            </a:r>
            <a:r>
              <a:rPr lang="en-US" altLang="ko-KR" sz="1200" dirty="0"/>
              <a:t>current-&gt;tickets;</a:t>
            </a:r>
          </a:p>
          <a:p>
            <a:pPr lvl="1"/>
            <a:r>
              <a:rPr lang="en-US" altLang="ko-KR" sz="1200" dirty="0"/>
              <a:t>If(winner &lt; 0)</a:t>
            </a:r>
          </a:p>
          <a:p>
            <a:pPr lvl="1"/>
            <a:r>
              <a:rPr lang="en-US" altLang="ko-KR" sz="1200" dirty="0"/>
              <a:t>	</a:t>
            </a:r>
            <a:r>
              <a:rPr lang="en-US" altLang="ko-KR" sz="1200" dirty="0" err="1"/>
              <a:t>total_tickets</a:t>
            </a:r>
            <a:r>
              <a:rPr lang="en-US" altLang="ko-KR" sz="1200" dirty="0"/>
              <a:t> -= current-&gt;tickets;</a:t>
            </a:r>
          </a:p>
          <a:p>
            <a:pPr lvl="1"/>
            <a:r>
              <a:rPr lang="en-US" altLang="ko-KR" sz="1200" dirty="0"/>
              <a:t>	</a:t>
            </a:r>
            <a:r>
              <a:rPr lang="en-US" altLang="ko-KR" sz="1200" b="1" dirty="0">
                <a:ln w="6600">
                  <a:solidFill>
                    <a:schemeClr val="accent2"/>
                  </a:solidFill>
                  <a:prstDash val="solid"/>
                </a:ln>
                <a:solidFill>
                  <a:srgbClr val="FFFFFF"/>
                </a:solidFill>
                <a:effectLst>
                  <a:outerShdw dist="38100" dir="2700000" algn="tl" rotWithShape="0">
                    <a:schemeClr val="accent2"/>
                  </a:outerShdw>
                </a:effectLst>
              </a:rPr>
              <a:t>return</a:t>
            </a:r>
            <a:r>
              <a:rPr lang="en-US" altLang="ko-KR" sz="1200" dirty="0"/>
              <a:t> current;</a:t>
            </a:r>
          </a:p>
          <a:p>
            <a:pPr lvl="1"/>
            <a:r>
              <a:rPr lang="en-US" altLang="ko-KR" sz="1200" dirty="0"/>
              <a:t>current = current-&gt;next;</a:t>
            </a:r>
          </a:p>
          <a:p>
            <a:pPr lvl="1"/>
            <a:r>
              <a:rPr lang="en-US" altLang="ko-KR" sz="1200" dirty="0"/>
              <a:t>}</a:t>
            </a:r>
          </a:p>
          <a:p>
            <a:pPr lvl="1"/>
            <a:endParaRPr lang="en-US" altLang="ko-KR" sz="1200" dirty="0"/>
          </a:p>
        </p:txBody>
      </p:sp>
      <p:sp>
        <p:nvSpPr>
          <p:cNvPr id="18" name="직사각형 17">
            <a:extLst>
              <a:ext uri="{FF2B5EF4-FFF2-40B4-BE49-F238E27FC236}">
                <a16:creationId xmlns:a16="http://schemas.microsoft.com/office/drawing/2014/main" id="{EE0BEC0C-98B9-23D0-7C4E-B1D75F23C494}"/>
              </a:ext>
            </a:extLst>
          </p:cNvPr>
          <p:cNvSpPr/>
          <p:nvPr/>
        </p:nvSpPr>
        <p:spPr bwMode="auto">
          <a:xfrm>
            <a:off x="4876799" y="2530663"/>
            <a:ext cx="3017965" cy="593537"/>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1" name="Rectangle 3">
            <a:extLst>
              <a:ext uri="{FF2B5EF4-FFF2-40B4-BE49-F238E27FC236}">
                <a16:creationId xmlns:a16="http://schemas.microsoft.com/office/drawing/2014/main" id="{4E3C89AB-2EDF-4907-958D-01AA387AF792}"/>
              </a:ext>
            </a:extLst>
          </p:cNvPr>
          <p:cNvSpPr txBox="1">
            <a:spLocks noChangeArrowheads="1"/>
          </p:cNvSpPr>
          <p:nvPr/>
        </p:nvSpPr>
        <p:spPr bwMode="auto">
          <a:xfrm>
            <a:off x="540893" y="1732787"/>
            <a:ext cx="3726307" cy="2569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600" kern="0" dirty="0"/>
              <a:t>Store a random number in the</a:t>
            </a:r>
            <a:r>
              <a:rPr lang="ko-KR" altLang="en-US" sz="1600" kern="0" dirty="0"/>
              <a:t> </a:t>
            </a:r>
            <a:r>
              <a:rPr lang="en-US" altLang="ko-KR" sz="1600" kern="0" dirty="0"/>
              <a:t>winner</a:t>
            </a:r>
            <a:r>
              <a:rPr lang="ko-KR" altLang="en-US" sz="1600" kern="0" dirty="0"/>
              <a:t> </a:t>
            </a:r>
            <a:r>
              <a:rPr lang="en-US" altLang="ko-KR" sz="1600" kern="0" dirty="0"/>
              <a:t>variable.</a:t>
            </a:r>
          </a:p>
          <a:p>
            <a:pPr latinLnBrk="1"/>
            <a:r>
              <a:rPr lang="en-US" altLang="ko-KR" sz="1400" kern="0" dirty="0"/>
              <a:t>Iterate through the </a:t>
            </a:r>
            <a:r>
              <a:rPr lang="en-US" altLang="ko-KR" sz="1400" kern="0" dirty="0" err="1"/>
              <a:t>ready_list</a:t>
            </a:r>
            <a:r>
              <a:rPr lang="en-US" altLang="ko-KR" sz="1400" kern="0" dirty="0"/>
              <a:t>, modifying the winner variable.</a:t>
            </a:r>
            <a:endParaRPr lang="en-US" altLang="ko-KR" sz="1000" kern="0" dirty="0"/>
          </a:p>
          <a:p>
            <a:pPr latinLnBrk="1"/>
            <a:r>
              <a:rPr lang="en-US" altLang="ko-KR" sz="1400" kern="0" dirty="0"/>
              <a:t>Subtract the ticket value of the current thread from the winner variable</a:t>
            </a:r>
          </a:p>
          <a:p>
            <a:pPr latinLnBrk="1"/>
            <a:r>
              <a:rPr lang="en-US" altLang="ko-KR" sz="1400" kern="0" dirty="0"/>
              <a:t>The thread that causes winner to become less than 0 is selected</a:t>
            </a:r>
          </a:p>
        </p:txBody>
      </p:sp>
      <p:sp>
        <p:nvSpPr>
          <p:cNvPr id="3" name="화살표: 아래쪽 2">
            <a:extLst>
              <a:ext uri="{FF2B5EF4-FFF2-40B4-BE49-F238E27FC236}">
                <a16:creationId xmlns:a16="http://schemas.microsoft.com/office/drawing/2014/main" id="{E1C117CB-F290-6411-00CD-FE2D81D1A6B4}"/>
              </a:ext>
            </a:extLst>
          </p:cNvPr>
          <p:cNvSpPr/>
          <p:nvPr/>
        </p:nvSpPr>
        <p:spPr bwMode="auto">
          <a:xfrm>
            <a:off x="7213727" y="4125773"/>
            <a:ext cx="457200" cy="373234"/>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1" i="0" u="none" strike="noStrike" normalizeH="0" baseline="0" dirty="0">
              <a:ln w="22225">
                <a:solidFill>
                  <a:schemeClr val="accent2"/>
                </a:solidFill>
                <a:prstDash val="solid"/>
              </a:ln>
              <a:solidFill>
                <a:schemeClr val="accent2">
                  <a:lumMod val="40000"/>
                  <a:lumOff val="60000"/>
                </a:schemeClr>
              </a:solidFill>
              <a:latin typeface="Verdana" pitchFamily="34" charset="0"/>
              <a:cs typeface="Arial" charset="0"/>
            </a:endParaRPr>
          </a:p>
        </p:txBody>
      </p:sp>
      <p:sp>
        <p:nvSpPr>
          <p:cNvPr id="5" name="TextBox 4">
            <a:extLst>
              <a:ext uri="{FF2B5EF4-FFF2-40B4-BE49-F238E27FC236}">
                <a16:creationId xmlns:a16="http://schemas.microsoft.com/office/drawing/2014/main" id="{337966BD-7F3A-FA11-276F-C57E0DD3DD45}"/>
              </a:ext>
            </a:extLst>
          </p:cNvPr>
          <p:cNvSpPr txBox="1"/>
          <p:nvPr/>
        </p:nvSpPr>
        <p:spPr>
          <a:xfrm>
            <a:off x="6908927" y="3756441"/>
            <a:ext cx="1066800" cy="369332"/>
          </a:xfrm>
          <a:prstGeom prst="rect">
            <a:avLst/>
          </a:prstGeom>
          <a:noFill/>
        </p:spPr>
        <p:txBody>
          <a:bodyPr wrap="square" rtlCol="0">
            <a:spAutoFit/>
          </a:bodyPr>
          <a:lstStyle/>
          <a:p>
            <a:r>
              <a:rPr lang="en-US" altLang="ko-KR" dirty="0">
                <a:solidFill>
                  <a:srgbClr val="FF0000"/>
                </a:solidFill>
              </a:rPr>
              <a:t>Winner!</a:t>
            </a:r>
            <a:endParaRPr lang="ko-KR" altLang="en-US" dirty="0">
              <a:solidFill>
                <a:srgbClr val="FF0000"/>
              </a:solidFill>
            </a:endParaRPr>
          </a:p>
        </p:txBody>
      </p:sp>
      <p:sp>
        <p:nvSpPr>
          <p:cNvPr id="6" name="곱하기 기호 5">
            <a:extLst>
              <a:ext uri="{FF2B5EF4-FFF2-40B4-BE49-F238E27FC236}">
                <a16:creationId xmlns:a16="http://schemas.microsoft.com/office/drawing/2014/main" id="{69C6F3AD-BEAE-0D70-EA99-1468EA7B187C}"/>
              </a:ext>
            </a:extLst>
          </p:cNvPr>
          <p:cNvSpPr/>
          <p:nvPr/>
        </p:nvSpPr>
        <p:spPr bwMode="auto">
          <a:xfrm>
            <a:off x="6427980" y="4753356"/>
            <a:ext cx="381000" cy="359664"/>
          </a:xfrm>
          <a:prstGeom prst="mathMultiply">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1" i="0" u="none" strike="noStrike" normalizeH="0" baseline="0">
              <a:ln w="22225">
                <a:solidFill>
                  <a:schemeClr val="accent2"/>
                </a:solidFill>
                <a:prstDash val="solid"/>
              </a:ln>
              <a:solidFill>
                <a:schemeClr val="accent2">
                  <a:lumMod val="40000"/>
                  <a:lumOff val="60000"/>
                </a:schemeClr>
              </a:solidFill>
              <a:latin typeface="Verdana" pitchFamily="34" charset="0"/>
              <a:cs typeface="Arial" charset="0"/>
            </a:endParaRPr>
          </a:p>
        </p:txBody>
      </p:sp>
      <p:sp>
        <p:nvSpPr>
          <p:cNvPr id="11" name="직사각형 10">
            <a:extLst>
              <a:ext uri="{FF2B5EF4-FFF2-40B4-BE49-F238E27FC236}">
                <a16:creationId xmlns:a16="http://schemas.microsoft.com/office/drawing/2014/main" id="{E3753D21-954A-6378-9F8E-5C47F3307558}"/>
              </a:ext>
            </a:extLst>
          </p:cNvPr>
          <p:cNvSpPr/>
          <p:nvPr/>
        </p:nvSpPr>
        <p:spPr bwMode="auto">
          <a:xfrm>
            <a:off x="1365185" y="4514088"/>
            <a:ext cx="1384428"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400" dirty="0">
                <a:solidFill>
                  <a:schemeClr val="tx1"/>
                </a:solidFill>
                <a:latin typeface="Verdana" pitchFamily="34" charset="0"/>
                <a:cs typeface="Arial" charset="0"/>
              </a:rPr>
              <a:t>w</a:t>
            </a:r>
            <a:r>
              <a:rPr kumimoji="0" lang="en-US" altLang="ko-KR" sz="1400" b="0" i="0" u="none" strike="noStrike" cap="none" normalizeH="0" baseline="0" dirty="0">
                <a:ln>
                  <a:noFill/>
                </a:ln>
                <a:solidFill>
                  <a:schemeClr val="tx1"/>
                </a:solidFill>
                <a:effectLst/>
                <a:latin typeface="Verdana" pitchFamily="34" charset="0"/>
                <a:cs typeface="Arial" charset="0"/>
              </a:rPr>
              <a:t>inner</a:t>
            </a:r>
            <a:r>
              <a:rPr lang="en-US" altLang="ko-KR" sz="1400" dirty="0">
                <a:solidFill>
                  <a:schemeClr val="tx1"/>
                </a:solidFill>
                <a:latin typeface="Verdana" pitchFamily="34" charset="0"/>
                <a:cs typeface="Arial" charset="0"/>
              </a:rPr>
              <a:t> : 150</a:t>
            </a:r>
          </a:p>
        </p:txBody>
      </p:sp>
      <p:sp>
        <p:nvSpPr>
          <p:cNvPr id="14" name="직사각형 13">
            <a:extLst>
              <a:ext uri="{FF2B5EF4-FFF2-40B4-BE49-F238E27FC236}">
                <a16:creationId xmlns:a16="http://schemas.microsoft.com/office/drawing/2014/main" id="{CB1D648E-EBE0-04D6-93F0-B0A150A5581C}"/>
              </a:ext>
            </a:extLst>
          </p:cNvPr>
          <p:cNvSpPr/>
          <p:nvPr/>
        </p:nvSpPr>
        <p:spPr bwMode="auto">
          <a:xfrm>
            <a:off x="1365183" y="5105400"/>
            <a:ext cx="1384429" cy="30784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winner </a:t>
            </a:r>
            <a:r>
              <a:rPr lang="en-US" altLang="ko-KR" sz="1400" dirty="0"/>
              <a:t>:-50</a:t>
            </a:r>
            <a:endParaRPr lang="en-US" altLang="ko-KR" sz="1400" dirty="0">
              <a:solidFill>
                <a:schemeClr val="tx1"/>
              </a:solidFill>
              <a:latin typeface="Verdana" pitchFamily="34" charset="0"/>
              <a:cs typeface="Arial" charset="0"/>
            </a:endParaRPr>
          </a:p>
        </p:txBody>
      </p:sp>
      <p:cxnSp>
        <p:nvCxnSpPr>
          <p:cNvPr id="15" name="직선 화살표 연결선 14">
            <a:extLst>
              <a:ext uri="{FF2B5EF4-FFF2-40B4-BE49-F238E27FC236}">
                <a16:creationId xmlns:a16="http://schemas.microsoft.com/office/drawing/2014/main" id="{8A37B072-702B-2C21-43B5-00801CBAC71F}"/>
              </a:ext>
            </a:extLst>
          </p:cNvPr>
          <p:cNvCxnSpPr>
            <a:cxnSpLocks/>
            <a:stCxn id="11" idx="2"/>
            <a:endCxn id="14" idx="0"/>
          </p:cNvCxnSpPr>
          <p:nvPr/>
        </p:nvCxnSpPr>
        <p:spPr bwMode="auto">
          <a:xfrm flipH="1">
            <a:off x="2057398" y="4821936"/>
            <a:ext cx="1" cy="283464"/>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33829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CF4BA-7D1B-A4B7-9A0E-9CCF6EE41B32}"/>
            </a:ext>
          </a:extLst>
        </p:cNvPr>
        <p:cNvGrpSpPr/>
        <p:nvPr/>
      </p:nvGrpSpPr>
      <p:grpSpPr>
        <a:xfrm>
          <a:off x="0" y="0"/>
          <a:ext cx="0" cy="0"/>
          <a:chOff x="0" y="0"/>
          <a:chExt cx="0" cy="0"/>
        </a:xfrm>
      </p:grpSpPr>
      <p:graphicFrame>
        <p:nvGraphicFramePr>
          <p:cNvPr id="30" name="표 29">
            <a:extLst>
              <a:ext uri="{FF2B5EF4-FFF2-40B4-BE49-F238E27FC236}">
                <a16:creationId xmlns:a16="http://schemas.microsoft.com/office/drawing/2014/main" id="{6A792FE8-D550-0D22-D7F4-4EBF014AC3D6}"/>
              </a:ext>
            </a:extLst>
          </p:cNvPr>
          <p:cNvGraphicFramePr>
            <a:graphicFrameLocks noGrp="1"/>
          </p:cNvGraphicFramePr>
          <p:nvPr/>
        </p:nvGraphicFramePr>
        <p:xfrm>
          <a:off x="1185009" y="4343400"/>
          <a:ext cx="2776656" cy="1752597"/>
        </p:xfrm>
        <a:graphic>
          <a:graphicData uri="http://schemas.openxmlformats.org/drawingml/2006/table">
            <a:tbl>
              <a:tblPr firstRow="1" bandRow="1">
                <a:tableStyleId>{F5AB1C69-6EDB-4FF4-983F-18BD219EF322}</a:tableStyleId>
              </a:tblPr>
              <a:tblGrid>
                <a:gridCol w="1388328">
                  <a:extLst>
                    <a:ext uri="{9D8B030D-6E8A-4147-A177-3AD203B41FA5}">
                      <a16:colId xmlns:a16="http://schemas.microsoft.com/office/drawing/2014/main" val="3761612594"/>
                    </a:ext>
                  </a:extLst>
                </a:gridCol>
                <a:gridCol w="1388328">
                  <a:extLst>
                    <a:ext uri="{9D8B030D-6E8A-4147-A177-3AD203B41FA5}">
                      <a16:colId xmlns:a16="http://schemas.microsoft.com/office/drawing/2014/main" val="2451813387"/>
                    </a:ext>
                  </a:extLst>
                </a:gridCol>
              </a:tblGrid>
              <a:tr h="250371">
                <a:tc>
                  <a:txBody>
                    <a:bodyPr/>
                    <a:lstStyle/>
                    <a:p>
                      <a:pPr algn="ctr" latinLnBrk="1"/>
                      <a:r>
                        <a:rPr lang="en-US" altLang="ko-KR" sz="800" dirty="0">
                          <a:solidFill>
                            <a:schemeClr val="tx1"/>
                          </a:solidFill>
                        </a:rPr>
                        <a:t>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ctr" latinLnBrk="1"/>
                      <a:r>
                        <a:rPr lang="en-US" altLang="ko-KR" sz="800" dirty="0">
                          <a:solidFill>
                            <a:sysClr val="windowText" lastClr="000000"/>
                          </a:solidFill>
                        </a:rPr>
                        <a:t>Value</a:t>
                      </a:r>
                      <a:endParaRPr lang="ko-KR" altLang="en-US" sz="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968283677"/>
                  </a:ext>
                </a:extLst>
              </a:tr>
              <a:tr h="250371">
                <a:tc>
                  <a:txBody>
                    <a:bodyPr/>
                    <a:lstStyle/>
                    <a:p>
                      <a:pPr algn="ctr" latinLnBrk="1"/>
                      <a:r>
                        <a:rPr lang="en-US" altLang="ko-KR" sz="800" dirty="0"/>
                        <a:t>Test Period</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1200 ticks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7449589"/>
                  </a:ext>
                </a:extLst>
              </a:tr>
              <a:tr h="250371">
                <a:tc>
                  <a:txBody>
                    <a:bodyPr/>
                    <a:lstStyle/>
                    <a:p>
                      <a:pPr algn="ctr" latinLnBrk="1"/>
                      <a:r>
                        <a:rPr lang="en-US" altLang="ko-KR" sz="800" dirty="0"/>
                        <a:t>Window Size</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100 ticks</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348226"/>
                  </a:ext>
                </a:extLst>
              </a:tr>
              <a:tr h="250371">
                <a:tc>
                  <a:txBody>
                    <a:bodyPr/>
                    <a:lstStyle/>
                    <a:p>
                      <a:pPr algn="ctr" latinLnBrk="1"/>
                      <a:r>
                        <a:rPr lang="en-US" altLang="ko-KR" sz="800" dirty="0"/>
                        <a:t>Stride of Window </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25 ticks / step</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90764"/>
                  </a:ext>
                </a:extLst>
              </a:tr>
              <a:tr h="250371">
                <a:tc>
                  <a:txBody>
                    <a:bodyPr/>
                    <a:lstStyle/>
                    <a:p>
                      <a:pPr algn="ctr" latinLnBrk="1"/>
                      <a:r>
                        <a:rPr lang="en-US" altLang="ko-KR" sz="800" dirty="0" err="1"/>
                        <a:t>A.Tickets</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10</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479024"/>
                  </a:ext>
                </a:extLst>
              </a:tr>
              <a:tr h="250371">
                <a:tc>
                  <a:txBody>
                    <a:bodyPr/>
                    <a:lstStyle/>
                    <a:p>
                      <a:pPr algn="ctr" latinLnBrk="1"/>
                      <a:r>
                        <a:rPr lang="en-US" altLang="ko-KR" sz="800" dirty="0" err="1"/>
                        <a:t>B.Tickets</a:t>
                      </a:r>
                      <a:endParaRPr lang="en-US" altLang="ko-KR"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146332"/>
                  </a:ext>
                </a:extLst>
              </a:tr>
              <a:tr h="250371">
                <a:tc>
                  <a:txBody>
                    <a:bodyPr/>
                    <a:lstStyle/>
                    <a:p>
                      <a:pPr algn="ctr" latinLnBrk="1"/>
                      <a:r>
                        <a:rPr lang="en-US" altLang="ko-KR" sz="800" dirty="0" err="1"/>
                        <a:t>C.Tickets</a:t>
                      </a:r>
                      <a:endParaRPr lang="en-US" altLang="ko-KR"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909226"/>
                  </a:ext>
                </a:extLst>
              </a:tr>
            </a:tbl>
          </a:graphicData>
        </a:graphic>
      </p:graphicFrame>
      <p:sp>
        <p:nvSpPr>
          <p:cNvPr id="241666" name="Rectangle 2">
            <a:extLst>
              <a:ext uri="{FF2B5EF4-FFF2-40B4-BE49-F238E27FC236}">
                <a16:creationId xmlns:a16="http://schemas.microsoft.com/office/drawing/2014/main" id="{AB8871F9-5A80-B31B-F8E2-C90F5FCD150A}"/>
              </a:ext>
            </a:extLst>
          </p:cNvPr>
          <p:cNvSpPr>
            <a:spLocks noGrp="1" noChangeArrowheads="1"/>
          </p:cNvSpPr>
          <p:nvPr>
            <p:ph type="title"/>
          </p:nvPr>
        </p:nvSpPr>
        <p:spPr/>
        <p:txBody>
          <a:bodyPr/>
          <a:lstStyle/>
          <a:p>
            <a:r>
              <a:rPr lang="en-US" altLang="ko-KR" sz="3600" dirty="0"/>
              <a:t>Experiment</a:t>
            </a:r>
            <a:r>
              <a:rPr lang="ko-KR" altLang="en-US" sz="3600" dirty="0"/>
              <a:t> </a:t>
            </a:r>
            <a:r>
              <a:rPr lang="en-US" altLang="ko-KR" sz="3600" dirty="0"/>
              <a:t>:</a:t>
            </a:r>
            <a:r>
              <a:rPr lang="ko-KR" altLang="en-US" sz="3600" dirty="0"/>
              <a:t> </a:t>
            </a:r>
            <a:r>
              <a:rPr lang="en-US" altLang="ko-KR" sz="3600" dirty="0"/>
              <a:t>Fair Distribution</a:t>
            </a:r>
          </a:p>
        </p:txBody>
      </p:sp>
      <p:sp>
        <p:nvSpPr>
          <p:cNvPr id="27" name="Rectangle 3">
            <a:extLst>
              <a:ext uri="{FF2B5EF4-FFF2-40B4-BE49-F238E27FC236}">
                <a16:creationId xmlns:a16="http://schemas.microsoft.com/office/drawing/2014/main" id="{E99167B8-84D6-A77B-897A-C114D067DC64}"/>
              </a:ext>
            </a:extLst>
          </p:cNvPr>
          <p:cNvSpPr txBox="1">
            <a:spLocks noChangeArrowheads="1"/>
          </p:cNvSpPr>
          <p:nvPr/>
        </p:nvSpPr>
        <p:spPr bwMode="auto">
          <a:xfrm>
            <a:off x="574675" y="1828800"/>
            <a:ext cx="39973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dirty="0"/>
              <a:t>1:1:1 Ratio Test</a:t>
            </a:r>
          </a:p>
          <a:p>
            <a:pPr latinLnBrk="1"/>
            <a:r>
              <a:rPr lang="en-US" altLang="ko-KR" sz="1800" kern="0" dirty="0"/>
              <a:t>Analysis</a:t>
            </a:r>
          </a:p>
          <a:p>
            <a:pPr lvl="1" latinLnBrk="1"/>
            <a:r>
              <a:rPr lang="en-US" altLang="ko-KR" sz="1400" kern="0" dirty="0"/>
              <a:t>The momentary share is unpredictable and fluctuates significantly.</a:t>
            </a:r>
          </a:p>
          <a:p>
            <a:pPr lvl="1" latinLnBrk="1"/>
            <a:r>
              <a:rPr lang="en-US" altLang="ko-KR" sz="1400" kern="0" dirty="0"/>
              <a:t>This clearly demonstrate the </a:t>
            </a:r>
            <a:r>
              <a:rPr lang="en-US" altLang="ko-KR" sz="1400" b="1" kern="0" dirty="0"/>
              <a:t>probabilistic nature </a:t>
            </a:r>
            <a:r>
              <a:rPr lang="en-US" altLang="ko-KR" sz="1400" kern="0" dirty="0"/>
              <a:t>of the lottery scheduler. </a:t>
            </a:r>
          </a:p>
          <a:p>
            <a:pPr lvl="1" latinLnBrk="1"/>
            <a:endParaRPr lang="en-US" altLang="ko-KR" sz="2000" kern="0" dirty="0"/>
          </a:p>
          <a:p>
            <a:pPr lvl="1" latinLnBrk="1"/>
            <a:endParaRPr lang="en-US" altLang="ko-KR" sz="2000" kern="0" dirty="0"/>
          </a:p>
        </p:txBody>
      </p:sp>
      <p:sp>
        <p:nvSpPr>
          <p:cNvPr id="2" name="Rectangle 3">
            <a:extLst>
              <a:ext uri="{FF2B5EF4-FFF2-40B4-BE49-F238E27FC236}">
                <a16:creationId xmlns:a16="http://schemas.microsoft.com/office/drawing/2014/main" id="{3075762E-0D07-F198-F790-423BBA15684D}"/>
              </a:ext>
            </a:extLst>
          </p:cNvPr>
          <p:cNvSpPr txBox="1">
            <a:spLocks noChangeArrowheads="1"/>
          </p:cNvSpPr>
          <p:nvPr/>
        </p:nvSpPr>
        <p:spPr bwMode="auto">
          <a:xfrm>
            <a:off x="4244622" y="1783800"/>
            <a:ext cx="454942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400" kern="0" dirty="0"/>
              <a:t>Share per Time Window</a:t>
            </a:r>
          </a:p>
          <a:p>
            <a:pPr lvl="1" latinLnBrk="1"/>
            <a:endParaRPr lang="en-US" altLang="ko-KR" sz="2000" kern="0" dirty="0"/>
          </a:p>
        </p:txBody>
      </p:sp>
      <p:pic>
        <p:nvPicPr>
          <p:cNvPr id="4" name="그림 3" descr="라인, 그래프, 도표, 텍스트이(가) 표시된 사진&#10;&#10;AI 생성 콘텐츠는 정확하지 않을 수 있습니다.">
            <a:extLst>
              <a:ext uri="{FF2B5EF4-FFF2-40B4-BE49-F238E27FC236}">
                <a16:creationId xmlns:a16="http://schemas.microsoft.com/office/drawing/2014/main" id="{A9EAEA9B-D1AF-06B2-AE4D-EBDC3DFE08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4622" y="2438400"/>
            <a:ext cx="4740200" cy="2971800"/>
          </a:xfrm>
          <a:prstGeom prst="rect">
            <a:avLst/>
          </a:prstGeom>
        </p:spPr>
      </p:pic>
      <p:pic>
        <p:nvPicPr>
          <p:cNvPr id="29" name="그림 28">
            <a:extLst>
              <a:ext uri="{FF2B5EF4-FFF2-40B4-BE49-F238E27FC236}">
                <a16:creationId xmlns:a16="http://schemas.microsoft.com/office/drawing/2014/main" id="{C1C5DE08-FE9D-92B1-DAF5-DA72F9157A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2522" y="1813560"/>
            <a:ext cx="4724400" cy="3925658"/>
          </a:xfrm>
          <a:prstGeom prst="rect">
            <a:avLst/>
          </a:prstGeom>
        </p:spPr>
      </p:pic>
    </p:spTree>
    <p:extLst>
      <p:ext uri="{BB962C8B-B14F-4D97-AF65-F5344CB8AC3E}">
        <p14:creationId xmlns:p14="http://schemas.microsoft.com/office/powerpoint/2010/main" val="176250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2384-D65A-D6BF-03AD-4040B4E40386}"/>
            </a:ext>
          </a:extLst>
        </p:cNvPr>
        <p:cNvGrpSpPr/>
        <p:nvPr/>
      </p:nvGrpSpPr>
      <p:grpSpPr>
        <a:xfrm>
          <a:off x="0" y="0"/>
          <a:ext cx="0" cy="0"/>
          <a:chOff x="0" y="0"/>
          <a:chExt cx="0" cy="0"/>
        </a:xfrm>
      </p:grpSpPr>
      <p:graphicFrame>
        <p:nvGraphicFramePr>
          <p:cNvPr id="30" name="표 29">
            <a:extLst>
              <a:ext uri="{FF2B5EF4-FFF2-40B4-BE49-F238E27FC236}">
                <a16:creationId xmlns:a16="http://schemas.microsoft.com/office/drawing/2014/main" id="{E0511BE9-A1D8-A47D-AD44-528DF4E1010A}"/>
              </a:ext>
            </a:extLst>
          </p:cNvPr>
          <p:cNvGraphicFramePr>
            <a:graphicFrameLocks noGrp="1"/>
          </p:cNvGraphicFramePr>
          <p:nvPr/>
        </p:nvGraphicFramePr>
        <p:xfrm>
          <a:off x="1185009" y="4343400"/>
          <a:ext cx="2776656" cy="1752597"/>
        </p:xfrm>
        <a:graphic>
          <a:graphicData uri="http://schemas.openxmlformats.org/drawingml/2006/table">
            <a:tbl>
              <a:tblPr firstRow="1" bandRow="1">
                <a:tableStyleId>{F5AB1C69-6EDB-4FF4-983F-18BD219EF322}</a:tableStyleId>
              </a:tblPr>
              <a:tblGrid>
                <a:gridCol w="1388328">
                  <a:extLst>
                    <a:ext uri="{9D8B030D-6E8A-4147-A177-3AD203B41FA5}">
                      <a16:colId xmlns:a16="http://schemas.microsoft.com/office/drawing/2014/main" val="3761612594"/>
                    </a:ext>
                  </a:extLst>
                </a:gridCol>
                <a:gridCol w="1388328">
                  <a:extLst>
                    <a:ext uri="{9D8B030D-6E8A-4147-A177-3AD203B41FA5}">
                      <a16:colId xmlns:a16="http://schemas.microsoft.com/office/drawing/2014/main" val="2451813387"/>
                    </a:ext>
                  </a:extLst>
                </a:gridCol>
              </a:tblGrid>
              <a:tr h="250371">
                <a:tc>
                  <a:txBody>
                    <a:bodyPr/>
                    <a:lstStyle/>
                    <a:p>
                      <a:pPr algn="ctr" latinLnBrk="1"/>
                      <a:r>
                        <a:rPr lang="en-US" altLang="ko-KR" sz="800" dirty="0">
                          <a:solidFill>
                            <a:schemeClr val="tx1"/>
                          </a:solidFill>
                        </a:rPr>
                        <a:t>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ctr" latinLnBrk="1"/>
                      <a:r>
                        <a:rPr lang="en-US" altLang="ko-KR" sz="800" dirty="0">
                          <a:solidFill>
                            <a:sysClr val="windowText" lastClr="000000"/>
                          </a:solidFill>
                        </a:rPr>
                        <a:t>Value</a:t>
                      </a:r>
                      <a:endParaRPr lang="ko-KR" altLang="en-US" sz="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968283677"/>
                  </a:ext>
                </a:extLst>
              </a:tr>
              <a:tr h="250371">
                <a:tc>
                  <a:txBody>
                    <a:bodyPr/>
                    <a:lstStyle/>
                    <a:p>
                      <a:pPr algn="ctr" latinLnBrk="1"/>
                      <a:r>
                        <a:rPr lang="en-US" altLang="ko-KR" sz="800" dirty="0"/>
                        <a:t>Test Period</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1200 ticks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7449589"/>
                  </a:ext>
                </a:extLst>
              </a:tr>
              <a:tr h="250371">
                <a:tc>
                  <a:txBody>
                    <a:bodyPr/>
                    <a:lstStyle/>
                    <a:p>
                      <a:pPr algn="ctr" latinLnBrk="1"/>
                      <a:r>
                        <a:rPr lang="en-US" altLang="ko-KR" sz="800" dirty="0"/>
                        <a:t>Window Size</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100 ticks</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348226"/>
                  </a:ext>
                </a:extLst>
              </a:tr>
              <a:tr h="250371">
                <a:tc>
                  <a:txBody>
                    <a:bodyPr/>
                    <a:lstStyle/>
                    <a:p>
                      <a:pPr algn="ctr" latinLnBrk="1"/>
                      <a:r>
                        <a:rPr lang="en-US" altLang="ko-KR" sz="800" dirty="0"/>
                        <a:t>Stride of Window </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25 ticks / step</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90764"/>
                  </a:ext>
                </a:extLst>
              </a:tr>
              <a:tr h="250371">
                <a:tc>
                  <a:txBody>
                    <a:bodyPr/>
                    <a:lstStyle/>
                    <a:p>
                      <a:pPr algn="ctr" latinLnBrk="1"/>
                      <a:r>
                        <a:rPr lang="en-US" altLang="ko-KR" sz="800" dirty="0" err="1"/>
                        <a:t>A.Tickets</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20</a:t>
                      </a:r>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479024"/>
                  </a:ext>
                </a:extLst>
              </a:tr>
              <a:tr h="250371">
                <a:tc>
                  <a:txBody>
                    <a:bodyPr/>
                    <a:lstStyle/>
                    <a:p>
                      <a:pPr algn="ctr" latinLnBrk="1"/>
                      <a:r>
                        <a:rPr lang="en-US" altLang="ko-KR" sz="800" dirty="0" err="1"/>
                        <a:t>B.Tickets</a:t>
                      </a:r>
                      <a:endParaRPr lang="en-US" altLang="ko-KR"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146332"/>
                  </a:ext>
                </a:extLst>
              </a:tr>
              <a:tr h="250371">
                <a:tc>
                  <a:txBody>
                    <a:bodyPr/>
                    <a:lstStyle/>
                    <a:p>
                      <a:pPr algn="ctr" latinLnBrk="1"/>
                      <a:r>
                        <a:rPr lang="en-US" altLang="ko-KR" sz="800" dirty="0" err="1"/>
                        <a:t>C.Tickets</a:t>
                      </a:r>
                      <a:endParaRPr lang="en-US" altLang="ko-KR"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909226"/>
                  </a:ext>
                </a:extLst>
              </a:tr>
            </a:tbl>
          </a:graphicData>
        </a:graphic>
      </p:graphicFrame>
      <p:sp>
        <p:nvSpPr>
          <p:cNvPr id="241666" name="Rectangle 2">
            <a:extLst>
              <a:ext uri="{FF2B5EF4-FFF2-40B4-BE49-F238E27FC236}">
                <a16:creationId xmlns:a16="http://schemas.microsoft.com/office/drawing/2014/main" id="{77983F02-25A2-A105-3EFD-1D58DCCFE65E}"/>
              </a:ext>
            </a:extLst>
          </p:cNvPr>
          <p:cNvSpPr>
            <a:spLocks noGrp="1" noChangeArrowheads="1"/>
          </p:cNvSpPr>
          <p:nvPr>
            <p:ph type="title"/>
          </p:nvPr>
        </p:nvSpPr>
        <p:spPr/>
        <p:txBody>
          <a:bodyPr/>
          <a:lstStyle/>
          <a:p>
            <a:r>
              <a:rPr lang="en-US" altLang="ko-KR" sz="3600" dirty="0"/>
              <a:t>Experiment</a:t>
            </a:r>
            <a:r>
              <a:rPr lang="ko-KR" altLang="en-US" sz="3600" dirty="0"/>
              <a:t> </a:t>
            </a:r>
            <a:r>
              <a:rPr lang="en-US" altLang="ko-KR" sz="3600" dirty="0"/>
              <a:t>:</a:t>
            </a:r>
            <a:r>
              <a:rPr lang="ko-KR" altLang="en-US" sz="3600" dirty="0"/>
              <a:t> </a:t>
            </a:r>
            <a:r>
              <a:rPr lang="en-US" altLang="ko-KR" sz="3600" dirty="0"/>
              <a:t>Unfair Distribution</a:t>
            </a:r>
          </a:p>
        </p:txBody>
      </p:sp>
      <p:sp>
        <p:nvSpPr>
          <p:cNvPr id="27" name="Rectangle 3">
            <a:extLst>
              <a:ext uri="{FF2B5EF4-FFF2-40B4-BE49-F238E27FC236}">
                <a16:creationId xmlns:a16="http://schemas.microsoft.com/office/drawing/2014/main" id="{47D85FDA-C63F-FA87-936F-3CFC047CB0A9}"/>
              </a:ext>
            </a:extLst>
          </p:cNvPr>
          <p:cNvSpPr txBox="1">
            <a:spLocks noChangeArrowheads="1"/>
          </p:cNvSpPr>
          <p:nvPr/>
        </p:nvSpPr>
        <p:spPr bwMode="auto">
          <a:xfrm>
            <a:off x="574675" y="1828799"/>
            <a:ext cx="3997325" cy="2514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dirty="0"/>
              <a:t>20:1:1 Ratio Test</a:t>
            </a:r>
          </a:p>
          <a:p>
            <a:pPr latinLnBrk="1"/>
            <a:r>
              <a:rPr lang="en-US" altLang="ko-KR" sz="1800" kern="0" dirty="0"/>
              <a:t>Analysis</a:t>
            </a:r>
          </a:p>
          <a:p>
            <a:pPr lvl="1" latinLnBrk="1"/>
            <a:r>
              <a:rPr lang="en-US" altLang="ko-KR" sz="1400" kern="0" dirty="0"/>
              <a:t>Low-ticket threads were frequently </a:t>
            </a:r>
            <a:r>
              <a:rPr lang="en-US" altLang="ko-KR" sz="1400" b="1" kern="0" dirty="0"/>
              <a:t>starved</a:t>
            </a:r>
            <a:r>
              <a:rPr lang="en-US" altLang="ko-KR" sz="1400" kern="0" dirty="0"/>
              <a:t>, receiving 0 ticks for entire 100tick windows</a:t>
            </a:r>
          </a:p>
          <a:p>
            <a:pPr lvl="1" latinLnBrk="1"/>
            <a:r>
              <a:rPr lang="en-US" altLang="ko-KR" sz="1400" kern="0" dirty="0"/>
              <a:t>This demonstrates that lottery scheduling provides no guarantee of response time.</a:t>
            </a:r>
            <a:endParaRPr lang="en-US" altLang="ko-KR" sz="2000" kern="0" dirty="0"/>
          </a:p>
        </p:txBody>
      </p:sp>
      <p:sp>
        <p:nvSpPr>
          <p:cNvPr id="2" name="Rectangle 3">
            <a:extLst>
              <a:ext uri="{FF2B5EF4-FFF2-40B4-BE49-F238E27FC236}">
                <a16:creationId xmlns:a16="http://schemas.microsoft.com/office/drawing/2014/main" id="{E83FBCA6-C791-121B-D3FB-06A7204BFB3F}"/>
              </a:ext>
            </a:extLst>
          </p:cNvPr>
          <p:cNvSpPr txBox="1">
            <a:spLocks noChangeArrowheads="1"/>
          </p:cNvSpPr>
          <p:nvPr/>
        </p:nvSpPr>
        <p:spPr bwMode="auto">
          <a:xfrm>
            <a:off x="4566869" y="1797655"/>
            <a:ext cx="454942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2400" kern="0" dirty="0"/>
              <a:t>Share per Time Window</a:t>
            </a:r>
          </a:p>
          <a:p>
            <a:pPr lvl="1" latinLnBrk="1"/>
            <a:endParaRPr lang="en-US" altLang="ko-KR" sz="2000" kern="0" dirty="0"/>
          </a:p>
        </p:txBody>
      </p:sp>
      <p:pic>
        <p:nvPicPr>
          <p:cNvPr id="8" name="그림 7" descr="텍스트, 그래프, 라인, 도표이(가) 표시된 사진&#10;&#10;AI 생성 콘텐츠는 정확하지 않을 수 있습니다.">
            <a:extLst>
              <a:ext uri="{FF2B5EF4-FFF2-40B4-BE49-F238E27FC236}">
                <a16:creationId xmlns:a16="http://schemas.microsoft.com/office/drawing/2014/main" id="{B024B391-9314-8267-B7C7-5FBC1103F4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4642" y="2254854"/>
            <a:ext cx="4661649" cy="2774345"/>
          </a:xfrm>
          <a:prstGeom prst="rect">
            <a:avLst/>
          </a:prstGeom>
        </p:spPr>
      </p:pic>
      <p:pic>
        <p:nvPicPr>
          <p:cNvPr id="10" name="그림 9" descr="텍스트, 라인, 그래프, 도표이(가) 표시된 사진&#10;&#10;AI 생성 콘텐츠는 정확하지 않을 수 있습니다.">
            <a:extLst>
              <a:ext uri="{FF2B5EF4-FFF2-40B4-BE49-F238E27FC236}">
                <a16:creationId xmlns:a16="http://schemas.microsoft.com/office/drawing/2014/main" id="{B53BBD24-C004-1F23-A926-036FF85FAC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5006" y="1828800"/>
            <a:ext cx="4649665" cy="3886200"/>
          </a:xfrm>
          <a:prstGeom prst="rect">
            <a:avLst/>
          </a:prstGeom>
        </p:spPr>
      </p:pic>
    </p:spTree>
    <p:extLst>
      <p:ext uri="{BB962C8B-B14F-4D97-AF65-F5344CB8AC3E}">
        <p14:creationId xmlns:p14="http://schemas.microsoft.com/office/powerpoint/2010/main" val="313635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1789E-3E38-9E75-4AFA-A9FF861E24A2}"/>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CF754A8C-9662-7367-2D78-7232936F4C31}"/>
              </a:ext>
            </a:extLst>
          </p:cNvPr>
          <p:cNvSpPr>
            <a:spLocks noGrp="1" noChangeArrowheads="1"/>
          </p:cNvSpPr>
          <p:nvPr>
            <p:ph type="title"/>
          </p:nvPr>
        </p:nvSpPr>
        <p:spPr/>
        <p:txBody>
          <a:bodyPr/>
          <a:lstStyle/>
          <a:p>
            <a:r>
              <a:rPr lang="en-US" altLang="ko-KR" sz="3600" dirty="0"/>
              <a:t>Why</a:t>
            </a:r>
            <a:r>
              <a:rPr lang="ko-KR" altLang="en-US" sz="3600" dirty="0"/>
              <a:t> </a:t>
            </a:r>
            <a:r>
              <a:rPr lang="en-US" altLang="ko-KR" sz="3600" dirty="0"/>
              <a:t>Lottery Scheduling</a:t>
            </a:r>
          </a:p>
        </p:txBody>
      </p:sp>
      <p:pic>
        <p:nvPicPr>
          <p:cNvPr id="5" name="그림 4" descr="텍스트, 스크린샷, 도표, 직사각형이(가) 표시된 사진&#10;&#10;AI 생성 콘텐츠는 정확하지 않을 수 있습니다.">
            <a:extLst>
              <a:ext uri="{FF2B5EF4-FFF2-40B4-BE49-F238E27FC236}">
                <a16:creationId xmlns:a16="http://schemas.microsoft.com/office/drawing/2014/main" id="{178368BA-F78A-88A7-F615-22C2692ADE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9229" y="4302696"/>
            <a:ext cx="3772694" cy="1787563"/>
          </a:xfrm>
          <a:prstGeom prst="rect">
            <a:avLst/>
          </a:prstGeom>
        </p:spPr>
      </p:pic>
      <p:sp>
        <p:nvSpPr>
          <p:cNvPr id="7" name="Rectangle 3">
            <a:extLst>
              <a:ext uri="{FF2B5EF4-FFF2-40B4-BE49-F238E27FC236}">
                <a16:creationId xmlns:a16="http://schemas.microsoft.com/office/drawing/2014/main" id="{00F837C8-FB13-24B6-87D3-31C6D893A949}"/>
              </a:ext>
            </a:extLst>
          </p:cNvPr>
          <p:cNvSpPr txBox="1">
            <a:spLocks noChangeArrowheads="1"/>
          </p:cNvSpPr>
          <p:nvPr/>
        </p:nvSpPr>
        <p:spPr bwMode="auto">
          <a:xfrm>
            <a:off x="574675" y="1805123"/>
            <a:ext cx="8035925" cy="265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600" kern="0" dirty="0"/>
              <a:t>Rational for Lottery scheduling</a:t>
            </a:r>
          </a:p>
          <a:p>
            <a:pPr lvl="1" latinLnBrk="1"/>
            <a:r>
              <a:rPr lang="en-US" altLang="ko-KR" sz="1400" kern="0" dirty="0"/>
              <a:t>Core Trade-off</a:t>
            </a:r>
          </a:p>
          <a:p>
            <a:pPr lvl="2" latinLnBrk="1"/>
            <a:r>
              <a:rPr lang="en-US" altLang="ko-KR" sz="1200" kern="0" dirty="0"/>
              <a:t>Weakness : Inability to guarantee short-term fairness and response time for low-ticket threads due to high variance.</a:t>
            </a:r>
          </a:p>
          <a:p>
            <a:pPr lvl="2" latinLnBrk="1"/>
            <a:r>
              <a:rPr lang="en-US" altLang="ko-KR" sz="1200" kern="0" dirty="0"/>
              <a:t>Advantage : Simplicity of implementation and low overhead for thread management.</a:t>
            </a:r>
          </a:p>
          <a:p>
            <a:pPr lvl="1" latinLnBrk="1"/>
            <a:r>
              <a:rPr lang="en-US" altLang="ko-KR" sz="1400" kern="0" dirty="0"/>
              <a:t>Long-term Proportionality</a:t>
            </a:r>
          </a:p>
          <a:p>
            <a:pPr lvl="2" latinLnBrk="1"/>
            <a:r>
              <a:rPr lang="en-US" altLang="ko-KR" sz="900" kern="0" dirty="0"/>
              <a:t> </a:t>
            </a:r>
            <a:r>
              <a:rPr lang="en-US" altLang="ko-KR" sz="1200" kern="0" dirty="0"/>
              <a:t>Based on </a:t>
            </a:r>
            <a:r>
              <a:rPr lang="en-US" altLang="ko-KR" sz="1200" b="1" kern="0" dirty="0"/>
              <a:t>Law of Large Numbers</a:t>
            </a:r>
            <a:r>
              <a:rPr lang="en-US" altLang="ko-KR" sz="1200" kern="0" dirty="0"/>
              <a:t>, the probabilistic model ensures that over a long execution period, the actual CPU share for each thread converges to its expected share, proportional to its ticket count.</a:t>
            </a:r>
          </a:p>
          <a:p>
            <a:pPr lvl="2" latinLnBrk="1"/>
            <a:r>
              <a:rPr lang="en-US" altLang="ko-KR" sz="1200" kern="0" dirty="0"/>
              <a:t>Experimental result for both 1:1:1 and 20:1:1 ratios confirm that despite short-term fluctuations, the </a:t>
            </a:r>
            <a:r>
              <a:rPr lang="en-US" altLang="ko-KR" sz="1200" b="1" kern="0" dirty="0"/>
              <a:t>overall average share approximates the expected values</a:t>
            </a:r>
            <a:r>
              <a:rPr lang="en-US" altLang="ko-KR" sz="1200" kern="0" dirty="0"/>
              <a:t>.</a:t>
            </a:r>
          </a:p>
          <a:p>
            <a:pPr lvl="1" latinLnBrk="1"/>
            <a:endParaRPr lang="en-US" altLang="ko-KR" sz="1400" kern="0" dirty="0"/>
          </a:p>
          <a:p>
            <a:pPr lvl="3" latinLnBrk="1"/>
            <a:endParaRPr lang="en-US" altLang="ko-KR" sz="800" kern="0" dirty="0"/>
          </a:p>
          <a:p>
            <a:pPr latinLnBrk="1"/>
            <a:endParaRPr lang="en-US" altLang="ko-KR" sz="2000" kern="0" dirty="0"/>
          </a:p>
        </p:txBody>
      </p:sp>
      <p:pic>
        <p:nvPicPr>
          <p:cNvPr id="4" name="그림 3" descr="텍스트, 스크린샷, 도표, 직사각형이(가) 표시된 사진&#10;&#10;AI 생성 콘텐츠는 정확하지 않을 수 있습니다.">
            <a:extLst>
              <a:ext uri="{FF2B5EF4-FFF2-40B4-BE49-F238E27FC236}">
                <a16:creationId xmlns:a16="http://schemas.microsoft.com/office/drawing/2014/main" id="{C0C9666F-1C40-F8A9-49DA-5CF9E1545D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4584" y="4302696"/>
            <a:ext cx="3134736" cy="1787563"/>
          </a:xfrm>
          <a:prstGeom prst="rect">
            <a:avLst/>
          </a:prstGeom>
        </p:spPr>
      </p:pic>
    </p:spTree>
    <p:extLst>
      <p:ext uri="{BB962C8B-B14F-4D97-AF65-F5344CB8AC3E}">
        <p14:creationId xmlns:p14="http://schemas.microsoft.com/office/powerpoint/2010/main" val="2620741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3A274-C0A8-C507-23F4-F0951766E3C7}"/>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2BCD53DF-EDAD-84A8-7A1D-E46A4F6D4069}"/>
              </a:ext>
            </a:extLst>
          </p:cNvPr>
          <p:cNvSpPr>
            <a:spLocks noGrp="1" noChangeArrowheads="1"/>
          </p:cNvSpPr>
          <p:nvPr>
            <p:ph type="title"/>
          </p:nvPr>
        </p:nvSpPr>
        <p:spPr/>
        <p:txBody>
          <a:bodyPr/>
          <a:lstStyle/>
          <a:p>
            <a:r>
              <a:rPr lang="en-US" altLang="ko-KR" sz="3600" dirty="0"/>
              <a:t>Conclusion</a:t>
            </a:r>
          </a:p>
        </p:txBody>
      </p:sp>
      <p:sp>
        <p:nvSpPr>
          <p:cNvPr id="7" name="Rectangle 3">
            <a:extLst>
              <a:ext uri="{FF2B5EF4-FFF2-40B4-BE49-F238E27FC236}">
                <a16:creationId xmlns:a16="http://schemas.microsoft.com/office/drawing/2014/main" id="{FA9D3CA4-05E6-0B96-1DD4-EBF229E8C1AA}"/>
              </a:ext>
            </a:extLst>
          </p:cNvPr>
          <p:cNvSpPr txBox="1">
            <a:spLocks noChangeArrowheads="1"/>
          </p:cNvSpPr>
          <p:nvPr/>
        </p:nvSpPr>
        <p:spPr bwMode="auto">
          <a:xfrm>
            <a:off x="554037" y="1752600"/>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latinLnBrk="1"/>
            <a:r>
              <a:rPr lang="en-US" altLang="ko-KR" sz="1800" kern="0" dirty="0"/>
              <a:t>Long-term Fairness Validated</a:t>
            </a:r>
          </a:p>
          <a:p>
            <a:pPr lvl="1" latinLnBrk="1"/>
            <a:r>
              <a:rPr lang="en-US" altLang="ko-KR" sz="1400" kern="0" dirty="0"/>
              <a:t>Our experiments confirm that as execution time increase, Lottery Scheduling ensures each threads receives a CPU share proportional to its ticket allocation.</a:t>
            </a:r>
          </a:p>
          <a:p>
            <a:pPr latinLnBrk="1"/>
            <a:r>
              <a:rPr lang="en-US" altLang="ko-KR" sz="1800" kern="0" dirty="0"/>
              <a:t>The Value of Simplicity</a:t>
            </a:r>
          </a:p>
          <a:p>
            <a:pPr lvl="1" latinLnBrk="1"/>
            <a:r>
              <a:rPr lang="en-US" altLang="ko-KR" sz="1400" kern="0" dirty="0"/>
              <a:t>The core of this scheduler lies in its simplicity and efficiency, implementing proportional sharing with a simple logic and without complex state-tracking.</a:t>
            </a:r>
          </a:p>
          <a:p>
            <a:pPr lvl="1" latinLnBrk="1"/>
            <a:r>
              <a:rPr lang="en-US" altLang="ko-KR" sz="1400" kern="0" dirty="0"/>
              <a:t>Adding and removing threads is a very lightweight operation.</a:t>
            </a:r>
          </a:p>
          <a:p>
            <a:pPr latinLnBrk="1"/>
            <a:r>
              <a:rPr lang="en-US" altLang="ko-KR" sz="1800" kern="0" dirty="0"/>
              <a:t>The Core Trade-off</a:t>
            </a:r>
          </a:p>
          <a:p>
            <a:pPr lvl="1" latinLnBrk="1"/>
            <a:r>
              <a:rPr lang="en-US" altLang="ko-KR" sz="1400" kern="0" dirty="0"/>
              <a:t>Lottery Scheduling presents a clear trade-off : it sacrifices </a:t>
            </a:r>
            <a:r>
              <a:rPr lang="en-US" altLang="ko-KR" sz="1400" b="1" kern="0" dirty="0"/>
              <a:t>short-term predictability and response time</a:t>
            </a:r>
            <a:r>
              <a:rPr lang="en-US" altLang="ko-KR" sz="1400" kern="0" dirty="0"/>
              <a:t> </a:t>
            </a:r>
            <a:r>
              <a:rPr lang="en-US" altLang="ko-KR" sz="1400" b="1" kern="0" dirty="0"/>
              <a:t>guarantee</a:t>
            </a:r>
            <a:r>
              <a:rPr lang="en-US" altLang="ko-KR" sz="1400" kern="0" dirty="0"/>
              <a:t> for the practical benefits of </a:t>
            </a:r>
            <a:r>
              <a:rPr lang="en-US" altLang="ko-KR" sz="1400" b="1" kern="0" dirty="0"/>
              <a:t>implementation simplicity and long-term resource balance.</a:t>
            </a:r>
          </a:p>
          <a:p>
            <a:pPr latinLnBrk="1"/>
            <a:r>
              <a:rPr lang="en-US" altLang="ko-KR" sz="1800" kern="0" dirty="0"/>
              <a:t>Suitable Use Cases</a:t>
            </a:r>
          </a:p>
          <a:p>
            <a:pPr lvl="1" latinLnBrk="1"/>
            <a:r>
              <a:rPr lang="en-US" altLang="ko-KR" sz="1400" kern="0" dirty="0"/>
              <a:t>Therefore, it is rational choice in environments where overall resource balance and ease of implementation are more critical than strict, real-time guarantees.</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2143987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176BB28-F78C-ADC9-1AFB-5666A8C41ADA}"/>
              </a:ext>
            </a:extLst>
          </p:cNvPr>
          <p:cNvSpPr>
            <a:spLocks noGrp="1" noChangeArrowheads="1"/>
          </p:cNvSpPr>
          <p:nvPr>
            <p:ph type="title"/>
          </p:nvPr>
        </p:nvSpPr>
        <p:spPr>
          <a:xfrm>
            <a:off x="574675" y="304800"/>
            <a:ext cx="8001000" cy="1216025"/>
          </a:xfrm>
        </p:spPr>
        <p:txBody>
          <a:bodyPr/>
          <a:lstStyle/>
          <a:p>
            <a:r>
              <a:rPr lang="en-US" altLang="ko-KR" sz="3200"/>
              <a:t>Thank you!</a:t>
            </a:r>
            <a:endParaRPr lang="en-US" altLang="ko-KR" sz="2800"/>
          </a:p>
        </p:txBody>
      </p:sp>
    </p:spTree>
    <p:extLst>
      <p:ext uri="{BB962C8B-B14F-4D97-AF65-F5344CB8AC3E}">
        <p14:creationId xmlns:p14="http://schemas.microsoft.com/office/powerpoint/2010/main" val="1335549195"/>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cs typeface="Arial"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33742</TotalTime>
  <Words>2379</Words>
  <Application>Microsoft Office PowerPoint</Application>
  <PresentationFormat>화면 슬라이드 쇼(4:3)</PresentationFormat>
  <Paragraphs>750</Paragraphs>
  <Slides>30</Slides>
  <Notes>20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30</vt:i4>
      </vt:variant>
    </vt:vector>
  </HeadingPairs>
  <TitlesOfParts>
    <vt:vector size="37" baseType="lpstr">
      <vt:lpstr>굴림</vt:lpstr>
      <vt:lpstr>Arial</vt:lpstr>
      <vt:lpstr>Cambria Math</vt:lpstr>
      <vt:lpstr>Consolas</vt:lpstr>
      <vt:lpstr>Verdana</vt:lpstr>
      <vt:lpstr>Wingdings</vt:lpstr>
      <vt:lpstr>Profile</vt:lpstr>
      <vt:lpstr> Implementation and Evaluation of Proportional Schedulers</vt:lpstr>
      <vt:lpstr>Overall Contents</vt:lpstr>
      <vt:lpstr>1. Stride Scheduler Contents</vt:lpstr>
      <vt:lpstr>Stride Scheduler Review</vt:lpstr>
      <vt:lpstr>Stride Scheduler Interface (1/4)</vt:lpstr>
      <vt:lpstr>Stride Scheduler Interface (2/4)</vt:lpstr>
      <vt:lpstr>Stride Scheduler Interface (3/4)</vt:lpstr>
      <vt:lpstr>Stride Scheduler Interface (4/4)</vt:lpstr>
      <vt:lpstr>Stride Scheduler Implementation (1/2)</vt:lpstr>
      <vt:lpstr>Stride Scheduler Implementation (2/2)</vt:lpstr>
      <vt:lpstr>Fairness Evaluation Plan (1/2)</vt:lpstr>
      <vt:lpstr>Fairness Evaluation Plan (2/2)</vt:lpstr>
      <vt:lpstr>Stride Scheduler Fairness Evaluation (1/6)</vt:lpstr>
      <vt:lpstr>Stride Scheduler Fairness Evaluation (2/6)</vt:lpstr>
      <vt:lpstr>Stride Scheduler Fairness Evaluation (3/6)</vt:lpstr>
      <vt:lpstr>Stride Scheduler Fairness Evaluation (4/6)</vt:lpstr>
      <vt:lpstr>Stride Scheduler Fairness Evaluation (5/6)</vt:lpstr>
      <vt:lpstr>Stride Scheduler Fairness Evaluation (6/6)</vt:lpstr>
      <vt:lpstr>Conclusion (1/2)</vt:lpstr>
      <vt:lpstr>Conclusion (2/2)</vt:lpstr>
      <vt:lpstr>2. Lottery Scheduler Content</vt:lpstr>
      <vt:lpstr>What is Lottery Scheduling?</vt:lpstr>
      <vt:lpstr>Lottery Scheduler Implementation(1/3)</vt:lpstr>
      <vt:lpstr>Lottery Scheduler Implementation(2/3)</vt:lpstr>
      <vt:lpstr>Lottery Scheduler Implementation(3/3)</vt:lpstr>
      <vt:lpstr>Experiment : Fair Distribution</vt:lpstr>
      <vt:lpstr>Experiment : Unfair Distribution</vt:lpstr>
      <vt:lpstr>Why Lottery Scheduling</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지반함몰 및 액상화에 관한 지하안전 위험도 평가 고도화 기술</dc:title>
  <dc:creator>Jinman Jung</dc:creator>
  <cp:lastModifiedBy>주환 임</cp:lastModifiedBy>
  <cp:revision>467</cp:revision>
  <dcterms:created xsi:type="dcterms:W3CDTF">2007-01-20T18:57:48Z</dcterms:created>
  <dcterms:modified xsi:type="dcterms:W3CDTF">2025-07-18T02:49:59Z</dcterms:modified>
</cp:coreProperties>
</file>